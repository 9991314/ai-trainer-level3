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tags/tag2.xml" ContentType="application/vnd.openxmlformats-officedocument.presentationml.tags+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7"/>
  </p:notesMasterIdLst>
  <p:sldIdLst>
    <p:sldId id="858" r:id="rId2"/>
    <p:sldId id="908" r:id="rId3"/>
    <p:sldId id="1052" r:id="rId4"/>
    <p:sldId id="914" r:id="rId5"/>
    <p:sldId id="916" r:id="rId6"/>
    <p:sldId id="918" r:id="rId7"/>
    <p:sldId id="919" r:id="rId8"/>
    <p:sldId id="923" r:id="rId9"/>
    <p:sldId id="924" r:id="rId10"/>
    <p:sldId id="933" r:id="rId11"/>
    <p:sldId id="934" r:id="rId12"/>
    <p:sldId id="946" r:id="rId13"/>
    <p:sldId id="947" r:id="rId14"/>
    <p:sldId id="948" r:id="rId15"/>
    <p:sldId id="949" r:id="rId16"/>
    <p:sldId id="950" r:id="rId17"/>
    <p:sldId id="951" r:id="rId18"/>
    <p:sldId id="952" r:id="rId19"/>
    <p:sldId id="953" r:id="rId20"/>
    <p:sldId id="954" r:id="rId21"/>
    <p:sldId id="955" r:id="rId22"/>
    <p:sldId id="1011" r:id="rId23"/>
    <p:sldId id="957" r:id="rId24"/>
    <p:sldId id="958" r:id="rId25"/>
    <p:sldId id="959" r:id="rId26"/>
    <p:sldId id="960" r:id="rId27"/>
    <p:sldId id="1056" r:id="rId28"/>
    <p:sldId id="961" r:id="rId29"/>
    <p:sldId id="962" r:id="rId30"/>
    <p:sldId id="963" r:id="rId31"/>
    <p:sldId id="964" r:id="rId32"/>
    <p:sldId id="965" r:id="rId33"/>
    <p:sldId id="966" r:id="rId34"/>
    <p:sldId id="967" r:id="rId35"/>
    <p:sldId id="968" r:id="rId36"/>
    <p:sldId id="969" r:id="rId37"/>
    <p:sldId id="970" r:id="rId38"/>
    <p:sldId id="971" r:id="rId39"/>
    <p:sldId id="1013" r:id="rId40"/>
    <p:sldId id="1014" r:id="rId41"/>
    <p:sldId id="1016" r:id="rId42"/>
    <p:sldId id="1017" r:id="rId43"/>
    <p:sldId id="921" r:id="rId44"/>
    <p:sldId id="1018" r:id="rId45"/>
    <p:sldId id="1019" r:id="rId46"/>
    <p:sldId id="1031" r:id="rId47"/>
    <p:sldId id="1032" r:id="rId48"/>
    <p:sldId id="1034" r:id="rId49"/>
    <p:sldId id="1035" r:id="rId50"/>
    <p:sldId id="1036" r:id="rId51"/>
    <p:sldId id="1037" r:id="rId52"/>
    <p:sldId id="1038" r:id="rId53"/>
    <p:sldId id="1039" r:id="rId54"/>
    <p:sldId id="1040" r:id="rId55"/>
    <p:sldId id="1048" r:id="rId56"/>
    <p:sldId id="707" r:id="rId57"/>
    <p:sldId id="874" r:id="rId58"/>
    <p:sldId id="886" r:id="rId59"/>
    <p:sldId id="887" r:id="rId60"/>
    <p:sldId id="888" r:id="rId61"/>
    <p:sldId id="889" r:id="rId62"/>
    <p:sldId id="891" r:id="rId63"/>
    <p:sldId id="890" r:id="rId64"/>
    <p:sldId id="892" r:id="rId65"/>
    <p:sldId id="894" r:id="rId66"/>
    <p:sldId id="895" r:id="rId67"/>
    <p:sldId id="896" r:id="rId68"/>
    <p:sldId id="897" r:id="rId69"/>
    <p:sldId id="898" r:id="rId70"/>
    <p:sldId id="900" r:id="rId71"/>
    <p:sldId id="901" r:id="rId72"/>
    <p:sldId id="899" r:id="rId73"/>
    <p:sldId id="902" r:id="rId74"/>
    <p:sldId id="904" r:id="rId75"/>
    <p:sldId id="905" r:id="rId76"/>
    <p:sldId id="907" r:id="rId77"/>
    <p:sldId id="906" r:id="rId78"/>
    <p:sldId id="1049" r:id="rId79"/>
    <p:sldId id="1055" r:id="rId80"/>
    <p:sldId id="1057" r:id="rId81"/>
    <p:sldId id="1053" r:id="rId82"/>
    <p:sldId id="1054" r:id="rId83"/>
    <p:sldId id="1050" r:id="rId84"/>
    <p:sldId id="1051" r:id="rId85"/>
    <p:sldId id="700" r:id="rId86"/>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wan" initials="R" lastIdx="1" clrIdx="0"/>
  <p:cmAuthor id="2" name="侯 景贤" initials="侯"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1D2F"/>
    <a:srgbClr val="69A35B"/>
    <a:srgbClr val="1D7FC6"/>
    <a:srgbClr val="FE0000"/>
    <a:srgbClr val="CAE3E7"/>
    <a:srgbClr val="CAE3A7"/>
    <a:srgbClr val="3AECAF"/>
    <a:srgbClr val="9BBB59"/>
    <a:srgbClr val="1F74AD"/>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32" autoAdjust="0"/>
    <p:restoredTop sz="92125" autoAdjust="0"/>
  </p:normalViewPr>
  <p:slideViewPr>
    <p:cSldViewPr snapToGrid="0" showGuides="1">
      <p:cViewPr varScale="1">
        <p:scale>
          <a:sx n="76" d="100"/>
          <a:sy n="76" d="100"/>
        </p:scale>
        <p:origin x="581" y="53"/>
      </p:cViewPr>
      <p:guideLst>
        <p:guide orient="horz" pos="2160"/>
        <p:guide pos="3840"/>
      </p:guideLst>
    </p:cSldViewPr>
  </p:slideViewPr>
  <p:notesTextViewPr>
    <p:cViewPr>
      <p:scale>
        <a:sx n="400" d="100"/>
        <a:sy n="4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2025-04-17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a:t>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a:t>
            </a:fld>
            <a:endParaRPr lang="zh-CN" altLang="en-US" dirty="0"/>
          </a:p>
        </p:txBody>
      </p:sp>
    </p:spTree>
    <p:extLst>
      <p:ext uri="{BB962C8B-B14F-4D97-AF65-F5344CB8AC3E}">
        <p14:creationId xmlns:p14="http://schemas.microsoft.com/office/powerpoint/2010/main" val="3874858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a:t>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a:t>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a:t>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变量：在程序运行时，能存储计算结果或能表示值的抽象概念。</a:t>
            </a:r>
          </a:p>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简单理解，变量就是在程序运行时，记录数据用的。</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a:t>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8</a:t>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9</a:t>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10</a:t>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11</a:t>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12</a:t>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13</a:t>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14</a:t>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15</a:t>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16</a:t>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17</a:t>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18</a:t>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19</a:t>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20</a:t>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21</a:t>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22</a:t>
            </a:fld>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23</a:t>
            </a:fld>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24</a:t>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25</a:t>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26</a:t>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27</a:t>
            </a:fld>
            <a:endParaRPr lang="zh-CN" altLang="en-US" dirty="0"/>
          </a:p>
        </p:txBody>
      </p:sp>
    </p:spTree>
    <p:extLst>
      <p:ext uri="{BB962C8B-B14F-4D97-AF65-F5344CB8AC3E}">
        <p14:creationId xmlns:p14="http://schemas.microsoft.com/office/powerpoint/2010/main" val="2024239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28</a:t>
            </a:fld>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29</a:t>
            </a:fld>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30</a:t>
            </a:fld>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31</a:t>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32</a:t>
            </a:fld>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33</a:t>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34</a:t>
            </a:fld>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35</a:t>
            </a:fld>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36</a:t>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37</a:t>
            </a:fld>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38</a:t>
            </a:fld>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39</a:t>
            </a:fld>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40</a:t>
            </a:fld>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41</a:t>
            </a:fld>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42</a:t>
            </a:fld>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43</a:t>
            </a:fld>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44</a:t>
            </a:fld>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44546A"/>
                </a:solidFill>
                <a:latin typeface="微软雅黑" panose="020B0503020204020204" pitchFamily="34" charset="-122"/>
                <a:ea typeface="微软雅黑" panose="020B0503020204020204" pitchFamily="34" charset="-122"/>
                <a:sym typeface="+mn-lt"/>
              </a:rPr>
              <a:t>在训练好模型后，我们期望将模型放到实际应用中，理想中的应用数据与训练数据集理论上是独立同分布的，但也可能与训练数据集差异较大。</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44546A"/>
                </a:solidFill>
                <a:latin typeface="微软雅黑" panose="020B0503020204020204" pitchFamily="34" charset="-122"/>
                <a:ea typeface="微软雅黑" panose="020B0503020204020204" pitchFamily="34" charset="-122"/>
                <a:sym typeface="+mn-lt"/>
              </a:rPr>
              <a:t>这个时候，模型表现出来的分析能力分类能力、预测能力、识别能力的好坏就变得尤为重要。</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44546A"/>
                </a:solidFill>
                <a:latin typeface="微软雅黑" panose="020B0503020204020204" pitchFamily="34" charset="-122"/>
                <a:ea typeface="微软雅黑" panose="020B0503020204020204" pitchFamily="34" charset="-122"/>
                <a:sym typeface="+mn-lt"/>
              </a:rPr>
              <a:t>我们期望训练出的模型在任意类似环境中的任意数据集上都能够保持训练时的效果，虽然这几乎是不可能实现的，但是仍然希望训练出适应于尽可能多的场景、数据集的模型。模型适应新数据的能力就是泛化能力，在机器学习应用中我们追求泛化能力强的模型。</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45</a:t>
            </a:fld>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46</a:t>
            </a:fld>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44546A"/>
                </a:solidFill>
                <a:latin typeface="微软雅黑" panose="020B0503020204020204" pitchFamily="34" charset="-122"/>
                <a:ea typeface="微软雅黑" panose="020B0503020204020204" pitchFamily="34" charset="-122"/>
              </a:rPr>
              <a:t>如果已经安装</a:t>
            </a:r>
            <a:r>
              <a:rPr lang="en-US" altLang="zh-CN" sz="1200" dirty="0">
                <a:solidFill>
                  <a:srgbClr val="44546A"/>
                </a:solidFill>
                <a:latin typeface="微软雅黑" panose="020B0503020204020204" pitchFamily="34" charset="-122"/>
                <a:ea typeface="微软雅黑" panose="020B0503020204020204" pitchFamily="34" charset="-122"/>
              </a:rPr>
              <a:t>NumPy</a:t>
            </a:r>
            <a:r>
              <a:rPr lang="zh-CN" altLang="en-US" sz="1200" dirty="0">
                <a:solidFill>
                  <a:srgbClr val="44546A"/>
                </a:solidFill>
                <a:latin typeface="微软雅黑" panose="020B0503020204020204" pitchFamily="34" charset="-122"/>
                <a:ea typeface="微软雅黑" panose="020B0503020204020204" pitchFamily="34" charset="-122"/>
              </a:rPr>
              <a:t>和</a:t>
            </a:r>
            <a:r>
              <a:rPr lang="en-US" altLang="zh-CN" sz="1200" dirty="0">
                <a:solidFill>
                  <a:srgbClr val="44546A"/>
                </a:solidFill>
                <a:latin typeface="微软雅黑" panose="020B0503020204020204" pitchFamily="34" charset="-122"/>
                <a:ea typeface="微软雅黑" panose="020B0503020204020204" pitchFamily="34" charset="-122"/>
              </a:rPr>
              <a:t>SciPy</a:t>
            </a:r>
            <a:r>
              <a:rPr lang="zh-CN" altLang="en-US" sz="1200" dirty="0">
                <a:solidFill>
                  <a:srgbClr val="44546A"/>
                </a:solidFill>
                <a:latin typeface="微软雅黑" panose="020B0503020204020204" pitchFamily="34" charset="-122"/>
                <a:ea typeface="微软雅黑" panose="020B0503020204020204" pitchFamily="34" charset="-122"/>
              </a:rPr>
              <a:t>，可以使用 </a:t>
            </a:r>
            <a:r>
              <a:rPr lang="en-US" altLang="zh-CN" sz="1200" dirty="0">
                <a:solidFill>
                  <a:srgbClr val="44546A"/>
                </a:solidFill>
                <a:latin typeface="微软雅黑" panose="020B0503020204020204" pitchFamily="34" charset="-122"/>
                <a:ea typeface="微软雅黑" panose="020B0503020204020204" pitchFamily="34" charset="-122"/>
              </a:rPr>
              <a:t>pip install-U scikit-learn </a:t>
            </a:r>
            <a:r>
              <a:rPr lang="zh-CN" altLang="en-US" sz="1200" dirty="0">
                <a:solidFill>
                  <a:srgbClr val="44546A"/>
                </a:solidFill>
                <a:latin typeface="微软雅黑" panose="020B0503020204020204" pitchFamily="34" charset="-122"/>
                <a:ea typeface="微软雅黑" panose="020B0503020204020204" pitchFamily="34" charset="-122"/>
              </a:rPr>
              <a:t>命令安装 </a:t>
            </a:r>
            <a:r>
              <a:rPr lang="en-US" altLang="zh-CN" sz="1200" dirty="0">
                <a:solidFill>
                  <a:srgbClr val="44546A"/>
                </a:solidFill>
                <a:latin typeface="微软雅黑" panose="020B0503020204020204" pitchFamily="34" charset="-122"/>
                <a:ea typeface="微软雅黑" panose="020B0503020204020204" pitchFamily="34" charset="-122"/>
              </a:rPr>
              <a:t>Sklearn</a:t>
            </a:r>
            <a:r>
              <a:rPr lang="zh-CN" altLang="en-US" sz="1200" dirty="0">
                <a:solidFill>
                  <a:srgbClr val="44546A"/>
                </a:solidFill>
                <a:latin typeface="微软雅黑" panose="020B0503020204020204" pitchFamily="34" charset="-122"/>
                <a:ea typeface="微软雅黑" panose="020B0503020204020204" pitchFamily="34" charset="-122"/>
              </a:rPr>
              <a:t>。</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47</a:t>
            </a:fld>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dirty="0">
                <a:solidFill>
                  <a:srgbClr val="44546A"/>
                </a:solidFill>
                <a:latin typeface="微软雅黑" panose="020B0503020204020204" pitchFamily="34" charset="-122"/>
                <a:ea typeface="微软雅黑" panose="020B0503020204020204" pitchFamily="34" charset="-122"/>
                <a:sym typeface="+mn-lt"/>
              </a:rPr>
              <a:t>Sklearn </a:t>
            </a:r>
            <a:r>
              <a:rPr lang="zh-CN" altLang="en-US" sz="1200" b="0" dirty="0">
                <a:solidFill>
                  <a:srgbClr val="44546A"/>
                </a:solidFill>
                <a:latin typeface="微软雅黑" panose="020B0503020204020204" pitchFamily="34" charset="-122"/>
                <a:ea typeface="微软雅黑" panose="020B0503020204020204" pitchFamily="34" charset="-122"/>
                <a:sym typeface="+mn-lt"/>
              </a:rPr>
              <a:t>支持多种学习模式，并对所有的学习模式进行了整合和统一。</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44546A"/>
                </a:solidFill>
                <a:latin typeface="微软雅黑" panose="020B0503020204020204" pitchFamily="34" charset="-122"/>
                <a:ea typeface="微软雅黑" panose="020B0503020204020204" pitchFamily="34" charset="-122"/>
                <a:sym typeface="+mn-lt"/>
              </a:rPr>
              <a:t>我们只要了解了</a:t>
            </a:r>
            <a:r>
              <a:rPr lang="zh-CN" altLang="en-US" sz="1200" b="1" dirty="0">
                <a:solidFill>
                  <a:srgbClr val="44546A"/>
                </a:solidFill>
                <a:latin typeface="微软雅黑" panose="020B0503020204020204" pitchFamily="34" charset="-122"/>
                <a:ea typeface="微软雅黑" panose="020B0503020204020204" pitchFamily="34" charset="-122"/>
                <a:sym typeface="+mn-lt"/>
              </a:rPr>
              <a:t>通用的学习模式</a:t>
            </a:r>
            <a:r>
              <a:rPr lang="zh-CN" altLang="en-US" sz="1200" b="0" dirty="0">
                <a:solidFill>
                  <a:srgbClr val="44546A"/>
                </a:solidFill>
                <a:latin typeface="微软雅黑" panose="020B0503020204020204" pitchFamily="34" charset="-122"/>
                <a:ea typeface="微软雅黑" panose="020B0503020204020204" pitchFamily="34" charset="-122"/>
                <a:sym typeface="+mn-lt"/>
              </a:rPr>
              <a:t>，就可以把它们应用在其他的学习模式当中。下面我们将通过分类学习算法来介绍这种学习模式。</a:t>
            </a:r>
            <a:r>
              <a:rPr lang="en-US" altLang="zh-CN" sz="1200" b="0" dirty="0">
                <a:solidFill>
                  <a:srgbClr val="44546A"/>
                </a:solidFill>
                <a:latin typeface="微软雅黑" panose="020B0503020204020204" pitchFamily="34" charset="-122"/>
                <a:ea typeface="微软雅黑" panose="020B0503020204020204" pitchFamily="34" charset="-122"/>
                <a:sym typeface="+mn-lt"/>
              </a:rPr>
              <a:t>…</a:t>
            </a: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48</a:t>
            </a:fld>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49</a:t>
            </a:fld>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50</a:t>
            </a:fld>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44546A"/>
                </a:solidFill>
                <a:latin typeface="微软雅黑" panose="020B0503020204020204" pitchFamily="34" charset="-122"/>
                <a:ea typeface="微软雅黑" panose="020B0503020204020204" pitchFamily="34" charset="-122"/>
                <a:sym typeface="+mn-lt"/>
              </a:rPr>
              <a:t>从上面的结果我们可以看出，预测值和真实值是不完全一样的，这说明机器学习得出的训练结果只能无限趋近于真实值，不能完全和真实值一样。</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solidFill>
                  <a:srgbClr val="44546A"/>
                </a:solidFill>
                <a:latin typeface="微软雅黑" panose="020B0503020204020204" pitchFamily="34" charset="-122"/>
                <a:ea typeface="微软雅黑" panose="020B0503020204020204" pitchFamily="34" charset="-122"/>
                <a:sym typeface="+mn-lt"/>
              </a:rPr>
              <a:t>如上所述就是 </a:t>
            </a:r>
            <a:r>
              <a:rPr lang="en-US" altLang="zh-CN" sz="1200" b="0" dirty="0" err="1">
                <a:solidFill>
                  <a:srgbClr val="44546A"/>
                </a:solidFill>
                <a:latin typeface="微软雅黑" panose="020B0503020204020204" pitchFamily="34" charset="-122"/>
                <a:ea typeface="微软雅黑" panose="020B0503020204020204" pitchFamily="34" charset="-122"/>
                <a:sym typeface="+mn-lt"/>
              </a:rPr>
              <a:t>Sklearn</a:t>
            </a:r>
            <a:r>
              <a:rPr lang="en-US" altLang="zh-CN" sz="1200" b="0" dirty="0">
                <a:solidFill>
                  <a:srgbClr val="44546A"/>
                </a:solidFill>
                <a:latin typeface="微软雅黑" panose="020B0503020204020204" pitchFamily="34" charset="-122"/>
                <a:ea typeface="微软雅黑" panose="020B0503020204020204" pitchFamily="34" charset="-122"/>
                <a:sym typeface="+mn-lt"/>
              </a:rPr>
              <a:t> </a:t>
            </a:r>
            <a:r>
              <a:rPr lang="zh-CN" altLang="en-US" sz="1200" b="0" dirty="0">
                <a:solidFill>
                  <a:srgbClr val="44546A"/>
                </a:solidFill>
                <a:latin typeface="微软雅黑" panose="020B0503020204020204" pitchFamily="34" charset="-122"/>
                <a:ea typeface="微软雅黑" panose="020B0503020204020204" pitchFamily="34" charset="-122"/>
                <a:sym typeface="+mn-lt"/>
              </a:rPr>
              <a:t>的通用学习模式，我们还可以选择不同的数据源、不同的模型不同的数据切割方法等来输出不同的训练效果。</a:t>
            </a: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51</a:t>
            </a:fld>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52</a:t>
            </a:fld>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53</a:t>
            </a:fld>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54</a:t>
            </a:fld>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55</a:t>
            </a:fld>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56</a:t>
            </a:fld>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57</a:t>
            </a:fld>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58</a:t>
            </a:fld>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59</a:t>
            </a:fld>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60</a:t>
            </a:fld>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61</a:t>
            </a:fld>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62</a:t>
            </a:fld>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63</a:t>
            </a:fld>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64</a:t>
            </a:fld>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65</a:t>
            </a:fld>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66</a:t>
            </a:fld>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67</a:t>
            </a:fld>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68</a:t>
            </a:fld>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69</a:t>
            </a:fld>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70</a:t>
            </a:fld>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71</a:t>
            </a:fld>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72</a:t>
            </a:fld>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73</a:t>
            </a:fld>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74</a:t>
            </a:fld>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75</a:t>
            </a:fld>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76</a:t>
            </a:fld>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77</a:t>
            </a:fld>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78</a:t>
            </a:fld>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79</a:t>
            </a:fld>
            <a:endParaRPr lang="zh-CN" altLang="en-US" dirty="0"/>
          </a:p>
        </p:txBody>
      </p:sp>
    </p:spTree>
    <p:extLst>
      <p:ext uri="{BB962C8B-B14F-4D97-AF65-F5344CB8AC3E}">
        <p14:creationId xmlns:p14="http://schemas.microsoft.com/office/powerpoint/2010/main" val="10554289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80</a:t>
            </a:fld>
            <a:endParaRPr lang="zh-CN" altLang="en-US" dirty="0"/>
          </a:p>
        </p:txBody>
      </p:sp>
    </p:spTree>
    <p:extLst>
      <p:ext uri="{BB962C8B-B14F-4D97-AF65-F5344CB8AC3E}">
        <p14:creationId xmlns:p14="http://schemas.microsoft.com/office/powerpoint/2010/main" val="6247777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81</a:t>
            </a:fld>
            <a:endParaRPr lang="zh-CN" altLang="en-US" dirty="0"/>
          </a:p>
        </p:txBody>
      </p:sp>
    </p:spTree>
    <p:extLst>
      <p:ext uri="{BB962C8B-B14F-4D97-AF65-F5344CB8AC3E}">
        <p14:creationId xmlns:p14="http://schemas.microsoft.com/office/powerpoint/2010/main" val="420697505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dirty="0">
              <a:solidFill>
                <a:srgbClr val="44546A"/>
              </a:solidFill>
              <a:latin typeface="微软雅黑" panose="020B0503020204020204" pitchFamily="34" charset="-122"/>
              <a:ea typeface="微软雅黑" panose="020B0503020204020204" pitchFamily="34" charset="-122"/>
              <a:sym typeface="+mn-lt"/>
            </a:endParaRPr>
          </a:p>
        </p:txBody>
      </p:sp>
      <p:sp>
        <p:nvSpPr>
          <p:cNvPr id="4" name="灯片编号占位符 3"/>
          <p:cNvSpPr>
            <a:spLocks noGrp="1"/>
          </p:cNvSpPr>
          <p:nvPr>
            <p:ph type="sldNum" sz="quarter" idx="10"/>
          </p:nvPr>
        </p:nvSpPr>
        <p:spPr/>
        <p:txBody>
          <a:bodyPr/>
          <a:lstStyle/>
          <a:p>
            <a:fld id="{50C7B0B4-F1B6-49A4-9B43-085A30E4E140}" type="slidenum">
              <a:rPr lang="zh-CN" altLang="en-US" smtClean="0"/>
              <a:t>82</a:t>
            </a:fld>
            <a:endParaRPr lang="zh-CN" altLang="en-US" dirty="0"/>
          </a:p>
        </p:txBody>
      </p:sp>
    </p:spTree>
    <p:extLst>
      <p:ext uri="{BB962C8B-B14F-4D97-AF65-F5344CB8AC3E}">
        <p14:creationId xmlns:p14="http://schemas.microsoft.com/office/powerpoint/2010/main" val="95093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83</a:t>
            </a:fld>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84</a:t>
            </a:fld>
            <a:endParaRPr lang="zh-CN" altLang="en-US" dirty="0"/>
          </a:p>
        </p:txBody>
      </p:sp>
    </p:spTree>
    <p:extLst>
      <p:ext uri="{BB962C8B-B14F-4D97-AF65-F5344CB8AC3E}">
        <p14:creationId xmlns:p14="http://schemas.microsoft.com/office/powerpoint/2010/main" val="181204838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0C7B0B4-F1B6-49A4-9B43-085A30E4E140}" type="slidenum">
              <a:rPr lang="zh-CN" altLang="en-US" smtClean="0"/>
              <a:t>85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圆角矩形 6"/>
          <p:cNvSpPr/>
          <p:nvPr userDrawn="1"/>
        </p:nvSpPr>
        <p:spPr>
          <a:xfrm>
            <a:off x="-617534" y="347148"/>
            <a:ext cx="1705253" cy="332335"/>
          </a:xfrm>
          <a:prstGeom prst="roundRect">
            <a:avLst>
              <a:gd name="adj" fmla="val 50000"/>
            </a:avLst>
          </a:prstGeom>
          <a:gradFill>
            <a:gsLst>
              <a:gs pos="52000">
                <a:srgbClr val="03E790"/>
              </a:gs>
              <a:gs pos="100000">
                <a:srgbClr val="0070C0"/>
              </a:gs>
              <a:gs pos="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245658" y="155789"/>
            <a:ext cx="10850563" cy="616372"/>
          </a:xfrm>
        </p:spPr>
        <p:txBody>
          <a:bodyPr/>
          <a:lstStyle/>
          <a:p>
            <a:r>
              <a:rPr lang="zh-CN" altLang="en-US" dirty="0"/>
              <a:t>单击此处编辑母版标题样式</a:t>
            </a: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4_标题幻灯片">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7" name="圆角矩形 6"/>
          <p:cNvSpPr/>
          <p:nvPr userDrawn="1"/>
        </p:nvSpPr>
        <p:spPr>
          <a:xfrm>
            <a:off x="-617534" y="357943"/>
            <a:ext cx="1705253" cy="332335"/>
          </a:xfrm>
          <a:prstGeom prst="roundRect">
            <a:avLst>
              <a:gd name="adj" fmla="val 50000"/>
            </a:avLst>
          </a:prstGeom>
          <a:gradFill>
            <a:gsLst>
              <a:gs pos="52000">
                <a:srgbClr val="03E790"/>
              </a:gs>
              <a:gs pos="100000">
                <a:srgbClr val="0070C0"/>
              </a:gs>
              <a:gs pos="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40095" y="0"/>
            <a:ext cx="3651905" cy="3015448"/>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71633"/>
            <a:ext cx="1743607" cy="1286367"/>
          </a:xfrm>
          <a:prstGeom prst="rect">
            <a:avLst/>
          </a:prstGeom>
        </p:spPr>
      </p:pic>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3" name="矩形 1"/>
          <p:cNvSpPr/>
          <p:nvPr userDrawn="1"/>
        </p:nvSpPr>
        <p:spPr>
          <a:xfrm>
            <a:off x="0" y="290285"/>
            <a:ext cx="1364343" cy="435429"/>
          </a:xfrm>
          <a:custGeom>
            <a:avLst/>
            <a:gdLst>
              <a:gd name="connsiteX0" fmla="*/ 0 w 1364343"/>
              <a:gd name="connsiteY0" fmla="*/ 0 h 435429"/>
              <a:gd name="connsiteX1" fmla="*/ 1364343 w 1364343"/>
              <a:gd name="connsiteY1" fmla="*/ 0 h 435429"/>
              <a:gd name="connsiteX2" fmla="*/ 1364343 w 1364343"/>
              <a:gd name="connsiteY2" fmla="*/ 435429 h 435429"/>
              <a:gd name="connsiteX3" fmla="*/ 0 w 1364343"/>
              <a:gd name="connsiteY3" fmla="*/ 435429 h 435429"/>
              <a:gd name="connsiteX4" fmla="*/ 0 w 1364343"/>
              <a:gd name="connsiteY4" fmla="*/ 0 h 435429"/>
              <a:gd name="connsiteX0-1" fmla="*/ 0 w 1364343"/>
              <a:gd name="connsiteY0-2" fmla="*/ 0 h 435429"/>
              <a:gd name="connsiteX1-3" fmla="*/ 1364343 w 1364343"/>
              <a:gd name="connsiteY1-4" fmla="*/ 0 h 435429"/>
              <a:gd name="connsiteX2-5" fmla="*/ 1190171 w 1364343"/>
              <a:gd name="connsiteY2-6" fmla="*/ 435429 h 435429"/>
              <a:gd name="connsiteX3-7" fmla="*/ 0 w 1364343"/>
              <a:gd name="connsiteY3-8" fmla="*/ 435429 h 435429"/>
              <a:gd name="connsiteX4-9" fmla="*/ 0 w 1364343"/>
              <a:gd name="connsiteY4-10" fmla="*/ 0 h 4354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4343" h="435429">
                <a:moveTo>
                  <a:pt x="0" y="0"/>
                </a:moveTo>
                <a:lnTo>
                  <a:pt x="1364343" y="0"/>
                </a:lnTo>
                <a:lnTo>
                  <a:pt x="1190171" y="435429"/>
                </a:lnTo>
                <a:lnTo>
                  <a:pt x="0" y="435429"/>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平行四边形 3"/>
          <p:cNvSpPr/>
          <p:nvPr userDrawn="1"/>
        </p:nvSpPr>
        <p:spPr>
          <a:xfrm>
            <a:off x="1242276" y="291873"/>
            <a:ext cx="447335" cy="433841"/>
          </a:xfrm>
          <a:prstGeom prst="parallelogram">
            <a:avLst>
              <a:gd name="adj" fmla="val 40109"/>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userDrawn="1"/>
        </p:nvSpPr>
        <p:spPr>
          <a:xfrm>
            <a:off x="68728" y="323333"/>
            <a:ext cx="868680" cy="299085"/>
          </a:xfrm>
          <a:prstGeom prst="rect">
            <a:avLst/>
          </a:prstGeom>
          <a:noFill/>
          <a:extLst>
            <a:ext uri="{909E8E84-426E-40DD-AFC4-6F175D3DCCD1}">
              <a14:hiddenFill xmlns:a14="http://schemas.microsoft.com/office/drawing/2010/main">
                <a:solidFill>
                  <a:schemeClr val="accent2"/>
                </a:solidFill>
              </a14:hiddenFill>
            </a:ext>
          </a:extLst>
        </p:spPr>
        <p:txBody>
          <a:bodyPr wrap="none" rtlCol="0">
            <a:spAutoFit/>
          </a:bodyPr>
          <a:lstStyle/>
          <a:p>
            <a:r>
              <a:rPr lang="zh-CN" altLang="en-US" sz="1350" dirty="0">
                <a:solidFill>
                  <a:schemeClr val="bg1"/>
                </a:solidFill>
                <a:latin typeface="微软雅黑" panose="020B0503020204020204" pitchFamily="34" charset="-122"/>
                <a:ea typeface="微软雅黑" panose="020B0503020204020204" pitchFamily="34" charset="-122"/>
              </a:rPr>
              <a:t>开发框架</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sp>
        <p:nvSpPr>
          <p:cNvPr id="9" name="矩形 8"/>
          <p:cNvSpPr/>
          <p:nvPr userDrawn="1"/>
        </p:nvSpPr>
        <p:spPr>
          <a:xfrm flipH="1">
            <a:off x="-3" y="1825874"/>
            <a:ext cx="8768221" cy="5032126"/>
          </a:xfrm>
          <a:prstGeom prst="rect">
            <a:avLst/>
          </a:prstGeom>
          <a:blipFill>
            <a:blip r:embed="rId2"/>
            <a:srcRect/>
            <a:stretch>
              <a:fillRect l="-3368" t="8787" b="-199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1" name="副标题 2"/>
          <p:cNvSpPr>
            <a:spLocks noGrp="1"/>
          </p:cNvSpPr>
          <p:nvPr userDrawn="1">
            <p:ph type="subTitle" idx="1"/>
          </p:nvPr>
        </p:nvSpPr>
        <p:spPr>
          <a:xfrm>
            <a:off x="669926" y="4358808"/>
            <a:ext cx="10850563" cy="428813"/>
          </a:xfrm>
        </p:spPr>
        <p:txBody>
          <a:bodyPr anchor="ctr" anchorCtr="0">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6" y="1448424"/>
            <a:ext cx="10850563" cy="2893513"/>
          </a:xfrm>
        </p:spPr>
        <p:txBody>
          <a:bodyPr anchor="b" anchorCtr="0">
            <a:normAutofit/>
          </a:bodyPr>
          <a:lstStyle>
            <a:lvl1pPr algn="ctr">
              <a:defRPr sz="4000">
                <a:solidFill>
                  <a:schemeClr val="bg1"/>
                </a:solidFill>
              </a:defRPr>
            </a:lvl1pPr>
          </a:lstStyle>
          <a:p>
            <a:r>
              <a:rPr lang="en-US" dirty="0"/>
              <a:t>Click to edit Master title style</a:t>
            </a:r>
            <a:endParaRPr lang="zh-CN" altLang="en-US" dirty="0"/>
          </a:p>
        </p:txBody>
      </p:sp>
      <p:sp>
        <p:nvSpPr>
          <p:cNvPr id="12" name="文本占位符 13"/>
          <p:cNvSpPr>
            <a:spLocks noGrp="1"/>
          </p:cNvSpPr>
          <p:nvPr userDrawn="1">
            <p:ph type="body" sz="quarter" idx="10" hasCustomPrompt="1"/>
          </p:nvPr>
        </p:nvSpPr>
        <p:spPr>
          <a:xfrm>
            <a:off x="3251201" y="5215181"/>
            <a:ext cx="7546235" cy="319794"/>
          </a:xfrm>
        </p:spPr>
        <p:txBody>
          <a:bodyPr vert="horz" anchor="ctr">
            <a:noAutofit/>
          </a:bodyPr>
          <a:lstStyle>
            <a:lvl1pPr marL="0" indent="0" algn="r">
              <a:buNone/>
              <a:defRPr sz="15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3251201" y="5511452"/>
            <a:ext cx="7546235" cy="319794"/>
          </a:xfrm>
        </p:spPr>
        <p:txBody>
          <a:bodyPr vert="horz" anchor="ctr">
            <a:noAutofit/>
          </a:bodyPr>
          <a:lstStyle>
            <a:lvl1pPr marL="0" indent="0" algn="r">
              <a:buNone/>
              <a:defRPr sz="15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7290148" y="2729371"/>
            <a:ext cx="4230340" cy="895350"/>
          </a:xfrm>
        </p:spPr>
        <p:txBody>
          <a:bodyPr anchor="b">
            <a:normAutofit/>
          </a:bodyPr>
          <a:lstStyle>
            <a:lvl1pPr algn="l">
              <a:defRPr sz="2400" b="1">
                <a:solidFill>
                  <a:schemeClr val="tx2"/>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7291264" y="3624721"/>
            <a:ext cx="4230340" cy="1015623"/>
          </a:xfrm>
        </p:spPr>
        <p:txBody>
          <a:bodyPr anchor="t">
            <a:normAutofit/>
          </a:bodyPr>
          <a:lstStyle>
            <a:lvl1pPr marL="0" indent="0" algn="l">
              <a:lnSpc>
                <a:spcPct val="100000"/>
              </a:lnSpc>
              <a:buNone/>
              <a:defRPr sz="11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489D9C7-5DC6-4263-87FF-7C99F6FB63C3}" type="datetime1">
              <a:rPr lang="zh-CN" altLang="en-US" smtClean="0"/>
              <a:t>2025-04-17</a:t>
            </a:fld>
            <a:endParaRPr lang="zh-CN" altLang="en-US"/>
          </a:p>
        </p:txBody>
      </p:sp>
      <p:sp>
        <p:nvSpPr>
          <p:cNvPr id="4" name="页脚占位符 3"/>
          <p:cNvSpPr>
            <a:spLocks noGrp="1"/>
          </p:cNvSpPr>
          <p:nvPr>
            <p:ph type="ftr" sz="quarter" idx="11"/>
          </p:nvPr>
        </p:nvSpPr>
        <p:spPr/>
        <p:txBody>
          <a:bodyPr/>
          <a:lstStyle/>
          <a:p>
            <a:r>
              <a:rPr lang="en-US" altLang="zh-CN" dirty="0"/>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6489D9C7-5DC6-4263-87FF-7C99F6FB63C3}" type="datetime1">
              <a:rPr lang="zh-CN" altLang="en-US" smtClean="0"/>
              <a:t>2025-04-17</a:t>
            </a:fld>
            <a:endParaRPr lang="zh-CN" altLang="en-US"/>
          </a:p>
        </p:txBody>
      </p:sp>
      <p:sp>
        <p:nvSpPr>
          <p:cNvPr id="4" name="Footer Placeholder 3"/>
          <p:cNvSpPr>
            <a:spLocks noGrp="1"/>
          </p:cNvSpPr>
          <p:nvPr>
            <p:ph type="ftr" sz="quarter" idx="11"/>
          </p:nvPr>
        </p:nvSpPr>
        <p:spPr/>
        <p:txBody>
          <a:bodyPr/>
          <a:lstStyle/>
          <a:p>
            <a:r>
              <a:rPr lang="en-US" altLang="zh-CN" dirty="0"/>
              <a:t>www.islide.cc</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userDrawn="1">
  <p:cSld name="1_节标题">
    <p:spTree>
      <p:nvGrpSpPr>
        <p:cNvPr id="1" name=""/>
        <p:cNvGrpSpPr/>
        <p:nvPr/>
      </p:nvGrpSpPr>
      <p:grpSpPr>
        <a:xfrm>
          <a:off x="0" y="0"/>
          <a:ext cx="0" cy="0"/>
          <a:chOff x="0" y="0"/>
          <a:chExt cx="0" cy="0"/>
        </a:xfrm>
      </p:grpSpPr>
      <p:pic>
        <p:nvPicPr>
          <p:cNvPr id="38" name="图片 37"/>
          <p:cNvPicPr>
            <a:picLocks noChangeAspect="1"/>
          </p:cNvPicPr>
          <p:nvPr userDrawn="1"/>
        </p:nvPicPr>
        <p:blipFill rotWithShape="1">
          <a:blip r:embed="rId2">
            <a:extLst>
              <a:ext uri="{28A0092B-C50C-407E-A947-70E740481C1C}">
                <a14:useLocalDpi xmlns:a14="http://schemas.microsoft.com/office/drawing/2010/main" val="0"/>
              </a:ext>
            </a:extLst>
          </a:blip>
          <a:srcRect l="36773" t="23485" r="36813" b="35171"/>
          <a:stretch>
            <a:fillRect/>
          </a:stretch>
        </p:blipFill>
        <p:spPr>
          <a:xfrm>
            <a:off x="7403252" y="1265236"/>
            <a:ext cx="3752278" cy="3303666"/>
          </a:xfrm>
          <a:prstGeom prst="rect">
            <a:avLst/>
          </a:prstGeom>
        </p:spPr>
      </p:pic>
      <p:sp>
        <p:nvSpPr>
          <p:cNvPr id="7" name="Freeform 7"/>
          <p:cNvSpPr/>
          <p:nvPr userDrawn="1"/>
        </p:nvSpPr>
        <p:spPr bwMode="auto">
          <a:xfrm>
            <a:off x="7367153" y="1276349"/>
            <a:ext cx="3787775" cy="3271838"/>
          </a:xfrm>
          <a:custGeom>
            <a:avLst/>
            <a:gdLst>
              <a:gd name="T0" fmla="*/ 0 w 2386"/>
              <a:gd name="T1" fmla="*/ 2057 h 2061"/>
              <a:gd name="T2" fmla="*/ 1190 w 2386"/>
              <a:gd name="T3" fmla="*/ 0 h 2061"/>
              <a:gd name="T4" fmla="*/ 2386 w 2386"/>
              <a:gd name="T5" fmla="*/ 2061 h 2061"/>
              <a:gd name="T6" fmla="*/ 0 w 2386"/>
              <a:gd name="T7" fmla="*/ 2057 h 2061"/>
            </a:gdLst>
            <a:ahLst/>
            <a:cxnLst>
              <a:cxn ang="0">
                <a:pos x="T0" y="T1"/>
              </a:cxn>
              <a:cxn ang="0">
                <a:pos x="T2" y="T3"/>
              </a:cxn>
              <a:cxn ang="0">
                <a:pos x="T4" y="T5"/>
              </a:cxn>
              <a:cxn ang="0">
                <a:pos x="T6" y="T7"/>
              </a:cxn>
            </a:cxnLst>
            <a:rect l="0" t="0" r="r" b="b"/>
            <a:pathLst>
              <a:path w="2386" h="2061">
                <a:moveTo>
                  <a:pt x="0" y="2057"/>
                </a:moveTo>
                <a:lnTo>
                  <a:pt x="1190" y="0"/>
                </a:lnTo>
                <a:lnTo>
                  <a:pt x="2386" y="2061"/>
                </a:lnTo>
                <a:lnTo>
                  <a:pt x="0" y="2057"/>
                </a:lnTo>
                <a:close/>
              </a:path>
            </a:pathLst>
          </a:custGeom>
          <a:solidFill>
            <a:schemeClr val="accent1">
              <a:alpha val="60000"/>
            </a:schemeClr>
          </a:solidFill>
          <a:ln>
            <a:noFill/>
          </a:ln>
        </p:spPr>
        <p:txBody>
          <a:bodyPr vert="horz" wrap="square" lIns="91440" tIns="45720" rIns="91440" bIns="45720" numCol="1" anchor="t" anchorCtr="0" compatLnSpc="1"/>
          <a:lstStyle/>
          <a:p>
            <a:endParaRPr lang="zh-CN" altLang="en-US"/>
          </a:p>
        </p:txBody>
      </p:sp>
      <p:sp>
        <p:nvSpPr>
          <p:cNvPr id="5" name="Freeform 5"/>
          <p:cNvSpPr/>
          <p:nvPr userDrawn="1"/>
        </p:nvSpPr>
        <p:spPr bwMode="auto">
          <a:xfrm>
            <a:off x="7338786" y="4534126"/>
            <a:ext cx="3800475" cy="2312988"/>
          </a:xfrm>
          <a:custGeom>
            <a:avLst/>
            <a:gdLst>
              <a:gd name="T0" fmla="*/ 1197 w 2394"/>
              <a:gd name="T1" fmla="*/ 1457 h 1457"/>
              <a:gd name="T2" fmla="*/ 2394 w 2394"/>
              <a:gd name="T3" fmla="*/ 0 h 1457"/>
              <a:gd name="T4" fmla="*/ 0 w 2394"/>
              <a:gd name="T5" fmla="*/ 0 h 1457"/>
              <a:gd name="T6" fmla="*/ 1197 w 2394"/>
              <a:gd name="T7" fmla="*/ 1457 h 1457"/>
            </a:gdLst>
            <a:ahLst/>
            <a:cxnLst>
              <a:cxn ang="0">
                <a:pos x="T0" y="T1"/>
              </a:cxn>
              <a:cxn ang="0">
                <a:pos x="T2" y="T3"/>
              </a:cxn>
              <a:cxn ang="0">
                <a:pos x="T4" y="T5"/>
              </a:cxn>
              <a:cxn ang="0">
                <a:pos x="T6" y="T7"/>
              </a:cxn>
            </a:cxnLst>
            <a:rect l="0" t="0" r="r" b="b"/>
            <a:pathLst>
              <a:path w="2394" h="1457">
                <a:moveTo>
                  <a:pt x="1197" y="1457"/>
                </a:moveTo>
                <a:lnTo>
                  <a:pt x="2394" y="0"/>
                </a:lnTo>
                <a:lnTo>
                  <a:pt x="0" y="0"/>
                </a:lnTo>
                <a:lnTo>
                  <a:pt x="1197" y="1457"/>
                </a:lnTo>
                <a:close/>
              </a:path>
            </a:pathLst>
          </a:custGeom>
          <a:solidFill>
            <a:schemeClr val="accent3"/>
          </a:solidFill>
          <a:ln>
            <a:noFill/>
          </a:ln>
        </p:spPr>
        <p:txBody>
          <a:bodyPr vert="horz" wrap="square" lIns="91440" tIns="45720" rIns="91440" bIns="45720" numCol="1" anchor="t" anchorCtr="0" compatLnSpc="1"/>
          <a:lstStyle/>
          <a:p>
            <a:endParaRPr lang="zh-CN" altLang="en-US"/>
          </a:p>
        </p:txBody>
      </p:sp>
      <p:sp>
        <p:nvSpPr>
          <p:cNvPr id="6" name="Freeform 6"/>
          <p:cNvSpPr/>
          <p:nvPr userDrawn="1"/>
        </p:nvSpPr>
        <p:spPr bwMode="auto">
          <a:xfrm>
            <a:off x="7338786" y="4534126"/>
            <a:ext cx="3800475" cy="2312988"/>
          </a:xfrm>
          <a:custGeom>
            <a:avLst/>
            <a:gdLst>
              <a:gd name="T0" fmla="*/ 1197 w 2394"/>
              <a:gd name="T1" fmla="*/ 1457 h 1457"/>
              <a:gd name="T2" fmla="*/ 2394 w 2394"/>
              <a:gd name="T3" fmla="*/ 0 h 1457"/>
              <a:gd name="T4" fmla="*/ 0 w 2394"/>
              <a:gd name="T5" fmla="*/ 0 h 1457"/>
              <a:gd name="T6" fmla="*/ 1197 w 2394"/>
              <a:gd name="T7" fmla="*/ 1457 h 1457"/>
            </a:gdLst>
            <a:ahLst/>
            <a:cxnLst>
              <a:cxn ang="0">
                <a:pos x="T0" y="T1"/>
              </a:cxn>
              <a:cxn ang="0">
                <a:pos x="T2" y="T3"/>
              </a:cxn>
              <a:cxn ang="0">
                <a:pos x="T4" y="T5"/>
              </a:cxn>
              <a:cxn ang="0">
                <a:pos x="T6" y="T7"/>
              </a:cxn>
            </a:cxnLst>
            <a:rect l="0" t="0" r="r" b="b"/>
            <a:pathLst>
              <a:path w="2394" h="1457">
                <a:moveTo>
                  <a:pt x="1197" y="1457"/>
                </a:moveTo>
                <a:lnTo>
                  <a:pt x="2394" y="0"/>
                </a:lnTo>
                <a:lnTo>
                  <a:pt x="0" y="0"/>
                </a:lnTo>
                <a:lnTo>
                  <a:pt x="1197" y="14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8"/>
          <p:cNvSpPr>
            <a:spLocks noEditPoints="1"/>
          </p:cNvSpPr>
          <p:nvPr userDrawn="1"/>
        </p:nvSpPr>
        <p:spPr bwMode="auto">
          <a:xfrm>
            <a:off x="7368269" y="1269999"/>
            <a:ext cx="3797300" cy="3281363"/>
          </a:xfrm>
          <a:custGeom>
            <a:avLst/>
            <a:gdLst>
              <a:gd name="T0" fmla="*/ 1193 w 2392"/>
              <a:gd name="T1" fmla="*/ 8 h 2067"/>
              <a:gd name="T2" fmla="*/ 2385 w 2392"/>
              <a:gd name="T3" fmla="*/ 2063 h 2067"/>
              <a:gd name="T4" fmla="*/ 7 w 2392"/>
              <a:gd name="T5" fmla="*/ 2059 h 2067"/>
              <a:gd name="T6" fmla="*/ 1193 w 2392"/>
              <a:gd name="T7" fmla="*/ 8 h 2067"/>
              <a:gd name="T8" fmla="*/ 1193 w 2392"/>
              <a:gd name="T9" fmla="*/ 0 h 2067"/>
              <a:gd name="T10" fmla="*/ 0 w 2392"/>
              <a:gd name="T11" fmla="*/ 2063 h 2067"/>
              <a:gd name="T12" fmla="*/ 2392 w 2392"/>
              <a:gd name="T13" fmla="*/ 2067 h 2067"/>
              <a:gd name="T14" fmla="*/ 1193 w 2392"/>
              <a:gd name="T15" fmla="*/ 0 h 20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2" h="2067">
                <a:moveTo>
                  <a:pt x="1193" y="8"/>
                </a:moveTo>
                <a:lnTo>
                  <a:pt x="2385" y="2063"/>
                </a:lnTo>
                <a:lnTo>
                  <a:pt x="7" y="2059"/>
                </a:lnTo>
                <a:lnTo>
                  <a:pt x="1193" y="8"/>
                </a:lnTo>
                <a:close/>
                <a:moveTo>
                  <a:pt x="1193" y="0"/>
                </a:moveTo>
                <a:lnTo>
                  <a:pt x="0" y="2063"/>
                </a:lnTo>
                <a:lnTo>
                  <a:pt x="2392" y="2067"/>
                </a:lnTo>
                <a:lnTo>
                  <a:pt x="119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9"/>
          <p:cNvSpPr>
            <a:spLocks noEditPoints="1"/>
          </p:cNvSpPr>
          <p:nvPr userDrawn="1"/>
        </p:nvSpPr>
        <p:spPr bwMode="auto">
          <a:xfrm>
            <a:off x="7368269" y="1269999"/>
            <a:ext cx="3797300" cy="3281363"/>
          </a:xfrm>
          <a:custGeom>
            <a:avLst/>
            <a:gdLst>
              <a:gd name="T0" fmla="*/ 1193 w 2392"/>
              <a:gd name="T1" fmla="*/ 8 h 2067"/>
              <a:gd name="T2" fmla="*/ 2385 w 2392"/>
              <a:gd name="T3" fmla="*/ 2063 h 2067"/>
              <a:gd name="T4" fmla="*/ 7 w 2392"/>
              <a:gd name="T5" fmla="*/ 2059 h 2067"/>
              <a:gd name="T6" fmla="*/ 1193 w 2392"/>
              <a:gd name="T7" fmla="*/ 8 h 2067"/>
              <a:gd name="T8" fmla="*/ 1193 w 2392"/>
              <a:gd name="T9" fmla="*/ 0 h 2067"/>
              <a:gd name="T10" fmla="*/ 0 w 2392"/>
              <a:gd name="T11" fmla="*/ 2063 h 2067"/>
              <a:gd name="T12" fmla="*/ 2392 w 2392"/>
              <a:gd name="T13" fmla="*/ 2067 h 2067"/>
              <a:gd name="T14" fmla="*/ 1193 w 2392"/>
              <a:gd name="T15" fmla="*/ 0 h 20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2" h="2067">
                <a:moveTo>
                  <a:pt x="1193" y="8"/>
                </a:moveTo>
                <a:lnTo>
                  <a:pt x="2385" y="2063"/>
                </a:lnTo>
                <a:lnTo>
                  <a:pt x="7" y="2059"/>
                </a:lnTo>
                <a:lnTo>
                  <a:pt x="1193" y="8"/>
                </a:lnTo>
                <a:moveTo>
                  <a:pt x="1193" y="0"/>
                </a:moveTo>
                <a:lnTo>
                  <a:pt x="0" y="2063"/>
                </a:lnTo>
                <a:lnTo>
                  <a:pt x="2392" y="2067"/>
                </a:lnTo>
                <a:lnTo>
                  <a:pt x="11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0"/>
          <p:cNvSpPr/>
          <p:nvPr userDrawn="1"/>
        </p:nvSpPr>
        <p:spPr bwMode="auto">
          <a:xfrm>
            <a:off x="9262609" y="1280885"/>
            <a:ext cx="2930525" cy="3275013"/>
          </a:xfrm>
          <a:custGeom>
            <a:avLst/>
            <a:gdLst>
              <a:gd name="T0" fmla="*/ 1846 w 1846"/>
              <a:gd name="T1" fmla="*/ 304 h 2063"/>
              <a:gd name="T2" fmla="*/ 1190 w 1846"/>
              <a:gd name="T3" fmla="*/ 2063 h 2063"/>
              <a:gd name="T4" fmla="*/ 0 w 1846"/>
              <a:gd name="T5" fmla="*/ 0 h 2063"/>
              <a:gd name="T6" fmla="*/ 1846 w 1846"/>
              <a:gd name="T7" fmla="*/ 304 h 2063"/>
            </a:gdLst>
            <a:ahLst/>
            <a:cxnLst>
              <a:cxn ang="0">
                <a:pos x="T0" y="T1"/>
              </a:cxn>
              <a:cxn ang="0">
                <a:pos x="T2" y="T3"/>
              </a:cxn>
              <a:cxn ang="0">
                <a:pos x="T4" y="T5"/>
              </a:cxn>
              <a:cxn ang="0">
                <a:pos x="T6" y="T7"/>
              </a:cxn>
            </a:cxnLst>
            <a:rect l="0" t="0" r="r" b="b"/>
            <a:pathLst>
              <a:path w="1846" h="2063">
                <a:moveTo>
                  <a:pt x="1846" y="304"/>
                </a:moveTo>
                <a:lnTo>
                  <a:pt x="1190" y="2063"/>
                </a:lnTo>
                <a:lnTo>
                  <a:pt x="0" y="0"/>
                </a:lnTo>
                <a:lnTo>
                  <a:pt x="1846" y="304"/>
                </a:lnTo>
                <a:close/>
              </a:path>
            </a:pathLst>
          </a:custGeom>
          <a:solidFill>
            <a:schemeClr val="accent2">
              <a:alpha val="80000"/>
            </a:schemeClr>
          </a:solidFill>
          <a:ln>
            <a:noFill/>
          </a:ln>
        </p:spPr>
        <p:txBody>
          <a:bodyPr vert="horz" wrap="square" lIns="91440" tIns="45720" rIns="91440" bIns="45720" numCol="1" anchor="t" anchorCtr="0" compatLnSpc="1"/>
          <a:lstStyle/>
          <a:p>
            <a:endParaRPr lang="zh-CN" altLang="en-US"/>
          </a:p>
        </p:txBody>
      </p:sp>
      <p:sp>
        <p:nvSpPr>
          <p:cNvPr id="11" name="Freeform 11"/>
          <p:cNvSpPr/>
          <p:nvPr userDrawn="1"/>
        </p:nvSpPr>
        <p:spPr bwMode="auto">
          <a:xfrm>
            <a:off x="9256032" y="32885"/>
            <a:ext cx="2967038" cy="1744663"/>
          </a:xfrm>
          <a:custGeom>
            <a:avLst/>
            <a:gdLst>
              <a:gd name="T0" fmla="*/ 0 w 1869"/>
              <a:gd name="T1" fmla="*/ 0 h 1099"/>
              <a:gd name="T2" fmla="*/ 0 w 1869"/>
              <a:gd name="T3" fmla="*/ 792 h 1099"/>
              <a:gd name="T4" fmla="*/ 1869 w 1869"/>
              <a:gd name="T5" fmla="*/ 1099 h 1099"/>
              <a:gd name="T6" fmla="*/ 0 w 1869"/>
              <a:gd name="T7" fmla="*/ 0 h 1099"/>
            </a:gdLst>
            <a:ahLst/>
            <a:cxnLst>
              <a:cxn ang="0">
                <a:pos x="T0" y="T1"/>
              </a:cxn>
              <a:cxn ang="0">
                <a:pos x="T2" y="T3"/>
              </a:cxn>
              <a:cxn ang="0">
                <a:pos x="T4" y="T5"/>
              </a:cxn>
              <a:cxn ang="0">
                <a:pos x="T6" y="T7"/>
              </a:cxn>
            </a:cxnLst>
            <a:rect l="0" t="0" r="r" b="b"/>
            <a:pathLst>
              <a:path w="1869" h="1099">
                <a:moveTo>
                  <a:pt x="0" y="0"/>
                </a:moveTo>
                <a:lnTo>
                  <a:pt x="0" y="792"/>
                </a:lnTo>
                <a:lnTo>
                  <a:pt x="1869" y="1099"/>
                </a:lnTo>
                <a:lnTo>
                  <a:pt x="0" y="0"/>
                </a:ln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12" name="Freeform 12"/>
          <p:cNvSpPr/>
          <p:nvPr userDrawn="1"/>
        </p:nvSpPr>
        <p:spPr bwMode="auto">
          <a:xfrm>
            <a:off x="9235848" y="-10887"/>
            <a:ext cx="2967038" cy="1744663"/>
          </a:xfrm>
          <a:custGeom>
            <a:avLst/>
            <a:gdLst>
              <a:gd name="T0" fmla="*/ 0 w 1869"/>
              <a:gd name="T1" fmla="*/ 0 h 1099"/>
              <a:gd name="T2" fmla="*/ 0 w 1869"/>
              <a:gd name="T3" fmla="*/ 792 h 1099"/>
              <a:gd name="T4" fmla="*/ 1869 w 1869"/>
              <a:gd name="T5" fmla="*/ 1099 h 1099"/>
              <a:gd name="T6" fmla="*/ 0 w 1869"/>
              <a:gd name="T7" fmla="*/ 0 h 1099"/>
            </a:gdLst>
            <a:ahLst/>
            <a:cxnLst>
              <a:cxn ang="0">
                <a:pos x="T0" y="T1"/>
              </a:cxn>
              <a:cxn ang="0">
                <a:pos x="T2" y="T3"/>
              </a:cxn>
              <a:cxn ang="0">
                <a:pos x="T4" y="T5"/>
              </a:cxn>
              <a:cxn ang="0">
                <a:pos x="T6" y="T7"/>
              </a:cxn>
            </a:cxnLst>
            <a:rect l="0" t="0" r="r" b="b"/>
            <a:pathLst>
              <a:path w="1869" h="1099">
                <a:moveTo>
                  <a:pt x="0" y="0"/>
                </a:moveTo>
                <a:lnTo>
                  <a:pt x="0" y="792"/>
                </a:lnTo>
                <a:lnTo>
                  <a:pt x="1869" y="109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3"/>
          <p:cNvSpPr/>
          <p:nvPr userDrawn="1"/>
        </p:nvSpPr>
        <p:spPr bwMode="auto">
          <a:xfrm>
            <a:off x="6279697" y="4534126"/>
            <a:ext cx="2967038" cy="2312988"/>
          </a:xfrm>
          <a:custGeom>
            <a:avLst/>
            <a:gdLst>
              <a:gd name="T0" fmla="*/ 665 w 1869"/>
              <a:gd name="T1" fmla="*/ 0 h 1457"/>
              <a:gd name="T2" fmla="*/ 0 w 1869"/>
              <a:gd name="T3" fmla="*/ 383 h 1457"/>
              <a:gd name="T4" fmla="*/ 1869 w 1869"/>
              <a:gd name="T5" fmla="*/ 1457 h 1457"/>
              <a:gd name="T6" fmla="*/ 665 w 1869"/>
              <a:gd name="T7" fmla="*/ 0 h 1457"/>
            </a:gdLst>
            <a:ahLst/>
            <a:cxnLst>
              <a:cxn ang="0">
                <a:pos x="T0" y="T1"/>
              </a:cxn>
              <a:cxn ang="0">
                <a:pos x="T2" y="T3"/>
              </a:cxn>
              <a:cxn ang="0">
                <a:pos x="T4" y="T5"/>
              </a:cxn>
              <a:cxn ang="0">
                <a:pos x="T6" y="T7"/>
              </a:cxn>
            </a:cxnLst>
            <a:rect l="0" t="0" r="r" b="b"/>
            <a:pathLst>
              <a:path w="1869" h="1457">
                <a:moveTo>
                  <a:pt x="665" y="0"/>
                </a:moveTo>
                <a:lnTo>
                  <a:pt x="0" y="383"/>
                </a:lnTo>
                <a:lnTo>
                  <a:pt x="1869" y="1457"/>
                </a:lnTo>
                <a:lnTo>
                  <a:pt x="665" y="0"/>
                </a:lnTo>
                <a:close/>
              </a:path>
            </a:pathLst>
          </a:custGeom>
          <a:solidFill>
            <a:schemeClr val="accent2">
              <a:alpha val="80000"/>
            </a:schemeClr>
          </a:solidFill>
          <a:ln>
            <a:noFill/>
          </a:ln>
        </p:spPr>
        <p:txBody>
          <a:bodyPr vert="horz" wrap="square" lIns="91440" tIns="45720" rIns="91440" bIns="45720" numCol="1" anchor="t" anchorCtr="0" compatLnSpc="1"/>
          <a:lstStyle/>
          <a:p>
            <a:endParaRPr lang="zh-CN" altLang="en-US"/>
          </a:p>
        </p:txBody>
      </p:sp>
      <p:sp>
        <p:nvSpPr>
          <p:cNvPr id="14" name="Freeform 14"/>
          <p:cNvSpPr/>
          <p:nvPr userDrawn="1"/>
        </p:nvSpPr>
        <p:spPr bwMode="auto">
          <a:xfrm>
            <a:off x="6268811" y="4534126"/>
            <a:ext cx="2967038" cy="2312988"/>
          </a:xfrm>
          <a:custGeom>
            <a:avLst/>
            <a:gdLst>
              <a:gd name="T0" fmla="*/ 665 w 1869"/>
              <a:gd name="T1" fmla="*/ 0 h 1457"/>
              <a:gd name="T2" fmla="*/ 0 w 1869"/>
              <a:gd name="T3" fmla="*/ 383 h 1457"/>
              <a:gd name="T4" fmla="*/ 1869 w 1869"/>
              <a:gd name="T5" fmla="*/ 1457 h 1457"/>
              <a:gd name="T6" fmla="*/ 665 w 1869"/>
              <a:gd name="T7" fmla="*/ 0 h 1457"/>
            </a:gdLst>
            <a:ahLst/>
            <a:cxnLst>
              <a:cxn ang="0">
                <a:pos x="T0" y="T1"/>
              </a:cxn>
              <a:cxn ang="0">
                <a:pos x="T2" y="T3"/>
              </a:cxn>
              <a:cxn ang="0">
                <a:pos x="T4" y="T5"/>
              </a:cxn>
              <a:cxn ang="0">
                <a:pos x="T6" y="T7"/>
              </a:cxn>
            </a:cxnLst>
            <a:rect l="0" t="0" r="r" b="b"/>
            <a:pathLst>
              <a:path w="1869" h="1457">
                <a:moveTo>
                  <a:pt x="665" y="0"/>
                </a:moveTo>
                <a:lnTo>
                  <a:pt x="0" y="383"/>
                </a:lnTo>
                <a:lnTo>
                  <a:pt x="1869" y="1457"/>
                </a:lnTo>
                <a:lnTo>
                  <a:pt x="66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5"/>
          <p:cNvSpPr/>
          <p:nvPr userDrawn="1"/>
        </p:nvSpPr>
        <p:spPr bwMode="auto">
          <a:xfrm>
            <a:off x="9237662" y="4538888"/>
            <a:ext cx="2947988" cy="2297113"/>
          </a:xfrm>
          <a:custGeom>
            <a:avLst/>
            <a:gdLst>
              <a:gd name="T0" fmla="*/ 1195 w 1857"/>
              <a:gd name="T1" fmla="*/ 0 h 1447"/>
              <a:gd name="T2" fmla="*/ 1857 w 1857"/>
              <a:gd name="T3" fmla="*/ 380 h 1447"/>
              <a:gd name="T4" fmla="*/ 0 w 1857"/>
              <a:gd name="T5" fmla="*/ 1447 h 1447"/>
              <a:gd name="T6" fmla="*/ 1195 w 1857"/>
              <a:gd name="T7" fmla="*/ 0 h 1447"/>
            </a:gdLst>
            <a:ahLst/>
            <a:cxnLst>
              <a:cxn ang="0">
                <a:pos x="T0" y="T1"/>
              </a:cxn>
              <a:cxn ang="0">
                <a:pos x="T2" y="T3"/>
              </a:cxn>
              <a:cxn ang="0">
                <a:pos x="T4" y="T5"/>
              </a:cxn>
              <a:cxn ang="0">
                <a:pos x="T6" y="T7"/>
              </a:cxn>
            </a:cxnLst>
            <a:rect l="0" t="0" r="r" b="b"/>
            <a:pathLst>
              <a:path w="1857" h="1447">
                <a:moveTo>
                  <a:pt x="1195" y="0"/>
                </a:moveTo>
                <a:lnTo>
                  <a:pt x="1857" y="380"/>
                </a:lnTo>
                <a:lnTo>
                  <a:pt x="0" y="1447"/>
                </a:lnTo>
                <a:lnTo>
                  <a:pt x="1195" y="0"/>
                </a:ln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16" name="Freeform 16"/>
          <p:cNvSpPr>
            <a:spLocks noEditPoints="1"/>
          </p:cNvSpPr>
          <p:nvPr userDrawn="1"/>
        </p:nvSpPr>
        <p:spPr bwMode="auto">
          <a:xfrm>
            <a:off x="9235848" y="4534126"/>
            <a:ext cx="2967038" cy="2312988"/>
          </a:xfrm>
          <a:custGeom>
            <a:avLst/>
            <a:gdLst>
              <a:gd name="T0" fmla="*/ 1204 w 1869"/>
              <a:gd name="T1" fmla="*/ 5 h 1457"/>
              <a:gd name="T2" fmla="*/ 1861 w 1869"/>
              <a:gd name="T3" fmla="*/ 383 h 1457"/>
              <a:gd name="T4" fmla="*/ 17 w 1869"/>
              <a:gd name="T5" fmla="*/ 1443 h 1457"/>
              <a:gd name="T6" fmla="*/ 1204 w 1869"/>
              <a:gd name="T7" fmla="*/ 5 h 1457"/>
              <a:gd name="T8" fmla="*/ 1203 w 1869"/>
              <a:gd name="T9" fmla="*/ 0 h 1457"/>
              <a:gd name="T10" fmla="*/ 0 w 1869"/>
              <a:gd name="T11" fmla="*/ 1457 h 1457"/>
              <a:gd name="T12" fmla="*/ 1869 w 1869"/>
              <a:gd name="T13" fmla="*/ 383 h 1457"/>
              <a:gd name="T14" fmla="*/ 1203 w 1869"/>
              <a:gd name="T15" fmla="*/ 0 h 14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9" h="1457">
                <a:moveTo>
                  <a:pt x="1204" y="5"/>
                </a:moveTo>
                <a:lnTo>
                  <a:pt x="1861" y="383"/>
                </a:lnTo>
                <a:lnTo>
                  <a:pt x="17" y="1443"/>
                </a:lnTo>
                <a:lnTo>
                  <a:pt x="1204" y="5"/>
                </a:lnTo>
                <a:close/>
                <a:moveTo>
                  <a:pt x="1203" y="0"/>
                </a:moveTo>
                <a:lnTo>
                  <a:pt x="0" y="1457"/>
                </a:lnTo>
                <a:lnTo>
                  <a:pt x="1869" y="383"/>
                </a:lnTo>
                <a:lnTo>
                  <a:pt x="120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7"/>
          <p:cNvSpPr>
            <a:spLocks noEditPoints="1"/>
          </p:cNvSpPr>
          <p:nvPr userDrawn="1"/>
        </p:nvSpPr>
        <p:spPr bwMode="auto">
          <a:xfrm>
            <a:off x="9235848" y="4534126"/>
            <a:ext cx="2967038" cy="2312988"/>
          </a:xfrm>
          <a:custGeom>
            <a:avLst/>
            <a:gdLst>
              <a:gd name="T0" fmla="*/ 1204 w 1869"/>
              <a:gd name="T1" fmla="*/ 5 h 1457"/>
              <a:gd name="T2" fmla="*/ 1861 w 1869"/>
              <a:gd name="T3" fmla="*/ 383 h 1457"/>
              <a:gd name="T4" fmla="*/ 17 w 1869"/>
              <a:gd name="T5" fmla="*/ 1443 h 1457"/>
              <a:gd name="T6" fmla="*/ 1204 w 1869"/>
              <a:gd name="T7" fmla="*/ 5 h 1457"/>
              <a:gd name="T8" fmla="*/ 1203 w 1869"/>
              <a:gd name="T9" fmla="*/ 0 h 1457"/>
              <a:gd name="T10" fmla="*/ 0 w 1869"/>
              <a:gd name="T11" fmla="*/ 1457 h 1457"/>
              <a:gd name="T12" fmla="*/ 1869 w 1869"/>
              <a:gd name="T13" fmla="*/ 383 h 1457"/>
              <a:gd name="T14" fmla="*/ 1203 w 1869"/>
              <a:gd name="T15" fmla="*/ 0 h 14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9" h="1457">
                <a:moveTo>
                  <a:pt x="1204" y="5"/>
                </a:moveTo>
                <a:lnTo>
                  <a:pt x="1861" y="383"/>
                </a:lnTo>
                <a:lnTo>
                  <a:pt x="17" y="1443"/>
                </a:lnTo>
                <a:lnTo>
                  <a:pt x="1204" y="5"/>
                </a:lnTo>
                <a:moveTo>
                  <a:pt x="1203" y="0"/>
                </a:moveTo>
                <a:lnTo>
                  <a:pt x="0" y="1457"/>
                </a:lnTo>
                <a:lnTo>
                  <a:pt x="1869" y="383"/>
                </a:lnTo>
                <a:lnTo>
                  <a:pt x="120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8"/>
          <p:cNvSpPr/>
          <p:nvPr userDrawn="1"/>
        </p:nvSpPr>
        <p:spPr bwMode="auto">
          <a:xfrm>
            <a:off x="11137900" y="1762124"/>
            <a:ext cx="1050925" cy="3386138"/>
          </a:xfrm>
          <a:custGeom>
            <a:avLst/>
            <a:gdLst>
              <a:gd name="T0" fmla="*/ 0 w 662"/>
              <a:gd name="T1" fmla="*/ 1752 h 2133"/>
              <a:gd name="T2" fmla="*/ 662 w 662"/>
              <a:gd name="T3" fmla="*/ 0 h 2133"/>
              <a:gd name="T4" fmla="*/ 662 w 662"/>
              <a:gd name="T5" fmla="*/ 2133 h 2133"/>
              <a:gd name="T6" fmla="*/ 0 w 662"/>
              <a:gd name="T7" fmla="*/ 1752 h 2133"/>
            </a:gdLst>
            <a:ahLst/>
            <a:cxnLst>
              <a:cxn ang="0">
                <a:pos x="T0" y="T1"/>
              </a:cxn>
              <a:cxn ang="0">
                <a:pos x="T2" y="T3"/>
              </a:cxn>
              <a:cxn ang="0">
                <a:pos x="T4" y="T5"/>
              </a:cxn>
              <a:cxn ang="0">
                <a:pos x="T6" y="T7"/>
              </a:cxn>
            </a:cxnLst>
            <a:rect l="0" t="0" r="r" b="b"/>
            <a:pathLst>
              <a:path w="662" h="2133">
                <a:moveTo>
                  <a:pt x="0" y="1752"/>
                </a:moveTo>
                <a:lnTo>
                  <a:pt x="662" y="0"/>
                </a:lnTo>
                <a:lnTo>
                  <a:pt x="662" y="2133"/>
                </a:lnTo>
                <a:lnTo>
                  <a:pt x="0" y="1752"/>
                </a:lnTo>
                <a:close/>
              </a:path>
            </a:pathLst>
          </a:custGeom>
          <a:solidFill>
            <a:schemeClr val="accent3"/>
          </a:solidFill>
          <a:ln>
            <a:noFill/>
          </a:ln>
        </p:spPr>
        <p:txBody>
          <a:bodyPr vert="horz" wrap="square" lIns="91440" tIns="45720" rIns="91440" bIns="45720" numCol="1" anchor="t" anchorCtr="0" compatLnSpc="1"/>
          <a:lstStyle/>
          <a:p>
            <a:endParaRPr lang="zh-CN" altLang="en-US"/>
          </a:p>
        </p:txBody>
      </p:sp>
      <p:sp>
        <p:nvSpPr>
          <p:cNvPr id="19" name="Freeform 19"/>
          <p:cNvSpPr>
            <a:spLocks noEditPoints="1"/>
          </p:cNvSpPr>
          <p:nvPr userDrawn="1"/>
        </p:nvSpPr>
        <p:spPr bwMode="auto">
          <a:xfrm>
            <a:off x="11145611" y="1733776"/>
            <a:ext cx="1057275" cy="3408363"/>
          </a:xfrm>
          <a:custGeom>
            <a:avLst/>
            <a:gdLst>
              <a:gd name="T0" fmla="*/ 662 w 666"/>
              <a:gd name="T1" fmla="*/ 22 h 2147"/>
              <a:gd name="T2" fmla="*/ 662 w 666"/>
              <a:gd name="T3" fmla="*/ 2140 h 2147"/>
              <a:gd name="T4" fmla="*/ 5 w 666"/>
              <a:gd name="T5" fmla="*/ 1762 h 2147"/>
              <a:gd name="T6" fmla="*/ 662 w 666"/>
              <a:gd name="T7" fmla="*/ 22 h 2147"/>
              <a:gd name="T8" fmla="*/ 666 w 666"/>
              <a:gd name="T9" fmla="*/ 0 h 2147"/>
              <a:gd name="T10" fmla="*/ 0 w 666"/>
              <a:gd name="T11" fmla="*/ 1764 h 2147"/>
              <a:gd name="T12" fmla="*/ 666 w 666"/>
              <a:gd name="T13" fmla="*/ 2147 h 2147"/>
              <a:gd name="T14" fmla="*/ 666 w 666"/>
              <a:gd name="T15" fmla="*/ 0 h 21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6" h="2147">
                <a:moveTo>
                  <a:pt x="662" y="22"/>
                </a:moveTo>
                <a:lnTo>
                  <a:pt x="662" y="2140"/>
                </a:lnTo>
                <a:lnTo>
                  <a:pt x="5" y="1762"/>
                </a:lnTo>
                <a:lnTo>
                  <a:pt x="662" y="22"/>
                </a:lnTo>
                <a:close/>
                <a:moveTo>
                  <a:pt x="666" y="0"/>
                </a:moveTo>
                <a:lnTo>
                  <a:pt x="0" y="1764"/>
                </a:lnTo>
                <a:lnTo>
                  <a:pt x="666" y="2147"/>
                </a:lnTo>
                <a:lnTo>
                  <a:pt x="66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0"/>
          <p:cNvSpPr>
            <a:spLocks noEditPoints="1"/>
          </p:cNvSpPr>
          <p:nvPr userDrawn="1"/>
        </p:nvSpPr>
        <p:spPr bwMode="auto">
          <a:xfrm>
            <a:off x="11145611" y="1733776"/>
            <a:ext cx="1057275" cy="3408363"/>
          </a:xfrm>
          <a:custGeom>
            <a:avLst/>
            <a:gdLst>
              <a:gd name="T0" fmla="*/ 662 w 666"/>
              <a:gd name="T1" fmla="*/ 22 h 2147"/>
              <a:gd name="T2" fmla="*/ 662 w 666"/>
              <a:gd name="T3" fmla="*/ 2140 h 2147"/>
              <a:gd name="T4" fmla="*/ 5 w 666"/>
              <a:gd name="T5" fmla="*/ 1762 h 2147"/>
              <a:gd name="T6" fmla="*/ 662 w 666"/>
              <a:gd name="T7" fmla="*/ 22 h 2147"/>
              <a:gd name="T8" fmla="*/ 666 w 666"/>
              <a:gd name="T9" fmla="*/ 0 h 2147"/>
              <a:gd name="T10" fmla="*/ 0 w 666"/>
              <a:gd name="T11" fmla="*/ 1764 h 2147"/>
              <a:gd name="T12" fmla="*/ 666 w 666"/>
              <a:gd name="T13" fmla="*/ 2147 h 2147"/>
              <a:gd name="T14" fmla="*/ 666 w 666"/>
              <a:gd name="T15" fmla="*/ 0 h 21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6" h="2147">
                <a:moveTo>
                  <a:pt x="662" y="22"/>
                </a:moveTo>
                <a:lnTo>
                  <a:pt x="662" y="2140"/>
                </a:lnTo>
                <a:lnTo>
                  <a:pt x="5" y="1762"/>
                </a:lnTo>
                <a:lnTo>
                  <a:pt x="662" y="22"/>
                </a:lnTo>
                <a:moveTo>
                  <a:pt x="666" y="0"/>
                </a:moveTo>
                <a:lnTo>
                  <a:pt x="0" y="1764"/>
                </a:lnTo>
                <a:lnTo>
                  <a:pt x="666" y="2147"/>
                </a:lnTo>
                <a:lnTo>
                  <a:pt x="6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45"/>
          <p:cNvSpPr/>
          <p:nvPr userDrawn="1"/>
        </p:nvSpPr>
        <p:spPr bwMode="auto">
          <a:xfrm>
            <a:off x="3420436" y="912127"/>
            <a:ext cx="2207157" cy="2465713"/>
          </a:xfrm>
          <a:custGeom>
            <a:avLst/>
            <a:gdLst>
              <a:gd name="T0" fmla="*/ 0 w 1289"/>
              <a:gd name="T1" fmla="*/ 0 h 1440"/>
              <a:gd name="T2" fmla="*/ 831 w 1289"/>
              <a:gd name="T3" fmla="*/ 1440 h 1440"/>
              <a:gd name="T4" fmla="*/ 1289 w 1289"/>
              <a:gd name="T5" fmla="*/ 212 h 1440"/>
              <a:gd name="T6" fmla="*/ 0 w 1289"/>
              <a:gd name="T7" fmla="*/ 0 h 1440"/>
            </a:gdLst>
            <a:ahLst/>
            <a:cxnLst>
              <a:cxn ang="0">
                <a:pos x="T0" y="T1"/>
              </a:cxn>
              <a:cxn ang="0">
                <a:pos x="T2" y="T3"/>
              </a:cxn>
              <a:cxn ang="0">
                <a:pos x="T4" y="T5"/>
              </a:cxn>
              <a:cxn ang="0">
                <a:pos x="T6" y="T7"/>
              </a:cxn>
            </a:cxnLst>
            <a:rect l="0" t="0" r="r" b="b"/>
            <a:pathLst>
              <a:path w="1289" h="1440">
                <a:moveTo>
                  <a:pt x="0" y="0"/>
                </a:moveTo>
                <a:lnTo>
                  <a:pt x="831" y="1440"/>
                </a:lnTo>
                <a:lnTo>
                  <a:pt x="1289" y="21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5"/>
          <p:cNvSpPr/>
          <p:nvPr userDrawn="1"/>
        </p:nvSpPr>
        <p:spPr bwMode="auto">
          <a:xfrm>
            <a:off x="252" y="5148237"/>
            <a:ext cx="9272085" cy="1709763"/>
          </a:xfrm>
          <a:custGeom>
            <a:avLst/>
            <a:gdLst>
              <a:gd name="T0" fmla="*/ 5212 w 7679"/>
              <a:gd name="T1" fmla="*/ 0 h 1416"/>
              <a:gd name="T2" fmla="*/ 0 w 7679"/>
              <a:gd name="T3" fmla="*/ 1416 h 1416"/>
              <a:gd name="T4" fmla="*/ 7679 w 7679"/>
              <a:gd name="T5" fmla="*/ 1416 h 1416"/>
              <a:gd name="T6" fmla="*/ 5212 w 7679"/>
              <a:gd name="T7" fmla="*/ 0 h 1416"/>
            </a:gdLst>
            <a:ahLst/>
            <a:cxnLst>
              <a:cxn ang="0">
                <a:pos x="T0" y="T1"/>
              </a:cxn>
              <a:cxn ang="0">
                <a:pos x="T2" y="T3"/>
              </a:cxn>
              <a:cxn ang="0">
                <a:pos x="T4" y="T5"/>
              </a:cxn>
              <a:cxn ang="0">
                <a:pos x="T6" y="T7"/>
              </a:cxn>
            </a:cxnLst>
            <a:rect l="0" t="0" r="r" b="b"/>
            <a:pathLst>
              <a:path w="7679" h="1416">
                <a:moveTo>
                  <a:pt x="5212" y="0"/>
                </a:moveTo>
                <a:lnTo>
                  <a:pt x="0" y="1416"/>
                </a:lnTo>
                <a:lnTo>
                  <a:pt x="7679" y="1416"/>
                </a:lnTo>
                <a:lnTo>
                  <a:pt x="5212" y="0"/>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20" name="标题 1"/>
          <p:cNvSpPr>
            <a:spLocks noGrp="1"/>
          </p:cNvSpPr>
          <p:nvPr userDrawn="1">
            <p:ph type="title"/>
          </p:nvPr>
        </p:nvSpPr>
        <p:spPr>
          <a:xfrm>
            <a:off x="2145938" y="2859877"/>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147054" y="3755227"/>
            <a:ext cx="5419185" cy="1015623"/>
          </a:xfrm>
        </p:spPr>
        <p:txBody>
          <a:bodyPr anchor="t">
            <a:normAutofit/>
          </a:bodyPr>
          <a:lstStyle>
            <a:lvl1pPr marL="0" indent="0" algn="l">
              <a:lnSpc>
                <a:spcPct val="100000"/>
              </a:lnSpc>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12192000" cy="6858000"/>
          </a:xfrm>
          <a:prstGeom prst="rect">
            <a:avLst/>
          </a:prstGeom>
          <a:solidFill>
            <a:schemeClr val="bg1">
              <a:lumMod val="95000"/>
              <a:alpha val="70000"/>
            </a:schemeClr>
          </a:solidFill>
          <a:ln w="19050">
            <a:noFill/>
          </a:ln>
        </p:spPr>
        <p:txBody>
          <a:bodyPr lIns="0" tIns="91440" rIns="0" bIns="1463040" anchor="b"/>
          <a:lstStyle>
            <a:lvl1pPr algn="ctr" rtl="0">
              <a:buNone/>
              <a:defRPr sz="1865">
                <a:solidFill>
                  <a:schemeClr val="tx1">
                    <a:lumMod val="75000"/>
                    <a:lumOff val="25000"/>
                  </a:schemeClr>
                </a:solidFill>
              </a:defRPr>
            </a:lvl1pPr>
          </a:lstStyle>
          <a:p>
            <a:r>
              <a:rPr lang="en-US" dirty="0"/>
              <a:t>Image Holder</a:t>
            </a: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3353" cy="6858000"/>
          </a:xfrm>
          <a:prstGeom prst="rect">
            <a:avLst/>
          </a:prstGeom>
        </p:spPr>
      </p:pic>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7_Full Image">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727200" y="1710265"/>
            <a:ext cx="2607733" cy="4610100"/>
          </a:xfrm>
          <a:custGeom>
            <a:avLst/>
            <a:gdLst>
              <a:gd name="connsiteX0" fmla="*/ 0 w 1857947"/>
              <a:gd name="connsiteY0" fmla="*/ 0 h 3333750"/>
              <a:gd name="connsiteX1" fmla="*/ 1857947 w 1857947"/>
              <a:gd name="connsiteY1" fmla="*/ 0 h 3333750"/>
              <a:gd name="connsiteX2" fmla="*/ 1857947 w 1857947"/>
              <a:gd name="connsiteY2" fmla="*/ 3333750 h 3333750"/>
              <a:gd name="connsiteX3" fmla="*/ 0 w 1857947"/>
              <a:gd name="connsiteY3" fmla="*/ 3333750 h 3333750"/>
              <a:gd name="connsiteX4" fmla="*/ 0 w 1857947"/>
              <a:gd name="connsiteY4" fmla="*/ 0 h 3333750"/>
              <a:gd name="connsiteX0-1" fmla="*/ 19050 w 1857947"/>
              <a:gd name="connsiteY0-2" fmla="*/ 0 h 3384550"/>
              <a:gd name="connsiteX1-3" fmla="*/ 1857947 w 1857947"/>
              <a:gd name="connsiteY1-4" fmla="*/ 50800 h 3384550"/>
              <a:gd name="connsiteX2-5" fmla="*/ 1857947 w 1857947"/>
              <a:gd name="connsiteY2-6" fmla="*/ 3384550 h 3384550"/>
              <a:gd name="connsiteX3-7" fmla="*/ 0 w 1857947"/>
              <a:gd name="connsiteY3-8" fmla="*/ 3384550 h 3384550"/>
              <a:gd name="connsiteX4-9" fmla="*/ 19050 w 1857947"/>
              <a:gd name="connsiteY4-10" fmla="*/ 0 h 3384550"/>
              <a:gd name="connsiteX0-11" fmla="*/ 57150 w 1857947"/>
              <a:gd name="connsiteY0-12" fmla="*/ 0 h 3384550"/>
              <a:gd name="connsiteX1-13" fmla="*/ 1857947 w 1857947"/>
              <a:gd name="connsiteY1-14" fmla="*/ 50800 h 3384550"/>
              <a:gd name="connsiteX2-15" fmla="*/ 1857947 w 1857947"/>
              <a:gd name="connsiteY2-16" fmla="*/ 3384550 h 3384550"/>
              <a:gd name="connsiteX3-17" fmla="*/ 0 w 1857947"/>
              <a:gd name="connsiteY3-18" fmla="*/ 3384550 h 3384550"/>
              <a:gd name="connsiteX4-19" fmla="*/ 57150 w 1857947"/>
              <a:gd name="connsiteY4-20" fmla="*/ 0 h 3384550"/>
              <a:gd name="connsiteX0-21" fmla="*/ 101600 w 1857947"/>
              <a:gd name="connsiteY0-22" fmla="*/ 0 h 3390900"/>
              <a:gd name="connsiteX1-23" fmla="*/ 1857947 w 1857947"/>
              <a:gd name="connsiteY1-24" fmla="*/ 57150 h 3390900"/>
              <a:gd name="connsiteX2-25" fmla="*/ 1857947 w 1857947"/>
              <a:gd name="connsiteY2-26" fmla="*/ 3390900 h 3390900"/>
              <a:gd name="connsiteX3-27" fmla="*/ 0 w 1857947"/>
              <a:gd name="connsiteY3-28" fmla="*/ 3390900 h 3390900"/>
              <a:gd name="connsiteX4-29" fmla="*/ 101600 w 1857947"/>
              <a:gd name="connsiteY4-30" fmla="*/ 0 h 3390900"/>
              <a:gd name="connsiteX0-31" fmla="*/ 95250 w 1857947"/>
              <a:gd name="connsiteY0-32" fmla="*/ 0 h 3422650"/>
              <a:gd name="connsiteX1-33" fmla="*/ 1857947 w 1857947"/>
              <a:gd name="connsiteY1-34" fmla="*/ 88900 h 3422650"/>
              <a:gd name="connsiteX2-35" fmla="*/ 1857947 w 1857947"/>
              <a:gd name="connsiteY2-36" fmla="*/ 3422650 h 3422650"/>
              <a:gd name="connsiteX3-37" fmla="*/ 0 w 1857947"/>
              <a:gd name="connsiteY3-38" fmla="*/ 3422650 h 3422650"/>
              <a:gd name="connsiteX4-39" fmla="*/ 95250 w 1857947"/>
              <a:gd name="connsiteY4-40" fmla="*/ 0 h 3422650"/>
              <a:gd name="connsiteX0-41" fmla="*/ 63500 w 1857947"/>
              <a:gd name="connsiteY0-42" fmla="*/ 0 h 3422650"/>
              <a:gd name="connsiteX1-43" fmla="*/ 1857947 w 1857947"/>
              <a:gd name="connsiteY1-44" fmla="*/ 88900 h 3422650"/>
              <a:gd name="connsiteX2-45" fmla="*/ 1857947 w 1857947"/>
              <a:gd name="connsiteY2-46" fmla="*/ 3422650 h 3422650"/>
              <a:gd name="connsiteX3-47" fmla="*/ 0 w 1857947"/>
              <a:gd name="connsiteY3-48" fmla="*/ 3422650 h 3422650"/>
              <a:gd name="connsiteX4-49" fmla="*/ 63500 w 1857947"/>
              <a:gd name="connsiteY4-50" fmla="*/ 0 h 3422650"/>
              <a:gd name="connsiteX0-51" fmla="*/ 63500 w 1857947"/>
              <a:gd name="connsiteY0-52" fmla="*/ 0 h 3435350"/>
              <a:gd name="connsiteX1-53" fmla="*/ 1857947 w 1857947"/>
              <a:gd name="connsiteY1-54" fmla="*/ 101600 h 3435350"/>
              <a:gd name="connsiteX2-55" fmla="*/ 1857947 w 1857947"/>
              <a:gd name="connsiteY2-56" fmla="*/ 3435350 h 3435350"/>
              <a:gd name="connsiteX3-57" fmla="*/ 0 w 1857947"/>
              <a:gd name="connsiteY3-58" fmla="*/ 3435350 h 3435350"/>
              <a:gd name="connsiteX4-59" fmla="*/ 63500 w 1857947"/>
              <a:gd name="connsiteY4-60" fmla="*/ 0 h 3435350"/>
              <a:gd name="connsiteX0-61" fmla="*/ 38100 w 1857947"/>
              <a:gd name="connsiteY0-62" fmla="*/ 0 h 3435350"/>
              <a:gd name="connsiteX1-63" fmla="*/ 1857947 w 1857947"/>
              <a:gd name="connsiteY1-64" fmla="*/ 101600 h 3435350"/>
              <a:gd name="connsiteX2-65" fmla="*/ 1857947 w 1857947"/>
              <a:gd name="connsiteY2-66" fmla="*/ 3435350 h 3435350"/>
              <a:gd name="connsiteX3-67" fmla="*/ 0 w 1857947"/>
              <a:gd name="connsiteY3-68" fmla="*/ 3435350 h 3435350"/>
              <a:gd name="connsiteX4-69" fmla="*/ 38100 w 1857947"/>
              <a:gd name="connsiteY4-70" fmla="*/ 0 h 3435350"/>
              <a:gd name="connsiteX0-71" fmla="*/ 44450 w 1857947"/>
              <a:gd name="connsiteY0-72" fmla="*/ 0 h 3454400"/>
              <a:gd name="connsiteX1-73" fmla="*/ 1857947 w 1857947"/>
              <a:gd name="connsiteY1-74" fmla="*/ 120650 h 3454400"/>
              <a:gd name="connsiteX2-75" fmla="*/ 1857947 w 1857947"/>
              <a:gd name="connsiteY2-76" fmla="*/ 3454400 h 3454400"/>
              <a:gd name="connsiteX3-77" fmla="*/ 0 w 1857947"/>
              <a:gd name="connsiteY3-78" fmla="*/ 3454400 h 3454400"/>
              <a:gd name="connsiteX4-79" fmla="*/ 44450 w 1857947"/>
              <a:gd name="connsiteY4-80" fmla="*/ 0 h 3454400"/>
              <a:gd name="connsiteX0-81" fmla="*/ 44450 w 1857947"/>
              <a:gd name="connsiteY0-82" fmla="*/ 0 h 3454400"/>
              <a:gd name="connsiteX1-83" fmla="*/ 1794447 w 1857947"/>
              <a:gd name="connsiteY1-84" fmla="*/ 152400 h 3454400"/>
              <a:gd name="connsiteX2-85" fmla="*/ 1857947 w 1857947"/>
              <a:gd name="connsiteY2-86" fmla="*/ 3454400 h 3454400"/>
              <a:gd name="connsiteX3-87" fmla="*/ 0 w 1857947"/>
              <a:gd name="connsiteY3-88" fmla="*/ 3454400 h 3454400"/>
              <a:gd name="connsiteX4-89" fmla="*/ 44450 w 1857947"/>
              <a:gd name="connsiteY4-90" fmla="*/ 0 h 3454400"/>
              <a:gd name="connsiteX0-91" fmla="*/ 44450 w 1857947"/>
              <a:gd name="connsiteY0-92" fmla="*/ 0 h 3454400"/>
              <a:gd name="connsiteX1-93" fmla="*/ 1724597 w 1857947"/>
              <a:gd name="connsiteY1-94" fmla="*/ 152400 h 3454400"/>
              <a:gd name="connsiteX2-95" fmla="*/ 1857947 w 1857947"/>
              <a:gd name="connsiteY2-96" fmla="*/ 3454400 h 3454400"/>
              <a:gd name="connsiteX3-97" fmla="*/ 0 w 1857947"/>
              <a:gd name="connsiteY3-98" fmla="*/ 3454400 h 3454400"/>
              <a:gd name="connsiteX4-99" fmla="*/ 44450 w 1857947"/>
              <a:gd name="connsiteY4-100" fmla="*/ 0 h 3454400"/>
              <a:gd name="connsiteX0-101" fmla="*/ 44450 w 1857947"/>
              <a:gd name="connsiteY0-102" fmla="*/ 0 h 3454400"/>
              <a:gd name="connsiteX1-103" fmla="*/ 1692847 w 1857947"/>
              <a:gd name="connsiteY1-104" fmla="*/ 127000 h 3454400"/>
              <a:gd name="connsiteX2-105" fmla="*/ 1857947 w 1857947"/>
              <a:gd name="connsiteY2-106" fmla="*/ 3454400 h 3454400"/>
              <a:gd name="connsiteX3-107" fmla="*/ 0 w 1857947"/>
              <a:gd name="connsiteY3-108" fmla="*/ 3454400 h 3454400"/>
              <a:gd name="connsiteX4-109" fmla="*/ 44450 w 1857947"/>
              <a:gd name="connsiteY4-110" fmla="*/ 0 h 3454400"/>
              <a:gd name="connsiteX0-111" fmla="*/ 165100 w 1978597"/>
              <a:gd name="connsiteY0-112" fmla="*/ 0 h 3473450"/>
              <a:gd name="connsiteX1-113" fmla="*/ 1813497 w 1978597"/>
              <a:gd name="connsiteY1-114" fmla="*/ 127000 h 3473450"/>
              <a:gd name="connsiteX2-115" fmla="*/ 1978597 w 1978597"/>
              <a:gd name="connsiteY2-116" fmla="*/ 3454400 h 3473450"/>
              <a:gd name="connsiteX3-117" fmla="*/ 0 w 1978597"/>
              <a:gd name="connsiteY3-118" fmla="*/ 3473450 h 3473450"/>
              <a:gd name="connsiteX4-119" fmla="*/ 165100 w 1978597"/>
              <a:gd name="connsiteY4-120" fmla="*/ 0 h 3473450"/>
              <a:gd name="connsiteX0-121" fmla="*/ 209550 w 2023047"/>
              <a:gd name="connsiteY0-122" fmla="*/ 0 h 3479800"/>
              <a:gd name="connsiteX1-123" fmla="*/ 1857947 w 2023047"/>
              <a:gd name="connsiteY1-124" fmla="*/ 127000 h 3479800"/>
              <a:gd name="connsiteX2-125" fmla="*/ 2023047 w 2023047"/>
              <a:gd name="connsiteY2-126" fmla="*/ 3454400 h 3479800"/>
              <a:gd name="connsiteX3-127" fmla="*/ 0 w 2023047"/>
              <a:gd name="connsiteY3-128" fmla="*/ 3479800 h 3479800"/>
              <a:gd name="connsiteX4-129" fmla="*/ 209550 w 2023047"/>
              <a:gd name="connsiteY4-130" fmla="*/ 0 h 3479800"/>
              <a:gd name="connsiteX0-131" fmla="*/ 209550 w 1908747"/>
              <a:gd name="connsiteY0-132" fmla="*/ 0 h 3479800"/>
              <a:gd name="connsiteX1-133" fmla="*/ 1857947 w 1908747"/>
              <a:gd name="connsiteY1-134" fmla="*/ 127000 h 3479800"/>
              <a:gd name="connsiteX2-135" fmla="*/ 1908747 w 1908747"/>
              <a:gd name="connsiteY2-136" fmla="*/ 3448050 h 3479800"/>
              <a:gd name="connsiteX3-137" fmla="*/ 0 w 1908747"/>
              <a:gd name="connsiteY3-138" fmla="*/ 3479800 h 3479800"/>
              <a:gd name="connsiteX4-139" fmla="*/ 209550 w 1908747"/>
              <a:gd name="connsiteY4-140" fmla="*/ 0 h 3479800"/>
              <a:gd name="connsiteX0-141" fmla="*/ 209550 w 1915067"/>
              <a:gd name="connsiteY0-142" fmla="*/ 0 h 3479800"/>
              <a:gd name="connsiteX1-143" fmla="*/ 1857947 w 1915067"/>
              <a:gd name="connsiteY1-144" fmla="*/ 127000 h 3479800"/>
              <a:gd name="connsiteX2-145" fmla="*/ 1915067 w 1915067"/>
              <a:gd name="connsiteY2-146" fmla="*/ 3428609 h 3479800"/>
              <a:gd name="connsiteX3-147" fmla="*/ 0 w 1915067"/>
              <a:gd name="connsiteY3-148" fmla="*/ 3479800 h 3479800"/>
              <a:gd name="connsiteX4-149" fmla="*/ 209550 w 1915067"/>
              <a:gd name="connsiteY4-150" fmla="*/ 0 h 3479800"/>
              <a:gd name="connsiteX0-151" fmla="*/ 209550 w 1921387"/>
              <a:gd name="connsiteY0-152" fmla="*/ 0 h 3479800"/>
              <a:gd name="connsiteX1-153" fmla="*/ 1857947 w 1921387"/>
              <a:gd name="connsiteY1-154" fmla="*/ 127000 h 3479800"/>
              <a:gd name="connsiteX2-155" fmla="*/ 1921387 w 1921387"/>
              <a:gd name="connsiteY2-156" fmla="*/ 3402689 h 3479800"/>
              <a:gd name="connsiteX3-157" fmla="*/ 0 w 1921387"/>
              <a:gd name="connsiteY3-158" fmla="*/ 3479800 h 3479800"/>
              <a:gd name="connsiteX4-159" fmla="*/ 209550 w 1921387"/>
              <a:gd name="connsiteY4-160" fmla="*/ 0 h 3479800"/>
              <a:gd name="connsiteX0-161" fmla="*/ 209550 w 1940348"/>
              <a:gd name="connsiteY0-162" fmla="*/ 0 h 3479800"/>
              <a:gd name="connsiteX1-163" fmla="*/ 1857947 w 1940348"/>
              <a:gd name="connsiteY1-164" fmla="*/ 127000 h 3479800"/>
              <a:gd name="connsiteX2-165" fmla="*/ 1940348 w 1940348"/>
              <a:gd name="connsiteY2-166" fmla="*/ 3402689 h 3479800"/>
              <a:gd name="connsiteX3-167" fmla="*/ 0 w 1940348"/>
              <a:gd name="connsiteY3-168" fmla="*/ 3479800 h 3479800"/>
              <a:gd name="connsiteX4-169" fmla="*/ 209550 w 1940348"/>
              <a:gd name="connsiteY4-170" fmla="*/ 0 h 3479800"/>
              <a:gd name="connsiteX0-171" fmla="*/ 209550 w 1940348"/>
              <a:gd name="connsiteY0-172" fmla="*/ 0 h 3479800"/>
              <a:gd name="connsiteX1-173" fmla="*/ 1857947 w 1940348"/>
              <a:gd name="connsiteY1-174" fmla="*/ 127000 h 3479800"/>
              <a:gd name="connsiteX2-175" fmla="*/ 1940348 w 1940348"/>
              <a:gd name="connsiteY2-176" fmla="*/ 3402689 h 3479800"/>
              <a:gd name="connsiteX3-177" fmla="*/ 0 w 1940348"/>
              <a:gd name="connsiteY3-178" fmla="*/ 3479800 h 3479800"/>
              <a:gd name="connsiteX4-179" fmla="*/ 209550 w 1940348"/>
              <a:gd name="connsiteY4-180" fmla="*/ 0 h 3479800"/>
              <a:gd name="connsiteX0-181" fmla="*/ 209550 w 1940348"/>
              <a:gd name="connsiteY0-182" fmla="*/ 0 h 3479800"/>
              <a:gd name="connsiteX1-183" fmla="*/ 1857947 w 1940348"/>
              <a:gd name="connsiteY1-184" fmla="*/ 127000 h 3479800"/>
              <a:gd name="connsiteX2-185" fmla="*/ 1940348 w 1940348"/>
              <a:gd name="connsiteY2-186" fmla="*/ 3402689 h 3479800"/>
              <a:gd name="connsiteX3-187" fmla="*/ 0 w 1940348"/>
              <a:gd name="connsiteY3-188" fmla="*/ 3479800 h 3479800"/>
              <a:gd name="connsiteX4-189" fmla="*/ 209550 w 1940348"/>
              <a:gd name="connsiteY4-190" fmla="*/ 0 h 3479800"/>
              <a:gd name="connsiteX0-191" fmla="*/ 209550 w 1940348"/>
              <a:gd name="connsiteY0-192" fmla="*/ 0 h 3479800"/>
              <a:gd name="connsiteX1-193" fmla="*/ 1876909 w 1940348"/>
              <a:gd name="connsiteY1-194" fmla="*/ 127000 h 3479800"/>
              <a:gd name="connsiteX2-195" fmla="*/ 1940348 w 1940348"/>
              <a:gd name="connsiteY2-196" fmla="*/ 3402689 h 3479800"/>
              <a:gd name="connsiteX3-197" fmla="*/ 0 w 1940348"/>
              <a:gd name="connsiteY3-198" fmla="*/ 3479800 h 3479800"/>
              <a:gd name="connsiteX4-199" fmla="*/ 209550 w 1940348"/>
              <a:gd name="connsiteY4-200" fmla="*/ 0 h 3479800"/>
              <a:gd name="connsiteX0-201" fmla="*/ 209550 w 1940348"/>
              <a:gd name="connsiteY0-202" fmla="*/ 0 h 3454260"/>
              <a:gd name="connsiteX1-203" fmla="*/ 1876909 w 1940348"/>
              <a:gd name="connsiteY1-204" fmla="*/ 101460 h 3454260"/>
              <a:gd name="connsiteX2-205" fmla="*/ 1940348 w 1940348"/>
              <a:gd name="connsiteY2-206" fmla="*/ 3377149 h 3454260"/>
              <a:gd name="connsiteX3-207" fmla="*/ 0 w 1940348"/>
              <a:gd name="connsiteY3-208" fmla="*/ 3454260 h 3454260"/>
              <a:gd name="connsiteX4-209" fmla="*/ 209550 w 1940348"/>
              <a:gd name="connsiteY4-210" fmla="*/ 0 h 3454260"/>
              <a:gd name="connsiteX0-211" fmla="*/ 215870 w 1940348"/>
              <a:gd name="connsiteY0-212" fmla="*/ 0 h 3467030"/>
              <a:gd name="connsiteX1-213" fmla="*/ 1876909 w 1940348"/>
              <a:gd name="connsiteY1-214" fmla="*/ 114230 h 3467030"/>
              <a:gd name="connsiteX2-215" fmla="*/ 1940348 w 1940348"/>
              <a:gd name="connsiteY2-216" fmla="*/ 3389919 h 3467030"/>
              <a:gd name="connsiteX3-217" fmla="*/ 0 w 1940348"/>
              <a:gd name="connsiteY3-218" fmla="*/ 3467030 h 3467030"/>
              <a:gd name="connsiteX4-219" fmla="*/ 215870 w 1940348"/>
              <a:gd name="connsiteY4-220" fmla="*/ 0 h 3467030"/>
              <a:gd name="connsiteX0-221" fmla="*/ 203230 w 1940348"/>
              <a:gd name="connsiteY0-222" fmla="*/ 0 h 3467030"/>
              <a:gd name="connsiteX1-223" fmla="*/ 1876909 w 1940348"/>
              <a:gd name="connsiteY1-224" fmla="*/ 114230 h 3467030"/>
              <a:gd name="connsiteX2-225" fmla="*/ 1940348 w 1940348"/>
              <a:gd name="connsiteY2-226" fmla="*/ 3389919 h 3467030"/>
              <a:gd name="connsiteX3-227" fmla="*/ 0 w 1940348"/>
              <a:gd name="connsiteY3-228" fmla="*/ 3467030 h 3467030"/>
              <a:gd name="connsiteX4-229" fmla="*/ 203230 w 1940348"/>
              <a:gd name="connsiteY4-230" fmla="*/ 0 h 3467030"/>
              <a:gd name="connsiteX0-231" fmla="*/ 203230 w 1940348"/>
              <a:gd name="connsiteY0-232" fmla="*/ 0 h 3467030"/>
              <a:gd name="connsiteX1-233" fmla="*/ 1883229 w 1940348"/>
              <a:gd name="connsiteY1-234" fmla="*/ 107845 h 3467030"/>
              <a:gd name="connsiteX2-235" fmla="*/ 1940348 w 1940348"/>
              <a:gd name="connsiteY2-236" fmla="*/ 3389919 h 3467030"/>
              <a:gd name="connsiteX3-237" fmla="*/ 0 w 1940348"/>
              <a:gd name="connsiteY3-238" fmla="*/ 3467030 h 3467030"/>
              <a:gd name="connsiteX4-239" fmla="*/ 203230 w 1940348"/>
              <a:gd name="connsiteY4-240" fmla="*/ 0 h 3467030"/>
              <a:gd name="connsiteX0-241" fmla="*/ 203230 w 1940348"/>
              <a:gd name="connsiteY0-242" fmla="*/ 0 h 3467030"/>
              <a:gd name="connsiteX1-243" fmla="*/ 1873748 w 1940348"/>
              <a:gd name="connsiteY1-244" fmla="*/ 114230 h 3467030"/>
              <a:gd name="connsiteX2-245" fmla="*/ 1940348 w 1940348"/>
              <a:gd name="connsiteY2-246" fmla="*/ 3389919 h 3467030"/>
              <a:gd name="connsiteX3-247" fmla="*/ 0 w 1940348"/>
              <a:gd name="connsiteY3-248" fmla="*/ 3467030 h 3467030"/>
              <a:gd name="connsiteX4-249" fmla="*/ 203230 w 1940348"/>
              <a:gd name="connsiteY4-250" fmla="*/ 0 h 3467030"/>
              <a:gd name="connsiteX0-251" fmla="*/ 203230 w 1940348"/>
              <a:gd name="connsiteY0-252" fmla="*/ 0 h 3467030"/>
              <a:gd name="connsiteX1-253" fmla="*/ 1867428 w 1940348"/>
              <a:gd name="connsiteY1-254" fmla="*/ 117423 h 3467030"/>
              <a:gd name="connsiteX2-255" fmla="*/ 1940348 w 1940348"/>
              <a:gd name="connsiteY2-256" fmla="*/ 3389919 h 3467030"/>
              <a:gd name="connsiteX3-257" fmla="*/ 0 w 1940348"/>
              <a:gd name="connsiteY3-258" fmla="*/ 3467030 h 3467030"/>
              <a:gd name="connsiteX4-259" fmla="*/ 203230 w 1940348"/>
              <a:gd name="connsiteY4-260" fmla="*/ 0 h 3467030"/>
              <a:gd name="connsiteX0-261" fmla="*/ 203230 w 1940348"/>
              <a:gd name="connsiteY0-262" fmla="*/ 0 h 3467030"/>
              <a:gd name="connsiteX1-263" fmla="*/ 1876909 w 1940348"/>
              <a:gd name="connsiteY1-264" fmla="*/ 117423 h 3467030"/>
              <a:gd name="connsiteX2-265" fmla="*/ 1940348 w 1940348"/>
              <a:gd name="connsiteY2-266" fmla="*/ 3389919 h 3467030"/>
              <a:gd name="connsiteX3-267" fmla="*/ 0 w 1940348"/>
              <a:gd name="connsiteY3-268" fmla="*/ 3467030 h 3467030"/>
              <a:gd name="connsiteX4-269" fmla="*/ 203230 w 1940348"/>
              <a:gd name="connsiteY4-270" fmla="*/ 0 h 3467030"/>
              <a:gd name="connsiteX0-271" fmla="*/ 203230 w 1940348"/>
              <a:gd name="connsiteY0-272" fmla="*/ 0 h 3467030"/>
              <a:gd name="connsiteX1-273" fmla="*/ 1876909 w 1940348"/>
              <a:gd name="connsiteY1-274" fmla="*/ 127000 h 3467030"/>
              <a:gd name="connsiteX2-275" fmla="*/ 1940348 w 1940348"/>
              <a:gd name="connsiteY2-276" fmla="*/ 3389919 h 3467030"/>
              <a:gd name="connsiteX3-277" fmla="*/ 0 w 1940348"/>
              <a:gd name="connsiteY3-278" fmla="*/ 3467030 h 3467030"/>
              <a:gd name="connsiteX4-279" fmla="*/ 203230 w 1940348"/>
              <a:gd name="connsiteY4-280" fmla="*/ 0 h 3467030"/>
              <a:gd name="connsiteX0-281" fmla="*/ 203230 w 1940348"/>
              <a:gd name="connsiteY0-282" fmla="*/ 0 h 3467030"/>
              <a:gd name="connsiteX1-283" fmla="*/ 1876909 w 1940348"/>
              <a:gd name="connsiteY1-284" fmla="*/ 136578 h 3467030"/>
              <a:gd name="connsiteX2-285" fmla="*/ 1940348 w 1940348"/>
              <a:gd name="connsiteY2-286" fmla="*/ 3389919 h 3467030"/>
              <a:gd name="connsiteX3-287" fmla="*/ 0 w 1940348"/>
              <a:gd name="connsiteY3-288" fmla="*/ 3467030 h 3467030"/>
              <a:gd name="connsiteX4-289" fmla="*/ 203230 w 1940348"/>
              <a:gd name="connsiteY4-290" fmla="*/ 0 h 3467030"/>
              <a:gd name="connsiteX0-291" fmla="*/ 203230 w 1940348"/>
              <a:gd name="connsiteY0-292" fmla="*/ 0 h 3467030"/>
              <a:gd name="connsiteX1-293" fmla="*/ 1876909 w 1940348"/>
              <a:gd name="connsiteY1-294" fmla="*/ 130193 h 3467030"/>
              <a:gd name="connsiteX2-295" fmla="*/ 1940348 w 1940348"/>
              <a:gd name="connsiteY2-296" fmla="*/ 3389919 h 3467030"/>
              <a:gd name="connsiteX3-297" fmla="*/ 0 w 1940348"/>
              <a:gd name="connsiteY3-298" fmla="*/ 3467030 h 3467030"/>
              <a:gd name="connsiteX4-299" fmla="*/ 203230 w 1940348"/>
              <a:gd name="connsiteY4-300" fmla="*/ 0 h 3467030"/>
              <a:gd name="connsiteX0-301" fmla="*/ 203230 w 1940348"/>
              <a:gd name="connsiteY0-302" fmla="*/ 0 h 3467030"/>
              <a:gd name="connsiteX1-303" fmla="*/ 1876909 w 1940348"/>
              <a:gd name="connsiteY1-304" fmla="*/ 127000 h 3467030"/>
              <a:gd name="connsiteX2-305" fmla="*/ 1940348 w 1940348"/>
              <a:gd name="connsiteY2-306" fmla="*/ 3389919 h 3467030"/>
              <a:gd name="connsiteX3-307" fmla="*/ 0 w 1940348"/>
              <a:gd name="connsiteY3-308" fmla="*/ 3467030 h 3467030"/>
              <a:gd name="connsiteX4-309" fmla="*/ 203230 w 1940348"/>
              <a:gd name="connsiteY4-310" fmla="*/ 0 h 3467030"/>
              <a:gd name="connsiteX0-311" fmla="*/ 203230 w 1943508"/>
              <a:gd name="connsiteY0-312" fmla="*/ 0 h 3467030"/>
              <a:gd name="connsiteX1-313" fmla="*/ 1876909 w 1943508"/>
              <a:gd name="connsiteY1-314" fmla="*/ 127000 h 3467030"/>
              <a:gd name="connsiteX2-315" fmla="*/ 1943508 w 1943508"/>
              <a:gd name="connsiteY2-316" fmla="*/ 3393111 h 3467030"/>
              <a:gd name="connsiteX3-317" fmla="*/ 0 w 1943508"/>
              <a:gd name="connsiteY3-318" fmla="*/ 3467030 h 3467030"/>
              <a:gd name="connsiteX4-319" fmla="*/ 203230 w 1943508"/>
              <a:gd name="connsiteY4-320" fmla="*/ 0 h 3467030"/>
              <a:gd name="connsiteX0-321" fmla="*/ 203230 w 1943508"/>
              <a:gd name="connsiteY0-322" fmla="*/ 0 h 3467030"/>
              <a:gd name="connsiteX1-323" fmla="*/ 1876909 w 1943508"/>
              <a:gd name="connsiteY1-324" fmla="*/ 127000 h 3467030"/>
              <a:gd name="connsiteX2-325" fmla="*/ 1943508 w 1943508"/>
              <a:gd name="connsiteY2-326" fmla="*/ 3402689 h 3467030"/>
              <a:gd name="connsiteX3-327" fmla="*/ 0 w 1943508"/>
              <a:gd name="connsiteY3-328" fmla="*/ 3467030 h 3467030"/>
              <a:gd name="connsiteX4-329" fmla="*/ 203230 w 1943508"/>
              <a:gd name="connsiteY4-330" fmla="*/ 0 h 3467030"/>
              <a:gd name="connsiteX0-331" fmla="*/ 203230 w 1943508"/>
              <a:gd name="connsiteY0-332" fmla="*/ 0 h 3476607"/>
              <a:gd name="connsiteX1-333" fmla="*/ 1876909 w 1943508"/>
              <a:gd name="connsiteY1-334" fmla="*/ 127000 h 3476607"/>
              <a:gd name="connsiteX2-335" fmla="*/ 1943508 w 1943508"/>
              <a:gd name="connsiteY2-336" fmla="*/ 3402689 h 3476607"/>
              <a:gd name="connsiteX3-337" fmla="*/ 0 w 1943508"/>
              <a:gd name="connsiteY3-338" fmla="*/ 3476607 h 3476607"/>
              <a:gd name="connsiteX4-339" fmla="*/ 203230 w 1943508"/>
              <a:gd name="connsiteY4-340" fmla="*/ 0 h 3476607"/>
              <a:gd name="connsiteX0-341" fmla="*/ 196910 w 1937188"/>
              <a:gd name="connsiteY0-342" fmla="*/ 0 h 3476607"/>
              <a:gd name="connsiteX1-343" fmla="*/ 1870589 w 1937188"/>
              <a:gd name="connsiteY1-344" fmla="*/ 127000 h 3476607"/>
              <a:gd name="connsiteX2-345" fmla="*/ 1937188 w 1937188"/>
              <a:gd name="connsiteY2-346" fmla="*/ 3402689 h 3476607"/>
              <a:gd name="connsiteX3-347" fmla="*/ 0 w 1937188"/>
              <a:gd name="connsiteY3-348" fmla="*/ 3476607 h 3476607"/>
              <a:gd name="connsiteX4-349" fmla="*/ 196910 w 1937188"/>
              <a:gd name="connsiteY4-350" fmla="*/ 0 h 3476607"/>
              <a:gd name="connsiteX0-351" fmla="*/ 196910 w 1937188"/>
              <a:gd name="connsiteY0-352" fmla="*/ 0 h 3473415"/>
              <a:gd name="connsiteX1-353" fmla="*/ 1870589 w 1937188"/>
              <a:gd name="connsiteY1-354" fmla="*/ 127000 h 3473415"/>
              <a:gd name="connsiteX2-355" fmla="*/ 1937188 w 1937188"/>
              <a:gd name="connsiteY2-356" fmla="*/ 3402689 h 3473415"/>
              <a:gd name="connsiteX3-357" fmla="*/ 0 w 1937188"/>
              <a:gd name="connsiteY3-358" fmla="*/ 3473415 h 3473415"/>
              <a:gd name="connsiteX4-359" fmla="*/ 196910 w 1937188"/>
              <a:gd name="connsiteY4-360" fmla="*/ 0 h 3473415"/>
              <a:gd name="connsiteX0-361" fmla="*/ 203230 w 1943508"/>
              <a:gd name="connsiteY0-362" fmla="*/ 0 h 3470223"/>
              <a:gd name="connsiteX1-363" fmla="*/ 1876909 w 1943508"/>
              <a:gd name="connsiteY1-364" fmla="*/ 127000 h 3470223"/>
              <a:gd name="connsiteX2-365" fmla="*/ 1943508 w 1943508"/>
              <a:gd name="connsiteY2-366" fmla="*/ 3402689 h 3470223"/>
              <a:gd name="connsiteX3-367" fmla="*/ 0 w 1943508"/>
              <a:gd name="connsiteY3-368" fmla="*/ 3470223 h 3470223"/>
              <a:gd name="connsiteX4-369" fmla="*/ 203230 w 1943508"/>
              <a:gd name="connsiteY4-370" fmla="*/ 0 h 3470223"/>
              <a:gd name="connsiteX0-371" fmla="*/ 206390 w 1946668"/>
              <a:gd name="connsiteY0-372" fmla="*/ 0 h 3476608"/>
              <a:gd name="connsiteX1-373" fmla="*/ 1880069 w 1946668"/>
              <a:gd name="connsiteY1-374" fmla="*/ 127000 h 3476608"/>
              <a:gd name="connsiteX2-375" fmla="*/ 1946668 w 1946668"/>
              <a:gd name="connsiteY2-376" fmla="*/ 3402689 h 3476608"/>
              <a:gd name="connsiteX3-377" fmla="*/ 0 w 1946668"/>
              <a:gd name="connsiteY3-378" fmla="*/ 3476608 h 3476608"/>
              <a:gd name="connsiteX4-379" fmla="*/ 206390 w 1946668"/>
              <a:gd name="connsiteY4-380" fmla="*/ 0 h 3476608"/>
              <a:gd name="connsiteX0-381" fmla="*/ 206390 w 1946668"/>
              <a:gd name="connsiteY0-382" fmla="*/ 0 h 3476608"/>
              <a:gd name="connsiteX1-383" fmla="*/ 1886390 w 1946668"/>
              <a:gd name="connsiteY1-384" fmla="*/ 130193 h 3476608"/>
              <a:gd name="connsiteX2-385" fmla="*/ 1946668 w 1946668"/>
              <a:gd name="connsiteY2-386" fmla="*/ 3402689 h 3476608"/>
              <a:gd name="connsiteX3-387" fmla="*/ 0 w 1946668"/>
              <a:gd name="connsiteY3-388" fmla="*/ 3476608 h 3476608"/>
              <a:gd name="connsiteX4-389" fmla="*/ 206390 w 1946668"/>
              <a:gd name="connsiteY4-390" fmla="*/ 0 h 3476608"/>
              <a:gd name="connsiteX0-391" fmla="*/ 206390 w 1946668"/>
              <a:gd name="connsiteY0-392" fmla="*/ 0 h 3476608"/>
              <a:gd name="connsiteX1-393" fmla="*/ 1886390 w 1946668"/>
              <a:gd name="connsiteY1-394" fmla="*/ 127000 h 3476608"/>
              <a:gd name="connsiteX2-395" fmla="*/ 1946668 w 1946668"/>
              <a:gd name="connsiteY2-396" fmla="*/ 3402689 h 3476608"/>
              <a:gd name="connsiteX3-397" fmla="*/ 0 w 1946668"/>
              <a:gd name="connsiteY3-398" fmla="*/ 3476608 h 3476608"/>
              <a:gd name="connsiteX4-399" fmla="*/ 206390 w 1946668"/>
              <a:gd name="connsiteY4-400" fmla="*/ 0 h 3476608"/>
              <a:gd name="connsiteX0-401" fmla="*/ 206390 w 1946668"/>
              <a:gd name="connsiteY0-402" fmla="*/ 0 h 3476608"/>
              <a:gd name="connsiteX1-403" fmla="*/ 1886390 w 1946668"/>
              <a:gd name="connsiteY1-404" fmla="*/ 123808 h 3476608"/>
              <a:gd name="connsiteX2-405" fmla="*/ 1946668 w 1946668"/>
              <a:gd name="connsiteY2-406" fmla="*/ 3402689 h 3476608"/>
              <a:gd name="connsiteX3-407" fmla="*/ 0 w 1946668"/>
              <a:gd name="connsiteY3-408" fmla="*/ 3476608 h 3476608"/>
              <a:gd name="connsiteX4-409" fmla="*/ 206390 w 1946668"/>
              <a:gd name="connsiteY4-410" fmla="*/ 0 h 347660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46668" h="3476608">
                <a:moveTo>
                  <a:pt x="206390" y="0"/>
                </a:moveTo>
                <a:lnTo>
                  <a:pt x="1886390" y="123808"/>
                </a:lnTo>
                <a:lnTo>
                  <a:pt x="1946668" y="3402689"/>
                </a:lnTo>
                <a:lnTo>
                  <a:pt x="0" y="3476608"/>
                </a:lnTo>
                <a:lnTo>
                  <a:pt x="206390" y="0"/>
                </a:lnTo>
                <a:close/>
              </a:path>
            </a:pathLst>
          </a:custGeom>
          <a:solidFill>
            <a:schemeClr val="bg1">
              <a:lumMod val="85000"/>
              <a:alpha val="70000"/>
            </a:schemeClr>
          </a:solidFill>
          <a:scene3d>
            <a:camera prst="isometricTopUp">
              <a:rot lat="19376154" lon="19949108" rev="2727759"/>
            </a:camera>
            <a:lightRig rig="threePt" dir="t"/>
          </a:scene3d>
          <a:sp3d/>
        </p:spPr>
        <p:txBody>
          <a:bodyPr/>
          <a:lstStyle>
            <a:lvl1pPr>
              <a:defRPr sz="1200"/>
            </a:lvl1pPr>
          </a:lstStyle>
          <a:p>
            <a:endParaRPr lang="en-US" dirty="0"/>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6_Full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245434">
            <a:off x="2080911" y="1885031"/>
            <a:ext cx="1977327" cy="3512731"/>
          </a:xfrm>
          <a:custGeom>
            <a:avLst/>
            <a:gdLst>
              <a:gd name="connsiteX0" fmla="*/ 0 w 1481378"/>
              <a:gd name="connsiteY0" fmla="*/ 0 h 2618657"/>
              <a:gd name="connsiteX1" fmla="*/ 1481378 w 1481378"/>
              <a:gd name="connsiteY1" fmla="*/ 0 h 2618657"/>
              <a:gd name="connsiteX2" fmla="*/ 1481378 w 1481378"/>
              <a:gd name="connsiteY2" fmla="*/ 2618657 h 2618657"/>
              <a:gd name="connsiteX3" fmla="*/ 0 w 1481378"/>
              <a:gd name="connsiteY3" fmla="*/ 2618657 h 2618657"/>
              <a:gd name="connsiteX4" fmla="*/ 0 w 1481378"/>
              <a:gd name="connsiteY4" fmla="*/ 0 h 2618657"/>
              <a:gd name="connsiteX0-1" fmla="*/ 0 w 1481378"/>
              <a:gd name="connsiteY0-2" fmla="*/ 0 h 2631478"/>
              <a:gd name="connsiteX1-3" fmla="*/ 1481378 w 1481378"/>
              <a:gd name="connsiteY1-4" fmla="*/ 0 h 2631478"/>
              <a:gd name="connsiteX2-5" fmla="*/ 1481143 w 1481378"/>
              <a:gd name="connsiteY2-6" fmla="*/ 2631478 h 2631478"/>
              <a:gd name="connsiteX3-7" fmla="*/ 0 w 1481378"/>
              <a:gd name="connsiteY3-8" fmla="*/ 2618657 h 2631478"/>
              <a:gd name="connsiteX4-9" fmla="*/ 0 w 1481378"/>
              <a:gd name="connsiteY4-10" fmla="*/ 0 h 2631478"/>
              <a:gd name="connsiteX0-11" fmla="*/ 1617 w 1482995"/>
              <a:gd name="connsiteY0-12" fmla="*/ 0 h 2634548"/>
              <a:gd name="connsiteX1-13" fmla="*/ 1482995 w 1482995"/>
              <a:gd name="connsiteY1-14" fmla="*/ 0 h 2634548"/>
              <a:gd name="connsiteX2-15" fmla="*/ 1482760 w 1482995"/>
              <a:gd name="connsiteY2-16" fmla="*/ 2631478 h 2634548"/>
              <a:gd name="connsiteX3-17" fmla="*/ 0 w 1482995"/>
              <a:gd name="connsiteY3-18" fmla="*/ 2634548 h 2634548"/>
              <a:gd name="connsiteX4-19" fmla="*/ 1617 w 1482995"/>
              <a:gd name="connsiteY4-20" fmla="*/ 0 h 26345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2995" h="2634548">
                <a:moveTo>
                  <a:pt x="1617" y="0"/>
                </a:moveTo>
                <a:lnTo>
                  <a:pt x="1482995" y="0"/>
                </a:lnTo>
                <a:cubicBezTo>
                  <a:pt x="1482917" y="877159"/>
                  <a:pt x="1482838" y="1754319"/>
                  <a:pt x="1482760" y="2631478"/>
                </a:cubicBezTo>
                <a:lnTo>
                  <a:pt x="0" y="2634548"/>
                </a:lnTo>
                <a:lnTo>
                  <a:pt x="1617" y="0"/>
                </a:lnTo>
                <a:close/>
              </a:path>
            </a:pathLst>
          </a:custGeom>
          <a:solidFill>
            <a:schemeClr val="bg1">
              <a:lumMod val="95000"/>
              <a:alpha val="70000"/>
            </a:schemeClr>
          </a:solidFill>
        </p:spPr>
        <p:txBody>
          <a:bodyPr/>
          <a:lstStyle>
            <a:lvl1pPr>
              <a:defRPr sz="1335"/>
            </a:lvl1pPr>
          </a:lstStyle>
          <a:p>
            <a:endParaRPr lang="en-US" dirty="0"/>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7_Full Image">
    <p:spTree>
      <p:nvGrpSpPr>
        <p:cNvPr id="1" name=""/>
        <p:cNvGrpSpPr/>
        <p:nvPr/>
      </p:nvGrpSpPr>
      <p:grpSpPr>
        <a:xfrm>
          <a:off x="0" y="0"/>
          <a:ext cx="0" cy="0"/>
          <a:chOff x="0" y="0"/>
          <a:chExt cx="0" cy="0"/>
        </a:xfrm>
      </p:grpSpPr>
      <p:sp>
        <p:nvSpPr>
          <p:cNvPr id="2" name="Picture Placeholder 5"/>
          <p:cNvSpPr>
            <a:spLocks noGrp="1"/>
          </p:cNvSpPr>
          <p:nvPr>
            <p:ph type="pic" sz="quarter" idx="10"/>
          </p:nvPr>
        </p:nvSpPr>
        <p:spPr>
          <a:xfrm>
            <a:off x="4908347" y="2717800"/>
            <a:ext cx="2336800" cy="23368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3" name="Picture Placeholder 6"/>
          <p:cNvSpPr>
            <a:spLocks noGrp="1"/>
          </p:cNvSpPr>
          <p:nvPr>
            <p:ph type="pic" sz="quarter" idx="11"/>
          </p:nvPr>
        </p:nvSpPr>
        <p:spPr>
          <a:xfrm>
            <a:off x="7421341" y="2616200"/>
            <a:ext cx="2032000" cy="20320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4" name="Picture Placeholder 7"/>
          <p:cNvSpPr>
            <a:spLocks noGrp="1"/>
          </p:cNvSpPr>
          <p:nvPr>
            <p:ph type="pic" sz="quarter" idx="12"/>
          </p:nvPr>
        </p:nvSpPr>
        <p:spPr>
          <a:xfrm>
            <a:off x="2700152" y="2616200"/>
            <a:ext cx="2032000" cy="20320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5" name="Picture Placeholder 8"/>
          <p:cNvSpPr>
            <a:spLocks noGrp="1"/>
          </p:cNvSpPr>
          <p:nvPr>
            <p:ph type="pic" sz="quarter" idx="13"/>
          </p:nvPr>
        </p:nvSpPr>
        <p:spPr>
          <a:xfrm>
            <a:off x="9629539" y="2454176"/>
            <a:ext cx="1727200" cy="17272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6" name="Picture Placeholder 9"/>
          <p:cNvSpPr>
            <a:spLocks noGrp="1"/>
          </p:cNvSpPr>
          <p:nvPr>
            <p:ph type="pic" sz="quarter" idx="14"/>
          </p:nvPr>
        </p:nvSpPr>
        <p:spPr>
          <a:xfrm>
            <a:off x="796757" y="2454176"/>
            <a:ext cx="1727200" cy="17272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rtl="0">
              <a:defRPr sz="1865"/>
            </a:lvl1pPr>
          </a:lstStyle>
          <a:p>
            <a:endParaRPr lang="en-US" dirty="0"/>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Full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5583723" y="0"/>
            <a:ext cx="6608279" cy="6858000"/>
          </a:xfrm>
          <a:custGeom>
            <a:avLst/>
            <a:gdLst>
              <a:gd name="connsiteX0" fmla="*/ 2868359 w 4956209"/>
              <a:gd name="connsiteY0" fmla="*/ 0 h 5143500"/>
              <a:gd name="connsiteX1" fmla="*/ 4956209 w 4956209"/>
              <a:gd name="connsiteY1" fmla="*/ 0 h 5143500"/>
              <a:gd name="connsiteX2" fmla="*/ 4956209 w 4956209"/>
              <a:gd name="connsiteY2" fmla="*/ 5143500 h 5143500"/>
              <a:gd name="connsiteX3" fmla="*/ 0 w 4956209"/>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4956209" h="5143500">
                <a:moveTo>
                  <a:pt x="2868359" y="0"/>
                </a:moveTo>
                <a:lnTo>
                  <a:pt x="4956209" y="0"/>
                </a:lnTo>
                <a:lnTo>
                  <a:pt x="4956209" y="5143500"/>
                </a:lnTo>
                <a:lnTo>
                  <a:pt x="0" y="5143500"/>
                </a:lnTo>
                <a:close/>
              </a:path>
            </a:pathLst>
          </a:custGeom>
          <a:solidFill>
            <a:schemeClr val="bg1">
              <a:lumMod val="95000"/>
              <a:alpha val="70000"/>
            </a:schemeClr>
          </a:solidFill>
          <a:effectLst>
            <a:outerShdw blurRad="381000" dist="241300" dir="10800000" sx="96000" sy="96000" algn="r" rotWithShape="0">
              <a:prstClr val="black">
                <a:alpha val="30000"/>
              </a:prstClr>
            </a:outerShdw>
          </a:effectLst>
        </p:spPr>
        <p:txBody>
          <a:bodyPr wrap="square">
            <a:noAutofit/>
          </a:bodyPr>
          <a:lstStyle>
            <a:lvl1pPr>
              <a:defRPr sz="1400"/>
            </a:lvl1pPr>
          </a:lstStyle>
          <a:p>
            <a:endParaRPr lang="en-US" dirty="0"/>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2_Full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231853" y="838200"/>
            <a:ext cx="8299747" cy="5181600"/>
          </a:xfrm>
          <a:custGeom>
            <a:avLst/>
            <a:gdLst>
              <a:gd name="connsiteX0" fmla="*/ 0 w 6224810"/>
              <a:gd name="connsiteY0" fmla="*/ 0 h 3886200"/>
              <a:gd name="connsiteX1" fmla="*/ 6224810 w 6224810"/>
              <a:gd name="connsiteY1" fmla="*/ 0 h 3886200"/>
              <a:gd name="connsiteX2" fmla="*/ 6224810 w 6224810"/>
              <a:gd name="connsiteY2" fmla="*/ 3886200 h 3886200"/>
              <a:gd name="connsiteX3" fmla="*/ 0 w 6224810"/>
              <a:gd name="connsiteY3" fmla="*/ 3886200 h 3886200"/>
            </a:gdLst>
            <a:ahLst/>
            <a:cxnLst>
              <a:cxn ang="0">
                <a:pos x="connsiteX0" y="connsiteY0"/>
              </a:cxn>
              <a:cxn ang="0">
                <a:pos x="connsiteX1" y="connsiteY1"/>
              </a:cxn>
              <a:cxn ang="0">
                <a:pos x="connsiteX2" y="connsiteY2"/>
              </a:cxn>
              <a:cxn ang="0">
                <a:pos x="connsiteX3" y="connsiteY3"/>
              </a:cxn>
            </a:cxnLst>
            <a:rect l="l" t="t" r="r" b="b"/>
            <a:pathLst>
              <a:path w="6224810" h="3886200">
                <a:moveTo>
                  <a:pt x="0" y="0"/>
                </a:moveTo>
                <a:lnTo>
                  <a:pt x="6224810" y="0"/>
                </a:lnTo>
                <a:lnTo>
                  <a:pt x="6224810" y="3886200"/>
                </a:lnTo>
                <a:lnTo>
                  <a:pt x="0" y="3886200"/>
                </a:lnTo>
                <a:close/>
              </a:path>
            </a:pathLst>
          </a:custGeom>
          <a:solidFill>
            <a:schemeClr val="bg1">
              <a:lumMod val="95000"/>
              <a:alpha val="70000"/>
            </a:schemeClr>
          </a:solidFill>
        </p:spPr>
        <p:txBody>
          <a:bodyPr wrap="square">
            <a:noAutofit/>
          </a:bodyPr>
          <a:lstStyle>
            <a:lvl1pPr>
              <a:defRPr sz="1400"/>
            </a:lvl1pPr>
          </a:lstStyle>
          <a:p>
            <a:endParaRPr lang="en-US" dirty="0"/>
          </a:p>
        </p:txBody>
      </p:sp>
      <p:sp>
        <p:nvSpPr>
          <p:cNvPr id="3" name="Slide Number Placeholder 4"/>
          <p:cNvSpPr>
            <a:spLocks noGrp="1"/>
          </p:cNvSpPr>
          <p:nvPr>
            <p:ph type="sldNum" sz="quarter" idx="12"/>
          </p:nvPr>
        </p:nvSpPr>
        <p:spPr>
          <a:xfrm>
            <a:off x="11299275" y="6257799"/>
            <a:ext cx="633983" cy="366183"/>
          </a:xfrm>
          <a:prstGeom prst="rect">
            <a:avLst/>
          </a:prstGeom>
        </p:spPr>
        <p:txBody>
          <a:bodyPr anchor="ctr"/>
          <a:lstStyle>
            <a:lvl1pPr algn="l">
              <a:defRPr sz="1865" b="1">
                <a:solidFill>
                  <a:schemeClr val="bg1">
                    <a:lumMod val="50000"/>
                  </a:schemeClr>
                </a:solidFill>
                <a:latin typeface="Montserrat ExtraBold" panose="00000900000000000000" pitchFamily="50" charset="0"/>
              </a:defRPr>
            </a:lvl1pPr>
          </a:lstStyle>
          <a:p>
            <a:fld id="{C136B7D2-B98C-44FD-8D04-7EC62A564975}" type="slidenum">
              <a:rPr lang="en-US" smtClean="0"/>
              <a:t>‹#›</a:t>
            </a:fld>
            <a:endParaRPr lang="en-US" dirty="0"/>
          </a:p>
        </p:txBody>
      </p:sp>
      <p:sp>
        <p:nvSpPr>
          <p:cNvPr id="4" name="TextBox 3"/>
          <p:cNvSpPr txBox="1"/>
          <p:nvPr userDrawn="1"/>
        </p:nvSpPr>
        <p:spPr>
          <a:xfrm>
            <a:off x="10786533" y="6276743"/>
            <a:ext cx="812800" cy="297180"/>
          </a:xfrm>
          <a:prstGeom prst="rect">
            <a:avLst/>
          </a:prstGeom>
          <a:noFill/>
        </p:spPr>
        <p:txBody>
          <a:bodyPr wrap="square" rtlCol="0">
            <a:spAutoFit/>
          </a:bodyPr>
          <a:lstStyle/>
          <a:p>
            <a:r>
              <a:rPr lang="en-US" sz="1335" dirty="0">
                <a:solidFill>
                  <a:schemeClr val="bg1">
                    <a:lumMod val="50000"/>
                  </a:schemeClr>
                </a:solidFill>
                <a:latin typeface="+mj-lt"/>
              </a:rPr>
              <a:t>Page</a:t>
            </a:r>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矩形 1"/>
          <p:cNvSpPr/>
          <p:nvPr userDrawn="1"/>
        </p:nvSpPr>
        <p:spPr>
          <a:xfrm>
            <a:off x="0" y="5219700"/>
            <a:ext cx="12196445" cy="1659890"/>
          </a:xfrm>
          <a:prstGeom prst="rect">
            <a:avLst/>
          </a:prstGeom>
          <a:gradFill flip="none" rotWithShape="1">
            <a:gsLst>
              <a:gs pos="0">
                <a:srgbClr val="03E790"/>
              </a:gs>
              <a:gs pos="100000">
                <a:srgbClr val="0070C0"/>
              </a:gs>
            </a:gsLst>
            <a:lin ang="2700000" scaled="1"/>
            <a:tileRect/>
          </a:gradFill>
          <a:ln>
            <a:noFill/>
          </a:ln>
          <a:effectLst>
            <a:innerShdw blurRad="1905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sym typeface="+mn-lt"/>
            </a:endParaRPr>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5" name="Rectangle 6"/>
          <p:cNvSpPr/>
          <p:nvPr userDrawn="1"/>
        </p:nvSpPr>
        <p:spPr>
          <a:xfrm>
            <a:off x="0" y="0"/>
            <a:ext cx="12192000" cy="6858000"/>
          </a:xfrm>
          <a:prstGeom prst="rect">
            <a:avLst/>
          </a:prstGeom>
          <a:gradFill>
            <a:gsLst>
              <a:gs pos="0">
                <a:srgbClr val="016FB4">
                  <a:alpha val="46000"/>
                </a:srgbClr>
              </a:gs>
              <a:gs pos="100000">
                <a:srgbClr val="20E0B2">
                  <a:alpha val="1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25B9D36-478D-478F-8E68-48FF34B8CEA6}" type="datetimeFigureOut">
              <a:rPr lang="zh-CN" altLang="en-US" smtClean="0"/>
              <a:t>2025-04-17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87FD9-E28F-4BAD-8D32-12EFCCCC62E1}" type="slidenum">
              <a:rPr lang="zh-CN" altLang="en-US" smtClean="0"/>
              <a:t>‹#›</a:t>
            </a:fld>
            <a:endParaRPr lang="zh-CN" altLang="en-US"/>
          </a:p>
        </p:txBody>
      </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1">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icture Placeholder 2"/>
          <p:cNvSpPr>
            <a:spLocks noGrp="1"/>
          </p:cNvSpPr>
          <p:nvPr>
            <p:ph type="pic" sz="quarter" idx="10" hasCustomPrompt="1"/>
          </p:nvPr>
        </p:nvSpPr>
        <p:spPr>
          <a:xfrm>
            <a:off x="7835592" y="581722"/>
            <a:ext cx="3739375" cy="1828800"/>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pattFill prst="pct5">
            <a:fgClr>
              <a:schemeClr val="tx1"/>
            </a:fgClr>
            <a:bgClr>
              <a:schemeClr val="bg1">
                <a:lumMod val="85000"/>
              </a:schemeClr>
            </a:bgClr>
          </a:pattFill>
        </p:spPr>
        <p:txBody>
          <a:bodyPr anchor="ctr"/>
          <a:lstStyle>
            <a:lvl1pPr marL="0" indent="0" algn="ctr">
              <a:buNone/>
              <a:defRPr sz="1600" b="0" i="0">
                <a:latin typeface="Source Sans Pro" panose="020B0503030403020204" charset="0"/>
                <a:ea typeface="Source Sans Pro" panose="020B0503030403020204" charset="0"/>
                <a:cs typeface="Source Sans Pro" panose="020B0503030403020204" charset="0"/>
              </a:defRPr>
            </a:lvl1pPr>
          </a:lstStyle>
          <a:p>
            <a:r>
              <a:rPr lang="en-US" dirty="0"/>
              <a:t>Drag &amp; Drop Image</a:t>
            </a:r>
          </a:p>
        </p:txBody>
      </p:sp>
      <p:sp>
        <p:nvSpPr>
          <p:cNvPr id="10" name="Picture Placeholder 2"/>
          <p:cNvSpPr>
            <a:spLocks noGrp="1"/>
          </p:cNvSpPr>
          <p:nvPr>
            <p:ph type="pic" sz="quarter" idx="11" hasCustomPrompt="1"/>
          </p:nvPr>
        </p:nvSpPr>
        <p:spPr>
          <a:xfrm>
            <a:off x="3954967" y="2514600"/>
            <a:ext cx="5687123" cy="1828800"/>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pattFill prst="pct5">
            <a:fgClr>
              <a:schemeClr val="tx1"/>
            </a:fgClr>
            <a:bgClr>
              <a:schemeClr val="bg1">
                <a:lumMod val="85000"/>
              </a:schemeClr>
            </a:bgClr>
          </a:pattFill>
        </p:spPr>
        <p:txBody>
          <a:bodyPr anchor="ctr"/>
          <a:lstStyle>
            <a:lvl1pPr marL="0" indent="0" algn="ctr">
              <a:buNone/>
              <a:defRPr sz="1600" b="0" i="0">
                <a:latin typeface="Source Sans Pro" panose="020B0503030403020204" charset="0"/>
                <a:ea typeface="Source Sans Pro" panose="020B0503030403020204" charset="0"/>
                <a:cs typeface="Source Sans Pro" panose="020B0503030403020204" charset="0"/>
              </a:defRPr>
            </a:lvl1pPr>
          </a:lstStyle>
          <a:p>
            <a:r>
              <a:rPr lang="en-US" dirty="0"/>
              <a:t>Drag &amp; Drop Image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 grpId="0" bldLvl="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83194" y="153236"/>
            <a:ext cx="5608806" cy="5754647"/>
          </a:xfrm>
          <a:prstGeom prst="rect">
            <a:avLst/>
          </a:prstGeom>
        </p:spPr>
      </p:pic>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5610225" y="2506777"/>
            <a:ext cx="971551" cy="971551"/>
          </a:xfrm>
          <a:custGeom>
            <a:avLst/>
            <a:gdLst>
              <a:gd name="connsiteX0" fmla="*/ 485775 w 971550"/>
              <a:gd name="connsiteY0" fmla="*/ 0 h 971550"/>
              <a:gd name="connsiteX1" fmla="*/ 971550 w 971550"/>
              <a:gd name="connsiteY1" fmla="*/ 485775 h 971550"/>
              <a:gd name="connsiteX2" fmla="*/ 485775 w 971550"/>
              <a:gd name="connsiteY2" fmla="*/ 971550 h 971550"/>
              <a:gd name="connsiteX3" fmla="*/ 0 w 971550"/>
              <a:gd name="connsiteY3" fmla="*/ 485775 h 971550"/>
              <a:gd name="connsiteX4" fmla="*/ 485775 w 971550"/>
              <a:gd name="connsiteY4" fmla="*/ 0 h 97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1550" h="971550">
                <a:moveTo>
                  <a:pt x="485775" y="0"/>
                </a:moveTo>
                <a:cubicBezTo>
                  <a:pt x="754061" y="0"/>
                  <a:pt x="971550" y="217489"/>
                  <a:pt x="971550" y="485775"/>
                </a:cubicBezTo>
                <a:cubicBezTo>
                  <a:pt x="971550" y="754061"/>
                  <a:pt x="754061" y="971550"/>
                  <a:pt x="485775" y="971550"/>
                </a:cubicBezTo>
                <a:cubicBezTo>
                  <a:pt x="217489" y="971550"/>
                  <a:pt x="0" y="754061"/>
                  <a:pt x="0" y="485775"/>
                </a:cubicBezTo>
                <a:cubicBezTo>
                  <a:pt x="0" y="217489"/>
                  <a:pt x="217489" y="0"/>
                  <a:pt x="485775" y="0"/>
                </a:cubicBezTo>
                <a:close/>
              </a:path>
            </a:pathLst>
          </a:custGeom>
        </p:spPr>
        <p:txBody>
          <a:bodyPr wrap="square">
            <a:noAutofit/>
          </a:bodyPr>
          <a:lstStyle>
            <a:lvl1pPr marL="0" indent="0">
              <a:buNone/>
              <a:defRPr sz="800"/>
            </a:lvl1pPr>
          </a:lstStyle>
          <a:p>
            <a:endParaRPr lang="id-ID"/>
          </a:p>
        </p:txBody>
      </p:sp>
      <p:sp>
        <p:nvSpPr>
          <p:cNvPr id="5" name="Text Placeholder 2"/>
          <p:cNvSpPr>
            <a:spLocks noGrp="1"/>
          </p:cNvSpPr>
          <p:nvPr>
            <p:ph type="body" sz="quarter" idx="10"/>
          </p:nvPr>
        </p:nvSpPr>
        <p:spPr>
          <a:xfrm>
            <a:off x="849313" y="743843"/>
            <a:ext cx="10493375" cy="696232"/>
          </a:xfrm>
          <a:prstGeom prst="rect">
            <a:avLst/>
          </a:prstGeom>
        </p:spPr>
        <p:txBody>
          <a:bodyPr/>
          <a:lstStyle>
            <a:lvl1pPr marL="0" indent="0" algn="ctr">
              <a:buNone/>
              <a:defRPr sz="4000" b="0">
                <a:solidFill>
                  <a:schemeClr val="tx1">
                    <a:lumMod val="65000"/>
                    <a:lumOff val="35000"/>
                  </a:schemeClr>
                </a:solidFill>
                <a:latin typeface="Segoe UI Light" panose="020B0502040204020203" pitchFamily="34" charset="0"/>
                <a:cs typeface="Segoe UI Light" panose="020B0502040204020203" pitchFamily="34" charset="0"/>
              </a:defRPr>
            </a:lvl1pPr>
          </a:lstStyle>
          <a:p>
            <a:pPr lvl="0"/>
            <a:endParaRPr lang="id-ID" dirty="0"/>
          </a:p>
        </p:txBody>
      </p:sp>
      <p:sp>
        <p:nvSpPr>
          <p:cNvPr id="6" name="TextBox 5"/>
          <p:cNvSpPr txBox="1"/>
          <p:nvPr userDrawn="1"/>
        </p:nvSpPr>
        <p:spPr>
          <a:xfrm>
            <a:off x="4457700" y="526651"/>
            <a:ext cx="3276600" cy="245110"/>
          </a:xfrm>
          <a:prstGeom prst="rect">
            <a:avLst/>
          </a:prstGeom>
          <a:noFill/>
        </p:spPr>
        <p:txBody>
          <a:bodyPr wrap="square" rtlCol="0">
            <a:spAutoFit/>
          </a:bodyPr>
          <a:lstStyle/>
          <a:p>
            <a:pPr algn="ctr"/>
            <a:r>
              <a:rPr lang="en-US" sz="1000" b="0" strike="noStrike" spc="450" dirty="0">
                <a:solidFill>
                  <a:schemeClr val="bg1">
                    <a:lumMod val="75000"/>
                  </a:schemeClr>
                </a:solidFill>
                <a:latin typeface="Segoe UI Light" panose="020B0502040204020203" pitchFamily="34" charset="0"/>
                <a:cs typeface="Segoe UI Light" panose="020B0502040204020203" pitchFamily="34" charset="0"/>
              </a:rPr>
              <a:t>BUSINESS</a:t>
            </a:r>
            <a:endParaRPr lang="id-ID" sz="1000" b="0" strike="noStrike" spc="450" dirty="0">
              <a:solidFill>
                <a:schemeClr val="bg1">
                  <a:lumMod val="75000"/>
                </a:schemeClr>
              </a:solidFill>
              <a:latin typeface="Segoe UI Light" panose="020B0502040204020203" pitchFamily="34" charset="0"/>
              <a:cs typeface="Segoe UI Light" panose="020B0502040204020203"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42" presetClass="entr" presetSubtype="0" fill="hold" grpId="0" nodeType="withEffect" nodePh="1">
                                  <p:stCondLst>
                                    <p:cond delay="0"/>
                                  </p:stCondLst>
                                  <p:endCondLst>
                                    <p:cond evt="begin" delay="0">
                                      <p:tn val="8"/>
                                    </p:cond>
                                  </p:end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anim calcmode="lin" valueType="num">
                                      <p:cBhvr>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5">
                                            <p:txEl>
                                              <p:pRg st="0" end="0"/>
                                            </p:txEl>
                                          </p:spTgt>
                                        </p:tgtEl>
                                        <p:attrNameLst>
                                          <p:attrName>ppt_y</p:attrName>
                                        </p:attrNameLst>
                                      </p:cBhvr>
                                      <p:tavLst>
                                        <p:tav tm="0">
                                          <p:val>
                                            <p:strVal val="#ppt_y+.1"/>
                                          </p:val>
                                        </p:tav>
                                        <p:tav tm="100000">
                                          <p:val>
                                            <p:strVal val="#ppt_y"/>
                                          </p:val>
                                        </p:tav>
                                      </p:tavLst>
                                    </p:anim>
                                  </p:childTnLst>
                                </p:cTn>
                              </p:par>
                              <p:par>
                                <p:cTn id="13" presetID="53" presetClass="entr" presetSubtype="16" fill="hold" grpId="0" nodeType="withEffect" nodePh="1">
                                  <p:stCondLst>
                                    <p:cond delay="100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5" grpId="0" build="p">
        <p:tmplLst>
          <p:tmpl lvl="1">
            <p:tnLst>
              <p:par>
                <p:cTn presetID="42" presetClass="entr" presetSubtype="0" fill="hold" nodeType="withEffect" nodePh="1">
                  <p:stCondLst>
                    <p:cond delay="0"/>
                  </p:stCondLst>
                  <p:endCondLst>
                    <p:cond delay="0"/>
                  </p:end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anim calcmode="lin" valueType="num">
                      <p:cBhvr>
                        <p:cTn dur="500" fill="hold"/>
                        <p:tgtEl>
                          <p:spTgt spid="5"/>
                        </p:tgtEl>
                        <p:attrNameLst>
                          <p:attrName>ppt_x</p:attrName>
                        </p:attrNameLst>
                      </p:cBhvr>
                      <p:tavLst>
                        <p:tav tm="0">
                          <p:val>
                            <p:strVal val="#ppt_x"/>
                          </p:val>
                        </p:tav>
                        <p:tav tm="100000">
                          <p:val>
                            <p:strVal val="#ppt_x"/>
                          </p:val>
                        </p:tav>
                      </p:tavLst>
                    </p:anim>
                    <p:anim calcmode="lin" valueType="num">
                      <p:cBhvr>
                        <p:cTn dur="500" fill="hold"/>
                        <p:tgtEl>
                          <p:spTgt spid="5"/>
                        </p:tgtEl>
                        <p:attrNameLst>
                          <p:attrName>ppt_y</p:attrName>
                        </p:attrNameLst>
                      </p:cBhvr>
                      <p:tavLst>
                        <p:tav tm="0">
                          <p:val>
                            <p:strVal val="#ppt_y+.1"/>
                          </p:val>
                        </p:tav>
                        <p:tav tm="100000">
                          <p:val>
                            <p:strVal val="#ppt_y"/>
                          </p:val>
                        </p:tav>
                      </p:tavLst>
                    </p:anim>
                  </p:childTnLst>
                </p:cTn>
              </p:par>
            </p:tnLst>
          </p:tmpl>
        </p:tmplLst>
      </p:bldP>
      <p:bldP spid="6"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9_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1">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1"/>
          <p:cNvSpPr>
            <a:spLocks noGrp="1"/>
          </p:cNvSpPr>
          <p:nvPr>
            <p:ph type="pic" sz="quarter" idx="12" hasCustomPrompt="1"/>
          </p:nvPr>
        </p:nvSpPr>
        <p:spPr>
          <a:xfrm>
            <a:off x="4123308" y="1349450"/>
            <a:ext cx="4339048" cy="4339048"/>
          </a:xfrm>
          <a:custGeom>
            <a:avLst/>
            <a:gdLst>
              <a:gd name="connsiteX0" fmla="*/ 897241 w 4999205"/>
              <a:gd name="connsiteY0" fmla="*/ 349012 h 2498048"/>
              <a:gd name="connsiteX1" fmla="*/ 1794482 w 4999205"/>
              <a:gd name="connsiteY1" fmla="*/ 1246253 h 2498048"/>
              <a:gd name="connsiteX2" fmla="*/ 897241 w 4999205"/>
              <a:gd name="connsiteY2" fmla="*/ 2143494 h 2498048"/>
              <a:gd name="connsiteX3" fmla="*/ 0 w 4999205"/>
              <a:gd name="connsiteY3" fmla="*/ 1246253 h 2498048"/>
              <a:gd name="connsiteX4" fmla="*/ 897241 w 4999205"/>
              <a:gd name="connsiteY4" fmla="*/ 349012 h 2498048"/>
              <a:gd name="connsiteX5" fmla="*/ 3750181 w 4999205"/>
              <a:gd name="connsiteY5" fmla="*/ 0 h 2498048"/>
              <a:gd name="connsiteX6" fmla="*/ 4277993 w 4999205"/>
              <a:gd name="connsiteY6" fmla="*/ 218627 h 2498048"/>
              <a:gd name="connsiteX7" fmla="*/ 4780578 w 4999205"/>
              <a:gd name="connsiteY7" fmla="*/ 721212 h 2498048"/>
              <a:gd name="connsiteX8" fmla="*/ 4780578 w 4999205"/>
              <a:gd name="connsiteY8" fmla="*/ 1776836 h 2498048"/>
              <a:gd name="connsiteX9" fmla="*/ 4277993 w 4999205"/>
              <a:gd name="connsiteY9" fmla="*/ 2279421 h 2498048"/>
              <a:gd name="connsiteX10" fmla="*/ 3222369 w 4999205"/>
              <a:gd name="connsiteY10" fmla="*/ 2279421 h 2498048"/>
              <a:gd name="connsiteX11" fmla="*/ 2719785 w 4999205"/>
              <a:gd name="connsiteY11" fmla="*/ 1776836 h 2498048"/>
              <a:gd name="connsiteX12" fmla="*/ 2719785 w 4999205"/>
              <a:gd name="connsiteY12" fmla="*/ 721212 h 2498048"/>
              <a:gd name="connsiteX13" fmla="*/ 3222369 w 4999205"/>
              <a:gd name="connsiteY13" fmla="*/ 218627 h 2498048"/>
              <a:gd name="connsiteX14" fmla="*/ 3750181 w 4999205"/>
              <a:gd name="connsiteY14" fmla="*/ 0 h 2498048"/>
              <a:gd name="connsiteX0-1" fmla="*/ 24941 w 5024146"/>
              <a:gd name="connsiteY0-2" fmla="*/ 1246253 h 2498048"/>
              <a:gd name="connsiteX1-3" fmla="*/ 1819423 w 5024146"/>
              <a:gd name="connsiteY1-4" fmla="*/ 1246253 h 2498048"/>
              <a:gd name="connsiteX2-5" fmla="*/ 922182 w 5024146"/>
              <a:gd name="connsiteY2-6" fmla="*/ 2143494 h 2498048"/>
              <a:gd name="connsiteX3-7" fmla="*/ 24941 w 5024146"/>
              <a:gd name="connsiteY3-8" fmla="*/ 1246253 h 2498048"/>
              <a:gd name="connsiteX4-9" fmla="*/ 3775122 w 5024146"/>
              <a:gd name="connsiteY4-10" fmla="*/ 0 h 2498048"/>
              <a:gd name="connsiteX5-11" fmla="*/ 4302934 w 5024146"/>
              <a:gd name="connsiteY5-12" fmla="*/ 218627 h 2498048"/>
              <a:gd name="connsiteX6-13" fmla="*/ 4805519 w 5024146"/>
              <a:gd name="connsiteY6-14" fmla="*/ 721212 h 2498048"/>
              <a:gd name="connsiteX7-15" fmla="*/ 4805519 w 5024146"/>
              <a:gd name="connsiteY7-16" fmla="*/ 1776836 h 2498048"/>
              <a:gd name="connsiteX8-17" fmla="*/ 4302934 w 5024146"/>
              <a:gd name="connsiteY8-18" fmla="*/ 2279421 h 2498048"/>
              <a:gd name="connsiteX9-19" fmla="*/ 3247310 w 5024146"/>
              <a:gd name="connsiteY9-20" fmla="*/ 2279421 h 2498048"/>
              <a:gd name="connsiteX10-21" fmla="*/ 2744726 w 5024146"/>
              <a:gd name="connsiteY10-22" fmla="*/ 1776836 h 2498048"/>
              <a:gd name="connsiteX11-23" fmla="*/ 2744726 w 5024146"/>
              <a:gd name="connsiteY11-24" fmla="*/ 721212 h 2498048"/>
              <a:gd name="connsiteX12-25" fmla="*/ 3247310 w 5024146"/>
              <a:gd name="connsiteY12-26" fmla="*/ 218627 h 2498048"/>
              <a:gd name="connsiteX13-27" fmla="*/ 3775122 w 5024146"/>
              <a:gd name="connsiteY13-28" fmla="*/ 0 h 2498048"/>
              <a:gd name="connsiteX0-29" fmla="*/ 24941 w 5024146"/>
              <a:gd name="connsiteY0-30" fmla="*/ 1246253 h 2498048"/>
              <a:gd name="connsiteX1-31" fmla="*/ 922182 w 5024146"/>
              <a:gd name="connsiteY1-32" fmla="*/ 2143494 h 2498048"/>
              <a:gd name="connsiteX2-33" fmla="*/ 24941 w 5024146"/>
              <a:gd name="connsiteY2-34" fmla="*/ 1246253 h 2498048"/>
              <a:gd name="connsiteX3-35" fmla="*/ 3775122 w 5024146"/>
              <a:gd name="connsiteY3-36" fmla="*/ 0 h 2498048"/>
              <a:gd name="connsiteX4-37" fmla="*/ 4302934 w 5024146"/>
              <a:gd name="connsiteY4-38" fmla="*/ 218627 h 2498048"/>
              <a:gd name="connsiteX5-39" fmla="*/ 4805519 w 5024146"/>
              <a:gd name="connsiteY5-40" fmla="*/ 721212 h 2498048"/>
              <a:gd name="connsiteX6-41" fmla="*/ 4805519 w 5024146"/>
              <a:gd name="connsiteY6-42" fmla="*/ 1776836 h 2498048"/>
              <a:gd name="connsiteX7-43" fmla="*/ 4302934 w 5024146"/>
              <a:gd name="connsiteY7-44" fmla="*/ 2279421 h 2498048"/>
              <a:gd name="connsiteX8-45" fmla="*/ 3247310 w 5024146"/>
              <a:gd name="connsiteY8-46" fmla="*/ 2279421 h 2498048"/>
              <a:gd name="connsiteX9-47" fmla="*/ 2744726 w 5024146"/>
              <a:gd name="connsiteY9-48" fmla="*/ 1776836 h 2498048"/>
              <a:gd name="connsiteX10-49" fmla="*/ 2744726 w 5024146"/>
              <a:gd name="connsiteY10-50" fmla="*/ 721212 h 2498048"/>
              <a:gd name="connsiteX11-51" fmla="*/ 3247310 w 5024146"/>
              <a:gd name="connsiteY11-52" fmla="*/ 218627 h 2498048"/>
              <a:gd name="connsiteX12-53" fmla="*/ 3775122 w 5024146"/>
              <a:gd name="connsiteY12-54" fmla="*/ 0 h 2498048"/>
              <a:gd name="connsiteX0-55" fmla="*/ 1249024 w 2498048"/>
              <a:gd name="connsiteY0-56" fmla="*/ 0 h 2498048"/>
              <a:gd name="connsiteX1-57" fmla="*/ 1776836 w 2498048"/>
              <a:gd name="connsiteY1-58" fmla="*/ 218627 h 2498048"/>
              <a:gd name="connsiteX2-59" fmla="*/ 2279421 w 2498048"/>
              <a:gd name="connsiteY2-60" fmla="*/ 721212 h 2498048"/>
              <a:gd name="connsiteX3-61" fmla="*/ 2279421 w 2498048"/>
              <a:gd name="connsiteY3-62" fmla="*/ 1776836 h 2498048"/>
              <a:gd name="connsiteX4-63" fmla="*/ 1776836 w 2498048"/>
              <a:gd name="connsiteY4-64" fmla="*/ 2279421 h 2498048"/>
              <a:gd name="connsiteX5-65" fmla="*/ 721212 w 2498048"/>
              <a:gd name="connsiteY5-66" fmla="*/ 2279421 h 2498048"/>
              <a:gd name="connsiteX6-67" fmla="*/ 218628 w 2498048"/>
              <a:gd name="connsiteY6-68" fmla="*/ 1776836 h 2498048"/>
              <a:gd name="connsiteX7-69" fmla="*/ 218628 w 2498048"/>
              <a:gd name="connsiteY7-70" fmla="*/ 721212 h 2498048"/>
              <a:gd name="connsiteX8-71" fmla="*/ 721212 w 2498048"/>
              <a:gd name="connsiteY8-72" fmla="*/ 218627 h 2498048"/>
              <a:gd name="connsiteX9-73" fmla="*/ 1249024 w 2498048"/>
              <a:gd name="connsiteY9-74" fmla="*/ 0 h 2498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498048" h="2498048">
                <a:moveTo>
                  <a:pt x="1249024" y="0"/>
                </a:moveTo>
                <a:cubicBezTo>
                  <a:pt x="1440055" y="0"/>
                  <a:pt x="1631085" y="72876"/>
                  <a:pt x="1776836" y="218627"/>
                </a:cubicBezTo>
                <a:lnTo>
                  <a:pt x="2279421" y="721212"/>
                </a:lnTo>
                <a:cubicBezTo>
                  <a:pt x="2570924" y="1012715"/>
                  <a:pt x="2570924" y="1485334"/>
                  <a:pt x="2279421" y="1776836"/>
                </a:cubicBezTo>
                <a:lnTo>
                  <a:pt x="1776836" y="2279421"/>
                </a:lnTo>
                <a:cubicBezTo>
                  <a:pt x="1485334" y="2570924"/>
                  <a:pt x="1012715" y="2570924"/>
                  <a:pt x="721212" y="2279421"/>
                </a:cubicBezTo>
                <a:lnTo>
                  <a:pt x="218628" y="1776836"/>
                </a:lnTo>
                <a:cubicBezTo>
                  <a:pt x="-72875" y="1485334"/>
                  <a:pt x="-72875" y="1012715"/>
                  <a:pt x="218628" y="721212"/>
                </a:cubicBezTo>
                <a:lnTo>
                  <a:pt x="721212" y="218627"/>
                </a:lnTo>
                <a:cubicBezTo>
                  <a:pt x="866963" y="72876"/>
                  <a:pt x="1057994" y="0"/>
                  <a:pt x="1249024" y="0"/>
                </a:cubicBezTo>
                <a:close/>
              </a:path>
            </a:pathLst>
          </a:custGeom>
          <a:pattFill prst="pct5">
            <a:fgClr>
              <a:schemeClr val="tx1"/>
            </a:fgClr>
            <a:bgClr>
              <a:schemeClr val="bg1">
                <a:lumMod val="85000"/>
              </a:schemeClr>
            </a:bgClr>
          </a:pattFill>
          <a:effectLst>
            <a:outerShdw blurRad="50800" dist="25400" dir="5400000" algn="t" rotWithShape="0">
              <a:prstClr val="black">
                <a:alpha val="15000"/>
              </a:prstClr>
            </a:outerShdw>
          </a:effectLst>
        </p:spPr>
        <p:txBody>
          <a:bodyPr wrap="square" anchor="ctr">
            <a:noAutofit/>
          </a:bodyPr>
          <a:lstStyle>
            <a:lvl1pPr marL="0" indent="0" algn="ctr">
              <a:buNone/>
              <a:defRPr sz="1600" b="0" i="0">
                <a:latin typeface="Source Sans Pro" panose="020B0503030403020204" charset="0"/>
                <a:ea typeface="Source Sans Pro" panose="020B0503030403020204" charset="0"/>
                <a:cs typeface="Source Sans Pro" panose="020B0503030403020204" charset="0"/>
              </a:defRPr>
            </a:lvl1pPr>
          </a:lstStyle>
          <a:p>
            <a:r>
              <a:rPr lang="en-US" dirty="0"/>
              <a:t>Drag &amp; Drop Image</a:t>
            </a: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2025-04-17</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ransition spd="slow">
    <p:push dir="u"/>
  </p:transition>
  <p:hf hdr="0" dt="0"/>
  <p:txStyles>
    <p:titleStyle>
      <a:lvl1pPr algn="l" defTabSz="913765"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hyperlink" Target="https://lwebapp.com/zh/python-playground"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6.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7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1.xml"/><Relationship Id="rId1" Type="http://schemas.openxmlformats.org/officeDocument/2006/relationships/slideLayout" Target="../slideLayouts/slideLayout3.xml"/><Relationship Id="rId5" Type="http://schemas.openxmlformats.org/officeDocument/2006/relationships/image" Target="../media/image57.png"/><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2.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3.xml"/><Relationship Id="rId1" Type="http://schemas.openxmlformats.org/officeDocument/2006/relationships/slideLayout" Target="../slideLayouts/slideLayout3.xml"/><Relationship Id="rId5" Type="http://schemas.openxmlformats.org/officeDocument/2006/relationships/image" Target="../media/image61.svg"/><Relationship Id="rId4" Type="http://schemas.openxmlformats.org/officeDocument/2006/relationships/image" Target="../media/image60.png"/></Relationships>
</file>

<file path=ppt/slides/_rels/slide7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5.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6.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7.xml"/><Relationship Id="rId1" Type="http://schemas.openxmlformats.org/officeDocument/2006/relationships/slideLayout" Target="../slideLayouts/slideLayout22.xml"/><Relationship Id="rId4" Type="http://schemas.openxmlformats.org/officeDocument/2006/relationships/hyperlink" Target="https://study.inpei.cn/AiTrainerExamNgWeb/"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79.xml"/><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2.xml"/><Relationship Id="rId1" Type="http://schemas.openxmlformats.org/officeDocument/2006/relationships/slideLayout" Target="../slideLayouts/slideLayout22.xml"/></Relationships>
</file>

<file path=ppt/slides/_rels/slide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3.xml"/><Relationship Id="rId1" Type="http://schemas.openxmlformats.org/officeDocument/2006/relationships/slideLayout" Target="../slideLayouts/slideLayout2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2.xml"/><Relationship Id="rId1" Type="http://schemas.openxmlformats.org/officeDocument/2006/relationships/tags" Target="../tags/tag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txBox="1"/>
          <p:nvPr/>
        </p:nvSpPr>
        <p:spPr>
          <a:xfrm>
            <a:off x="2011824" y="2005022"/>
            <a:ext cx="9700662" cy="913327"/>
          </a:xfrm>
          <a:prstGeom prst="rect">
            <a:avLst/>
          </a:prstGeom>
          <a:noFill/>
        </p:spPr>
        <p:txBody>
          <a:bodyPr wrap="square" rtlCol="0">
            <a:spAutoFit/>
          </a:bodyPr>
          <a:lstStyle/>
          <a:p>
            <a:r>
              <a:rPr lang="en-US" altLang="zh-CN" sz="5335" b="1" dirty="0">
                <a:solidFill>
                  <a:schemeClr val="bg1"/>
                </a:solidFill>
                <a:latin typeface="微软雅黑" panose="020B0503020204020204" pitchFamily="34" charset="-122"/>
                <a:ea typeface="微软雅黑" panose="020B0503020204020204" pitchFamily="34" charset="-122"/>
              </a:rPr>
              <a:t>  </a:t>
            </a:r>
            <a:r>
              <a:rPr lang="zh-CN" altLang="en-US" sz="5335" b="1" dirty="0">
                <a:solidFill>
                  <a:schemeClr val="bg1"/>
                </a:solidFill>
                <a:latin typeface="微软雅黑" panose="020B0503020204020204" pitchFamily="34" charset="-122"/>
                <a:ea typeface="微软雅黑" panose="020B0503020204020204" pitchFamily="34" charset="-122"/>
              </a:rPr>
              <a:t>人工智能训练师培训课程</a:t>
            </a:r>
            <a:endParaRPr lang="en-US" sz="5335" b="1" dirty="0">
              <a:solidFill>
                <a:schemeClr val="bg1"/>
              </a:solidFill>
              <a:latin typeface="微软雅黑" panose="020B0503020204020204" pitchFamily="34" charset="-122"/>
              <a:ea typeface="微软雅黑" panose="020B0503020204020204" pitchFamily="34" charset="-122"/>
            </a:endParaRPr>
          </a:p>
        </p:txBody>
      </p:sp>
      <p:cxnSp>
        <p:nvCxnSpPr>
          <p:cNvPr id="4" name="Straight Connector 9"/>
          <p:cNvCxnSpPr/>
          <p:nvPr/>
        </p:nvCxnSpPr>
        <p:spPr>
          <a:xfrm>
            <a:off x="1990856" y="2045744"/>
            <a:ext cx="0" cy="1099732"/>
          </a:xfrm>
          <a:prstGeom prst="line">
            <a:avLst/>
          </a:prstGeom>
          <a:ln w="7620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0" y="2646564"/>
            <a:ext cx="12192000"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000" dirty="0">
                <a:solidFill>
                  <a:srgbClr val="44546A"/>
                </a:solidFill>
              </a:rPr>
              <a:t>机器学习（一）</a:t>
            </a:r>
          </a:p>
        </p:txBody>
      </p:sp>
      <p:sp>
        <p:nvSpPr>
          <p:cNvPr id="2" name="文本框 1"/>
          <p:cNvSpPr txBox="1"/>
          <p:nvPr/>
        </p:nvSpPr>
        <p:spPr>
          <a:xfrm>
            <a:off x="4261555" y="3503551"/>
            <a:ext cx="7930445" cy="461665"/>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en-US" altLang="zh-CN" sz="2400" dirty="0">
                <a:solidFill>
                  <a:srgbClr val="44546A"/>
                </a:solidFill>
              </a:rPr>
              <a:t>——Python</a:t>
            </a:r>
            <a:r>
              <a:rPr lang="zh-CN" altLang="en-US" sz="2400" dirty="0">
                <a:solidFill>
                  <a:srgbClr val="44546A"/>
                </a:solidFill>
              </a:rPr>
              <a:t>基础知识</a:t>
            </a: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编程规范</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910087" y="1136072"/>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线上编译平台</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910087" y="1714703"/>
            <a:ext cx="10632559" cy="1422441"/>
          </a:xfrm>
          <a:prstGeom prst="rect">
            <a:avLst/>
          </a:prstGeom>
          <a:noFill/>
        </p:spPr>
        <p:txBody>
          <a:bodyPr wrap="square" rtlCol="0" anchor="t">
            <a:spAutoFit/>
          </a:bodyPr>
          <a:lstStyle/>
          <a:p>
            <a:pPr>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https://www.jyshare.com/compile/9/</a:t>
            </a:r>
            <a:b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b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hlinkClick r:id="rId3"/>
              </a:rPr>
              <a:t>https://lwebapp.com/zh/python-playground</a:t>
            </a:r>
            <a:b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b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https://www.sciclass.cn/python</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4" name="圆角矩形 8">
            <a:extLst>
              <a:ext uri="{FF2B5EF4-FFF2-40B4-BE49-F238E27FC236}">
                <a16:creationId xmlns:a16="http://schemas.microsoft.com/office/drawing/2014/main" id="{76F5DDC8-AE04-7DA3-7F2E-DB9E8E6FEAF7}"/>
              </a:ext>
            </a:extLst>
          </p:cNvPr>
          <p:cNvSpPr/>
          <p:nvPr/>
        </p:nvSpPr>
        <p:spPr>
          <a:xfrm>
            <a:off x="910087" y="3611368"/>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编译运行</a:t>
            </a: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IDE</a:t>
            </a:r>
            <a:endPar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pic>
        <p:nvPicPr>
          <p:cNvPr id="10" name="图片 9">
            <a:extLst>
              <a:ext uri="{FF2B5EF4-FFF2-40B4-BE49-F238E27FC236}">
                <a16:creationId xmlns:a16="http://schemas.microsoft.com/office/drawing/2014/main" id="{72D87675-6440-CD49-B470-2697791F73CD}"/>
              </a:ext>
            </a:extLst>
          </p:cNvPr>
          <p:cNvPicPr>
            <a:picLocks noChangeAspect="1"/>
          </p:cNvPicPr>
          <p:nvPr/>
        </p:nvPicPr>
        <p:blipFill rotWithShape="1">
          <a:blip r:embed="rId4"/>
          <a:srcRect l="9086" t="12113" r="9406"/>
          <a:stretch/>
        </p:blipFill>
        <p:spPr>
          <a:xfrm>
            <a:off x="7249831" y="2666958"/>
            <a:ext cx="3305907" cy="4083186"/>
          </a:xfrm>
          <a:prstGeom prst="rect">
            <a:avLst/>
          </a:prstGeom>
        </p:spPr>
      </p:pic>
    </p:spTree>
    <p:extLst>
      <p:ext uri="{BB962C8B-B14F-4D97-AF65-F5344CB8AC3E}">
        <p14:creationId xmlns:p14="http://schemas.microsoft.com/office/powerpoint/2010/main" val="16870193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编程规范</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768321" y="1041522"/>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1.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注释</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910088" y="1674510"/>
            <a:ext cx="10632559" cy="960776"/>
          </a:xfrm>
          <a:prstGeom prst="rect">
            <a:avLst/>
          </a:prstGeom>
          <a:noFill/>
        </p:spPr>
        <p:txBody>
          <a:bodyPr wrap="square" rtlCol="0" anchor="t">
            <a:spAutoFit/>
          </a:bodyPr>
          <a:lstStyle/>
          <a:p>
            <a:pPr algn="just">
              <a:lnSpc>
                <a:spcPct val="150000"/>
              </a:lnSpc>
              <a:buNone/>
            </a:pP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在</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python</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中代码顺序执行，但是所有的代码都会被执行吗？在编写代码时，在代码中增加适当的注释能提高代码的可读性。在 </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Python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中使用</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来对单行代码添加注释。例如：</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pic>
        <p:nvPicPr>
          <p:cNvPr id="6" name="图片 5"/>
          <p:cNvPicPr>
            <a:picLocks noChangeAspect="1"/>
          </p:cNvPicPr>
          <p:nvPr/>
        </p:nvPicPr>
        <p:blipFill>
          <a:blip r:embed="rId3"/>
          <a:stretch>
            <a:fillRect/>
          </a:stretch>
        </p:blipFill>
        <p:spPr>
          <a:xfrm>
            <a:off x="2734626" y="2676477"/>
            <a:ext cx="6722747" cy="655878"/>
          </a:xfrm>
          <a:prstGeom prst="rect">
            <a:avLst/>
          </a:prstGeom>
        </p:spPr>
      </p:pic>
      <p:sp>
        <p:nvSpPr>
          <p:cNvPr id="7" name="文本框 6"/>
          <p:cNvSpPr txBox="1"/>
          <p:nvPr/>
        </p:nvSpPr>
        <p:spPr>
          <a:xfrm>
            <a:off x="910085" y="3373546"/>
            <a:ext cx="10632559" cy="960776"/>
          </a:xfrm>
          <a:prstGeom prst="rect">
            <a:avLst/>
          </a:prstGeom>
          <a:noFill/>
        </p:spPr>
        <p:txBody>
          <a:bodyPr wrap="square" rtlCol="0" anchor="t">
            <a:spAutoFit/>
          </a:bodyPr>
          <a:lstStyle/>
          <a:p>
            <a:pPr algn="just">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如果注释有多行，可通过两个</a:t>
            </a:r>
            <a:r>
              <a:rPr lang="en-US" altLang="zh-CN" sz="2000" b="0" dirty="0">
                <a:solidFill>
                  <a:srgbClr val="777777"/>
                </a:solidFill>
                <a:effectLst/>
                <a:latin typeface="Consolas" panose="020B0609020204030204" pitchFamily="49" charset="0"/>
              </a:rPr>
              <a:t>'''</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3</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个英文单引号）或者两个</a:t>
            </a:r>
            <a:r>
              <a:rPr lang="en-US" altLang="zh-CN" sz="2000" b="0" dirty="0">
                <a:solidFill>
                  <a:srgbClr val="777777"/>
                </a:solidFill>
                <a:effectLst/>
                <a:latin typeface="Consolas" panose="020B0609020204030204" pitchFamily="49" charset="0"/>
              </a:rPr>
              <a:t>"""</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3</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个英文双引号）来添加注释。例如：</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pic>
        <p:nvPicPr>
          <p:cNvPr id="9" name="图片 8"/>
          <p:cNvPicPr>
            <a:picLocks noChangeAspect="1"/>
          </p:cNvPicPr>
          <p:nvPr/>
        </p:nvPicPr>
        <p:blipFill>
          <a:blip r:embed="rId4"/>
          <a:stretch>
            <a:fillRect/>
          </a:stretch>
        </p:blipFill>
        <p:spPr>
          <a:xfrm>
            <a:off x="3319014" y="4023027"/>
            <a:ext cx="5814699" cy="2536199"/>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编程规范</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768321" y="1041522"/>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1.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注释</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910088" y="1674510"/>
            <a:ext cx="10632559" cy="499624"/>
          </a:xfrm>
          <a:prstGeom prst="rect">
            <a:avLst/>
          </a:prstGeom>
          <a:noFill/>
        </p:spPr>
        <p:txBody>
          <a:bodyPr wrap="square" rtlCol="0" anchor="t">
            <a:spAutoFit/>
          </a:bodyPr>
          <a:lstStyle/>
          <a:p>
            <a:pPr algn="just">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注释的含义：在程序代码中对程序代码进行解释说明的文字。</a:t>
            </a:r>
          </a:p>
        </p:txBody>
      </p:sp>
      <p:sp>
        <p:nvSpPr>
          <p:cNvPr id="4" name="文本框 3"/>
          <p:cNvSpPr txBox="1"/>
          <p:nvPr/>
        </p:nvSpPr>
        <p:spPr>
          <a:xfrm>
            <a:off x="910088" y="2174134"/>
            <a:ext cx="10632559" cy="961289"/>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注释的作用：注释不是程序，不能被执行，只是对程序代码进行解释说明，可以让自己</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或别人快速了解程序的意思，大大增强程序的可读性。</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2337359"/>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编程规范</a:t>
            </a:r>
            <a:endParaRPr lang="en-US" altLang="zh-CN" kern="0" dirty="0">
              <a:solidFill>
                <a:srgbClr val="02B36F"/>
              </a:solidFill>
              <a:effectLst/>
            </a:endParaRPr>
          </a:p>
        </p:txBody>
      </p:sp>
      <p:sp>
        <p:nvSpPr>
          <p:cNvPr id="21" name="圆角矩形 20"/>
          <p:cNvSpPr/>
          <p:nvPr/>
        </p:nvSpPr>
        <p:spPr>
          <a:xfrm>
            <a:off x="5410386" y="3132324"/>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文本框 9"/>
          <p:cNvSpPr txBox="1"/>
          <p:nvPr/>
        </p:nvSpPr>
        <p:spPr>
          <a:xfrm>
            <a:off x="5410387" y="3366900"/>
            <a:ext cx="4503634"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4494C8"/>
                </a:solidFill>
                <a:effectLst/>
              </a:rPr>
              <a:t>基本数据类型</a:t>
            </a:r>
            <a:endParaRPr lang="en-US" altLang="zh-CN" kern="0" dirty="0">
              <a:solidFill>
                <a:srgbClr val="4494C8"/>
              </a:solidFill>
              <a:effectLst/>
            </a:endParaRPr>
          </a:p>
        </p:txBody>
      </p:sp>
      <p:sp>
        <p:nvSpPr>
          <p:cNvPr id="11" name="圆角矩形 10"/>
          <p:cNvSpPr/>
          <p:nvPr/>
        </p:nvSpPr>
        <p:spPr>
          <a:xfrm>
            <a:off x="5410387" y="4161865"/>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1+#ppt_w/2"/>
                                          </p:val>
                                        </p:tav>
                                        <p:tav tm="100000">
                                          <p:val>
                                            <p:strVal val="#ppt_x"/>
                                          </p:val>
                                        </p:tav>
                                      </p:tavLst>
                                    </p:anim>
                                    <p:anim calcmode="lin" valueType="num">
                                      <p:cBhvr additive="base">
                                        <p:cTn id="24" dur="1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10" grpId="0" bldLvl="0" animBg="1"/>
      <p:bldP spid="10" grpId="1" bldLvl="0" animBg="1"/>
      <p:bldP spid="11"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基本数据类型</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2243050"/>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Python </a:t>
            </a:r>
            <a:r>
              <a:rPr lang="zh-CN" altLang="en-US" sz="2400" dirty="0">
                <a:solidFill>
                  <a:srgbClr val="44546A"/>
                </a:solidFill>
                <a:latin typeface="微软雅黑" panose="020B0503020204020204" pitchFamily="34" charset="-122"/>
                <a:ea typeface="微软雅黑" panose="020B0503020204020204" pitchFamily="34" charset="-122"/>
              </a:rPr>
              <a:t>中的变量不需要声明，每个变量在使用前都必须赋值，只有赋值以后才会创建该变量。这里所说的数据类型通常指的是变量所指向的内存中对象的类型。</a:t>
            </a:r>
            <a:endParaRPr lang="en-US" altLang="zh-CN" sz="2400" dirty="0">
              <a:solidFill>
                <a:srgbClr val="44546A"/>
              </a:solidFill>
              <a:latin typeface="微软雅黑" panose="020B0503020204020204" pitchFamily="34" charset="-122"/>
              <a:ea typeface="微软雅黑" panose="020B0503020204020204" pitchFamily="34" charset="-122"/>
            </a:endParaRPr>
          </a:p>
          <a:p>
            <a:pPr>
              <a:lnSpc>
                <a:spcPct val="150000"/>
              </a:lnSpc>
            </a:pP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3" name="文本框 2"/>
          <p:cNvSpPr txBox="1"/>
          <p:nvPr/>
        </p:nvSpPr>
        <p:spPr>
          <a:xfrm>
            <a:off x="680484" y="239236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和大多数编程语言一样，</a:t>
            </a:r>
            <a:r>
              <a:rPr lang="en-US" altLang="zh-CN" sz="2400" dirty="0">
                <a:solidFill>
                  <a:srgbClr val="44546A"/>
                </a:solidFill>
                <a:latin typeface="微软雅黑" panose="020B0503020204020204" pitchFamily="34" charset="-122"/>
                <a:ea typeface="微软雅黑" panose="020B0503020204020204" pitchFamily="34" charset="-122"/>
              </a:rPr>
              <a:t>Python </a:t>
            </a:r>
            <a:r>
              <a:rPr lang="zh-CN" altLang="en-US" sz="2400" dirty="0">
                <a:solidFill>
                  <a:srgbClr val="44546A"/>
                </a:solidFill>
                <a:latin typeface="微软雅黑" panose="020B0503020204020204" pitchFamily="34" charset="-122"/>
                <a:ea typeface="微软雅黑" panose="020B0503020204020204" pitchFamily="34" charset="-122"/>
              </a:rPr>
              <a:t>使用等号“</a:t>
            </a:r>
            <a:r>
              <a:rPr lang="en-US" altLang="zh-CN" sz="2400" dirty="0">
                <a:solidFill>
                  <a:srgbClr val="44546A"/>
                </a:solidFill>
                <a:latin typeface="微软雅黑" panose="020B0503020204020204" pitchFamily="34" charset="-122"/>
                <a:ea typeface="微软雅黑" panose="020B0503020204020204" pitchFamily="34" charset="-122"/>
              </a:rPr>
              <a:t>=”</a:t>
            </a:r>
            <a:r>
              <a:rPr lang="zh-CN" altLang="en-US" sz="2400" dirty="0">
                <a:solidFill>
                  <a:srgbClr val="44546A"/>
                </a:solidFill>
                <a:latin typeface="微软雅黑" panose="020B0503020204020204" pitchFamily="34" charset="-122"/>
                <a:ea typeface="微软雅黑" panose="020B0503020204020204" pitchFamily="34" charset="-122"/>
              </a:rPr>
              <a:t>来给变量赋值，</a:t>
            </a:r>
            <a:r>
              <a:rPr lang="zh-CN" altLang="en-US" sz="2400" b="1" dirty="0">
                <a:solidFill>
                  <a:srgbClr val="44546A"/>
                </a:solidFill>
                <a:latin typeface="微软雅黑" panose="020B0503020204020204" pitchFamily="34" charset="-122"/>
                <a:ea typeface="微软雅黑" panose="020B0503020204020204" pitchFamily="34" charset="-122"/>
              </a:rPr>
              <a:t>等号左侧是变量名称，右侧是存储在变量中的值</a:t>
            </a:r>
            <a:r>
              <a:rPr lang="zh-CN" altLang="en-US" sz="2400" dirty="0">
                <a:solidFill>
                  <a:srgbClr val="44546A"/>
                </a:solidFill>
                <a:latin typeface="微软雅黑" panose="020B0503020204020204" pitchFamily="34" charset="-122"/>
                <a:ea typeface="微软雅黑" panose="020B0503020204020204" pitchFamily="34" charset="-122"/>
              </a:rPr>
              <a:t>。例如：</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6" name="图片 5"/>
          <p:cNvPicPr>
            <a:picLocks noChangeAspect="1"/>
          </p:cNvPicPr>
          <p:nvPr/>
        </p:nvPicPr>
        <p:blipFill>
          <a:blip r:embed="rId3"/>
          <a:stretch>
            <a:fillRect/>
          </a:stretch>
        </p:blipFill>
        <p:spPr>
          <a:xfrm>
            <a:off x="1419921" y="3668158"/>
            <a:ext cx="9352157" cy="1597179"/>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基本数据类型</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410940" y="924722"/>
            <a:ext cx="10632559" cy="461665"/>
          </a:xfrm>
          <a:prstGeom prst="rect">
            <a:avLst/>
          </a:prstGeom>
          <a:noFill/>
        </p:spPr>
        <p:txBody>
          <a:bodyPr wrap="square" rtlCol="0" anchor="t">
            <a:spAutoFit/>
          </a:bodyPr>
          <a:lstStyle/>
          <a:p>
            <a:r>
              <a:rPr lang="en-US" altLang="zh-CN" sz="2400" dirty="0">
                <a:solidFill>
                  <a:srgbClr val="44546A"/>
                </a:solidFill>
                <a:latin typeface="微软雅黑" panose="020B0503020204020204" pitchFamily="34" charset="-122"/>
                <a:ea typeface="微软雅黑" panose="020B0503020204020204" pitchFamily="34" charset="-122"/>
              </a:rPr>
              <a:t>Python</a:t>
            </a:r>
            <a:r>
              <a:rPr lang="zh-CN" altLang="en-US" sz="2400" dirty="0">
                <a:solidFill>
                  <a:srgbClr val="44546A"/>
                </a:solidFill>
                <a:latin typeface="微软雅黑" panose="020B0503020204020204" pitchFamily="34" charset="-122"/>
                <a:ea typeface="微软雅黑" panose="020B0503020204020204" pitchFamily="34" charset="-122"/>
              </a:rPr>
              <a:t>中常用的有 </a:t>
            </a:r>
            <a:r>
              <a:rPr lang="en-US" altLang="zh-CN" sz="2400" dirty="0">
                <a:solidFill>
                  <a:srgbClr val="44546A"/>
                </a:solidFill>
                <a:latin typeface="微软雅黑" panose="020B0503020204020204" pitchFamily="34" charset="-122"/>
                <a:ea typeface="微软雅黑" panose="020B0503020204020204" pitchFamily="34" charset="-122"/>
              </a:rPr>
              <a:t>6 </a:t>
            </a:r>
            <a:r>
              <a:rPr lang="zh-CN" altLang="en-US" sz="2400" dirty="0">
                <a:solidFill>
                  <a:srgbClr val="44546A"/>
                </a:solidFill>
                <a:latin typeface="微软雅黑" panose="020B0503020204020204" pitchFamily="34" charset="-122"/>
                <a:ea typeface="微软雅黑" panose="020B0503020204020204" pitchFamily="34" charset="-122"/>
              </a:rPr>
              <a:t>种值（数据）的类型。</a:t>
            </a:r>
          </a:p>
        </p:txBody>
      </p:sp>
      <p:graphicFrame>
        <p:nvGraphicFramePr>
          <p:cNvPr id="5" name="表格 5"/>
          <p:cNvGraphicFramePr>
            <a:graphicFrameLocks noGrp="1"/>
          </p:cNvGraphicFramePr>
          <p:nvPr/>
        </p:nvGraphicFramePr>
        <p:xfrm>
          <a:off x="458920" y="1624630"/>
          <a:ext cx="11346101" cy="4442460"/>
        </p:xfrm>
        <a:graphic>
          <a:graphicData uri="http://schemas.openxmlformats.org/drawingml/2006/table">
            <a:tbl>
              <a:tblPr firstRow="1" bandRow="1">
                <a:tableStyleId>{5C22544A-7EE6-4342-B048-85BDC9FD1C3A}</a:tableStyleId>
              </a:tblPr>
              <a:tblGrid>
                <a:gridCol w="2349025">
                  <a:extLst>
                    <a:ext uri="{9D8B030D-6E8A-4147-A177-3AD203B41FA5}">
                      <a16:colId xmlns:a16="http://schemas.microsoft.com/office/drawing/2014/main" val="20000"/>
                    </a:ext>
                  </a:extLst>
                </a:gridCol>
                <a:gridCol w="2738416">
                  <a:extLst>
                    <a:ext uri="{9D8B030D-6E8A-4147-A177-3AD203B41FA5}">
                      <a16:colId xmlns:a16="http://schemas.microsoft.com/office/drawing/2014/main" val="20001"/>
                    </a:ext>
                  </a:extLst>
                </a:gridCol>
                <a:gridCol w="6258660">
                  <a:extLst>
                    <a:ext uri="{9D8B030D-6E8A-4147-A177-3AD203B41FA5}">
                      <a16:colId xmlns:a16="http://schemas.microsoft.com/office/drawing/2014/main" val="20002"/>
                    </a:ext>
                  </a:extLst>
                </a:gridCol>
              </a:tblGrid>
              <a:tr h="370840">
                <a:tc>
                  <a:txBody>
                    <a:bodyPr/>
                    <a:lstStyle/>
                    <a:p>
                      <a:pPr algn="ctr"/>
                      <a:r>
                        <a:rPr lang="zh-CN" altLang="en-US" dirty="0"/>
                        <a:t>类型</a:t>
                      </a:r>
                    </a:p>
                  </a:txBody>
                  <a:tcPr/>
                </a:tc>
                <a:tc>
                  <a:txBody>
                    <a:bodyPr/>
                    <a:lstStyle/>
                    <a:p>
                      <a:pPr algn="ctr"/>
                      <a:r>
                        <a:rPr lang="zh-CN" altLang="en-US" dirty="0"/>
                        <a:t>描述</a:t>
                      </a:r>
                    </a:p>
                  </a:txBody>
                  <a:tcPr/>
                </a:tc>
                <a:tc>
                  <a:txBody>
                    <a:bodyPr/>
                    <a:lstStyle/>
                    <a:p>
                      <a:pPr algn="ctr"/>
                      <a:r>
                        <a:rPr lang="zh-CN" altLang="en-US" dirty="0"/>
                        <a:t>说明</a:t>
                      </a:r>
                    </a:p>
                  </a:txBody>
                  <a:tcPr/>
                </a:tc>
                <a:extLst>
                  <a:ext uri="{0D108BD9-81ED-4DB2-BD59-A6C34878D82A}">
                    <a16:rowId xmlns:a16="http://schemas.microsoft.com/office/drawing/2014/main" val="10000"/>
                  </a:ext>
                </a:extLst>
              </a:tr>
              <a:tr h="434340">
                <a:tc rowSpan="4">
                  <a:txBody>
                    <a:bodyPr/>
                    <a:lstStyle/>
                    <a:p>
                      <a:pPr algn="ctr"/>
                      <a:endParaRPr lang="en-US" altLang="zh-CN" sz="1800" kern="1200" dirty="0">
                        <a:solidFill>
                          <a:srgbClr val="44546A"/>
                        </a:solidFill>
                        <a:latin typeface="+mn-ea"/>
                        <a:ea typeface="+mn-ea"/>
                        <a:cs typeface="+mn-cs"/>
                      </a:endParaRPr>
                    </a:p>
                    <a:p>
                      <a:pPr algn="ctr"/>
                      <a:endParaRPr lang="en-US" altLang="zh-CN" sz="1800" kern="1200" dirty="0">
                        <a:solidFill>
                          <a:srgbClr val="44546A"/>
                        </a:solidFill>
                        <a:latin typeface="+mn-ea"/>
                        <a:ea typeface="+mn-ea"/>
                        <a:cs typeface="+mn-cs"/>
                      </a:endParaRPr>
                    </a:p>
                    <a:p>
                      <a:pPr algn="ctr"/>
                      <a:endParaRPr lang="en-US" altLang="zh-CN" sz="1800" kern="1200" dirty="0">
                        <a:solidFill>
                          <a:srgbClr val="44546A"/>
                        </a:solidFill>
                        <a:latin typeface="+mn-ea"/>
                        <a:ea typeface="+mn-ea"/>
                        <a:cs typeface="+mn-cs"/>
                      </a:endParaRPr>
                    </a:p>
                    <a:p>
                      <a:pPr algn="l"/>
                      <a:r>
                        <a:rPr lang="zh-CN" altLang="en-US" sz="1800" kern="1200" dirty="0">
                          <a:solidFill>
                            <a:srgbClr val="44546A"/>
                          </a:solidFill>
                          <a:latin typeface="+mn-ea"/>
                          <a:ea typeface="+mn-ea"/>
                          <a:cs typeface="+mn-cs"/>
                        </a:rPr>
                        <a:t>数字（</a:t>
                      </a:r>
                      <a:r>
                        <a:rPr lang="en-US" altLang="zh-CN" sz="1800" kern="1200" dirty="0">
                          <a:solidFill>
                            <a:srgbClr val="44546A"/>
                          </a:solidFill>
                          <a:latin typeface="+mn-ea"/>
                          <a:ea typeface="+mn-ea"/>
                          <a:cs typeface="+mn-cs"/>
                        </a:rPr>
                        <a:t>Number</a:t>
                      </a:r>
                      <a:r>
                        <a:rPr lang="zh-CN" altLang="en-US" sz="1800" kern="1200" dirty="0">
                          <a:solidFill>
                            <a:srgbClr val="44546A"/>
                          </a:solidFill>
                          <a:latin typeface="+mn-ea"/>
                          <a:ea typeface="+mn-ea"/>
                          <a:cs typeface="+mn-cs"/>
                        </a:rPr>
                        <a:t>）</a:t>
                      </a:r>
                    </a:p>
                  </a:txBody>
                  <a:tcPr/>
                </a:tc>
                <a:tc rowSpan="4">
                  <a:txBody>
                    <a:bodyPr/>
                    <a:lstStyle/>
                    <a:p>
                      <a:r>
                        <a:rPr lang="zh-CN" altLang="en-US" sz="1800" kern="1200" dirty="0">
                          <a:solidFill>
                            <a:srgbClr val="44546A"/>
                          </a:solidFill>
                          <a:latin typeface="+mn-ea"/>
                          <a:ea typeface="+mn-ea"/>
                          <a:cs typeface="+mn-cs"/>
                        </a:rPr>
                        <a:t>支持：</a:t>
                      </a:r>
                      <a:endParaRPr lang="en-US" altLang="zh-CN" sz="1800" kern="1200" dirty="0">
                        <a:solidFill>
                          <a:srgbClr val="44546A"/>
                        </a:solidFill>
                        <a:latin typeface="+mn-ea"/>
                        <a:ea typeface="+mn-ea"/>
                        <a:cs typeface="+mn-cs"/>
                      </a:endParaRPr>
                    </a:p>
                    <a:p>
                      <a:r>
                        <a:rPr lang="en-US" altLang="zh-CN" sz="1800" kern="1200" dirty="0">
                          <a:solidFill>
                            <a:srgbClr val="44546A"/>
                          </a:solidFill>
                          <a:latin typeface="+mn-ea"/>
                          <a:ea typeface="+mn-ea"/>
                          <a:cs typeface="+mn-cs"/>
                        </a:rPr>
                        <a:t>1</a:t>
                      </a:r>
                      <a:r>
                        <a:rPr lang="zh-CN" altLang="en-US" sz="1800" kern="1200" dirty="0">
                          <a:solidFill>
                            <a:srgbClr val="44546A"/>
                          </a:solidFill>
                          <a:latin typeface="+mn-ea"/>
                          <a:ea typeface="+mn-ea"/>
                          <a:cs typeface="+mn-cs"/>
                        </a:rPr>
                        <a:t>、整数（</a:t>
                      </a:r>
                      <a:r>
                        <a:rPr lang="en-US" altLang="zh-CN" sz="1800" kern="1200" dirty="0">
                          <a:solidFill>
                            <a:srgbClr val="44546A"/>
                          </a:solidFill>
                          <a:latin typeface="+mn-ea"/>
                          <a:ea typeface="+mn-ea"/>
                          <a:cs typeface="+mn-cs"/>
                        </a:rPr>
                        <a:t>int</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p>
                      <a:r>
                        <a:rPr lang="en-US" altLang="zh-CN" sz="1800" kern="1200" dirty="0">
                          <a:solidFill>
                            <a:srgbClr val="44546A"/>
                          </a:solidFill>
                          <a:latin typeface="+mn-ea"/>
                          <a:ea typeface="+mn-ea"/>
                          <a:cs typeface="+mn-cs"/>
                        </a:rPr>
                        <a:t>2</a:t>
                      </a:r>
                      <a:r>
                        <a:rPr lang="zh-CN" altLang="en-US" sz="1800" kern="1200" dirty="0">
                          <a:solidFill>
                            <a:srgbClr val="44546A"/>
                          </a:solidFill>
                          <a:latin typeface="+mn-ea"/>
                          <a:ea typeface="+mn-ea"/>
                          <a:cs typeface="+mn-cs"/>
                        </a:rPr>
                        <a:t>、浮点数（</a:t>
                      </a:r>
                      <a:r>
                        <a:rPr lang="en-US" altLang="zh-CN" sz="1800" kern="1200" dirty="0">
                          <a:solidFill>
                            <a:srgbClr val="44546A"/>
                          </a:solidFill>
                          <a:latin typeface="+mn-ea"/>
                          <a:ea typeface="+mn-ea"/>
                          <a:cs typeface="+mn-cs"/>
                        </a:rPr>
                        <a:t>float</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p>
                      <a:r>
                        <a:rPr lang="en-US" altLang="zh-CN" sz="1800" kern="1200" dirty="0">
                          <a:solidFill>
                            <a:srgbClr val="44546A"/>
                          </a:solidFill>
                          <a:latin typeface="+mn-ea"/>
                          <a:ea typeface="+mn-ea"/>
                          <a:cs typeface="+mn-cs"/>
                        </a:rPr>
                        <a:t>3</a:t>
                      </a:r>
                      <a:r>
                        <a:rPr lang="zh-CN" altLang="en-US" sz="1800" kern="1200" dirty="0">
                          <a:solidFill>
                            <a:srgbClr val="44546A"/>
                          </a:solidFill>
                          <a:latin typeface="+mn-ea"/>
                          <a:ea typeface="+mn-ea"/>
                          <a:cs typeface="+mn-cs"/>
                        </a:rPr>
                        <a:t>、复数（</a:t>
                      </a:r>
                      <a:r>
                        <a:rPr lang="en-US" altLang="zh-CN" sz="1800" kern="1200" dirty="0">
                          <a:solidFill>
                            <a:srgbClr val="44546A"/>
                          </a:solidFill>
                          <a:latin typeface="+mn-ea"/>
                          <a:ea typeface="+mn-ea"/>
                          <a:cs typeface="+mn-cs"/>
                        </a:rPr>
                        <a:t>complex</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p>
                      <a:r>
                        <a:rPr lang="en-US" altLang="zh-CN" sz="1800" kern="1200" dirty="0">
                          <a:solidFill>
                            <a:srgbClr val="44546A"/>
                          </a:solidFill>
                          <a:latin typeface="+mn-ea"/>
                          <a:ea typeface="+mn-ea"/>
                          <a:cs typeface="+mn-cs"/>
                        </a:rPr>
                        <a:t>4</a:t>
                      </a:r>
                      <a:r>
                        <a:rPr lang="zh-CN" altLang="en-US" sz="1800" kern="1200" dirty="0">
                          <a:solidFill>
                            <a:srgbClr val="44546A"/>
                          </a:solidFill>
                          <a:latin typeface="+mn-ea"/>
                          <a:ea typeface="+mn-ea"/>
                          <a:cs typeface="+mn-cs"/>
                        </a:rPr>
                        <a:t>、布尔（</a:t>
                      </a:r>
                      <a:r>
                        <a:rPr lang="en-US" altLang="zh-CN" sz="1800" kern="1200" dirty="0">
                          <a:solidFill>
                            <a:srgbClr val="44546A"/>
                          </a:solidFill>
                          <a:latin typeface="+mn-ea"/>
                          <a:ea typeface="+mn-ea"/>
                          <a:cs typeface="+mn-cs"/>
                        </a:rPr>
                        <a:t>bool</a:t>
                      </a:r>
                      <a:r>
                        <a:rPr lang="zh-CN" altLang="en-US" sz="1800" kern="1200" dirty="0">
                          <a:solidFill>
                            <a:srgbClr val="44546A"/>
                          </a:solidFill>
                          <a:latin typeface="+mn-ea"/>
                          <a:ea typeface="+mn-ea"/>
                          <a:cs typeface="+mn-cs"/>
                        </a:rPr>
                        <a:t>）</a:t>
                      </a:r>
                    </a:p>
                  </a:txBody>
                  <a:tcPr/>
                </a:tc>
                <a:tc>
                  <a:txBody>
                    <a:bodyPr/>
                    <a:lstStyle/>
                    <a:p>
                      <a:r>
                        <a:rPr lang="zh-CN" altLang="en-US" sz="1800" kern="1200" dirty="0">
                          <a:solidFill>
                            <a:srgbClr val="44546A"/>
                          </a:solidFill>
                          <a:latin typeface="+mn-ea"/>
                          <a:ea typeface="+mn-ea"/>
                          <a:cs typeface="+mn-cs"/>
                        </a:rPr>
                        <a:t>整数（</a:t>
                      </a:r>
                      <a:r>
                        <a:rPr lang="en-US" altLang="zh-CN" sz="1800" kern="1200" dirty="0">
                          <a:solidFill>
                            <a:srgbClr val="44546A"/>
                          </a:solidFill>
                          <a:latin typeface="+mn-ea"/>
                          <a:ea typeface="+mn-ea"/>
                          <a:cs typeface="+mn-cs"/>
                        </a:rPr>
                        <a:t>int</a:t>
                      </a:r>
                      <a:r>
                        <a:rPr lang="zh-CN" altLang="en-US" sz="1800" kern="1200" dirty="0">
                          <a:solidFill>
                            <a:srgbClr val="44546A"/>
                          </a:solidFill>
                          <a:latin typeface="+mn-ea"/>
                          <a:ea typeface="+mn-ea"/>
                          <a:cs typeface="+mn-cs"/>
                        </a:rPr>
                        <a:t>），如：</a:t>
                      </a:r>
                      <a:r>
                        <a:rPr lang="en-US" altLang="zh-CN" sz="1800" kern="1200" dirty="0">
                          <a:solidFill>
                            <a:srgbClr val="44546A"/>
                          </a:solidFill>
                          <a:latin typeface="+mn-ea"/>
                          <a:ea typeface="+mn-ea"/>
                          <a:cs typeface="+mn-cs"/>
                        </a:rPr>
                        <a:t>10</a:t>
                      </a:r>
                      <a:r>
                        <a:rPr lang="zh-CN" altLang="en-US" sz="1800" kern="1200" dirty="0">
                          <a:solidFill>
                            <a:srgbClr val="44546A"/>
                          </a:solidFill>
                          <a:latin typeface="+mn-ea"/>
                          <a:ea typeface="+mn-ea"/>
                          <a:cs typeface="+mn-cs"/>
                        </a:rPr>
                        <a:t>、</a:t>
                      </a:r>
                      <a:r>
                        <a:rPr lang="en-US" altLang="zh-CN" sz="1800" kern="1200" dirty="0">
                          <a:solidFill>
                            <a:srgbClr val="44546A"/>
                          </a:solidFill>
                          <a:latin typeface="+mn-ea"/>
                          <a:ea typeface="+mn-ea"/>
                          <a:cs typeface="+mn-cs"/>
                        </a:rPr>
                        <a:t>-10</a:t>
                      </a:r>
                      <a:endParaRPr lang="zh-CN" altLang="en-US" sz="1800" kern="1200" dirty="0">
                        <a:solidFill>
                          <a:srgbClr val="44546A"/>
                        </a:solidFill>
                        <a:latin typeface="+mn-ea"/>
                        <a:ea typeface="+mn-ea"/>
                        <a:cs typeface="+mn-cs"/>
                      </a:endParaRPr>
                    </a:p>
                  </a:txBody>
                  <a:tcPr/>
                </a:tc>
                <a:extLst>
                  <a:ext uri="{0D108BD9-81ED-4DB2-BD59-A6C34878D82A}">
                    <a16:rowId xmlns:a16="http://schemas.microsoft.com/office/drawing/2014/main" val="10001"/>
                  </a:ext>
                </a:extLst>
              </a:tr>
              <a:tr h="434340">
                <a:tc vMerge="1">
                  <a:txBody>
                    <a:bodyPr/>
                    <a:lstStyle/>
                    <a:p>
                      <a:endParaRPr lang="zh-CN"/>
                    </a:p>
                  </a:txBody>
                  <a:tcPr/>
                </a:tc>
                <a:tc vMerge="1">
                  <a:txBody>
                    <a:bodyPr/>
                    <a:lstStyle/>
                    <a:p>
                      <a:endParaRPr lang="zh-CN"/>
                    </a:p>
                  </a:txBody>
                  <a:tcPr/>
                </a:tc>
                <a:tc>
                  <a:txBody>
                    <a:bodyPr/>
                    <a:lstStyle/>
                    <a:p>
                      <a:r>
                        <a:rPr lang="zh-CN" altLang="en-US" sz="1800" kern="1200" dirty="0">
                          <a:solidFill>
                            <a:srgbClr val="44546A"/>
                          </a:solidFill>
                          <a:latin typeface="+mn-ea"/>
                          <a:ea typeface="+mn-ea"/>
                          <a:cs typeface="+mn-cs"/>
                        </a:rPr>
                        <a:t>浮点数（</a:t>
                      </a:r>
                      <a:r>
                        <a:rPr lang="en-US" altLang="zh-CN" sz="1800" kern="1200" dirty="0">
                          <a:solidFill>
                            <a:srgbClr val="44546A"/>
                          </a:solidFill>
                          <a:latin typeface="+mn-ea"/>
                          <a:ea typeface="+mn-ea"/>
                          <a:cs typeface="+mn-cs"/>
                        </a:rPr>
                        <a:t>float</a:t>
                      </a:r>
                      <a:r>
                        <a:rPr lang="zh-CN" altLang="en-US" sz="1800" kern="1200" dirty="0">
                          <a:solidFill>
                            <a:srgbClr val="44546A"/>
                          </a:solidFill>
                          <a:latin typeface="+mn-ea"/>
                          <a:ea typeface="+mn-ea"/>
                          <a:cs typeface="+mn-cs"/>
                        </a:rPr>
                        <a:t>），如：</a:t>
                      </a:r>
                      <a:r>
                        <a:rPr lang="en-US" altLang="zh-CN" sz="1800" kern="1200" dirty="0">
                          <a:solidFill>
                            <a:srgbClr val="44546A"/>
                          </a:solidFill>
                          <a:latin typeface="+mn-ea"/>
                          <a:ea typeface="+mn-ea"/>
                          <a:cs typeface="+mn-cs"/>
                        </a:rPr>
                        <a:t>13.14</a:t>
                      </a:r>
                      <a:r>
                        <a:rPr lang="zh-CN" altLang="en-US" sz="1800" kern="1200" dirty="0">
                          <a:solidFill>
                            <a:srgbClr val="44546A"/>
                          </a:solidFill>
                          <a:latin typeface="+mn-ea"/>
                          <a:ea typeface="+mn-ea"/>
                          <a:cs typeface="+mn-cs"/>
                        </a:rPr>
                        <a:t>、</a:t>
                      </a:r>
                      <a:r>
                        <a:rPr lang="en-US" altLang="zh-CN" sz="1800" kern="1200" dirty="0">
                          <a:solidFill>
                            <a:srgbClr val="44546A"/>
                          </a:solidFill>
                          <a:latin typeface="+mn-ea"/>
                          <a:ea typeface="+mn-ea"/>
                          <a:cs typeface="+mn-cs"/>
                        </a:rPr>
                        <a:t>-13.01</a:t>
                      </a:r>
                      <a:r>
                        <a:rPr lang="zh-CN" altLang="en-US" sz="1800" kern="1200" dirty="0">
                          <a:solidFill>
                            <a:srgbClr val="44546A"/>
                          </a:solidFill>
                          <a:latin typeface="+mn-ea"/>
                          <a:ea typeface="+mn-ea"/>
                          <a:cs typeface="+mn-cs"/>
                        </a:rPr>
                        <a:t>、</a:t>
                      </a:r>
                      <a:r>
                        <a:rPr lang="en-US" altLang="zh-CN" sz="1800" kern="1200" dirty="0">
                          <a:solidFill>
                            <a:srgbClr val="44546A"/>
                          </a:solidFill>
                          <a:latin typeface="+mn-ea"/>
                          <a:ea typeface="+mn-ea"/>
                          <a:cs typeface="+mn-cs"/>
                        </a:rPr>
                        <a:t>-14.5</a:t>
                      </a:r>
                      <a:endParaRPr lang="zh-CN" altLang="en-US" sz="1800" kern="1200" dirty="0">
                        <a:solidFill>
                          <a:srgbClr val="44546A"/>
                        </a:solidFill>
                        <a:latin typeface="+mn-ea"/>
                        <a:ea typeface="+mn-ea"/>
                        <a:cs typeface="+mn-cs"/>
                      </a:endParaRPr>
                    </a:p>
                  </a:txBody>
                  <a:tcPr/>
                </a:tc>
                <a:extLst>
                  <a:ext uri="{0D108BD9-81ED-4DB2-BD59-A6C34878D82A}">
                    <a16:rowId xmlns:a16="http://schemas.microsoft.com/office/drawing/2014/main" val="10002"/>
                  </a:ext>
                </a:extLst>
              </a:tr>
              <a:tr h="434340">
                <a:tc vMerge="1">
                  <a:txBody>
                    <a:bodyPr/>
                    <a:lstStyle/>
                    <a:p>
                      <a:endParaRPr lang="zh-CN"/>
                    </a:p>
                  </a:txBody>
                  <a:tcPr/>
                </a:tc>
                <a:tc vMerge="1">
                  <a:txBody>
                    <a:bodyPr/>
                    <a:lstStyle/>
                    <a:p>
                      <a:endParaRPr lang="zh-CN"/>
                    </a:p>
                  </a:txBody>
                  <a:tcPr/>
                </a:tc>
                <a:tc>
                  <a:txBody>
                    <a:bodyPr/>
                    <a:lstStyle/>
                    <a:p>
                      <a:r>
                        <a:rPr lang="zh-CN" altLang="en-US" sz="1800" kern="1200" dirty="0">
                          <a:solidFill>
                            <a:srgbClr val="44546A"/>
                          </a:solidFill>
                          <a:latin typeface="+mn-ea"/>
                          <a:ea typeface="+mn-ea"/>
                          <a:cs typeface="+mn-cs"/>
                        </a:rPr>
                        <a:t>复数（</a:t>
                      </a:r>
                      <a:r>
                        <a:rPr lang="en-US" altLang="zh-CN" sz="1800" kern="1200" dirty="0">
                          <a:solidFill>
                            <a:srgbClr val="44546A"/>
                          </a:solidFill>
                          <a:latin typeface="+mn-ea"/>
                          <a:ea typeface="+mn-ea"/>
                          <a:cs typeface="+mn-cs"/>
                        </a:rPr>
                        <a:t>complex</a:t>
                      </a:r>
                      <a:r>
                        <a:rPr lang="zh-CN" altLang="en-US" sz="1800" kern="1200" dirty="0">
                          <a:solidFill>
                            <a:srgbClr val="44546A"/>
                          </a:solidFill>
                          <a:latin typeface="+mn-ea"/>
                          <a:ea typeface="+mn-ea"/>
                          <a:cs typeface="+mn-cs"/>
                        </a:rPr>
                        <a:t>），如：</a:t>
                      </a:r>
                      <a:r>
                        <a:rPr lang="en-US" altLang="zh-CN" sz="1800" kern="1200" dirty="0">
                          <a:solidFill>
                            <a:srgbClr val="44546A"/>
                          </a:solidFill>
                          <a:latin typeface="+mn-ea"/>
                          <a:ea typeface="+mn-ea"/>
                          <a:cs typeface="+mn-cs"/>
                        </a:rPr>
                        <a:t>4+3j</a:t>
                      </a:r>
                      <a:r>
                        <a:rPr lang="zh-CN" altLang="en-US" sz="1800" kern="1200" dirty="0">
                          <a:solidFill>
                            <a:srgbClr val="44546A"/>
                          </a:solidFill>
                          <a:latin typeface="+mn-ea"/>
                          <a:ea typeface="+mn-ea"/>
                          <a:cs typeface="+mn-cs"/>
                        </a:rPr>
                        <a:t>，以</a:t>
                      </a:r>
                      <a:r>
                        <a:rPr lang="en-US" altLang="zh-CN" sz="1800" kern="1200" dirty="0">
                          <a:solidFill>
                            <a:srgbClr val="44546A"/>
                          </a:solidFill>
                          <a:latin typeface="+mn-ea"/>
                          <a:ea typeface="+mn-ea"/>
                          <a:cs typeface="+mn-cs"/>
                        </a:rPr>
                        <a:t>j</a:t>
                      </a:r>
                      <a:r>
                        <a:rPr lang="zh-CN" altLang="en-US" sz="1800" kern="1200" dirty="0">
                          <a:solidFill>
                            <a:srgbClr val="44546A"/>
                          </a:solidFill>
                          <a:latin typeface="+mn-ea"/>
                          <a:ea typeface="+mn-ea"/>
                          <a:cs typeface="+mn-cs"/>
                        </a:rPr>
                        <a:t>结尾表示复数</a:t>
                      </a:r>
                    </a:p>
                  </a:txBody>
                  <a:tcPr/>
                </a:tc>
                <a:extLst>
                  <a:ext uri="{0D108BD9-81ED-4DB2-BD59-A6C34878D82A}">
                    <a16:rowId xmlns:a16="http://schemas.microsoft.com/office/drawing/2014/main" val="10003"/>
                  </a:ext>
                </a:extLst>
              </a:tr>
              <a:tr h="434340">
                <a:tc vMerge="1">
                  <a:txBody>
                    <a:bodyPr/>
                    <a:lstStyle/>
                    <a:p>
                      <a:endParaRPr lang="zh-CN"/>
                    </a:p>
                  </a:txBody>
                  <a:tcPr/>
                </a:tc>
                <a:tc vMerge="1">
                  <a:txBody>
                    <a:bodyPr/>
                    <a:lstStyle/>
                    <a:p>
                      <a:endParaRPr lang="zh-CN"/>
                    </a:p>
                  </a:txBody>
                  <a:tcPr/>
                </a:tc>
                <a:tc>
                  <a:txBody>
                    <a:bodyPr/>
                    <a:lstStyle/>
                    <a:p>
                      <a:r>
                        <a:rPr lang="zh-CN" altLang="en-US" sz="1800" kern="1200" dirty="0">
                          <a:solidFill>
                            <a:srgbClr val="44546A"/>
                          </a:solidFill>
                          <a:latin typeface="+mn-ea"/>
                          <a:ea typeface="+mn-ea"/>
                          <a:cs typeface="+mn-cs"/>
                        </a:rPr>
                        <a:t>布尔（</a:t>
                      </a:r>
                      <a:r>
                        <a:rPr lang="en-US" altLang="zh-CN" sz="1800" kern="1200" dirty="0">
                          <a:solidFill>
                            <a:srgbClr val="44546A"/>
                          </a:solidFill>
                          <a:latin typeface="+mn-ea"/>
                          <a:ea typeface="+mn-ea"/>
                          <a:cs typeface="+mn-cs"/>
                        </a:rPr>
                        <a:t>bool</a:t>
                      </a:r>
                      <a:r>
                        <a:rPr lang="zh-CN" altLang="en-US" sz="1800" kern="1200" dirty="0">
                          <a:solidFill>
                            <a:srgbClr val="44546A"/>
                          </a:solidFill>
                          <a:latin typeface="+mn-ea"/>
                          <a:ea typeface="+mn-ea"/>
                          <a:cs typeface="+mn-cs"/>
                        </a:rPr>
                        <a:t>）表达现实生活中的逻辑，即真和假，</a:t>
                      </a:r>
                      <a:r>
                        <a:rPr lang="en-US" altLang="zh-CN" sz="1800" kern="1200" dirty="0">
                          <a:solidFill>
                            <a:srgbClr val="44546A"/>
                          </a:solidFill>
                          <a:latin typeface="+mn-ea"/>
                          <a:ea typeface="+mn-ea"/>
                          <a:cs typeface="+mn-cs"/>
                        </a:rPr>
                        <a:t>True</a:t>
                      </a:r>
                      <a:r>
                        <a:rPr lang="zh-CN" altLang="en-US" sz="1800" kern="1200" dirty="0">
                          <a:solidFill>
                            <a:srgbClr val="44546A"/>
                          </a:solidFill>
                          <a:latin typeface="+mn-ea"/>
                          <a:ea typeface="+mn-ea"/>
                          <a:cs typeface="+mn-cs"/>
                        </a:rPr>
                        <a:t>表示真，</a:t>
                      </a:r>
                      <a:r>
                        <a:rPr lang="en-US" altLang="zh-CN" sz="1800" kern="1200" dirty="0">
                          <a:solidFill>
                            <a:srgbClr val="44546A"/>
                          </a:solidFill>
                          <a:latin typeface="+mn-ea"/>
                          <a:ea typeface="+mn-ea"/>
                          <a:cs typeface="+mn-cs"/>
                        </a:rPr>
                        <a:t>False</a:t>
                      </a:r>
                      <a:r>
                        <a:rPr lang="zh-CN" altLang="en-US" sz="1800" kern="1200" dirty="0">
                          <a:solidFill>
                            <a:srgbClr val="44546A"/>
                          </a:solidFill>
                          <a:latin typeface="+mn-ea"/>
                          <a:ea typeface="+mn-ea"/>
                          <a:cs typeface="+mn-cs"/>
                        </a:rPr>
                        <a:t>表示假。</a:t>
                      </a:r>
                      <a:endParaRPr lang="en-US" altLang="zh-CN" sz="1800" kern="1200" dirty="0">
                        <a:solidFill>
                          <a:srgbClr val="44546A"/>
                        </a:solidFill>
                        <a:latin typeface="+mn-ea"/>
                        <a:ea typeface="+mn-ea"/>
                        <a:cs typeface="+mn-cs"/>
                      </a:endParaRPr>
                    </a:p>
                    <a:p>
                      <a:r>
                        <a:rPr lang="en-US" altLang="zh-CN" sz="1800" b="1" kern="1200" dirty="0">
                          <a:solidFill>
                            <a:srgbClr val="44546A"/>
                          </a:solidFill>
                          <a:latin typeface="+mn-ea"/>
                          <a:ea typeface="+mn-ea"/>
                          <a:cs typeface="+mn-cs"/>
                        </a:rPr>
                        <a:t>True</a:t>
                      </a:r>
                      <a:r>
                        <a:rPr lang="zh-CN" altLang="en-US" sz="1800" b="1" kern="1200" dirty="0">
                          <a:solidFill>
                            <a:srgbClr val="44546A"/>
                          </a:solidFill>
                          <a:latin typeface="+mn-ea"/>
                          <a:ea typeface="+mn-ea"/>
                          <a:cs typeface="+mn-cs"/>
                        </a:rPr>
                        <a:t>本质上是一个数字记作</a:t>
                      </a:r>
                      <a:r>
                        <a:rPr lang="en-US" altLang="zh-CN" sz="1800" b="1" kern="1200" dirty="0">
                          <a:solidFill>
                            <a:srgbClr val="44546A"/>
                          </a:solidFill>
                          <a:latin typeface="+mn-ea"/>
                          <a:ea typeface="+mn-ea"/>
                          <a:cs typeface="+mn-cs"/>
                        </a:rPr>
                        <a:t>1</a:t>
                      </a:r>
                      <a:r>
                        <a:rPr lang="zh-CN" altLang="en-US" sz="1800" b="1" kern="1200" dirty="0">
                          <a:solidFill>
                            <a:srgbClr val="44546A"/>
                          </a:solidFill>
                          <a:latin typeface="+mn-ea"/>
                          <a:ea typeface="+mn-ea"/>
                          <a:cs typeface="+mn-cs"/>
                        </a:rPr>
                        <a:t>，</a:t>
                      </a:r>
                      <a:r>
                        <a:rPr lang="en-US" altLang="zh-CN" sz="1800" b="1" kern="1200" dirty="0">
                          <a:solidFill>
                            <a:srgbClr val="44546A"/>
                          </a:solidFill>
                          <a:latin typeface="+mn-ea"/>
                          <a:ea typeface="+mn-ea"/>
                          <a:cs typeface="+mn-cs"/>
                        </a:rPr>
                        <a:t>False</a:t>
                      </a:r>
                      <a:r>
                        <a:rPr lang="zh-CN" altLang="en-US" sz="1800" b="1" kern="1200" dirty="0">
                          <a:solidFill>
                            <a:srgbClr val="44546A"/>
                          </a:solidFill>
                          <a:latin typeface="+mn-ea"/>
                          <a:ea typeface="+mn-ea"/>
                          <a:cs typeface="+mn-cs"/>
                        </a:rPr>
                        <a:t>记作</a:t>
                      </a:r>
                      <a:r>
                        <a:rPr lang="en-US" altLang="zh-CN" sz="1800" b="1" kern="1200" dirty="0">
                          <a:solidFill>
                            <a:srgbClr val="44546A"/>
                          </a:solidFill>
                          <a:latin typeface="+mn-ea"/>
                          <a:ea typeface="+mn-ea"/>
                          <a:cs typeface="+mn-cs"/>
                        </a:rPr>
                        <a:t>0</a:t>
                      </a:r>
                      <a:endParaRPr lang="zh-CN" altLang="en-US" sz="1800" b="1" kern="1200" dirty="0">
                        <a:solidFill>
                          <a:srgbClr val="44546A"/>
                        </a:solidFill>
                        <a:latin typeface="+mn-ea"/>
                        <a:ea typeface="+mn-ea"/>
                        <a:cs typeface="+mn-cs"/>
                      </a:endParaRPr>
                    </a:p>
                  </a:txBody>
                  <a:tcPr/>
                </a:tc>
                <a:extLst>
                  <a:ext uri="{0D108BD9-81ED-4DB2-BD59-A6C34878D82A}">
                    <a16:rowId xmlns:a16="http://schemas.microsoft.com/office/drawing/2014/main" val="10004"/>
                  </a:ext>
                </a:extLst>
              </a:tr>
              <a:tr h="370840">
                <a:tc>
                  <a:txBody>
                    <a:bodyPr/>
                    <a:lstStyle/>
                    <a:p>
                      <a:r>
                        <a:rPr lang="zh-CN" altLang="en-US" sz="1800" kern="1200" dirty="0">
                          <a:solidFill>
                            <a:srgbClr val="44546A"/>
                          </a:solidFill>
                          <a:latin typeface="+mn-ea"/>
                          <a:ea typeface="+mn-ea"/>
                          <a:cs typeface="+mn-cs"/>
                        </a:rPr>
                        <a:t>字符串（</a:t>
                      </a:r>
                      <a:r>
                        <a:rPr lang="en-US" altLang="zh-CN" sz="1800" kern="1200" dirty="0">
                          <a:solidFill>
                            <a:srgbClr val="44546A"/>
                          </a:solidFill>
                          <a:latin typeface="+mn-ea"/>
                          <a:ea typeface="+mn-ea"/>
                          <a:cs typeface="+mn-cs"/>
                        </a:rPr>
                        <a:t>String</a:t>
                      </a:r>
                      <a:r>
                        <a:rPr lang="zh-CN" altLang="en-US" sz="1800" kern="1200" dirty="0">
                          <a:solidFill>
                            <a:srgbClr val="44546A"/>
                          </a:solidFill>
                          <a:latin typeface="+mn-ea"/>
                          <a:ea typeface="+mn-ea"/>
                          <a:cs typeface="+mn-cs"/>
                        </a:rPr>
                        <a:t>）</a:t>
                      </a:r>
                    </a:p>
                  </a:txBody>
                  <a:tcPr/>
                </a:tc>
                <a:tc>
                  <a:txBody>
                    <a:bodyPr/>
                    <a:lstStyle/>
                    <a:p>
                      <a:r>
                        <a:rPr lang="zh-CN" altLang="en-US" sz="1800" kern="1200" dirty="0">
                          <a:solidFill>
                            <a:srgbClr val="44546A"/>
                          </a:solidFill>
                          <a:latin typeface="+mn-ea"/>
                          <a:ea typeface="+mn-ea"/>
                          <a:cs typeface="+mn-cs"/>
                        </a:rPr>
                        <a:t>描述文本的一种数据类型</a:t>
                      </a:r>
                    </a:p>
                  </a:txBody>
                  <a:tcPr/>
                </a:tc>
                <a:tc>
                  <a:txBody>
                    <a:bodyPr/>
                    <a:lstStyle/>
                    <a:p>
                      <a:r>
                        <a:rPr lang="zh-CN" altLang="en-US" sz="1800" kern="1200" dirty="0">
                          <a:solidFill>
                            <a:srgbClr val="44546A"/>
                          </a:solidFill>
                          <a:latin typeface="+mn-ea"/>
                          <a:ea typeface="+mn-ea"/>
                          <a:cs typeface="+mn-cs"/>
                        </a:rPr>
                        <a:t>字符串（</a:t>
                      </a:r>
                      <a:r>
                        <a:rPr lang="en-US" altLang="zh-CN" sz="1800" kern="1200" dirty="0">
                          <a:solidFill>
                            <a:srgbClr val="44546A"/>
                          </a:solidFill>
                          <a:latin typeface="+mn-ea"/>
                          <a:ea typeface="+mn-ea"/>
                          <a:cs typeface="+mn-cs"/>
                        </a:rPr>
                        <a:t>String</a:t>
                      </a:r>
                      <a:r>
                        <a:rPr lang="zh-CN" altLang="en-US" sz="1800" kern="1200" dirty="0">
                          <a:solidFill>
                            <a:srgbClr val="44546A"/>
                          </a:solidFill>
                          <a:latin typeface="+mn-ea"/>
                          <a:ea typeface="+mn-ea"/>
                          <a:cs typeface="+mn-cs"/>
                        </a:rPr>
                        <a:t>）由任意数量的字符组成。</a:t>
                      </a:r>
                    </a:p>
                  </a:txBody>
                  <a:tcPr/>
                </a:tc>
                <a:extLst>
                  <a:ext uri="{0D108BD9-81ED-4DB2-BD59-A6C34878D82A}">
                    <a16:rowId xmlns:a16="http://schemas.microsoft.com/office/drawing/2014/main" val="10005"/>
                  </a:ext>
                </a:extLst>
              </a:tr>
              <a:tr h="370840">
                <a:tc>
                  <a:txBody>
                    <a:bodyPr/>
                    <a:lstStyle/>
                    <a:p>
                      <a:r>
                        <a:rPr lang="zh-CN" altLang="en-US" sz="1800" kern="1200" dirty="0">
                          <a:solidFill>
                            <a:srgbClr val="44546A"/>
                          </a:solidFill>
                          <a:latin typeface="+mn-ea"/>
                          <a:ea typeface="+mn-ea"/>
                          <a:cs typeface="+mn-cs"/>
                        </a:rPr>
                        <a:t>列表（</a:t>
                      </a:r>
                      <a:r>
                        <a:rPr lang="en-US" altLang="zh-CN" sz="1800" kern="1200" dirty="0">
                          <a:solidFill>
                            <a:srgbClr val="44546A"/>
                          </a:solidFill>
                          <a:latin typeface="+mn-ea"/>
                          <a:ea typeface="+mn-ea"/>
                          <a:cs typeface="+mn-cs"/>
                        </a:rPr>
                        <a:t>List</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txBody>
                  <a:tcPr/>
                </a:tc>
                <a:tc>
                  <a:txBody>
                    <a:bodyPr/>
                    <a:lstStyle/>
                    <a:p>
                      <a:r>
                        <a:rPr lang="zh-CN" altLang="en-US" sz="1800" kern="1200" dirty="0">
                          <a:solidFill>
                            <a:srgbClr val="44546A"/>
                          </a:solidFill>
                          <a:latin typeface="+mn-ea"/>
                          <a:ea typeface="+mn-ea"/>
                          <a:cs typeface="+mn-cs"/>
                        </a:rPr>
                        <a:t>有序的可变序列</a:t>
                      </a:r>
                    </a:p>
                  </a:txBody>
                  <a:tcPr/>
                </a:tc>
                <a:tc>
                  <a:txBody>
                    <a:bodyPr/>
                    <a:lstStyle/>
                    <a:p>
                      <a:r>
                        <a:rPr lang="en-US" altLang="zh-CN" sz="1800" kern="1200" dirty="0">
                          <a:solidFill>
                            <a:srgbClr val="44546A"/>
                          </a:solidFill>
                          <a:latin typeface="+mn-ea"/>
                          <a:ea typeface="+mn-ea"/>
                          <a:cs typeface="+mn-cs"/>
                        </a:rPr>
                        <a:t>Python</a:t>
                      </a:r>
                      <a:r>
                        <a:rPr lang="zh-CN" altLang="en-US" sz="1800" kern="1200" dirty="0">
                          <a:solidFill>
                            <a:srgbClr val="44546A"/>
                          </a:solidFill>
                          <a:latin typeface="+mn-ea"/>
                          <a:ea typeface="+mn-ea"/>
                          <a:cs typeface="+mn-cs"/>
                        </a:rPr>
                        <a:t>中使用最频繁的数据类型，可有序记录一堆数据</a:t>
                      </a:r>
                    </a:p>
                  </a:txBody>
                  <a:tcPr/>
                </a:tc>
                <a:extLst>
                  <a:ext uri="{0D108BD9-81ED-4DB2-BD59-A6C34878D82A}">
                    <a16:rowId xmlns:a16="http://schemas.microsoft.com/office/drawing/2014/main" val="10006"/>
                  </a:ext>
                </a:extLst>
              </a:tr>
              <a:tr h="370840">
                <a:tc>
                  <a:txBody>
                    <a:bodyPr/>
                    <a:lstStyle/>
                    <a:p>
                      <a:r>
                        <a:rPr lang="zh-CN" altLang="en-US" sz="1800" kern="1200" dirty="0">
                          <a:solidFill>
                            <a:srgbClr val="44546A"/>
                          </a:solidFill>
                          <a:latin typeface="+mn-ea"/>
                          <a:ea typeface="+mn-ea"/>
                          <a:cs typeface="+mn-cs"/>
                        </a:rPr>
                        <a:t>元组（</a:t>
                      </a:r>
                      <a:r>
                        <a:rPr lang="en-US" altLang="zh-CN" sz="1800" kern="1200" dirty="0">
                          <a:solidFill>
                            <a:srgbClr val="44546A"/>
                          </a:solidFill>
                          <a:latin typeface="+mn-ea"/>
                          <a:ea typeface="+mn-ea"/>
                          <a:cs typeface="+mn-cs"/>
                        </a:rPr>
                        <a:t>Tuple</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txBody>
                  <a:tcPr/>
                </a:tc>
                <a:tc>
                  <a:txBody>
                    <a:bodyPr/>
                    <a:lstStyle/>
                    <a:p>
                      <a:r>
                        <a:rPr lang="zh-CN" altLang="en-US" sz="1800" kern="1200" dirty="0">
                          <a:solidFill>
                            <a:srgbClr val="44546A"/>
                          </a:solidFill>
                          <a:latin typeface="+mn-ea"/>
                          <a:ea typeface="+mn-ea"/>
                          <a:cs typeface="+mn-cs"/>
                        </a:rPr>
                        <a:t>有序的不可变序列</a:t>
                      </a:r>
                    </a:p>
                  </a:txBody>
                  <a:tcPr/>
                </a:tc>
                <a:tc>
                  <a:txBody>
                    <a:bodyPr/>
                    <a:lstStyle/>
                    <a:p>
                      <a:r>
                        <a:rPr lang="zh-CN" altLang="en-US" sz="1800" kern="1200" dirty="0">
                          <a:solidFill>
                            <a:srgbClr val="44546A"/>
                          </a:solidFill>
                          <a:latin typeface="+mn-ea"/>
                          <a:ea typeface="+mn-ea"/>
                          <a:cs typeface="+mn-cs"/>
                        </a:rPr>
                        <a:t>可有序记录一堆不可变的</a:t>
                      </a:r>
                      <a:r>
                        <a:rPr lang="en-US" altLang="zh-CN" sz="1800" kern="1200" dirty="0">
                          <a:solidFill>
                            <a:srgbClr val="44546A"/>
                          </a:solidFill>
                          <a:latin typeface="+mn-ea"/>
                          <a:ea typeface="+mn-ea"/>
                          <a:cs typeface="+mn-cs"/>
                        </a:rPr>
                        <a:t>Python</a:t>
                      </a:r>
                      <a:r>
                        <a:rPr lang="zh-CN" altLang="en-US" sz="1800" kern="1200" dirty="0">
                          <a:solidFill>
                            <a:srgbClr val="44546A"/>
                          </a:solidFill>
                          <a:latin typeface="+mn-ea"/>
                          <a:ea typeface="+mn-ea"/>
                          <a:cs typeface="+mn-cs"/>
                        </a:rPr>
                        <a:t>数据集合</a:t>
                      </a:r>
                    </a:p>
                  </a:txBody>
                  <a:tcPr/>
                </a:tc>
                <a:extLst>
                  <a:ext uri="{0D108BD9-81ED-4DB2-BD59-A6C34878D82A}">
                    <a16:rowId xmlns:a16="http://schemas.microsoft.com/office/drawing/2014/main" val="10007"/>
                  </a:ext>
                </a:extLst>
              </a:tr>
              <a:tr h="370840">
                <a:tc>
                  <a:txBody>
                    <a:bodyPr/>
                    <a:lstStyle/>
                    <a:p>
                      <a:r>
                        <a:rPr lang="zh-CN" altLang="en-US" sz="1800" kern="1200" dirty="0">
                          <a:solidFill>
                            <a:srgbClr val="44546A"/>
                          </a:solidFill>
                          <a:latin typeface="+mn-ea"/>
                          <a:ea typeface="+mn-ea"/>
                          <a:cs typeface="+mn-cs"/>
                        </a:rPr>
                        <a:t>集合（</a:t>
                      </a:r>
                      <a:r>
                        <a:rPr lang="en-US" altLang="zh-CN" sz="1800" kern="1200" dirty="0">
                          <a:solidFill>
                            <a:srgbClr val="44546A"/>
                          </a:solidFill>
                          <a:latin typeface="+mn-ea"/>
                          <a:ea typeface="+mn-ea"/>
                          <a:cs typeface="+mn-cs"/>
                        </a:rPr>
                        <a:t>Set</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txBody>
                  <a:tcPr/>
                </a:tc>
                <a:tc>
                  <a:txBody>
                    <a:bodyPr/>
                    <a:lstStyle/>
                    <a:p>
                      <a:r>
                        <a:rPr lang="zh-CN" altLang="en-US" sz="1800" kern="1200" dirty="0">
                          <a:solidFill>
                            <a:srgbClr val="44546A"/>
                          </a:solidFill>
                          <a:latin typeface="+mn-ea"/>
                          <a:ea typeface="+mn-ea"/>
                          <a:cs typeface="+mn-cs"/>
                        </a:rPr>
                        <a:t>无序不重复集合</a:t>
                      </a:r>
                    </a:p>
                  </a:txBody>
                  <a:tcPr/>
                </a:tc>
                <a:tc>
                  <a:txBody>
                    <a:bodyPr/>
                    <a:lstStyle/>
                    <a:p>
                      <a:r>
                        <a:rPr lang="zh-CN" altLang="en-US" sz="1800" kern="1200" dirty="0">
                          <a:solidFill>
                            <a:srgbClr val="44546A"/>
                          </a:solidFill>
                          <a:latin typeface="+mn-ea"/>
                          <a:ea typeface="+mn-ea"/>
                          <a:cs typeface="+mn-cs"/>
                        </a:rPr>
                        <a:t>可无序记录一堆不重复的</a:t>
                      </a:r>
                      <a:r>
                        <a:rPr lang="en-US" altLang="zh-CN" sz="1800" kern="1200" dirty="0">
                          <a:solidFill>
                            <a:srgbClr val="44546A"/>
                          </a:solidFill>
                          <a:latin typeface="+mn-ea"/>
                          <a:ea typeface="+mn-ea"/>
                          <a:cs typeface="+mn-cs"/>
                        </a:rPr>
                        <a:t>Python</a:t>
                      </a:r>
                      <a:r>
                        <a:rPr lang="zh-CN" altLang="en-US" sz="1800" kern="1200" dirty="0">
                          <a:solidFill>
                            <a:srgbClr val="44546A"/>
                          </a:solidFill>
                          <a:latin typeface="+mn-ea"/>
                          <a:ea typeface="+mn-ea"/>
                          <a:cs typeface="+mn-cs"/>
                        </a:rPr>
                        <a:t>数据集合</a:t>
                      </a:r>
                    </a:p>
                  </a:txBody>
                  <a:tcPr/>
                </a:tc>
                <a:extLst>
                  <a:ext uri="{0D108BD9-81ED-4DB2-BD59-A6C34878D82A}">
                    <a16:rowId xmlns:a16="http://schemas.microsoft.com/office/drawing/2014/main" val="10008"/>
                  </a:ext>
                </a:extLst>
              </a:tr>
              <a:tr h="370840">
                <a:tc>
                  <a:txBody>
                    <a:bodyPr/>
                    <a:lstStyle/>
                    <a:p>
                      <a:r>
                        <a:rPr lang="zh-CN" altLang="en-US" sz="1800" kern="1200" dirty="0">
                          <a:solidFill>
                            <a:srgbClr val="44546A"/>
                          </a:solidFill>
                          <a:latin typeface="+mn-ea"/>
                          <a:ea typeface="+mn-ea"/>
                          <a:cs typeface="+mn-cs"/>
                        </a:rPr>
                        <a:t>字典（</a:t>
                      </a:r>
                      <a:r>
                        <a:rPr lang="en-US" altLang="zh-CN" sz="1800" kern="1200" dirty="0">
                          <a:solidFill>
                            <a:srgbClr val="44546A"/>
                          </a:solidFill>
                          <a:latin typeface="+mn-ea"/>
                          <a:ea typeface="+mn-ea"/>
                          <a:cs typeface="+mn-cs"/>
                        </a:rPr>
                        <a:t>Dictionary</a:t>
                      </a:r>
                      <a:r>
                        <a:rPr lang="zh-CN" altLang="en-US" sz="1800" kern="1200" dirty="0">
                          <a:solidFill>
                            <a:srgbClr val="44546A"/>
                          </a:solidFill>
                          <a:latin typeface="+mn-ea"/>
                          <a:ea typeface="+mn-ea"/>
                          <a:cs typeface="+mn-cs"/>
                        </a:rPr>
                        <a:t>）</a:t>
                      </a:r>
                      <a:endParaRPr lang="en-US" altLang="zh-CN" sz="1800" kern="1200" dirty="0">
                        <a:solidFill>
                          <a:srgbClr val="44546A"/>
                        </a:solidFill>
                        <a:latin typeface="+mn-ea"/>
                        <a:ea typeface="+mn-ea"/>
                        <a:cs typeface="+mn-cs"/>
                      </a:endParaRPr>
                    </a:p>
                  </a:txBody>
                  <a:tcPr/>
                </a:tc>
                <a:tc>
                  <a:txBody>
                    <a:bodyPr/>
                    <a:lstStyle/>
                    <a:p>
                      <a:r>
                        <a:rPr lang="zh-CN" altLang="en-US" sz="1800" kern="1200" dirty="0">
                          <a:solidFill>
                            <a:srgbClr val="44546A"/>
                          </a:solidFill>
                          <a:latin typeface="+mn-ea"/>
                          <a:ea typeface="+mn-ea"/>
                          <a:cs typeface="+mn-cs"/>
                        </a:rPr>
                        <a:t>无序</a:t>
                      </a:r>
                      <a:r>
                        <a:rPr lang="en-US" altLang="zh-CN" sz="1800" kern="1200" dirty="0">
                          <a:solidFill>
                            <a:srgbClr val="44546A"/>
                          </a:solidFill>
                          <a:latin typeface="+mn-ea"/>
                          <a:ea typeface="+mn-ea"/>
                          <a:cs typeface="+mn-cs"/>
                        </a:rPr>
                        <a:t>Key-Value</a:t>
                      </a:r>
                      <a:r>
                        <a:rPr lang="zh-CN" altLang="en-US" sz="1800" kern="1200" dirty="0">
                          <a:solidFill>
                            <a:srgbClr val="44546A"/>
                          </a:solidFill>
                          <a:latin typeface="+mn-ea"/>
                          <a:ea typeface="+mn-ea"/>
                          <a:cs typeface="+mn-cs"/>
                        </a:rPr>
                        <a:t>集合</a:t>
                      </a:r>
                    </a:p>
                  </a:txBody>
                  <a:tcPr/>
                </a:tc>
                <a:tc>
                  <a:txBody>
                    <a:bodyPr/>
                    <a:lstStyle/>
                    <a:p>
                      <a:r>
                        <a:rPr lang="zh-CN" altLang="en-US" sz="1800" kern="1200" dirty="0">
                          <a:solidFill>
                            <a:srgbClr val="44546A"/>
                          </a:solidFill>
                          <a:latin typeface="+mn-ea"/>
                          <a:ea typeface="+mn-ea"/>
                          <a:cs typeface="+mn-cs"/>
                        </a:rPr>
                        <a:t>可无序记录一堆</a:t>
                      </a:r>
                      <a:r>
                        <a:rPr lang="en-US" altLang="zh-CN" sz="1800" kern="1200" dirty="0">
                          <a:solidFill>
                            <a:srgbClr val="44546A"/>
                          </a:solidFill>
                          <a:latin typeface="+mn-ea"/>
                          <a:ea typeface="+mn-ea"/>
                          <a:cs typeface="+mn-cs"/>
                        </a:rPr>
                        <a:t>Key-Value</a:t>
                      </a:r>
                      <a:r>
                        <a:rPr lang="zh-CN" altLang="en-US" sz="1800" kern="1200" dirty="0">
                          <a:solidFill>
                            <a:srgbClr val="44546A"/>
                          </a:solidFill>
                          <a:latin typeface="+mn-ea"/>
                          <a:ea typeface="+mn-ea"/>
                          <a:cs typeface="+mn-cs"/>
                        </a:rPr>
                        <a:t>型的</a:t>
                      </a:r>
                      <a:r>
                        <a:rPr lang="en-US" altLang="zh-CN" sz="1800" kern="1200" dirty="0">
                          <a:solidFill>
                            <a:srgbClr val="44546A"/>
                          </a:solidFill>
                          <a:latin typeface="+mn-ea"/>
                          <a:ea typeface="+mn-ea"/>
                          <a:cs typeface="+mn-cs"/>
                        </a:rPr>
                        <a:t>Python</a:t>
                      </a:r>
                      <a:r>
                        <a:rPr lang="zh-CN" altLang="en-US" sz="1800" kern="1200" dirty="0">
                          <a:solidFill>
                            <a:srgbClr val="44546A"/>
                          </a:solidFill>
                          <a:latin typeface="+mn-ea"/>
                          <a:ea typeface="+mn-ea"/>
                          <a:cs typeface="+mn-cs"/>
                        </a:rPr>
                        <a:t>数据集合</a:t>
                      </a:r>
                    </a:p>
                  </a:txBody>
                  <a:tcPr/>
                </a:tc>
                <a:extLst>
                  <a:ext uri="{0D108BD9-81ED-4DB2-BD59-A6C34878D82A}">
                    <a16:rowId xmlns:a16="http://schemas.microsoft.com/office/drawing/2014/main" val="10009"/>
                  </a:ext>
                </a:extLst>
              </a:tr>
            </a:tbl>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基本数据类型</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410940" y="924722"/>
            <a:ext cx="10632559" cy="461665"/>
          </a:xfrm>
          <a:prstGeom prst="rect">
            <a:avLst/>
          </a:prstGeom>
          <a:noFill/>
        </p:spPr>
        <p:txBody>
          <a:bodyPr wrap="square" rtlCol="0" anchor="t">
            <a:spAutoFit/>
          </a:bodyPr>
          <a:lstStyle/>
          <a:p>
            <a:r>
              <a:rPr lang="zh-CN" altLang="en-US" sz="2400" dirty="0">
                <a:solidFill>
                  <a:srgbClr val="44546A"/>
                </a:solidFill>
                <a:latin typeface="微软雅黑" panose="020B0503020204020204" pitchFamily="34" charset="-122"/>
                <a:ea typeface="微软雅黑" panose="020B0503020204020204" pitchFamily="34" charset="-122"/>
              </a:rPr>
              <a:t>在</a:t>
            </a:r>
            <a:r>
              <a:rPr lang="en-US" altLang="zh-CN" sz="2400" dirty="0">
                <a:solidFill>
                  <a:srgbClr val="44546A"/>
                </a:solidFill>
                <a:latin typeface="微软雅黑" panose="020B0503020204020204" pitchFamily="34" charset="-122"/>
                <a:ea typeface="微软雅黑" panose="020B0503020204020204" pitchFamily="34" charset="-122"/>
              </a:rPr>
              <a:t>Python</a:t>
            </a:r>
            <a:r>
              <a:rPr lang="zh-CN" altLang="en-US" sz="2400" dirty="0">
                <a:solidFill>
                  <a:srgbClr val="44546A"/>
                </a:solidFill>
                <a:latin typeface="微软雅黑" panose="020B0503020204020204" pitchFamily="34" charset="-122"/>
                <a:ea typeface="微软雅黑" panose="020B0503020204020204" pitchFamily="34" charset="-122"/>
              </a:rPr>
              <a:t>代码中表达：</a:t>
            </a:r>
          </a:p>
        </p:txBody>
      </p:sp>
      <p:graphicFrame>
        <p:nvGraphicFramePr>
          <p:cNvPr id="3" name="表格 3"/>
          <p:cNvGraphicFramePr>
            <a:graphicFrameLocks noGrp="1"/>
          </p:cNvGraphicFramePr>
          <p:nvPr/>
        </p:nvGraphicFramePr>
        <p:xfrm>
          <a:off x="1709611" y="2312979"/>
          <a:ext cx="8805990" cy="1483360"/>
        </p:xfrm>
        <a:graphic>
          <a:graphicData uri="http://schemas.openxmlformats.org/drawingml/2006/table">
            <a:tbl>
              <a:tblPr firstRow="1" bandRow="1">
                <a:tableStyleId>{5C22544A-7EE6-4342-B048-85BDC9FD1C3A}</a:tableStyleId>
              </a:tblPr>
              <a:tblGrid>
                <a:gridCol w="1980147">
                  <a:extLst>
                    <a:ext uri="{9D8B030D-6E8A-4147-A177-3AD203B41FA5}">
                      <a16:colId xmlns:a16="http://schemas.microsoft.com/office/drawing/2014/main" val="20000"/>
                    </a:ext>
                  </a:extLst>
                </a:gridCol>
                <a:gridCol w="2164557">
                  <a:extLst>
                    <a:ext uri="{9D8B030D-6E8A-4147-A177-3AD203B41FA5}">
                      <a16:colId xmlns:a16="http://schemas.microsoft.com/office/drawing/2014/main" val="20001"/>
                    </a:ext>
                  </a:extLst>
                </a:gridCol>
                <a:gridCol w="4661286">
                  <a:extLst>
                    <a:ext uri="{9D8B030D-6E8A-4147-A177-3AD203B41FA5}">
                      <a16:colId xmlns:a16="http://schemas.microsoft.com/office/drawing/2014/main" val="20002"/>
                    </a:ext>
                  </a:extLst>
                </a:gridCol>
              </a:tblGrid>
              <a:tr h="370840">
                <a:tc>
                  <a:txBody>
                    <a:bodyPr/>
                    <a:lstStyle/>
                    <a:p>
                      <a:pPr algn="ctr"/>
                      <a:r>
                        <a:rPr lang="zh-CN" altLang="en-US" dirty="0"/>
                        <a:t>类型</a:t>
                      </a:r>
                    </a:p>
                  </a:txBody>
                  <a:tcPr/>
                </a:tc>
                <a:tc>
                  <a:txBody>
                    <a:bodyPr/>
                    <a:lstStyle/>
                    <a:p>
                      <a:pPr algn="ctr"/>
                      <a:r>
                        <a:rPr lang="zh-CN" altLang="en-US" dirty="0"/>
                        <a:t>程序中的写法</a:t>
                      </a:r>
                    </a:p>
                  </a:txBody>
                  <a:tcPr/>
                </a:tc>
                <a:tc>
                  <a:txBody>
                    <a:bodyPr/>
                    <a:lstStyle/>
                    <a:p>
                      <a:pPr algn="ctr"/>
                      <a:r>
                        <a:rPr lang="zh-CN" altLang="en-US" dirty="0"/>
                        <a:t>说明</a:t>
                      </a:r>
                    </a:p>
                  </a:txBody>
                  <a:tcPr/>
                </a:tc>
                <a:extLst>
                  <a:ext uri="{0D108BD9-81ED-4DB2-BD59-A6C34878D82A}">
                    <a16:rowId xmlns:a16="http://schemas.microsoft.com/office/drawing/2014/main" val="10000"/>
                  </a:ext>
                </a:extLst>
              </a:tr>
              <a:tr h="370840">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整数</a:t>
                      </a:r>
                    </a:p>
                  </a:txBody>
                  <a:tcPr/>
                </a:tc>
                <a:tc>
                  <a:txBody>
                    <a:bodyPr/>
                    <a:lstStyle/>
                    <a:p>
                      <a:r>
                        <a:rPr lang="en-US" altLang="zh-CN" sz="1800" kern="1200" dirty="0">
                          <a:solidFill>
                            <a:srgbClr val="44546A"/>
                          </a:solidFill>
                          <a:latin typeface="微软雅黑" panose="020B0503020204020204" pitchFamily="34" charset="-122"/>
                          <a:ea typeface="微软雅黑" panose="020B0503020204020204" pitchFamily="34" charset="-122"/>
                          <a:cs typeface="+mn-cs"/>
                        </a:rPr>
                        <a:t>666</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-88</a:t>
                      </a:r>
                      <a:endParaRPr lang="zh-CN" altLang="en-US" sz="18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与现实的写法一致</a:t>
                      </a:r>
                    </a:p>
                  </a:txBody>
                  <a:tcPr/>
                </a:tc>
                <a:extLst>
                  <a:ext uri="{0D108BD9-81ED-4DB2-BD59-A6C34878D82A}">
                    <a16:rowId xmlns:a16="http://schemas.microsoft.com/office/drawing/2014/main" val="10001"/>
                  </a:ext>
                </a:extLst>
              </a:tr>
              <a:tr h="370840">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浮点数（小数）</a:t>
                      </a:r>
                    </a:p>
                  </a:txBody>
                  <a:tcPr/>
                </a:tc>
                <a:tc>
                  <a:txBody>
                    <a:bodyPr/>
                    <a:lstStyle/>
                    <a:p>
                      <a:r>
                        <a:rPr lang="en-US" altLang="zh-CN" sz="1800" kern="1200" dirty="0">
                          <a:solidFill>
                            <a:srgbClr val="44546A"/>
                          </a:solidFill>
                          <a:latin typeface="微软雅黑" panose="020B0503020204020204" pitchFamily="34" charset="-122"/>
                          <a:ea typeface="微软雅黑" panose="020B0503020204020204" pitchFamily="34" charset="-122"/>
                          <a:cs typeface="+mn-cs"/>
                        </a:rPr>
                        <a:t>12.12</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-5.32</a:t>
                      </a:r>
                      <a:endParaRPr lang="zh-CN" altLang="en-US" sz="18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与现实的写法一致</a:t>
                      </a:r>
                    </a:p>
                  </a:txBody>
                  <a:tcPr/>
                </a:tc>
                <a:extLst>
                  <a:ext uri="{0D108BD9-81ED-4DB2-BD59-A6C34878D82A}">
                    <a16:rowId xmlns:a16="http://schemas.microsoft.com/office/drawing/2014/main" val="10002"/>
                  </a:ext>
                </a:extLst>
              </a:tr>
              <a:tr h="370840">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字符串（文本）</a:t>
                      </a:r>
                    </a:p>
                  </a:txBody>
                  <a:tcPr/>
                </a:tc>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Hello</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a:t>
                      </a:r>
                    </a:p>
                  </a:txBody>
                  <a:tcPr/>
                </a:tc>
                <a:tc>
                  <a:txBody>
                    <a:bodyPr/>
                    <a:lstStyle/>
                    <a:p>
                      <a:r>
                        <a:rPr lang="zh-CN" altLang="en-US" sz="1800" kern="1200" dirty="0">
                          <a:solidFill>
                            <a:srgbClr val="44546A"/>
                          </a:solidFill>
                          <a:latin typeface="微软雅黑" panose="020B0503020204020204" pitchFamily="34" charset="-122"/>
                          <a:ea typeface="微软雅黑" panose="020B0503020204020204" pitchFamily="34" charset="-122"/>
                          <a:cs typeface="+mn-cs"/>
                        </a:rPr>
                        <a:t>程序中需要加上</a:t>
                      </a:r>
                      <a:r>
                        <a:rPr lang="zh-CN" altLang="en-US" sz="1800" b="1" kern="1200" dirty="0">
                          <a:solidFill>
                            <a:srgbClr val="44546A"/>
                          </a:solidFill>
                          <a:latin typeface="微软雅黑" panose="020B0503020204020204" pitchFamily="34" charset="-122"/>
                          <a:ea typeface="微软雅黑" panose="020B0503020204020204" pitchFamily="34" charset="-122"/>
                          <a:cs typeface="+mn-cs"/>
                        </a:rPr>
                        <a:t>引号</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来表示字符串</a:t>
                      </a:r>
                    </a:p>
                  </a:txBody>
                  <a:tcPr/>
                </a:tc>
                <a:extLst>
                  <a:ext uri="{0D108BD9-81ED-4DB2-BD59-A6C34878D82A}">
                    <a16:rowId xmlns:a16="http://schemas.microsoft.com/office/drawing/2014/main" val="10003"/>
                  </a:ext>
                </a:extLst>
              </a:tr>
            </a:tbl>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基本数据类型</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8320" y="1696207"/>
            <a:ext cx="10632559" cy="3269613"/>
          </a:xfrm>
          <a:prstGeom prst="rect">
            <a:avLst/>
          </a:prstGeom>
          <a:noFill/>
        </p:spPr>
        <p:txBody>
          <a:bodyPr wrap="square" rtlCol="0" anchor="t">
            <a:spAutoFit/>
          </a:bodyPr>
          <a:lstStyle/>
          <a:p>
            <a:pPr algn="just">
              <a:lnSpc>
                <a:spcPct val="150000"/>
              </a:lnSpc>
              <a:buNone/>
            </a:pP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列表是 </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Python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中最常用的数据类型，是序列的一种。序列指的是一块可存放多个值的连续内存空间，在 </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Python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中，字符串、列表、元组、字典都属于序列。</a:t>
            </a:r>
            <a:endPar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endParaRPr>
          </a:p>
          <a:p>
            <a:pPr algn="just">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序列依据元素内容是否支持修改分为可变序列和不可变序列，其中列表中的元素可以修改，属于可变序列。</a:t>
            </a:r>
            <a:endPar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endParaRPr>
          </a:p>
          <a:p>
            <a:pPr algn="just">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b="1" dirty="0">
                <a:solidFill>
                  <a:srgbClr val="44546A"/>
                </a:solidFill>
                <a:latin typeface="微软雅黑" panose="020B0503020204020204" pitchFamily="34" charset="-122"/>
                <a:ea typeface="微软雅黑" panose="020B0503020204020204" pitchFamily="34" charset="-122"/>
                <a:sym typeface="Arial" panose="020B0604020202020204"/>
              </a:rPr>
              <a:t>定义列表使用的是英文方括号</a:t>
            </a:r>
            <a:r>
              <a:rPr lang="en-US" altLang="zh-CN" sz="2000" b="1" dirty="0">
                <a:solidFill>
                  <a:srgbClr val="44546A"/>
                </a:solidFill>
                <a:latin typeface="微软雅黑" panose="020B0503020204020204" pitchFamily="34" charset="-122"/>
                <a:ea typeface="微软雅黑" panose="020B0503020204020204" pitchFamily="34" charset="-122"/>
                <a:sym typeface="Arial" panose="020B0604020202020204"/>
              </a:rPr>
              <a:t>[]</a:t>
            </a:r>
            <a:r>
              <a:rPr lang="zh-CN" altLang="en-US" sz="2000" b="1" dirty="0">
                <a:solidFill>
                  <a:srgbClr val="44546A"/>
                </a:solidFill>
                <a:latin typeface="微软雅黑" panose="020B0503020204020204" pitchFamily="34" charset="-122"/>
                <a:ea typeface="微软雅黑" panose="020B0503020204020204" pitchFamily="34" charset="-122"/>
                <a:sym typeface="Arial" panose="020B0604020202020204"/>
              </a:rPr>
              <a:t>，列表元素之间使用逗号分隔。</a:t>
            </a:r>
            <a:endParaRPr lang="en-US" altLang="zh-CN" sz="2000" b="1" dirty="0">
              <a:solidFill>
                <a:srgbClr val="44546A"/>
              </a:solidFill>
              <a:latin typeface="微软雅黑" panose="020B0503020204020204" pitchFamily="34" charset="-122"/>
              <a:ea typeface="微软雅黑" panose="020B0503020204020204" pitchFamily="34" charset="-122"/>
              <a:sym typeface="Arial" panose="020B0604020202020204"/>
            </a:endParaRPr>
          </a:p>
          <a:p>
            <a:pPr algn="just">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列表中的元素类型可以不相同，元素类型可以是数字、字符串，甚至是列表等。</a:t>
            </a:r>
            <a:endPar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endParaRPr>
          </a:p>
          <a:p>
            <a:pPr algn="just">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常用的列表操作如下。</a:t>
            </a:r>
            <a:endPar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endParaRPr>
          </a:p>
        </p:txBody>
      </p:sp>
      <p:sp>
        <p:nvSpPr>
          <p:cNvPr id="5" name="圆角矩形 8"/>
          <p:cNvSpPr/>
          <p:nvPr/>
        </p:nvSpPr>
        <p:spPr>
          <a:xfrm>
            <a:off x="768321" y="1041522"/>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3.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列表</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b="1" dirty="0">
                <a:solidFill>
                  <a:srgbClr val="44546A"/>
                </a:solidFill>
                <a:latin typeface="微软雅黑" panose="020B0503020204020204" pitchFamily="34" charset="-122"/>
                <a:ea typeface="微软雅黑" panose="020B0503020204020204" pitchFamily="34" charset="-122"/>
              </a:rPr>
              <a:t>基本数据类型</a:t>
            </a:r>
            <a:endParaRPr lang="zh-CN" altLang="zh-CN" b="1" dirty="0">
              <a:solidFill>
                <a:srgbClr val="44546A"/>
              </a:solidFill>
              <a:latin typeface="微软雅黑" panose="020B0503020204020204" pitchFamily="34" charset="-122"/>
              <a:ea typeface="微软雅黑" panose="020B0503020204020204" pitchFamily="34" charset="-122"/>
            </a:endParaRPr>
          </a:p>
        </p:txBody>
      </p:sp>
      <p:sp>
        <p:nvSpPr>
          <p:cNvPr id="5" name="圆角矩形 8"/>
          <p:cNvSpPr/>
          <p:nvPr/>
        </p:nvSpPr>
        <p:spPr>
          <a:xfrm>
            <a:off x="768321" y="1041522"/>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3.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列表</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pic>
        <p:nvPicPr>
          <p:cNvPr id="6" name="图片 5"/>
          <p:cNvPicPr>
            <a:picLocks noChangeAspect="1"/>
          </p:cNvPicPr>
          <p:nvPr/>
        </p:nvPicPr>
        <p:blipFill rotWithShape="1">
          <a:blip r:embed="rId3"/>
          <a:srcRect l="-292" t="13" r="292" b="59918"/>
          <a:stretch>
            <a:fillRect/>
          </a:stretch>
        </p:blipFill>
        <p:spPr>
          <a:xfrm>
            <a:off x="1410940" y="2247900"/>
            <a:ext cx="10295616" cy="2179257"/>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0" y="2646564"/>
            <a:ext cx="12192000"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000" dirty="0">
                <a:solidFill>
                  <a:srgbClr val="44546A"/>
                </a:solidFill>
              </a:rPr>
              <a:t>机器学习（二）</a:t>
            </a: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2360219"/>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4494C8"/>
                </a:solidFill>
                <a:effectLst/>
              </a:rPr>
              <a:t>数据加载、存储</a:t>
            </a:r>
            <a:endParaRPr lang="en-US" altLang="zh-CN" kern="0" dirty="0">
              <a:solidFill>
                <a:srgbClr val="4494C8"/>
              </a:solidFill>
              <a:effectLst/>
            </a:endParaRPr>
          </a:p>
        </p:txBody>
      </p:sp>
      <p:sp>
        <p:nvSpPr>
          <p:cNvPr id="21" name="圆角矩形 20"/>
          <p:cNvSpPr/>
          <p:nvPr/>
        </p:nvSpPr>
        <p:spPr>
          <a:xfrm>
            <a:off x="5410386" y="3155184"/>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文本框 9"/>
          <p:cNvSpPr txBox="1"/>
          <p:nvPr/>
        </p:nvSpPr>
        <p:spPr>
          <a:xfrm>
            <a:off x="5410387" y="3389760"/>
            <a:ext cx="4503634"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02B36F"/>
                </a:solidFill>
                <a:effectLst/>
              </a:rPr>
              <a:t>数据清洗和准备</a:t>
            </a:r>
            <a:endParaRPr lang="en-US" altLang="zh-CN" kern="0" dirty="0">
              <a:solidFill>
                <a:srgbClr val="02B36F"/>
              </a:solidFill>
              <a:effectLst/>
            </a:endParaRPr>
          </a:p>
        </p:txBody>
      </p:sp>
      <p:sp>
        <p:nvSpPr>
          <p:cNvPr id="11" name="圆角矩形 10"/>
          <p:cNvSpPr/>
          <p:nvPr/>
        </p:nvSpPr>
        <p:spPr>
          <a:xfrm>
            <a:off x="5410387" y="4184725"/>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1+#ppt_w/2"/>
                                          </p:val>
                                        </p:tav>
                                        <p:tav tm="100000">
                                          <p:val>
                                            <p:strVal val="#ppt_x"/>
                                          </p:val>
                                        </p:tav>
                                      </p:tavLst>
                                    </p:anim>
                                    <p:anim calcmode="lin" valueType="num">
                                      <p:cBhvr additive="base">
                                        <p:cTn id="24" dur="1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10" grpId="0" bldLvl="0" animBg="1"/>
      <p:bldP spid="10" grpId="1" bldLvl="0" animBg="1"/>
      <p:bldP spid="1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一般数据存放在文本文件、</a:t>
            </a:r>
            <a:r>
              <a:rPr lang="en-US" altLang="zh-CN" sz="2400" dirty="0">
                <a:solidFill>
                  <a:srgbClr val="44546A"/>
                </a:solidFill>
                <a:latin typeface="微软雅黑" panose="020B0503020204020204" pitchFamily="34" charset="-122"/>
                <a:ea typeface="微软雅黑" panose="020B0503020204020204" pitchFamily="34" charset="-122"/>
              </a:rPr>
              <a:t>Excel</a:t>
            </a:r>
            <a:r>
              <a:rPr lang="zh-CN" altLang="en-US" sz="2400" dirty="0">
                <a:solidFill>
                  <a:srgbClr val="44546A"/>
                </a:solidFill>
                <a:latin typeface="微软雅黑" panose="020B0503020204020204" pitchFamily="34" charset="-122"/>
                <a:ea typeface="微软雅黑" panose="020B0503020204020204" pitchFamily="34" charset="-122"/>
              </a:rPr>
              <a:t>表格或数据库中，使用</a:t>
            </a:r>
            <a:r>
              <a:rPr lang="en-US" altLang="zh-CN" sz="2400" dirty="0">
                <a:solidFill>
                  <a:srgbClr val="44546A"/>
                </a:solidFill>
                <a:latin typeface="微软雅黑" panose="020B0503020204020204" pitchFamily="34" charset="-122"/>
                <a:ea typeface="微软雅黑" panose="020B0503020204020204" pitchFamily="34" charset="-122"/>
              </a:rPr>
              <a:t>Pandas</a:t>
            </a:r>
            <a:r>
              <a:rPr lang="zh-CN" altLang="en-US" sz="2400" dirty="0">
                <a:solidFill>
                  <a:srgbClr val="44546A"/>
                </a:solidFill>
                <a:latin typeface="微软雅黑" panose="020B0503020204020204" pitchFamily="34" charset="-122"/>
                <a:ea typeface="微软雅黑" panose="020B0503020204020204" pitchFamily="34" charset="-122"/>
              </a:rPr>
              <a:t>或一些其他第三方库，就可以轻松完成数据加载。</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3" name="文本框 2"/>
          <p:cNvSpPr txBox="1"/>
          <p:nvPr/>
        </p:nvSpPr>
        <p:spPr>
          <a:xfrm>
            <a:off x="779720" y="2708643"/>
            <a:ext cx="10632559" cy="499111"/>
          </a:xfrm>
          <a:prstGeom prst="rect">
            <a:avLst/>
          </a:prstGeom>
          <a:noFill/>
        </p:spPr>
        <p:txBody>
          <a:bodyPr wrap="square" rtlCol="0" anchor="t">
            <a:spAutoFit/>
          </a:bodyPr>
          <a:lstStyle/>
          <a:p>
            <a:pPr algn="just">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创建一个</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ex1.csv</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文件，具体内容如下。</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圆角矩形 8"/>
          <p:cNvSpPr/>
          <p:nvPr/>
        </p:nvSpPr>
        <p:spPr>
          <a:xfrm>
            <a:off x="768321" y="2179442"/>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1.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文本文件</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6" name="矩形 5"/>
          <p:cNvSpPr/>
          <p:nvPr/>
        </p:nvSpPr>
        <p:spPr>
          <a:xfrm>
            <a:off x="1410940" y="3449052"/>
            <a:ext cx="3120420" cy="2054021"/>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553537" y="3522203"/>
            <a:ext cx="2424062" cy="1884618"/>
          </a:xfrm>
          <a:prstGeom prst="rect">
            <a:avLst/>
          </a:prstGeom>
          <a:noFill/>
        </p:spPr>
        <p:txBody>
          <a:bodyPr wrap="none" rtlCol="0">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编号</a:t>
            </a:r>
            <a:r>
              <a:rPr lang="en-US" altLang="zh-CN" sz="2000" dirty="0">
                <a:solidFill>
                  <a:srgbClr val="44546A"/>
                </a:solidFill>
                <a:latin typeface="微软雅黑" panose="020B0503020204020204" pitchFamily="34" charset="-122"/>
                <a:ea typeface="微软雅黑" panose="020B0503020204020204" pitchFamily="34" charset="-122"/>
              </a:rPr>
              <a:t>,</a:t>
            </a:r>
            <a:r>
              <a:rPr lang="zh-CN" altLang="en-US" sz="2000" dirty="0">
                <a:solidFill>
                  <a:srgbClr val="44546A"/>
                </a:solidFill>
                <a:latin typeface="微软雅黑" panose="020B0503020204020204" pitchFamily="34" charset="-122"/>
                <a:ea typeface="微软雅黑" panose="020B0503020204020204" pitchFamily="34" charset="-122"/>
              </a:rPr>
              <a:t>姓名</a:t>
            </a:r>
            <a:r>
              <a:rPr lang="en-US" altLang="zh-CN" sz="2000" dirty="0">
                <a:solidFill>
                  <a:srgbClr val="44546A"/>
                </a:solidFill>
                <a:latin typeface="微软雅黑" panose="020B0503020204020204" pitchFamily="34" charset="-122"/>
                <a:ea typeface="微软雅黑" panose="020B0503020204020204" pitchFamily="34" charset="-122"/>
              </a:rPr>
              <a:t>,</a:t>
            </a:r>
            <a:r>
              <a:rPr lang="zh-CN" altLang="en-US" sz="2000" dirty="0">
                <a:solidFill>
                  <a:srgbClr val="44546A"/>
                </a:solidFill>
                <a:latin typeface="微软雅黑" panose="020B0503020204020204" pitchFamily="34" charset="-122"/>
                <a:ea typeface="微软雅黑" panose="020B0503020204020204" pitchFamily="34" charset="-122"/>
              </a:rPr>
              <a:t>年龄</a:t>
            </a:r>
            <a:r>
              <a:rPr lang="en-US" altLang="zh-CN" sz="2000" dirty="0">
                <a:solidFill>
                  <a:srgbClr val="44546A"/>
                </a:solidFill>
                <a:latin typeface="微软雅黑" panose="020B0503020204020204" pitchFamily="34" charset="-122"/>
                <a:ea typeface="微软雅黑" panose="020B0503020204020204" pitchFamily="34" charset="-122"/>
              </a:rPr>
              <a:t>,</a:t>
            </a:r>
            <a:r>
              <a:rPr lang="zh-CN" altLang="en-US" sz="2000" dirty="0">
                <a:solidFill>
                  <a:srgbClr val="44546A"/>
                </a:solidFill>
                <a:latin typeface="微软雅黑" panose="020B0503020204020204" pitchFamily="34" charset="-122"/>
                <a:ea typeface="微软雅黑" panose="020B0503020204020204" pitchFamily="34" charset="-122"/>
              </a:rPr>
              <a:t>职业</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1,</a:t>
            </a:r>
            <a:r>
              <a:rPr lang="zh-CN" altLang="en-US" sz="2000" dirty="0">
                <a:solidFill>
                  <a:srgbClr val="44546A"/>
                </a:solidFill>
                <a:latin typeface="微软雅黑" panose="020B0503020204020204" pitchFamily="34" charset="-122"/>
                <a:ea typeface="微软雅黑" panose="020B0503020204020204" pitchFamily="34" charset="-122"/>
              </a:rPr>
              <a:t>张三</a:t>
            </a:r>
            <a:r>
              <a:rPr lang="en-US" altLang="zh-CN" sz="2000" dirty="0">
                <a:solidFill>
                  <a:srgbClr val="44546A"/>
                </a:solidFill>
                <a:latin typeface="微软雅黑" panose="020B0503020204020204" pitchFamily="34" charset="-122"/>
                <a:ea typeface="微软雅黑" panose="020B0503020204020204" pitchFamily="34" charset="-122"/>
              </a:rPr>
              <a:t>,12,</a:t>
            </a:r>
            <a:r>
              <a:rPr lang="zh-CN" altLang="en-US" sz="2000" dirty="0">
                <a:solidFill>
                  <a:srgbClr val="44546A"/>
                </a:solidFill>
                <a:latin typeface="微软雅黑" panose="020B0503020204020204" pitchFamily="34" charset="-122"/>
                <a:ea typeface="微软雅黑" panose="020B0503020204020204" pitchFamily="34" charset="-122"/>
              </a:rPr>
              <a:t>学生</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2,</a:t>
            </a:r>
            <a:r>
              <a:rPr lang="zh-CN" altLang="en-US" sz="2000" dirty="0">
                <a:solidFill>
                  <a:srgbClr val="44546A"/>
                </a:solidFill>
                <a:latin typeface="微软雅黑" panose="020B0503020204020204" pitchFamily="34" charset="-122"/>
                <a:ea typeface="微软雅黑" panose="020B0503020204020204" pitchFamily="34" charset="-122"/>
              </a:rPr>
              <a:t>李四</a:t>
            </a:r>
            <a:r>
              <a:rPr lang="en-US" altLang="zh-CN" sz="2000" dirty="0">
                <a:solidFill>
                  <a:srgbClr val="44546A"/>
                </a:solidFill>
                <a:latin typeface="微软雅黑" panose="020B0503020204020204" pitchFamily="34" charset="-122"/>
                <a:ea typeface="微软雅黑" panose="020B0503020204020204" pitchFamily="34" charset="-122"/>
              </a:rPr>
              <a:t>,20,</a:t>
            </a:r>
            <a:r>
              <a:rPr lang="zh-CN" altLang="en-US" sz="2000" dirty="0">
                <a:solidFill>
                  <a:srgbClr val="44546A"/>
                </a:solidFill>
                <a:latin typeface="微软雅黑" panose="020B0503020204020204" pitchFamily="34" charset="-122"/>
                <a:ea typeface="微软雅黑" panose="020B0503020204020204" pitchFamily="34" charset="-122"/>
              </a:rPr>
              <a:t>厨师</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3,</a:t>
            </a:r>
            <a:r>
              <a:rPr lang="zh-CN" altLang="en-US" sz="2000" dirty="0">
                <a:solidFill>
                  <a:srgbClr val="44546A"/>
                </a:solidFill>
                <a:latin typeface="微软雅黑" panose="020B0503020204020204" pitchFamily="34" charset="-122"/>
                <a:ea typeface="微软雅黑" panose="020B0503020204020204" pitchFamily="34" charset="-122"/>
              </a:rPr>
              <a:t>王梅</a:t>
            </a:r>
            <a:r>
              <a:rPr lang="en-US" altLang="zh-CN" sz="2000" dirty="0">
                <a:solidFill>
                  <a:srgbClr val="44546A"/>
                </a:solidFill>
                <a:latin typeface="微软雅黑" panose="020B0503020204020204" pitchFamily="34" charset="-122"/>
                <a:ea typeface="微软雅黑" panose="020B0503020204020204" pitchFamily="34" charset="-122"/>
              </a:rPr>
              <a:t>,23,</a:t>
            </a:r>
            <a:r>
              <a:rPr lang="zh-CN" altLang="en-US" sz="2000" dirty="0">
                <a:solidFill>
                  <a:srgbClr val="44546A"/>
                </a:solidFill>
                <a:latin typeface="微软雅黑" panose="020B0503020204020204" pitchFamily="34" charset="-122"/>
                <a:ea typeface="微软雅黑" panose="020B0503020204020204" pitchFamily="34" charset="-122"/>
              </a:rPr>
              <a:t>护士</a:t>
            </a:r>
          </a:p>
        </p:txBody>
      </p:sp>
      <p:sp>
        <p:nvSpPr>
          <p:cNvPr id="11" name="文本框 10"/>
          <p:cNvSpPr txBox="1"/>
          <p:nvPr/>
        </p:nvSpPr>
        <p:spPr>
          <a:xfrm>
            <a:off x="768321" y="5645840"/>
            <a:ext cx="10632559" cy="960776"/>
          </a:xfrm>
          <a:prstGeom prst="rect">
            <a:avLst/>
          </a:prstGeom>
          <a:noFill/>
        </p:spPr>
        <p:txBody>
          <a:bodyPr wrap="square" rtlCol="0" anchor="t">
            <a:spAutoFit/>
          </a:bodyPr>
          <a:lstStyle/>
          <a:p>
            <a:pPr algn="just">
              <a:lnSpc>
                <a:spcPct val="150000"/>
              </a:lnSpc>
              <a:buNone/>
            </a:pP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可以利用</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read_csv</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函数，读取此文件，读取时可配置相应的参数；也可以使用</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read_table</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函数，通过指定分隔符（支持正则表达式）读取此文件内容。具体实现如下。</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具体实现如下。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15" name="图片 14"/>
          <p:cNvPicPr>
            <a:picLocks noChangeAspect="1"/>
          </p:cNvPicPr>
          <p:nvPr/>
        </p:nvPicPr>
        <p:blipFill>
          <a:blip r:embed="rId3"/>
          <a:stretch>
            <a:fillRect/>
          </a:stretch>
        </p:blipFill>
        <p:spPr>
          <a:xfrm>
            <a:off x="2905123" y="1438666"/>
            <a:ext cx="6945433" cy="1990333"/>
          </a:xfrm>
          <a:prstGeom prst="rect">
            <a:avLst/>
          </a:prstGeom>
        </p:spPr>
      </p:pic>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12" name="矩形 11"/>
          <p:cNvSpPr/>
          <p:nvPr/>
        </p:nvSpPr>
        <p:spPr>
          <a:xfrm>
            <a:off x="2750989" y="1668378"/>
            <a:ext cx="6435121" cy="3785938"/>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933158" y="1781074"/>
            <a:ext cx="3470822" cy="3477875"/>
          </a:xfrm>
          <a:prstGeom prst="rect">
            <a:avLst/>
          </a:prstGeom>
          <a:noFill/>
        </p:spPr>
        <p:txBody>
          <a:bodyPr wrap="none" rtlCol="0">
            <a:spAutoFit/>
          </a:bodyPr>
          <a:lstStyle/>
          <a:p>
            <a:r>
              <a:rPr lang="en-US" altLang="zh-CN" sz="2000" dirty="0">
                <a:solidFill>
                  <a:srgbClr val="44546A"/>
                </a:solidFill>
                <a:latin typeface="微软雅黑" panose="020B0503020204020204" pitchFamily="34" charset="-122"/>
                <a:ea typeface="微软雅黑" panose="020B0503020204020204" pitchFamily="34" charset="-122"/>
              </a:rPr>
              <a:t>read_csv:</a:t>
            </a:r>
          </a:p>
          <a:p>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rPr>
              <a:t>编号  姓名  年龄   职业</a:t>
            </a:r>
          </a:p>
          <a:p>
            <a:r>
              <a:rPr lang="en-US" altLang="zh-CN" sz="2000" dirty="0">
                <a:solidFill>
                  <a:srgbClr val="44546A"/>
                </a:solidFill>
                <a:latin typeface="微软雅黑" panose="020B0503020204020204" pitchFamily="34" charset="-122"/>
                <a:ea typeface="微软雅黑" panose="020B0503020204020204" pitchFamily="34" charset="-122"/>
              </a:rPr>
              <a:t>0   1      </a:t>
            </a:r>
            <a:r>
              <a:rPr lang="zh-CN" altLang="en-US" sz="2000" dirty="0">
                <a:solidFill>
                  <a:srgbClr val="44546A"/>
                </a:solidFill>
                <a:latin typeface="微软雅黑" panose="020B0503020204020204" pitchFamily="34" charset="-122"/>
                <a:ea typeface="微软雅黑" panose="020B0503020204020204" pitchFamily="34" charset="-122"/>
              </a:rPr>
              <a:t>张三   </a:t>
            </a:r>
            <a:r>
              <a:rPr lang="en-US" altLang="zh-CN" sz="2000" dirty="0">
                <a:solidFill>
                  <a:srgbClr val="44546A"/>
                </a:solidFill>
                <a:latin typeface="微软雅黑" panose="020B0503020204020204" pitchFamily="34" charset="-122"/>
                <a:ea typeface="微软雅黑" panose="020B0503020204020204" pitchFamily="34" charset="-122"/>
              </a:rPr>
              <a:t>12     </a:t>
            </a:r>
            <a:r>
              <a:rPr lang="zh-CN" altLang="en-US" sz="2000" dirty="0">
                <a:solidFill>
                  <a:srgbClr val="44546A"/>
                </a:solidFill>
                <a:latin typeface="微软雅黑" panose="020B0503020204020204" pitchFamily="34" charset="-122"/>
                <a:ea typeface="微软雅黑" panose="020B0503020204020204" pitchFamily="34" charset="-122"/>
              </a:rPr>
              <a:t>学生     </a:t>
            </a:r>
          </a:p>
          <a:p>
            <a:r>
              <a:rPr lang="en-US" altLang="zh-CN" sz="2000" dirty="0">
                <a:solidFill>
                  <a:srgbClr val="44546A"/>
                </a:solidFill>
                <a:latin typeface="微软雅黑" panose="020B0503020204020204" pitchFamily="34" charset="-122"/>
                <a:ea typeface="微软雅黑" panose="020B0503020204020204" pitchFamily="34" charset="-122"/>
              </a:rPr>
              <a:t>1   2      </a:t>
            </a:r>
            <a:r>
              <a:rPr lang="zh-CN" altLang="en-US" sz="2000" dirty="0">
                <a:solidFill>
                  <a:srgbClr val="44546A"/>
                </a:solidFill>
                <a:latin typeface="微软雅黑" panose="020B0503020204020204" pitchFamily="34" charset="-122"/>
                <a:ea typeface="微软雅黑" panose="020B0503020204020204" pitchFamily="34" charset="-122"/>
              </a:rPr>
              <a:t>李四   </a:t>
            </a:r>
            <a:r>
              <a:rPr lang="en-US" altLang="zh-CN" sz="2000" dirty="0">
                <a:solidFill>
                  <a:srgbClr val="44546A"/>
                </a:solidFill>
                <a:latin typeface="微软雅黑" panose="020B0503020204020204" pitchFamily="34" charset="-122"/>
                <a:ea typeface="微软雅黑" panose="020B0503020204020204" pitchFamily="34" charset="-122"/>
              </a:rPr>
              <a:t>20     </a:t>
            </a:r>
            <a:r>
              <a:rPr lang="zh-CN" altLang="en-US" sz="2000" dirty="0">
                <a:solidFill>
                  <a:srgbClr val="44546A"/>
                </a:solidFill>
                <a:latin typeface="微软雅黑" panose="020B0503020204020204" pitchFamily="34" charset="-122"/>
                <a:ea typeface="微软雅黑" panose="020B0503020204020204" pitchFamily="34" charset="-122"/>
              </a:rPr>
              <a:t>厨师     </a:t>
            </a:r>
          </a:p>
          <a:p>
            <a:r>
              <a:rPr lang="en-US" altLang="zh-CN" sz="2000" dirty="0">
                <a:solidFill>
                  <a:srgbClr val="44546A"/>
                </a:solidFill>
                <a:latin typeface="微软雅黑" panose="020B0503020204020204" pitchFamily="34" charset="-122"/>
                <a:ea typeface="微软雅黑" panose="020B0503020204020204" pitchFamily="34" charset="-122"/>
              </a:rPr>
              <a:t>2   3      </a:t>
            </a:r>
            <a:r>
              <a:rPr lang="zh-CN" altLang="en-US" sz="2000" dirty="0">
                <a:solidFill>
                  <a:srgbClr val="44546A"/>
                </a:solidFill>
                <a:latin typeface="微软雅黑" panose="020B0503020204020204" pitchFamily="34" charset="-122"/>
                <a:ea typeface="微软雅黑" panose="020B0503020204020204" pitchFamily="34" charset="-122"/>
              </a:rPr>
              <a:t>王梅   </a:t>
            </a:r>
            <a:r>
              <a:rPr lang="en-US" altLang="zh-CN" sz="2000" dirty="0">
                <a:solidFill>
                  <a:srgbClr val="44546A"/>
                </a:solidFill>
                <a:latin typeface="微软雅黑" panose="020B0503020204020204" pitchFamily="34" charset="-122"/>
                <a:ea typeface="微软雅黑" panose="020B0503020204020204" pitchFamily="34" charset="-122"/>
              </a:rPr>
              <a:t>23     </a:t>
            </a:r>
            <a:r>
              <a:rPr lang="zh-CN" altLang="en-US" sz="2000" dirty="0">
                <a:solidFill>
                  <a:srgbClr val="44546A"/>
                </a:solidFill>
                <a:latin typeface="微软雅黑" panose="020B0503020204020204" pitchFamily="34" charset="-122"/>
                <a:ea typeface="微软雅黑" panose="020B0503020204020204" pitchFamily="34" charset="-122"/>
              </a:rPr>
              <a:t>护士     </a:t>
            </a:r>
          </a:p>
          <a:p>
            <a:endParaRPr lang="zh-CN" altLang="en-US" sz="2000" dirty="0">
              <a:solidFill>
                <a:srgbClr val="44546A"/>
              </a:solidFill>
              <a:latin typeface="微软雅黑" panose="020B0503020204020204" pitchFamily="34" charset="-122"/>
              <a:ea typeface="微软雅黑" panose="020B0503020204020204" pitchFamily="34" charset="-122"/>
            </a:endParaRPr>
          </a:p>
          <a:p>
            <a:r>
              <a:rPr lang="en-US" altLang="zh-CN" sz="2000" dirty="0">
                <a:solidFill>
                  <a:srgbClr val="44546A"/>
                </a:solidFill>
                <a:latin typeface="微软雅黑" panose="020B0503020204020204" pitchFamily="34" charset="-122"/>
                <a:ea typeface="微软雅黑" panose="020B0503020204020204" pitchFamily="34" charset="-122"/>
              </a:rPr>
              <a:t>read_table:</a:t>
            </a:r>
          </a:p>
          <a:p>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rPr>
              <a:t>编号  姓名  年龄   职业</a:t>
            </a:r>
          </a:p>
          <a:p>
            <a:r>
              <a:rPr lang="en-US" altLang="zh-CN" sz="2000" dirty="0">
                <a:solidFill>
                  <a:srgbClr val="44546A"/>
                </a:solidFill>
                <a:latin typeface="微软雅黑" panose="020B0503020204020204" pitchFamily="34" charset="-122"/>
                <a:ea typeface="微软雅黑" panose="020B0503020204020204" pitchFamily="34" charset="-122"/>
              </a:rPr>
              <a:t>0   1      </a:t>
            </a:r>
            <a:r>
              <a:rPr lang="zh-CN" altLang="en-US" sz="2000" dirty="0">
                <a:solidFill>
                  <a:srgbClr val="44546A"/>
                </a:solidFill>
                <a:latin typeface="微软雅黑" panose="020B0503020204020204" pitchFamily="34" charset="-122"/>
                <a:ea typeface="微软雅黑" panose="020B0503020204020204" pitchFamily="34" charset="-122"/>
              </a:rPr>
              <a:t>张三   </a:t>
            </a:r>
            <a:r>
              <a:rPr lang="en-US" altLang="zh-CN" sz="2000" dirty="0">
                <a:solidFill>
                  <a:srgbClr val="44546A"/>
                </a:solidFill>
                <a:latin typeface="微软雅黑" panose="020B0503020204020204" pitchFamily="34" charset="-122"/>
                <a:ea typeface="微软雅黑" panose="020B0503020204020204" pitchFamily="34" charset="-122"/>
              </a:rPr>
              <a:t>12     </a:t>
            </a:r>
            <a:r>
              <a:rPr lang="zh-CN" altLang="en-US" sz="2000" dirty="0">
                <a:solidFill>
                  <a:srgbClr val="44546A"/>
                </a:solidFill>
                <a:latin typeface="微软雅黑" panose="020B0503020204020204" pitchFamily="34" charset="-122"/>
                <a:ea typeface="微软雅黑" panose="020B0503020204020204" pitchFamily="34" charset="-122"/>
              </a:rPr>
              <a:t>学生     </a:t>
            </a:r>
          </a:p>
          <a:p>
            <a:r>
              <a:rPr lang="en-US" altLang="zh-CN" sz="2000" dirty="0">
                <a:solidFill>
                  <a:srgbClr val="44546A"/>
                </a:solidFill>
                <a:latin typeface="微软雅黑" panose="020B0503020204020204" pitchFamily="34" charset="-122"/>
                <a:ea typeface="微软雅黑" panose="020B0503020204020204" pitchFamily="34" charset="-122"/>
              </a:rPr>
              <a:t>1   2      </a:t>
            </a:r>
            <a:r>
              <a:rPr lang="zh-CN" altLang="en-US" sz="2000" dirty="0">
                <a:solidFill>
                  <a:srgbClr val="44546A"/>
                </a:solidFill>
                <a:latin typeface="微软雅黑" panose="020B0503020204020204" pitchFamily="34" charset="-122"/>
                <a:ea typeface="微软雅黑" panose="020B0503020204020204" pitchFamily="34" charset="-122"/>
              </a:rPr>
              <a:t>李四   </a:t>
            </a:r>
            <a:r>
              <a:rPr lang="en-US" altLang="zh-CN" sz="2000" dirty="0">
                <a:solidFill>
                  <a:srgbClr val="44546A"/>
                </a:solidFill>
                <a:latin typeface="微软雅黑" panose="020B0503020204020204" pitchFamily="34" charset="-122"/>
                <a:ea typeface="微软雅黑" panose="020B0503020204020204" pitchFamily="34" charset="-122"/>
              </a:rPr>
              <a:t>20     </a:t>
            </a:r>
            <a:r>
              <a:rPr lang="zh-CN" altLang="en-US" sz="2000" dirty="0">
                <a:solidFill>
                  <a:srgbClr val="44546A"/>
                </a:solidFill>
                <a:latin typeface="微软雅黑" panose="020B0503020204020204" pitchFamily="34" charset="-122"/>
                <a:ea typeface="微软雅黑" panose="020B0503020204020204" pitchFamily="34" charset="-122"/>
              </a:rPr>
              <a:t>厨师     </a:t>
            </a:r>
          </a:p>
          <a:p>
            <a:r>
              <a:rPr lang="en-US" altLang="zh-CN" sz="2000" dirty="0">
                <a:solidFill>
                  <a:srgbClr val="44546A"/>
                </a:solidFill>
                <a:latin typeface="微软雅黑" panose="020B0503020204020204" pitchFamily="34" charset="-122"/>
                <a:ea typeface="微软雅黑" panose="020B0503020204020204" pitchFamily="34" charset="-122"/>
              </a:rPr>
              <a:t>2   3      </a:t>
            </a:r>
            <a:r>
              <a:rPr lang="zh-CN" altLang="en-US" sz="2000" dirty="0">
                <a:solidFill>
                  <a:srgbClr val="44546A"/>
                </a:solidFill>
                <a:latin typeface="微软雅黑" panose="020B0503020204020204" pitchFamily="34" charset="-122"/>
                <a:ea typeface="微软雅黑" panose="020B0503020204020204" pitchFamily="34" charset="-122"/>
              </a:rPr>
              <a:t>王梅   </a:t>
            </a:r>
            <a:r>
              <a:rPr lang="en-US" altLang="zh-CN" sz="2000" dirty="0">
                <a:solidFill>
                  <a:srgbClr val="44546A"/>
                </a:solidFill>
                <a:latin typeface="微软雅黑" panose="020B0503020204020204" pitchFamily="34" charset="-122"/>
                <a:ea typeface="微软雅黑" panose="020B0503020204020204" pitchFamily="34" charset="-122"/>
              </a:rPr>
              <a:t>23     </a:t>
            </a:r>
            <a:r>
              <a:rPr lang="zh-CN" altLang="en-US" sz="2000" dirty="0">
                <a:solidFill>
                  <a:srgbClr val="44546A"/>
                </a:solidFill>
                <a:latin typeface="微软雅黑" panose="020B0503020204020204" pitchFamily="34" charset="-122"/>
                <a:ea typeface="微软雅黑" panose="020B0503020204020204" pitchFamily="34" charset="-122"/>
              </a:rPr>
              <a:t>护士 </a:t>
            </a: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在读取文件的时候，有些文件可能只有数据、没有列名，例如下面创建的</a:t>
            </a:r>
            <a:r>
              <a:rPr lang="en-US" altLang="zh-CN" sz="2400" dirty="0">
                <a:solidFill>
                  <a:srgbClr val="44546A"/>
                </a:solidFill>
                <a:latin typeface="微软雅黑" panose="020B0503020204020204" pitchFamily="34" charset="-122"/>
                <a:ea typeface="微软雅黑" panose="020B0503020204020204" pitchFamily="34" charset="-122"/>
              </a:rPr>
              <a:t>ex2.csv</a:t>
            </a:r>
            <a:r>
              <a:rPr lang="zh-CN" altLang="en-US" sz="2400" dirty="0">
                <a:solidFill>
                  <a:srgbClr val="44546A"/>
                </a:solidFill>
                <a:latin typeface="微软雅黑" panose="020B0503020204020204" pitchFamily="34" charset="-122"/>
                <a:ea typeface="微软雅黑" panose="020B0503020204020204" pitchFamily="34" charset="-122"/>
              </a:rPr>
              <a:t>文件，其内容如下。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6" name="矩形 5"/>
          <p:cNvSpPr/>
          <p:nvPr/>
        </p:nvSpPr>
        <p:spPr>
          <a:xfrm>
            <a:off x="1410940" y="2165684"/>
            <a:ext cx="3120420" cy="1828800"/>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569579" y="2316344"/>
            <a:ext cx="1850186" cy="1422954"/>
          </a:xfrm>
          <a:prstGeom prst="rect">
            <a:avLst/>
          </a:prstGeom>
          <a:noFill/>
        </p:spPr>
        <p:txBody>
          <a:bodyPr wrap="none" rtlCol="0">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1,</a:t>
            </a:r>
            <a:r>
              <a:rPr lang="zh-CN" altLang="en-US" sz="2000" dirty="0">
                <a:solidFill>
                  <a:srgbClr val="44546A"/>
                </a:solidFill>
                <a:latin typeface="微软雅黑" panose="020B0503020204020204" pitchFamily="34" charset="-122"/>
                <a:ea typeface="微软雅黑" panose="020B0503020204020204" pitchFamily="34" charset="-122"/>
              </a:rPr>
              <a:t>张三</a:t>
            </a:r>
            <a:r>
              <a:rPr lang="en-US" altLang="zh-CN" sz="2000" dirty="0">
                <a:solidFill>
                  <a:srgbClr val="44546A"/>
                </a:solidFill>
                <a:latin typeface="微软雅黑" panose="020B0503020204020204" pitchFamily="34" charset="-122"/>
                <a:ea typeface="微软雅黑" panose="020B0503020204020204" pitchFamily="34" charset="-122"/>
              </a:rPr>
              <a:t>,12,</a:t>
            </a:r>
            <a:r>
              <a:rPr lang="zh-CN" altLang="en-US" sz="2000" dirty="0">
                <a:solidFill>
                  <a:srgbClr val="44546A"/>
                </a:solidFill>
                <a:latin typeface="微软雅黑" panose="020B0503020204020204" pitchFamily="34" charset="-122"/>
                <a:ea typeface="微软雅黑" panose="020B0503020204020204" pitchFamily="34" charset="-122"/>
              </a:rPr>
              <a:t>学生</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2,</a:t>
            </a:r>
            <a:r>
              <a:rPr lang="zh-CN" altLang="en-US" sz="2000" dirty="0">
                <a:solidFill>
                  <a:srgbClr val="44546A"/>
                </a:solidFill>
                <a:latin typeface="微软雅黑" panose="020B0503020204020204" pitchFamily="34" charset="-122"/>
                <a:ea typeface="微软雅黑" panose="020B0503020204020204" pitchFamily="34" charset="-122"/>
              </a:rPr>
              <a:t>李四</a:t>
            </a:r>
            <a:r>
              <a:rPr lang="en-US" altLang="zh-CN" sz="2000" dirty="0">
                <a:solidFill>
                  <a:srgbClr val="44546A"/>
                </a:solidFill>
                <a:latin typeface="微软雅黑" panose="020B0503020204020204" pitchFamily="34" charset="-122"/>
                <a:ea typeface="微软雅黑" panose="020B0503020204020204" pitchFamily="34" charset="-122"/>
              </a:rPr>
              <a:t>,20,</a:t>
            </a:r>
            <a:r>
              <a:rPr lang="zh-CN" altLang="en-US" sz="2000" dirty="0">
                <a:solidFill>
                  <a:srgbClr val="44546A"/>
                </a:solidFill>
                <a:latin typeface="微软雅黑" panose="020B0503020204020204" pitchFamily="34" charset="-122"/>
                <a:ea typeface="微软雅黑" panose="020B0503020204020204" pitchFamily="34" charset="-122"/>
              </a:rPr>
              <a:t>厨师</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3,</a:t>
            </a:r>
            <a:r>
              <a:rPr lang="zh-CN" altLang="en-US" sz="2000" dirty="0">
                <a:solidFill>
                  <a:srgbClr val="44546A"/>
                </a:solidFill>
                <a:latin typeface="微软雅黑" panose="020B0503020204020204" pitchFamily="34" charset="-122"/>
                <a:ea typeface="微软雅黑" panose="020B0503020204020204" pitchFamily="34" charset="-122"/>
              </a:rPr>
              <a:t>王梅</a:t>
            </a:r>
            <a:r>
              <a:rPr lang="en-US" altLang="zh-CN" sz="2000" dirty="0">
                <a:solidFill>
                  <a:srgbClr val="44546A"/>
                </a:solidFill>
                <a:latin typeface="微软雅黑" panose="020B0503020204020204" pitchFamily="34" charset="-122"/>
                <a:ea typeface="微软雅黑" panose="020B0503020204020204" pitchFamily="34" charset="-122"/>
              </a:rPr>
              <a:t>,23,</a:t>
            </a:r>
            <a:r>
              <a:rPr lang="zh-CN" altLang="en-US" sz="2000" dirty="0">
                <a:solidFill>
                  <a:srgbClr val="44546A"/>
                </a:solidFill>
                <a:latin typeface="微软雅黑" panose="020B0503020204020204" pitchFamily="34" charset="-122"/>
                <a:ea typeface="微软雅黑" panose="020B0503020204020204" pitchFamily="34" charset="-122"/>
              </a:rPr>
              <a:t>护士</a:t>
            </a: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可以在读取此文件时，为其指定列名，以及根据指定的索引读取内容，例如：</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8" name="图片 7"/>
          <p:cNvPicPr>
            <a:picLocks noChangeAspect="1"/>
          </p:cNvPicPr>
          <p:nvPr/>
        </p:nvPicPr>
        <p:blipFill>
          <a:blip r:embed="rId3"/>
          <a:stretch>
            <a:fillRect/>
          </a:stretch>
        </p:blipFill>
        <p:spPr>
          <a:xfrm>
            <a:off x="2024062" y="2218894"/>
            <a:ext cx="8143875" cy="1047750"/>
          </a:xfrm>
          <a:prstGeom prst="rect">
            <a:avLst/>
          </a:prstGeom>
        </p:spPr>
      </p:pic>
      <p:sp>
        <p:nvSpPr>
          <p:cNvPr id="3" name="文本框 2"/>
          <p:cNvSpPr txBox="1"/>
          <p:nvPr/>
        </p:nvSpPr>
        <p:spPr>
          <a:xfrm>
            <a:off x="327558" y="3429000"/>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5" name="矩形 4"/>
          <p:cNvSpPr/>
          <p:nvPr/>
        </p:nvSpPr>
        <p:spPr>
          <a:xfrm>
            <a:off x="2398063" y="4320449"/>
            <a:ext cx="6435121" cy="2239766"/>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580232" y="4433145"/>
            <a:ext cx="2146742" cy="1938992"/>
          </a:xfrm>
          <a:prstGeom prst="rect">
            <a:avLst/>
          </a:prstGeom>
          <a:noFill/>
        </p:spPr>
        <p:txBody>
          <a:bodyPr wrap="none" rtlCol="0">
            <a:spAutoFit/>
          </a:bodyPr>
          <a:lstStyle/>
          <a:p>
            <a:r>
              <a:rPr lang="en-US" altLang="zh-CN" sz="2000" dirty="0">
                <a:solidFill>
                  <a:srgbClr val="44546A"/>
                </a:solidFill>
                <a:latin typeface="微软雅黑" panose="020B0503020204020204" pitchFamily="34" charset="-122"/>
                <a:ea typeface="微软雅黑" panose="020B0503020204020204" pitchFamily="34" charset="-122"/>
              </a:rPr>
              <a:t>data </a:t>
            </a:r>
            <a:r>
              <a:rPr lang="en-US" altLang="zh-CN" sz="2000" dirty="0">
                <a:solidFill>
                  <a:srgbClr val="1D7FC6"/>
                </a:solidFill>
                <a:latin typeface="微软雅黑" panose="020B0503020204020204" pitchFamily="34" charset="-122"/>
                <a:ea typeface="微软雅黑" panose="020B0503020204020204" pitchFamily="34" charset="-122"/>
              </a:rPr>
              <a:t>is</a:t>
            </a:r>
            <a:r>
              <a:rPr lang="en-US" altLang="zh-CN" sz="2000" dirty="0">
                <a:solidFill>
                  <a:srgbClr val="44546A"/>
                </a:solidFill>
                <a:latin typeface="微软雅黑" panose="020B0503020204020204" pitchFamily="34" charset="-122"/>
                <a:ea typeface="微软雅黑" panose="020B0503020204020204" pitchFamily="34" charset="-122"/>
              </a:rPr>
              <a:t>:</a:t>
            </a:r>
          </a:p>
          <a:p>
            <a:r>
              <a:rPr lang="en-US" altLang="zh-CN" sz="2000" dirty="0">
                <a:solidFill>
                  <a:srgbClr val="44546A"/>
                </a:solidFill>
                <a:latin typeface="微软雅黑" panose="020B0503020204020204" pitchFamily="34" charset="-122"/>
                <a:ea typeface="微软雅黑" panose="020B0503020204020204" pitchFamily="34" charset="-122"/>
              </a:rPr>
              <a:t>     b      c      d   </a:t>
            </a:r>
          </a:p>
          <a:p>
            <a:r>
              <a:rPr lang="en-US" altLang="zh-CN" sz="2000" dirty="0">
                <a:solidFill>
                  <a:srgbClr val="44546A"/>
                </a:solidFill>
                <a:latin typeface="微软雅黑" panose="020B0503020204020204" pitchFamily="34" charset="-122"/>
                <a:ea typeface="微软雅黑" panose="020B0503020204020204" pitchFamily="34" charset="-122"/>
              </a:rPr>
              <a:t>a</a:t>
            </a:r>
          </a:p>
          <a:p>
            <a:r>
              <a:rPr lang="en-US" altLang="zh-CN" sz="2000" dirty="0">
                <a:solidFill>
                  <a:srgbClr val="44546A"/>
                </a:solidFill>
                <a:latin typeface="微软雅黑" panose="020B0503020204020204" pitchFamily="34" charset="-122"/>
                <a:ea typeface="微软雅黑" panose="020B0503020204020204" pitchFamily="34" charset="-122"/>
              </a:rPr>
              <a:t>1  </a:t>
            </a:r>
            <a:r>
              <a:rPr lang="zh-CN" altLang="en-US" sz="2000" dirty="0">
                <a:solidFill>
                  <a:srgbClr val="44546A"/>
                </a:solidFill>
                <a:latin typeface="微软雅黑" panose="020B0503020204020204" pitchFamily="34" charset="-122"/>
                <a:ea typeface="微软雅黑" panose="020B0503020204020204" pitchFamily="34" charset="-122"/>
              </a:rPr>
              <a:t>张三  </a:t>
            </a:r>
            <a:r>
              <a:rPr lang="en-US" altLang="zh-CN" sz="2000" dirty="0">
                <a:solidFill>
                  <a:srgbClr val="44546A"/>
                </a:solidFill>
                <a:latin typeface="微软雅黑" panose="020B0503020204020204" pitchFamily="34" charset="-122"/>
                <a:ea typeface="微软雅黑" panose="020B0503020204020204" pitchFamily="34" charset="-122"/>
              </a:rPr>
              <a:t>12  </a:t>
            </a:r>
            <a:r>
              <a:rPr lang="zh-CN" altLang="en-US" sz="2000" dirty="0">
                <a:solidFill>
                  <a:srgbClr val="44546A"/>
                </a:solidFill>
                <a:latin typeface="微软雅黑" panose="020B0503020204020204" pitchFamily="34" charset="-122"/>
                <a:ea typeface="微软雅黑" panose="020B0503020204020204" pitchFamily="34" charset="-122"/>
              </a:rPr>
              <a:t>学生</a:t>
            </a:r>
          </a:p>
          <a:p>
            <a:r>
              <a:rPr lang="en-US" altLang="zh-CN" sz="2000" dirty="0">
                <a:solidFill>
                  <a:srgbClr val="44546A"/>
                </a:solidFill>
                <a:latin typeface="微软雅黑" panose="020B0503020204020204" pitchFamily="34" charset="-122"/>
                <a:ea typeface="微软雅黑" panose="020B0503020204020204" pitchFamily="34" charset="-122"/>
              </a:rPr>
              <a:t>2  </a:t>
            </a:r>
            <a:r>
              <a:rPr lang="zh-CN" altLang="en-US" sz="2000" dirty="0">
                <a:solidFill>
                  <a:srgbClr val="44546A"/>
                </a:solidFill>
                <a:latin typeface="微软雅黑" panose="020B0503020204020204" pitchFamily="34" charset="-122"/>
                <a:ea typeface="微软雅黑" panose="020B0503020204020204" pitchFamily="34" charset="-122"/>
              </a:rPr>
              <a:t>李四  </a:t>
            </a:r>
            <a:r>
              <a:rPr lang="en-US" altLang="zh-CN" sz="2000" dirty="0">
                <a:solidFill>
                  <a:srgbClr val="44546A"/>
                </a:solidFill>
                <a:latin typeface="微软雅黑" panose="020B0503020204020204" pitchFamily="34" charset="-122"/>
                <a:ea typeface="微软雅黑" panose="020B0503020204020204" pitchFamily="34" charset="-122"/>
              </a:rPr>
              <a:t>20  </a:t>
            </a:r>
            <a:r>
              <a:rPr lang="zh-CN" altLang="en-US" sz="2000" dirty="0">
                <a:solidFill>
                  <a:srgbClr val="44546A"/>
                </a:solidFill>
                <a:latin typeface="微软雅黑" panose="020B0503020204020204" pitchFamily="34" charset="-122"/>
                <a:ea typeface="微软雅黑" panose="020B0503020204020204" pitchFamily="34" charset="-122"/>
              </a:rPr>
              <a:t>厨师</a:t>
            </a:r>
          </a:p>
          <a:p>
            <a:r>
              <a:rPr lang="en-US" altLang="zh-CN" sz="2000" dirty="0">
                <a:solidFill>
                  <a:srgbClr val="44546A"/>
                </a:solidFill>
                <a:latin typeface="微软雅黑" panose="020B0503020204020204" pitchFamily="34" charset="-122"/>
                <a:ea typeface="微软雅黑" panose="020B0503020204020204" pitchFamily="34" charset="-122"/>
              </a:rPr>
              <a:t>3  </a:t>
            </a:r>
            <a:r>
              <a:rPr lang="zh-CN" altLang="en-US" sz="2000" dirty="0">
                <a:solidFill>
                  <a:srgbClr val="44546A"/>
                </a:solidFill>
                <a:latin typeface="微软雅黑" panose="020B0503020204020204" pitchFamily="34" charset="-122"/>
                <a:ea typeface="微软雅黑" panose="020B0503020204020204" pitchFamily="34" charset="-122"/>
              </a:rPr>
              <a:t>王梅  </a:t>
            </a:r>
            <a:r>
              <a:rPr lang="en-US" altLang="zh-CN" sz="2000" dirty="0">
                <a:solidFill>
                  <a:srgbClr val="44546A"/>
                </a:solidFill>
                <a:latin typeface="微软雅黑" panose="020B0503020204020204" pitchFamily="34" charset="-122"/>
                <a:ea typeface="微软雅黑" panose="020B0503020204020204" pitchFamily="34" charset="-122"/>
              </a:rPr>
              <a:t>23  </a:t>
            </a:r>
            <a:r>
              <a:rPr lang="zh-CN" altLang="en-US" sz="2000" dirty="0">
                <a:solidFill>
                  <a:srgbClr val="44546A"/>
                </a:solidFill>
                <a:latin typeface="微软雅黑" panose="020B0503020204020204" pitchFamily="34" charset="-122"/>
                <a:ea typeface="微软雅黑" panose="020B0503020204020204" pitchFamily="34" charset="-122"/>
              </a:rPr>
              <a:t>护士</a:t>
            </a: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2797048"/>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有时文件内容可能会有缺失，例如某些字段上没有值。对于这样的文件，</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Pandas </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加载文件后会对相应的缺失值进行标记，一般使用 </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NULL </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或 </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NaN </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作为缺失值。</a:t>
            </a:r>
            <a:endPar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例如，对于创建的</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ex3.csv</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文件，这个文件里第</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1</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组数据中“年龄”字段为空，第</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3</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组数据中的“职业”字段为空，具体如下所示。</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6" name="矩形 5"/>
          <p:cNvSpPr/>
          <p:nvPr/>
        </p:nvSpPr>
        <p:spPr>
          <a:xfrm>
            <a:off x="1410940" y="3689683"/>
            <a:ext cx="3120420" cy="2054021"/>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553537" y="3762834"/>
            <a:ext cx="2424062" cy="1884618"/>
          </a:xfrm>
          <a:prstGeom prst="rect">
            <a:avLst/>
          </a:prstGeom>
          <a:noFill/>
        </p:spPr>
        <p:txBody>
          <a:bodyPr wrap="none" rtlCol="0">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编号</a:t>
            </a:r>
            <a:r>
              <a:rPr lang="en-US" altLang="zh-CN" sz="2000" dirty="0">
                <a:solidFill>
                  <a:srgbClr val="44546A"/>
                </a:solidFill>
                <a:latin typeface="微软雅黑" panose="020B0503020204020204" pitchFamily="34" charset="-122"/>
                <a:ea typeface="微软雅黑" panose="020B0503020204020204" pitchFamily="34" charset="-122"/>
              </a:rPr>
              <a:t>,</a:t>
            </a:r>
            <a:r>
              <a:rPr lang="zh-CN" altLang="en-US" sz="2000" dirty="0">
                <a:solidFill>
                  <a:srgbClr val="44546A"/>
                </a:solidFill>
                <a:latin typeface="微软雅黑" panose="020B0503020204020204" pitchFamily="34" charset="-122"/>
                <a:ea typeface="微软雅黑" panose="020B0503020204020204" pitchFamily="34" charset="-122"/>
              </a:rPr>
              <a:t>姓名</a:t>
            </a:r>
            <a:r>
              <a:rPr lang="en-US" altLang="zh-CN" sz="2000" dirty="0">
                <a:solidFill>
                  <a:srgbClr val="44546A"/>
                </a:solidFill>
                <a:latin typeface="微软雅黑" panose="020B0503020204020204" pitchFamily="34" charset="-122"/>
                <a:ea typeface="微软雅黑" panose="020B0503020204020204" pitchFamily="34" charset="-122"/>
              </a:rPr>
              <a:t>,</a:t>
            </a:r>
            <a:r>
              <a:rPr lang="zh-CN" altLang="en-US" sz="2000" dirty="0">
                <a:solidFill>
                  <a:srgbClr val="44546A"/>
                </a:solidFill>
                <a:latin typeface="微软雅黑" panose="020B0503020204020204" pitchFamily="34" charset="-122"/>
                <a:ea typeface="微软雅黑" panose="020B0503020204020204" pitchFamily="34" charset="-122"/>
              </a:rPr>
              <a:t>年龄</a:t>
            </a:r>
            <a:r>
              <a:rPr lang="en-US" altLang="zh-CN" sz="2000" dirty="0">
                <a:solidFill>
                  <a:srgbClr val="44546A"/>
                </a:solidFill>
                <a:latin typeface="微软雅黑" panose="020B0503020204020204" pitchFamily="34" charset="-122"/>
                <a:ea typeface="微软雅黑" panose="020B0503020204020204" pitchFamily="34" charset="-122"/>
              </a:rPr>
              <a:t>,</a:t>
            </a:r>
            <a:r>
              <a:rPr lang="zh-CN" altLang="en-US" sz="2000" dirty="0">
                <a:solidFill>
                  <a:srgbClr val="44546A"/>
                </a:solidFill>
                <a:latin typeface="微软雅黑" panose="020B0503020204020204" pitchFamily="34" charset="-122"/>
                <a:ea typeface="微软雅黑" panose="020B0503020204020204" pitchFamily="34" charset="-122"/>
              </a:rPr>
              <a:t>职业</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1,</a:t>
            </a:r>
            <a:r>
              <a:rPr lang="zh-CN" altLang="en-US" sz="2000" dirty="0">
                <a:solidFill>
                  <a:srgbClr val="44546A"/>
                </a:solidFill>
                <a:latin typeface="微软雅黑" panose="020B0503020204020204" pitchFamily="34" charset="-122"/>
                <a:ea typeface="微软雅黑" panose="020B0503020204020204" pitchFamily="34" charset="-122"/>
              </a:rPr>
              <a:t>张三</a:t>
            </a: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rPr>
              <a:t>学生</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2,</a:t>
            </a:r>
            <a:r>
              <a:rPr lang="zh-CN" altLang="en-US" sz="2000" dirty="0">
                <a:solidFill>
                  <a:srgbClr val="44546A"/>
                </a:solidFill>
                <a:latin typeface="微软雅黑" panose="020B0503020204020204" pitchFamily="34" charset="-122"/>
                <a:ea typeface="微软雅黑" panose="020B0503020204020204" pitchFamily="34" charset="-122"/>
              </a:rPr>
              <a:t>李四</a:t>
            </a:r>
            <a:r>
              <a:rPr lang="en-US" altLang="zh-CN" sz="2000" dirty="0">
                <a:solidFill>
                  <a:srgbClr val="44546A"/>
                </a:solidFill>
                <a:latin typeface="微软雅黑" panose="020B0503020204020204" pitchFamily="34" charset="-122"/>
                <a:ea typeface="微软雅黑" panose="020B0503020204020204" pitchFamily="34" charset="-122"/>
              </a:rPr>
              <a:t>,20,</a:t>
            </a:r>
            <a:r>
              <a:rPr lang="zh-CN" altLang="en-US" sz="2000" dirty="0">
                <a:solidFill>
                  <a:srgbClr val="44546A"/>
                </a:solidFill>
                <a:latin typeface="微软雅黑" panose="020B0503020204020204" pitchFamily="34" charset="-122"/>
                <a:ea typeface="微软雅黑" panose="020B0503020204020204" pitchFamily="34" charset="-122"/>
              </a:rPr>
              <a:t>厨师</a:t>
            </a: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3,</a:t>
            </a:r>
            <a:r>
              <a:rPr lang="zh-CN" altLang="en-US" sz="2000" dirty="0">
                <a:solidFill>
                  <a:srgbClr val="44546A"/>
                </a:solidFill>
                <a:latin typeface="微软雅黑" panose="020B0503020204020204" pitchFamily="34" charset="-122"/>
                <a:ea typeface="微软雅黑" panose="020B0503020204020204" pitchFamily="34" charset="-122"/>
              </a:rPr>
              <a:t>王梅</a:t>
            </a:r>
            <a:r>
              <a:rPr lang="en-US" altLang="zh-CN" sz="2000" dirty="0">
                <a:solidFill>
                  <a:srgbClr val="44546A"/>
                </a:solidFill>
                <a:latin typeface="微软雅黑" panose="020B0503020204020204" pitchFamily="34" charset="-122"/>
                <a:ea typeface="微软雅黑" panose="020B0503020204020204" pitchFamily="34" charset="-122"/>
              </a:rPr>
              <a:t>,23,</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此时使用</a:t>
            </a:r>
            <a:r>
              <a:rPr lang="en-US" altLang="zh-CN" sz="2400" dirty="0">
                <a:solidFill>
                  <a:srgbClr val="44546A"/>
                </a:solidFill>
                <a:latin typeface="微软雅黑" panose="020B0503020204020204" pitchFamily="34" charset="-122"/>
                <a:ea typeface="微软雅黑" panose="020B0503020204020204" pitchFamily="34" charset="-122"/>
                <a:sym typeface="Arial" panose="020B0604020202020204"/>
              </a:rPr>
              <a:t>pandas</a:t>
            </a: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读取文件的实现程序如下。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3497179" y="1535030"/>
            <a:ext cx="5809664" cy="1089312"/>
          </a:xfrm>
          <a:prstGeom prst="rect">
            <a:avLst/>
          </a:prstGeom>
        </p:spPr>
      </p:pic>
      <p:sp>
        <p:nvSpPr>
          <p:cNvPr id="7" name="文本框 6"/>
          <p:cNvSpPr txBox="1"/>
          <p:nvPr/>
        </p:nvSpPr>
        <p:spPr>
          <a:xfrm>
            <a:off x="327558" y="2787320"/>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8" name="矩形 7"/>
          <p:cNvSpPr/>
          <p:nvPr/>
        </p:nvSpPr>
        <p:spPr>
          <a:xfrm>
            <a:off x="2398063" y="3534391"/>
            <a:ext cx="6435121" cy="1760622"/>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580232" y="3647087"/>
            <a:ext cx="3727302" cy="1631216"/>
          </a:xfrm>
          <a:prstGeom prst="rect">
            <a:avLst/>
          </a:prstGeom>
          <a:noFill/>
        </p:spPr>
        <p:txBody>
          <a:bodyPr wrap="none" rtlCol="0">
            <a:spAutoFit/>
          </a:bodyPr>
          <a:lstStyle/>
          <a:p>
            <a:r>
              <a:rPr lang="en-US" altLang="zh-CN" sz="2000" dirty="0">
                <a:solidFill>
                  <a:srgbClr val="44546A"/>
                </a:solidFill>
                <a:latin typeface="微软雅黑" panose="020B0503020204020204" pitchFamily="34" charset="-122"/>
                <a:ea typeface="微软雅黑" panose="020B0503020204020204" pitchFamily="34" charset="-122"/>
              </a:rPr>
              <a:t>data </a:t>
            </a:r>
            <a:r>
              <a:rPr lang="en-US" altLang="zh-CN" sz="2000" dirty="0">
                <a:solidFill>
                  <a:srgbClr val="1D7FC6"/>
                </a:solidFill>
                <a:latin typeface="微软雅黑" panose="020B0503020204020204" pitchFamily="34" charset="-122"/>
                <a:ea typeface="微软雅黑" panose="020B0503020204020204" pitchFamily="34" charset="-122"/>
              </a:rPr>
              <a:t>is</a:t>
            </a:r>
            <a:r>
              <a:rPr lang="en-US" altLang="zh-CN" sz="2000" dirty="0">
                <a:solidFill>
                  <a:srgbClr val="44546A"/>
                </a:solidFill>
                <a:latin typeface="微软雅黑" panose="020B0503020204020204" pitchFamily="34" charset="-122"/>
                <a:ea typeface="微软雅黑" panose="020B0503020204020204" pitchFamily="34" charset="-122"/>
              </a:rPr>
              <a:t>:</a:t>
            </a:r>
          </a:p>
          <a:p>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rPr>
              <a:t>编号  姓名    年龄    职业</a:t>
            </a:r>
          </a:p>
          <a:p>
            <a:r>
              <a:rPr lang="en-US" altLang="zh-CN" sz="2000" dirty="0">
                <a:solidFill>
                  <a:srgbClr val="44546A"/>
                </a:solidFill>
                <a:latin typeface="微软雅黑" panose="020B0503020204020204" pitchFamily="34" charset="-122"/>
                <a:ea typeface="微软雅黑" panose="020B0503020204020204" pitchFamily="34" charset="-122"/>
              </a:rPr>
              <a:t>0   1      </a:t>
            </a:r>
            <a:r>
              <a:rPr lang="zh-CN" altLang="en-US" sz="2000" dirty="0">
                <a:solidFill>
                  <a:srgbClr val="44546A"/>
                </a:solidFill>
                <a:latin typeface="微软雅黑" panose="020B0503020204020204" pitchFamily="34" charset="-122"/>
                <a:ea typeface="微软雅黑" panose="020B0503020204020204" pitchFamily="34" charset="-122"/>
              </a:rPr>
              <a:t>张三    </a:t>
            </a:r>
            <a:r>
              <a:rPr lang="en-US" altLang="zh-CN" sz="2000" dirty="0">
                <a:solidFill>
                  <a:srgbClr val="44546A"/>
                </a:solidFill>
                <a:latin typeface="微软雅黑" panose="020B0503020204020204" pitchFamily="34" charset="-122"/>
                <a:ea typeface="微软雅黑" panose="020B0503020204020204" pitchFamily="34" charset="-122"/>
              </a:rPr>
              <a:t>NaN   </a:t>
            </a:r>
            <a:r>
              <a:rPr lang="zh-CN" altLang="en-US" sz="2000" dirty="0">
                <a:solidFill>
                  <a:srgbClr val="44546A"/>
                </a:solidFill>
                <a:latin typeface="微软雅黑" panose="020B0503020204020204" pitchFamily="34" charset="-122"/>
                <a:ea typeface="微软雅黑" panose="020B0503020204020204" pitchFamily="34" charset="-122"/>
              </a:rPr>
              <a:t>学生     </a:t>
            </a:r>
          </a:p>
          <a:p>
            <a:r>
              <a:rPr lang="en-US" altLang="zh-CN" sz="2000" dirty="0">
                <a:solidFill>
                  <a:srgbClr val="44546A"/>
                </a:solidFill>
                <a:latin typeface="微软雅黑" panose="020B0503020204020204" pitchFamily="34" charset="-122"/>
                <a:ea typeface="微软雅黑" panose="020B0503020204020204" pitchFamily="34" charset="-122"/>
              </a:rPr>
              <a:t>1   2      </a:t>
            </a:r>
            <a:r>
              <a:rPr lang="zh-CN" altLang="en-US" sz="2000" dirty="0">
                <a:solidFill>
                  <a:srgbClr val="44546A"/>
                </a:solidFill>
                <a:latin typeface="微软雅黑" panose="020B0503020204020204" pitchFamily="34" charset="-122"/>
                <a:ea typeface="微软雅黑" panose="020B0503020204020204" pitchFamily="34" charset="-122"/>
              </a:rPr>
              <a:t>李四    </a:t>
            </a:r>
            <a:r>
              <a:rPr lang="en-US" altLang="zh-CN" sz="2000" dirty="0">
                <a:solidFill>
                  <a:srgbClr val="44546A"/>
                </a:solidFill>
                <a:latin typeface="微软雅黑" panose="020B0503020204020204" pitchFamily="34" charset="-122"/>
                <a:ea typeface="微软雅黑" panose="020B0503020204020204" pitchFamily="34" charset="-122"/>
              </a:rPr>
              <a:t>20.0    </a:t>
            </a:r>
            <a:r>
              <a:rPr lang="zh-CN" altLang="en-US" sz="2000" dirty="0">
                <a:solidFill>
                  <a:srgbClr val="44546A"/>
                </a:solidFill>
                <a:latin typeface="微软雅黑" panose="020B0503020204020204" pitchFamily="34" charset="-122"/>
                <a:ea typeface="微软雅黑" panose="020B0503020204020204" pitchFamily="34" charset="-122"/>
              </a:rPr>
              <a:t>厨师     </a:t>
            </a:r>
          </a:p>
          <a:p>
            <a:r>
              <a:rPr lang="en-US" altLang="zh-CN" sz="2000" dirty="0">
                <a:solidFill>
                  <a:srgbClr val="44546A"/>
                </a:solidFill>
                <a:latin typeface="微软雅黑" panose="020B0503020204020204" pitchFamily="34" charset="-122"/>
                <a:ea typeface="微软雅黑" panose="020B0503020204020204" pitchFamily="34" charset="-122"/>
              </a:rPr>
              <a:t>2   3      </a:t>
            </a:r>
            <a:r>
              <a:rPr lang="zh-CN" altLang="en-US" sz="2000" dirty="0">
                <a:solidFill>
                  <a:srgbClr val="44546A"/>
                </a:solidFill>
                <a:latin typeface="微软雅黑" panose="020B0503020204020204" pitchFamily="34" charset="-122"/>
                <a:ea typeface="微软雅黑" panose="020B0503020204020204" pitchFamily="34" charset="-122"/>
              </a:rPr>
              <a:t>王梅    </a:t>
            </a:r>
            <a:r>
              <a:rPr lang="en-US" altLang="zh-CN" sz="2000" dirty="0">
                <a:solidFill>
                  <a:srgbClr val="44546A"/>
                </a:solidFill>
                <a:latin typeface="微软雅黑" panose="020B0503020204020204" pitchFamily="34" charset="-122"/>
                <a:ea typeface="微软雅黑" panose="020B0503020204020204" pitchFamily="34" charset="-122"/>
              </a:rPr>
              <a:t>23.0    NaN</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68321" y="5501462"/>
            <a:ext cx="10942416" cy="960776"/>
          </a:xfrm>
          <a:prstGeom prst="rect">
            <a:avLst/>
          </a:prstGeom>
          <a:noFill/>
        </p:spPr>
        <p:txBody>
          <a:bodyPr wrap="square" rtlCol="0" anchor="t">
            <a:spAutoFit/>
          </a:bodyPr>
          <a:lstStyle/>
          <a:p>
            <a:pPr algn="just">
              <a:lnSpc>
                <a:spcPct val="150000"/>
              </a:lnSpc>
              <a:buNone/>
            </a:pP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除了了</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csv</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文件以外，</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pandas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还提供了对</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JSON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文件、</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XML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文件、</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HTML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文件和二进制数据的读取和存储等功能，可使用 </a:t>
            </a:r>
            <a:r>
              <a:rPr lang="en-US" altLang="zh-CN" sz="2000" dirty="0" err="1">
                <a:solidFill>
                  <a:srgbClr val="44546A"/>
                </a:solidFill>
                <a:latin typeface="微软雅黑" panose="020B0503020204020204" pitchFamily="34" charset="-122"/>
                <a:ea typeface="微软雅黑" panose="020B0503020204020204" pitchFamily="34" charset="-122"/>
                <a:sym typeface="Arial" panose="020B0604020202020204"/>
              </a:rPr>
              <a:t>read_json</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a:t>
            </a:r>
            <a:r>
              <a:rPr lang="en-US" altLang="zh-CN" sz="2000" dirty="0" err="1">
                <a:solidFill>
                  <a:srgbClr val="44546A"/>
                </a:solidFill>
                <a:latin typeface="微软雅黑" panose="020B0503020204020204" pitchFamily="34" charset="-122"/>
                <a:ea typeface="微软雅黑" panose="020B0503020204020204" pitchFamily="34" charset="-122"/>
                <a:sym typeface="Arial" panose="020B0604020202020204"/>
              </a:rPr>
              <a:t>to_json</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a:t>
            </a:r>
            <a:r>
              <a:rPr lang="en-US" altLang="zh-CN" sz="2000" dirty="0" err="1">
                <a:solidFill>
                  <a:srgbClr val="44546A"/>
                </a:solidFill>
                <a:latin typeface="微软雅黑" panose="020B0503020204020204" pitchFamily="34" charset="-122"/>
                <a:ea typeface="微软雅黑" panose="020B0503020204020204" pitchFamily="34" charset="-122"/>
                <a:sym typeface="Arial" panose="020B0604020202020204"/>
              </a:rPr>
              <a:t>read_html</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a:t>
            </a:r>
            <a:r>
              <a:rPr lang="en-US" altLang="zh-CN" sz="2000" dirty="0" err="1">
                <a:solidFill>
                  <a:srgbClr val="44546A"/>
                </a:solidFill>
                <a:latin typeface="微软雅黑" panose="020B0503020204020204" pitchFamily="34" charset="-122"/>
                <a:ea typeface="微软雅黑" panose="020B0503020204020204" pitchFamily="34" charset="-122"/>
                <a:sym typeface="Arial" panose="020B0604020202020204"/>
              </a:rPr>
              <a:t>to_html</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等函数进行读取。</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数据加载、存储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83520" y="1703798"/>
            <a:ext cx="10632559" cy="1422441"/>
          </a:xfrm>
          <a:prstGeom prst="rect">
            <a:avLst/>
          </a:prstGeom>
          <a:noFill/>
        </p:spPr>
        <p:txBody>
          <a:bodyPr wrap="square" rtlCol="0" anchor="t">
            <a:spAutoFit/>
          </a:bodyPr>
          <a:lstStyle/>
          <a:p>
            <a:pPr algn="just">
              <a:lnSpc>
                <a:spcPct val="150000"/>
              </a:lnSpc>
              <a:buNone/>
            </a:pP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Excel</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电子表格也是常见的数据存储形式，我们可借助 </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Pandas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封装好的 </a:t>
            </a:r>
            <a:r>
              <a:rPr lang="en-US" altLang="zh-CN" sz="2000" dirty="0" err="1">
                <a:solidFill>
                  <a:srgbClr val="44546A"/>
                </a:solidFill>
                <a:latin typeface="微软雅黑" panose="020B0503020204020204" pitchFamily="34" charset="-122"/>
                <a:ea typeface="微软雅黑" panose="020B0503020204020204" pitchFamily="34" charset="-122"/>
                <a:sym typeface="Arial" panose="020B0604020202020204"/>
              </a:rPr>
              <a:t>read_excel</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函数或</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ExcelFile</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类来读取</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xls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或</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xlsx</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文件，还可指定文件读取和存储</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Excel</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的</a:t>
            </a:r>
            <a:r>
              <a:rPr lang="en-US" altLang="zh-CN" sz="2000" dirty="0">
                <a:solidFill>
                  <a:srgbClr val="44546A"/>
                </a:solidFill>
                <a:latin typeface="微软雅黑" panose="020B0503020204020204" pitchFamily="34" charset="-122"/>
                <a:ea typeface="微软雅黑" panose="020B0503020204020204" pitchFamily="34" charset="-122"/>
                <a:sym typeface="Arial" panose="020B0604020202020204"/>
              </a:rPr>
              <a:t>Sheet</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。具体实现如下。</a:t>
            </a:r>
            <a:endParaRPr lang="zh-CN" altLang="en-US" sz="1600" dirty="0">
              <a:solidFill>
                <a:schemeClr val="tx1">
                  <a:lumMod val="75000"/>
                  <a:lumOff val="25000"/>
                </a:schemeClr>
              </a:solidFill>
              <a:effectLst/>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圆角矩形 8"/>
          <p:cNvSpPr/>
          <p:nvPr/>
        </p:nvSpPr>
        <p:spPr>
          <a:xfrm>
            <a:off x="768321" y="992328"/>
            <a:ext cx="2738120"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2. Excel</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电子表格</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pic>
        <p:nvPicPr>
          <p:cNvPr id="8" name="图片 7"/>
          <p:cNvPicPr>
            <a:picLocks noChangeAspect="1"/>
          </p:cNvPicPr>
          <p:nvPr/>
        </p:nvPicPr>
        <p:blipFill>
          <a:blip r:embed="rId3"/>
          <a:stretch>
            <a:fillRect/>
          </a:stretch>
        </p:blipFill>
        <p:spPr>
          <a:xfrm>
            <a:off x="3090862" y="3374159"/>
            <a:ext cx="6010275" cy="153352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2434514"/>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R="0" indent="0" fontAlgn="auto">
              <a:lnSpc>
                <a:spcPct val="100000"/>
              </a:lnSpc>
              <a:spcBef>
                <a:spcPts val="0"/>
              </a:spcBef>
              <a:spcAft>
                <a:spcPts val="0"/>
              </a:spcAft>
              <a:buClrTx/>
              <a:buSzTx/>
              <a:buFontTx/>
              <a:buNone/>
              <a:defRPr/>
            </a:pPr>
            <a:r>
              <a:rPr lang="zh-CN" altLang="en-US" kern="0" dirty="0">
                <a:solidFill>
                  <a:srgbClr val="02B36F"/>
                </a:solidFill>
                <a:effectLst/>
              </a:rPr>
              <a:t>数据加载、存储</a:t>
            </a:r>
            <a:endParaRPr lang="en-US" altLang="zh-CN" kern="0" dirty="0">
              <a:solidFill>
                <a:srgbClr val="02B36F"/>
              </a:solidFill>
              <a:effectLst/>
            </a:endParaRPr>
          </a:p>
        </p:txBody>
      </p:sp>
      <p:sp>
        <p:nvSpPr>
          <p:cNvPr id="21" name="圆角矩形 20"/>
          <p:cNvSpPr/>
          <p:nvPr/>
        </p:nvSpPr>
        <p:spPr>
          <a:xfrm>
            <a:off x="5410386" y="3229479"/>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文本框 9"/>
          <p:cNvSpPr txBox="1"/>
          <p:nvPr/>
        </p:nvSpPr>
        <p:spPr>
          <a:xfrm>
            <a:off x="5410387" y="3464055"/>
            <a:ext cx="4503634"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4494C8"/>
                </a:solidFill>
                <a:effectLst/>
              </a:rPr>
              <a:t>数据清洗和准备</a:t>
            </a:r>
            <a:endParaRPr lang="en-US" altLang="zh-CN" kern="0" dirty="0">
              <a:solidFill>
                <a:srgbClr val="4494C8"/>
              </a:solidFill>
              <a:effectLst/>
            </a:endParaRPr>
          </a:p>
        </p:txBody>
      </p:sp>
      <p:sp>
        <p:nvSpPr>
          <p:cNvPr id="11" name="圆角矩形 10"/>
          <p:cNvSpPr/>
          <p:nvPr/>
        </p:nvSpPr>
        <p:spPr>
          <a:xfrm>
            <a:off x="5410387" y="4259020"/>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1+#ppt_w/2"/>
                                          </p:val>
                                        </p:tav>
                                        <p:tav tm="100000">
                                          <p:val>
                                            <p:strVal val="#ppt_x"/>
                                          </p:val>
                                        </p:tav>
                                      </p:tavLst>
                                    </p:anim>
                                    <p:anim calcmode="lin" valueType="num">
                                      <p:cBhvr additive="base">
                                        <p:cTn id="24" dur="1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10" grpId="0" bldLvl="0" animBg="1"/>
      <p:bldP spid="10" grpId="1" bldLvl="0" animBg="1"/>
      <p:bldP spid="11"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802105" y="776929"/>
            <a:ext cx="10510938" cy="3905043"/>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数据加载完成后，我们需要对数据有所了解，并对数据进行清洗和准备，方便后续的分析。</a:t>
            </a:r>
            <a:endParaRPr lang="en-US" altLang="zh-CN" sz="24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数据清洗就是指发现并纠正数据文件中可识别的错误，是整个数据分析过程中不可缺少的一个环节，数据清洗的质量直接关系到数据分析的最终结论。</a:t>
            </a:r>
            <a:endParaRPr lang="en-US" altLang="zh-CN" sz="24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数据清洗和准备通常包括</a:t>
            </a:r>
            <a:r>
              <a:rPr lang="zh-CN" altLang="en-US" sz="2400" b="1" dirty="0">
                <a:solidFill>
                  <a:srgbClr val="44546A"/>
                </a:solidFill>
                <a:latin typeface="微软雅黑" panose="020B0503020204020204" pitchFamily="34" charset="-122"/>
                <a:ea typeface="微软雅黑" panose="020B0503020204020204" pitchFamily="34" charset="-122"/>
              </a:rPr>
              <a:t>数据类型转换、处理缺失数据、去除重复数据、处理一些异常值和对数据做相应的排列、筛选</a:t>
            </a:r>
            <a:r>
              <a:rPr lang="zh-CN" altLang="en-US" sz="2400" dirty="0">
                <a:solidFill>
                  <a:srgbClr val="44546A"/>
                </a:solidFill>
                <a:latin typeface="微软雅黑" panose="020B0503020204020204" pitchFamily="34" charset="-122"/>
                <a:ea typeface="微软雅黑" panose="020B0503020204020204" pitchFamily="34" charset="-122"/>
              </a:rPr>
              <a:t>等。</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768320" y="992327"/>
            <a:ext cx="2937405"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1.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数据概览和类型转换</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802105" y="1579034"/>
            <a:ext cx="10510938" cy="961289"/>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数据库加载完数据后，我们可以用 </a:t>
            </a:r>
            <a:r>
              <a:rPr lang="en-US" altLang="zh-CN" sz="2000" dirty="0">
                <a:solidFill>
                  <a:srgbClr val="44546A"/>
                </a:solidFill>
                <a:latin typeface="微软雅黑" panose="020B0503020204020204" pitchFamily="34" charset="-122"/>
                <a:ea typeface="微软雅黑" panose="020B0503020204020204" pitchFamily="34" charset="-122"/>
              </a:rPr>
              <a:t>data.info( )</a:t>
            </a:r>
            <a:r>
              <a:rPr lang="zh-CN" altLang="en-US" sz="2000" dirty="0">
                <a:solidFill>
                  <a:srgbClr val="44546A"/>
                </a:solidFill>
                <a:latin typeface="微软雅黑" panose="020B0503020204020204" pitchFamily="34" charset="-122"/>
                <a:ea typeface="微软雅黑" panose="020B0503020204020204" pitchFamily="34" charset="-122"/>
              </a:rPr>
              <a:t>查看数据概况，了解数据维度、列名称、列值是否为空、每列的数据格式、所占空间等，具体实现如下。</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6" name="图片 5"/>
          <p:cNvPicPr>
            <a:picLocks noChangeAspect="1"/>
          </p:cNvPicPr>
          <p:nvPr/>
        </p:nvPicPr>
        <p:blipFill>
          <a:blip r:embed="rId3"/>
          <a:stretch>
            <a:fillRect/>
          </a:stretch>
        </p:blipFill>
        <p:spPr>
          <a:xfrm>
            <a:off x="3049487" y="2688978"/>
            <a:ext cx="5486400" cy="1304925"/>
          </a:xfrm>
          <a:prstGeom prst="rect">
            <a:avLst/>
          </a:prstGeom>
        </p:spPr>
      </p:pic>
      <p:pic>
        <p:nvPicPr>
          <p:cNvPr id="11" name="图片 10"/>
          <p:cNvPicPr>
            <a:picLocks noChangeAspect="1"/>
          </p:cNvPicPr>
          <p:nvPr/>
        </p:nvPicPr>
        <p:blipFill>
          <a:blip r:embed="rId4"/>
          <a:stretch>
            <a:fillRect/>
          </a:stretch>
        </p:blipFill>
        <p:spPr>
          <a:xfrm>
            <a:off x="3239987" y="4345516"/>
            <a:ext cx="5105400" cy="18669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99245" y="777916"/>
            <a:ext cx="10632559" cy="499624"/>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sp>
        <p:nvSpPr>
          <p:cNvPr id="5" name="矩形 4"/>
          <p:cNvSpPr/>
          <p:nvPr/>
        </p:nvSpPr>
        <p:spPr>
          <a:xfrm>
            <a:off x="2572781" y="1559043"/>
            <a:ext cx="6674250" cy="4352360"/>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754950" y="1671739"/>
            <a:ext cx="5211170" cy="4093428"/>
          </a:xfrm>
          <a:prstGeom prst="rect">
            <a:avLst/>
          </a:prstGeom>
          <a:noFill/>
        </p:spPr>
        <p:txBody>
          <a:bodyPr wrap="none" rtlCol="0">
            <a:spAutoFit/>
          </a:bodyPr>
          <a:lstStyle/>
          <a:p>
            <a:r>
              <a:rPr lang="en-US" altLang="zh-CN" sz="2000" dirty="0">
                <a:solidFill>
                  <a:srgbClr val="44546A"/>
                </a:solidFill>
                <a:latin typeface="微软雅黑" panose="020B0503020204020204" pitchFamily="34" charset="-122"/>
                <a:ea typeface="微软雅黑" panose="020B0503020204020204" pitchFamily="34" charset="-122"/>
              </a:rPr>
              <a:t>&lt;class 'pandas.core.frame.DataFrame'&gt;   </a:t>
            </a:r>
          </a:p>
          <a:p>
            <a:r>
              <a:rPr lang="en-US" altLang="zh-CN" sz="2000" dirty="0">
                <a:solidFill>
                  <a:srgbClr val="44546A"/>
                </a:solidFill>
                <a:latin typeface="微软雅黑" panose="020B0503020204020204" pitchFamily="34" charset="-122"/>
                <a:ea typeface="微软雅黑" panose="020B0503020204020204" pitchFamily="34" charset="-122"/>
              </a:rPr>
              <a:t>RangeIndex: 6 entries, 0 to 5</a:t>
            </a:r>
          </a:p>
          <a:p>
            <a:r>
              <a:rPr lang="en-US" altLang="zh-CN" sz="2000" dirty="0">
                <a:solidFill>
                  <a:srgbClr val="44546A"/>
                </a:solidFill>
                <a:latin typeface="微软雅黑" panose="020B0503020204020204" pitchFamily="34" charset="-122"/>
                <a:ea typeface="微软雅黑" panose="020B0503020204020204" pitchFamily="34" charset="-122"/>
              </a:rPr>
              <a:t>Data columns (total 6 columns):</a:t>
            </a:r>
          </a:p>
          <a:p>
            <a:r>
              <a:rPr lang="en-US" altLang="zh-CN" sz="2000" dirty="0">
                <a:solidFill>
                  <a:srgbClr val="44546A"/>
                </a:solidFill>
                <a:latin typeface="微软雅黑" panose="020B0503020204020204" pitchFamily="34" charset="-122"/>
                <a:ea typeface="微软雅黑" panose="020B0503020204020204" pitchFamily="34" charset="-122"/>
              </a:rPr>
              <a:t> #   Column       Non-Null Count  Dtype </a:t>
            </a:r>
          </a:p>
          <a:p>
            <a:r>
              <a:rPr lang="en-US" altLang="zh-CN" sz="2000" dirty="0">
                <a:solidFill>
                  <a:srgbClr val="44546A"/>
                </a:solidFill>
                <a:latin typeface="微软雅黑" panose="020B0503020204020204" pitchFamily="34" charset="-122"/>
                <a:ea typeface="微软雅黑" panose="020B0503020204020204" pitchFamily="34" charset="-122"/>
              </a:rPr>
              <a:t>---  ------       --------------  ----- </a:t>
            </a:r>
          </a:p>
          <a:p>
            <a:r>
              <a:rPr lang="en-US" altLang="zh-CN" sz="2000" dirty="0">
                <a:solidFill>
                  <a:srgbClr val="44546A"/>
                </a:solidFill>
                <a:latin typeface="微软雅黑" panose="020B0503020204020204" pitchFamily="34" charset="-122"/>
                <a:ea typeface="微软雅黑" panose="020B0503020204020204" pitchFamily="34" charset="-122"/>
              </a:rPr>
              <a:t> 0   id                    6 non-null      int64 </a:t>
            </a:r>
          </a:p>
          <a:p>
            <a:r>
              <a:rPr lang="en-US" altLang="zh-CN" sz="2000" dirty="0">
                <a:solidFill>
                  <a:srgbClr val="44546A"/>
                </a:solidFill>
                <a:latin typeface="微软雅黑" panose="020B0503020204020204" pitchFamily="34" charset="-122"/>
                <a:ea typeface="微软雅黑" panose="020B0503020204020204" pitchFamily="34" charset="-122"/>
              </a:rPr>
              <a:t> 1   username       6 non-null      object</a:t>
            </a:r>
          </a:p>
          <a:p>
            <a:r>
              <a:rPr lang="en-US" altLang="zh-CN" sz="2000" dirty="0">
                <a:solidFill>
                  <a:srgbClr val="44546A"/>
                </a:solidFill>
                <a:latin typeface="微软雅黑" panose="020B0503020204020204" pitchFamily="34" charset="-122"/>
                <a:ea typeface="微软雅黑" panose="020B0503020204020204" pitchFamily="34" charset="-122"/>
              </a:rPr>
              <a:t> 2   age                 6 non-null      int64 </a:t>
            </a:r>
          </a:p>
          <a:p>
            <a:r>
              <a:rPr lang="en-US" altLang="zh-CN" sz="2000" dirty="0">
                <a:solidFill>
                  <a:srgbClr val="44546A"/>
                </a:solidFill>
                <a:latin typeface="微软雅黑" panose="020B0503020204020204" pitchFamily="34" charset="-122"/>
                <a:ea typeface="微软雅黑" panose="020B0503020204020204" pitchFamily="34" charset="-122"/>
              </a:rPr>
              <a:t> 3   job                  6 non-null      object</a:t>
            </a:r>
          </a:p>
          <a:p>
            <a:r>
              <a:rPr lang="en-US" altLang="zh-CN" sz="2000" dirty="0">
                <a:solidFill>
                  <a:srgbClr val="44546A"/>
                </a:solidFill>
                <a:latin typeface="微软雅黑" panose="020B0503020204020204" pitchFamily="34" charset="-122"/>
                <a:ea typeface="微软雅黑" panose="020B0503020204020204" pitchFamily="34" charset="-122"/>
              </a:rPr>
              <a:t> 4   birthday          6 non-null      object</a:t>
            </a:r>
          </a:p>
          <a:p>
            <a:r>
              <a:rPr lang="en-US" altLang="zh-CN" sz="2000" dirty="0">
                <a:solidFill>
                  <a:srgbClr val="44546A"/>
                </a:solidFill>
                <a:latin typeface="微软雅黑" panose="020B0503020204020204" pitchFamily="34" charset="-122"/>
                <a:ea typeface="微软雅黑" panose="020B0503020204020204" pitchFamily="34" charset="-122"/>
              </a:rPr>
              <a:t> 5   consumption  6 non-null      object</a:t>
            </a:r>
          </a:p>
          <a:p>
            <a:r>
              <a:rPr lang="en-US" altLang="zh-CN" sz="2000" dirty="0">
                <a:solidFill>
                  <a:srgbClr val="44546A"/>
                </a:solidFill>
                <a:latin typeface="微软雅黑" panose="020B0503020204020204" pitchFamily="34" charset="-122"/>
                <a:ea typeface="微软雅黑" panose="020B0503020204020204" pitchFamily="34" charset="-122"/>
              </a:rPr>
              <a:t>dtypes: int64(2), object(4)</a:t>
            </a:r>
          </a:p>
          <a:p>
            <a:r>
              <a:rPr lang="en-US" altLang="zh-CN" sz="2000" dirty="0">
                <a:solidFill>
                  <a:srgbClr val="44546A"/>
                </a:solidFill>
                <a:latin typeface="微软雅黑" panose="020B0503020204020204" pitchFamily="34" charset="-122"/>
                <a:ea typeface="微软雅黑" panose="020B0503020204020204" pitchFamily="34" charset="-122"/>
              </a:rPr>
              <a:t>memory usage: 416.0+ bytes</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也可使用</a:t>
            </a:r>
            <a:r>
              <a:rPr lang="en-US" altLang="zh-CN" sz="2400" dirty="0">
                <a:solidFill>
                  <a:srgbClr val="44546A"/>
                </a:solidFill>
                <a:latin typeface="微软雅黑" panose="020B0503020204020204" pitchFamily="34" charset="-122"/>
                <a:ea typeface="微软雅黑" panose="020B0503020204020204" pitchFamily="34" charset="-122"/>
              </a:rPr>
              <a:t>data.shape</a:t>
            </a:r>
            <a:r>
              <a:rPr lang="zh-CN" altLang="en-US" sz="2400" dirty="0">
                <a:solidFill>
                  <a:srgbClr val="44546A"/>
                </a:solidFill>
                <a:latin typeface="微软雅黑" panose="020B0503020204020204" pitchFamily="34" charset="-122"/>
                <a:ea typeface="微软雅黑" panose="020B0503020204020204" pitchFamily="34" charset="-122"/>
              </a:rPr>
              <a:t>、</a:t>
            </a:r>
            <a:r>
              <a:rPr lang="en-US" altLang="zh-CN" sz="2400" dirty="0">
                <a:solidFill>
                  <a:srgbClr val="44546A"/>
                </a:solidFill>
                <a:latin typeface="微软雅黑" panose="020B0503020204020204" pitchFamily="34" charset="-122"/>
                <a:ea typeface="微软雅黑" panose="020B0503020204020204" pitchFamily="34" charset="-122"/>
              </a:rPr>
              <a:t>data.dtypes</a:t>
            </a:r>
            <a:r>
              <a:rPr lang="zh-CN" altLang="en-US" sz="2400" dirty="0">
                <a:solidFill>
                  <a:srgbClr val="44546A"/>
                </a:solidFill>
                <a:latin typeface="微软雅黑" panose="020B0503020204020204" pitchFamily="34" charset="-122"/>
                <a:ea typeface="微软雅黑" panose="020B0503020204020204" pitchFamily="34" charset="-122"/>
              </a:rPr>
              <a:t>、</a:t>
            </a:r>
            <a:r>
              <a:rPr lang="en-US" altLang="zh-CN" sz="2400" dirty="0">
                <a:solidFill>
                  <a:srgbClr val="44546A"/>
                </a:solidFill>
                <a:latin typeface="微软雅黑" panose="020B0503020204020204" pitchFamily="34" charset="-122"/>
                <a:ea typeface="微软雅黑" panose="020B0503020204020204" pitchFamily="34" charset="-122"/>
              </a:rPr>
              <a:t>data.head( )</a:t>
            </a:r>
            <a:r>
              <a:rPr lang="zh-CN" altLang="en-US" sz="2400" dirty="0">
                <a:solidFill>
                  <a:srgbClr val="44546A"/>
                </a:solidFill>
                <a:latin typeface="微软雅黑" panose="020B0503020204020204" pitchFamily="34" charset="-122"/>
                <a:ea typeface="微软雅黑" panose="020B0503020204020204" pitchFamily="34" charset="-122"/>
              </a:rPr>
              <a:t>、</a:t>
            </a:r>
            <a:r>
              <a:rPr lang="en-US" altLang="zh-CN" sz="2400" dirty="0">
                <a:solidFill>
                  <a:srgbClr val="44546A"/>
                </a:solidFill>
                <a:latin typeface="微软雅黑" panose="020B0503020204020204" pitchFamily="34" charset="-122"/>
                <a:ea typeface="微软雅黑" panose="020B0503020204020204" pitchFamily="34" charset="-122"/>
              </a:rPr>
              <a:t>data.tail( )</a:t>
            </a:r>
            <a:r>
              <a:rPr lang="zh-CN" altLang="en-US" sz="2400" dirty="0">
                <a:solidFill>
                  <a:srgbClr val="44546A"/>
                </a:solidFill>
                <a:latin typeface="微软雅黑" panose="020B0503020204020204" pitchFamily="34" charset="-122"/>
                <a:ea typeface="微软雅黑" panose="020B0503020204020204" pitchFamily="34" charset="-122"/>
              </a:rPr>
              <a:t>等函数，获取数据规模、各个字段的数据类型、具体的数据内容等，具体实现如下。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2509837" y="2342831"/>
            <a:ext cx="7172325" cy="2066925"/>
          </a:xfrm>
          <a:prstGeom prst="rect">
            <a:avLst/>
          </a:prstGeom>
        </p:spPr>
      </p:pic>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874407"/>
          </a:xfrm>
          <a:prstGeom prst="rect">
            <a:avLst/>
          </a:prstGeom>
          <a:noFill/>
        </p:spPr>
        <p:txBody>
          <a:bodyPr wrap="square" rtlCol="0" anchor="t">
            <a:spAutoFit/>
          </a:bodyPr>
          <a:lstStyle/>
          <a:p>
            <a:pPr>
              <a:lnSpc>
                <a:spcPct val="150000"/>
              </a:lnSpc>
            </a:pPr>
            <a:r>
              <a:rPr lang="en-US" altLang="zh-CN" dirty="0">
                <a:solidFill>
                  <a:srgbClr val="44546A"/>
                </a:solidFill>
                <a:latin typeface="微软雅黑" panose="020B0503020204020204" pitchFamily="34" charset="-122"/>
                <a:ea typeface="微软雅黑" panose="020B0503020204020204" pitchFamily="34" charset="-122"/>
              </a:rPr>
              <a:t>	</a:t>
            </a:r>
            <a:r>
              <a:rPr lang="zh-CN" altLang="en-US" dirty="0">
                <a:solidFill>
                  <a:srgbClr val="44546A"/>
                </a:solidFill>
                <a:latin typeface="微软雅黑" panose="020B0503020204020204" pitchFamily="34" charset="-122"/>
                <a:ea typeface="微软雅黑" panose="020B0503020204020204" pitchFamily="34" charset="-122"/>
              </a:rPr>
              <a:t>在 </a:t>
            </a:r>
            <a:r>
              <a:rPr lang="en-US" altLang="zh-CN" dirty="0">
                <a:solidFill>
                  <a:srgbClr val="44546A"/>
                </a:solidFill>
                <a:latin typeface="微软雅黑" panose="020B0503020204020204" pitchFamily="34" charset="-122"/>
                <a:ea typeface="微软雅黑" panose="020B0503020204020204" pitchFamily="34" charset="-122"/>
              </a:rPr>
              <a:t>Python </a:t>
            </a:r>
            <a:r>
              <a:rPr lang="zh-CN" altLang="en-US" dirty="0">
                <a:solidFill>
                  <a:srgbClr val="44546A"/>
                </a:solidFill>
                <a:latin typeface="微软雅黑" panose="020B0503020204020204" pitchFamily="34" charset="-122"/>
                <a:ea typeface="微软雅黑" panose="020B0503020204020204" pitchFamily="34" charset="-122"/>
              </a:rPr>
              <a:t>里，</a:t>
            </a:r>
            <a:r>
              <a:rPr lang="en-US" altLang="zh-CN" dirty="0">
                <a:solidFill>
                  <a:srgbClr val="44546A"/>
                </a:solidFill>
                <a:latin typeface="微软雅黑" panose="020B0503020204020204" pitchFamily="34" charset="-122"/>
                <a:ea typeface="微软雅黑" panose="020B0503020204020204" pitchFamily="34" charset="-122"/>
              </a:rPr>
              <a:t>reshape() </a:t>
            </a:r>
            <a:r>
              <a:rPr lang="zh-CN" altLang="en-US" dirty="0">
                <a:solidFill>
                  <a:srgbClr val="44546A"/>
                </a:solidFill>
                <a:latin typeface="微软雅黑" panose="020B0503020204020204" pitchFamily="34" charset="-122"/>
                <a:ea typeface="微软雅黑" panose="020B0503020204020204" pitchFamily="34" charset="-122"/>
              </a:rPr>
              <a:t>是一个常用方法，主要用于改变数组的形状，也就是改变数组的维度与大小。 </a:t>
            </a:r>
          </a:p>
        </p:txBody>
      </p:sp>
      <p:pic>
        <p:nvPicPr>
          <p:cNvPr id="7" name="图片 6">
            <a:extLst>
              <a:ext uri="{FF2B5EF4-FFF2-40B4-BE49-F238E27FC236}">
                <a16:creationId xmlns:a16="http://schemas.microsoft.com/office/drawing/2014/main" id="{D8061B18-3EBB-E676-763E-24BE38FE62A7}"/>
              </a:ext>
            </a:extLst>
          </p:cNvPr>
          <p:cNvPicPr>
            <a:picLocks noChangeAspect="1"/>
          </p:cNvPicPr>
          <p:nvPr/>
        </p:nvPicPr>
        <p:blipFill>
          <a:blip r:embed="rId3"/>
          <a:stretch>
            <a:fillRect/>
          </a:stretch>
        </p:blipFill>
        <p:spPr>
          <a:xfrm>
            <a:off x="3510538" y="1358060"/>
            <a:ext cx="4972449" cy="2103729"/>
          </a:xfrm>
          <a:prstGeom prst="rect">
            <a:avLst/>
          </a:prstGeom>
        </p:spPr>
      </p:pic>
      <p:sp>
        <p:nvSpPr>
          <p:cNvPr id="12" name="文本框 11">
            <a:extLst>
              <a:ext uri="{FF2B5EF4-FFF2-40B4-BE49-F238E27FC236}">
                <a16:creationId xmlns:a16="http://schemas.microsoft.com/office/drawing/2014/main" id="{C2D6FA95-4573-30D5-063C-00CCB76E5AB6}"/>
              </a:ext>
            </a:extLst>
          </p:cNvPr>
          <p:cNvSpPr txBox="1"/>
          <p:nvPr/>
        </p:nvSpPr>
        <p:spPr>
          <a:xfrm>
            <a:off x="779720" y="4855261"/>
            <a:ext cx="10632558" cy="1704954"/>
          </a:xfrm>
          <a:prstGeom prst="rect">
            <a:avLst/>
          </a:prstGeom>
          <a:noFill/>
        </p:spPr>
        <p:txBody>
          <a:bodyPr wrap="square" rtlCol="0">
            <a:spAutoFit/>
          </a:bodyPr>
          <a:lstStyle/>
          <a:p>
            <a:pPr>
              <a:lnSpc>
                <a:spcPct val="150000"/>
              </a:lnSpc>
            </a:pPr>
            <a:r>
              <a:rPr lang="zh-CN" altLang="zh-CN" dirty="0">
                <a:solidFill>
                  <a:srgbClr val="44546A"/>
                </a:solidFill>
                <a:latin typeface="微软雅黑" panose="020B0503020204020204" pitchFamily="34" charset="-122"/>
                <a:ea typeface="微软雅黑" panose="020B0503020204020204" pitchFamily="34" charset="-122"/>
              </a:rPr>
              <a:t>reshape(-1, 1) 里的 -1 和 1 有如下含义：</a:t>
            </a:r>
          </a:p>
          <a:p>
            <a:pPr marR="0" lvl="0" indent="0" fontAlgn="base">
              <a:lnSpc>
                <a:spcPct val="150000"/>
              </a:lnSpc>
              <a:spcBef>
                <a:spcPct val="0"/>
              </a:spcBef>
              <a:spcAft>
                <a:spcPct val="0"/>
              </a:spcAft>
              <a:buClrTx/>
              <a:buSzTx/>
              <a:buFontTx/>
              <a:buChar char="•"/>
              <a:tabLst/>
            </a:pPr>
            <a:r>
              <a:rPr lang="zh-CN" altLang="zh-CN" dirty="0">
                <a:solidFill>
                  <a:srgbClr val="44546A"/>
                </a:solidFill>
                <a:latin typeface="微软雅黑" panose="020B0503020204020204" pitchFamily="34" charset="-122"/>
                <a:ea typeface="微软雅黑" panose="020B0503020204020204" pitchFamily="34" charset="-122"/>
              </a:rPr>
              <a:t>-1：代表该维度的大小由数组的元素总数和其他维度的大小来自动确定。简单来说，reshape 方法会根据数组的总元素数量以及其他指定维度的大小，自动计算出 -1 所代表的维度大小。</a:t>
            </a:r>
          </a:p>
          <a:p>
            <a:pPr marR="0" lvl="0" indent="0" fontAlgn="base">
              <a:lnSpc>
                <a:spcPct val="150000"/>
              </a:lnSpc>
              <a:spcBef>
                <a:spcPct val="0"/>
              </a:spcBef>
              <a:spcAft>
                <a:spcPct val="0"/>
              </a:spcAft>
              <a:buClrTx/>
              <a:buSzTx/>
              <a:buFontTx/>
              <a:buChar char="•"/>
              <a:tabLst/>
            </a:pPr>
            <a:r>
              <a:rPr lang="zh-CN" altLang="zh-CN" dirty="0">
                <a:solidFill>
                  <a:srgbClr val="44546A"/>
                </a:solidFill>
                <a:latin typeface="微软雅黑" panose="020B0503020204020204" pitchFamily="34" charset="-122"/>
                <a:ea typeface="微软雅黑" panose="020B0503020204020204" pitchFamily="34" charset="-122"/>
              </a:rPr>
              <a:t>1：表示新数组的列数为 1。</a:t>
            </a:r>
          </a:p>
        </p:txBody>
      </p:sp>
      <p:pic>
        <p:nvPicPr>
          <p:cNvPr id="18" name="图片 17">
            <a:extLst>
              <a:ext uri="{FF2B5EF4-FFF2-40B4-BE49-F238E27FC236}">
                <a16:creationId xmlns:a16="http://schemas.microsoft.com/office/drawing/2014/main" id="{CB1B2859-2A87-D2DC-9196-A5198716BFE8}"/>
              </a:ext>
            </a:extLst>
          </p:cNvPr>
          <p:cNvPicPr>
            <a:picLocks noChangeAspect="1"/>
          </p:cNvPicPr>
          <p:nvPr/>
        </p:nvPicPr>
        <p:blipFill rotWithShape="1">
          <a:blip r:embed="rId4"/>
          <a:srcRect l="1747"/>
          <a:stretch/>
        </p:blipFill>
        <p:spPr>
          <a:xfrm>
            <a:off x="2530591" y="4073975"/>
            <a:ext cx="6062928" cy="674922"/>
          </a:xfrm>
          <a:prstGeom prst="rect">
            <a:avLst/>
          </a:prstGeom>
        </p:spPr>
      </p:pic>
      <p:sp>
        <p:nvSpPr>
          <p:cNvPr id="20" name="文本框 19">
            <a:extLst>
              <a:ext uri="{FF2B5EF4-FFF2-40B4-BE49-F238E27FC236}">
                <a16:creationId xmlns:a16="http://schemas.microsoft.com/office/drawing/2014/main" id="{B6AA9938-AD10-FDBB-9296-769F1745E997}"/>
              </a:ext>
            </a:extLst>
          </p:cNvPr>
          <p:cNvSpPr txBox="1"/>
          <p:nvPr/>
        </p:nvSpPr>
        <p:spPr>
          <a:xfrm>
            <a:off x="680484" y="3568153"/>
            <a:ext cx="10632559" cy="458459"/>
          </a:xfrm>
          <a:prstGeom prst="rect">
            <a:avLst/>
          </a:prstGeom>
          <a:noFill/>
        </p:spPr>
        <p:txBody>
          <a:bodyPr wrap="square" rtlCol="0">
            <a:spAutoFit/>
          </a:bodyPr>
          <a:lstStyle/>
          <a:p>
            <a:pPr>
              <a:lnSpc>
                <a:spcPct val="150000"/>
              </a:lnSpc>
            </a:pPr>
            <a:r>
              <a:rPr lang="en-US" altLang="zh-CN" dirty="0">
                <a:solidFill>
                  <a:srgbClr val="44546A"/>
                </a:solidFill>
                <a:latin typeface="微软雅黑" panose="020B0503020204020204" pitchFamily="34" charset="-122"/>
                <a:ea typeface="微软雅黑" panose="020B0503020204020204" pitchFamily="34" charset="-122"/>
              </a:rPr>
              <a:t>              </a:t>
            </a:r>
            <a:r>
              <a:rPr lang="zh-CN" altLang="zh-CN" dirty="0">
                <a:solidFill>
                  <a:srgbClr val="44546A"/>
                </a:solidFill>
                <a:latin typeface="微软雅黑" panose="020B0503020204020204" pitchFamily="34" charset="-122"/>
                <a:ea typeface="微软雅黑" panose="020B0503020204020204" pitchFamily="34" charset="-122"/>
              </a:rPr>
              <a:t>我们把一个包含 6 个元素的一维数组转变成了一个 2 行 3 列的二维数组。</a:t>
            </a:r>
            <a:endParaRPr lang="zh-CN" altLang="en-US" dirty="0">
              <a:solidFill>
                <a:srgbClr val="44546A"/>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31471084"/>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2832212" y="1257060"/>
            <a:ext cx="7303462" cy="5448184"/>
          </a:xfrm>
          <a:prstGeom prst="rect">
            <a:avLst/>
          </a:prstGeom>
        </p:spPr>
      </p:pic>
      <p:sp>
        <p:nvSpPr>
          <p:cNvPr id="6" name="文本框 5"/>
          <p:cNvSpPr txBox="1"/>
          <p:nvPr/>
        </p:nvSpPr>
        <p:spPr>
          <a:xfrm>
            <a:off x="6096000" y="6382078"/>
            <a:ext cx="1451038" cy="646331"/>
          </a:xfrm>
          <a:prstGeom prst="rect">
            <a:avLst/>
          </a:prstGeom>
          <a:noFill/>
        </p:spPr>
        <p:txBody>
          <a:bodyPr wrap="square" rtlCol="0">
            <a:spAutoFit/>
          </a:bodyPr>
          <a:lstStyle/>
          <a:p>
            <a:r>
              <a:rPr lang="en-US" altLang="zh-CN" b="0" dirty="0">
                <a:solidFill>
                  <a:srgbClr val="777777"/>
                </a:solidFill>
                <a:effectLst/>
                <a:latin typeface="Consolas" panose="020B0609020204030204" pitchFamily="49" charset="0"/>
              </a:rPr>
              <a:t>' </a:t>
            </a:r>
            <a:r>
              <a:rPr lang="zh-CN" altLang="en-US" b="0" dirty="0">
                <a:solidFill>
                  <a:srgbClr val="4076BD"/>
                </a:solidFill>
                <a:effectLst/>
                <a:latin typeface="Consolas" panose="020B0609020204030204" pitchFamily="49" charset="0"/>
              </a:rPr>
              <a:t>       </a:t>
            </a:r>
            <a:r>
              <a:rPr lang="en-US" altLang="zh-CN" b="0" dirty="0">
                <a:solidFill>
                  <a:srgbClr val="777777"/>
                </a:solidFill>
                <a:effectLst/>
                <a:latin typeface="Consolas" panose="020B0609020204030204" pitchFamily="49" charset="0"/>
              </a:rPr>
              <a:t>'</a:t>
            </a:r>
            <a:endParaRPr lang="zh-CN" altLang="en-US" b="0" dirty="0">
              <a:solidFill>
                <a:srgbClr val="333333"/>
              </a:solidFill>
              <a:effectLst/>
              <a:latin typeface="Consolas" panose="020B0609020204030204" pitchFamily="49" charset="0"/>
            </a:endParaRPr>
          </a:p>
          <a:p>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对数据库中的数据操作时，如果发现数据类型不正确，可对数据库中的数据进行类型转换，例如：</a:t>
            </a:r>
            <a:endParaRPr lang="en-US" altLang="zh-CN" sz="2400" dirty="0">
              <a:solidFill>
                <a:srgbClr val="44546A"/>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936769" y="2273249"/>
            <a:ext cx="10318462" cy="2311502"/>
          </a:xfrm>
          <a:prstGeom prst="rect">
            <a:avLst/>
          </a:prstGeom>
        </p:spPr>
      </p:pic>
    </p:spTree>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sp>
        <p:nvSpPr>
          <p:cNvPr id="6" name="文本框 5"/>
          <p:cNvSpPr txBox="1"/>
          <p:nvPr/>
        </p:nvSpPr>
        <p:spPr>
          <a:xfrm>
            <a:off x="6096000" y="6382078"/>
            <a:ext cx="1451038" cy="646331"/>
          </a:xfrm>
          <a:prstGeom prst="rect">
            <a:avLst/>
          </a:prstGeom>
          <a:noFill/>
        </p:spPr>
        <p:txBody>
          <a:bodyPr wrap="square" rtlCol="0">
            <a:spAutoFit/>
          </a:bodyPr>
          <a:lstStyle/>
          <a:p>
            <a:r>
              <a:rPr lang="en-US" altLang="zh-CN" b="0" dirty="0">
                <a:solidFill>
                  <a:srgbClr val="777777"/>
                </a:solidFill>
                <a:effectLst/>
                <a:latin typeface="Consolas" panose="020B0609020204030204" pitchFamily="49" charset="0"/>
              </a:rPr>
              <a:t>' </a:t>
            </a:r>
            <a:r>
              <a:rPr lang="zh-CN" altLang="en-US" b="0" dirty="0">
                <a:solidFill>
                  <a:srgbClr val="4076BD"/>
                </a:solidFill>
                <a:effectLst/>
                <a:latin typeface="Consolas" panose="020B0609020204030204" pitchFamily="49" charset="0"/>
              </a:rPr>
              <a:t>       </a:t>
            </a:r>
            <a:r>
              <a:rPr lang="en-US" altLang="zh-CN" b="0" dirty="0">
                <a:solidFill>
                  <a:srgbClr val="777777"/>
                </a:solidFill>
                <a:effectLst/>
                <a:latin typeface="Consolas" panose="020B0609020204030204" pitchFamily="49" charset="0"/>
              </a:rPr>
              <a:t>'</a:t>
            </a:r>
            <a:endParaRPr lang="zh-CN" altLang="en-US" b="0" dirty="0">
              <a:solidFill>
                <a:srgbClr val="333333"/>
              </a:solidFill>
              <a:effectLst/>
              <a:latin typeface="Consolas" panose="020B0609020204030204" pitchFamily="49" charset="0"/>
            </a:endParaRPr>
          </a:p>
          <a:p>
            <a:endParaRPr lang="zh-CN" altLang="en-US" dirty="0"/>
          </a:p>
        </p:txBody>
      </p:sp>
      <p:pic>
        <p:nvPicPr>
          <p:cNvPr id="7" name="图片 6"/>
          <p:cNvPicPr>
            <a:picLocks noChangeAspect="1"/>
          </p:cNvPicPr>
          <p:nvPr/>
        </p:nvPicPr>
        <p:blipFill>
          <a:blip r:embed="rId3"/>
          <a:stretch>
            <a:fillRect/>
          </a:stretch>
        </p:blipFill>
        <p:spPr>
          <a:xfrm>
            <a:off x="3130979" y="1688299"/>
            <a:ext cx="5930041" cy="3481401"/>
          </a:xfrm>
          <a:prstGeom prst="rect">
            <a:avLst/>
          </a:prstGeom>
        </p:spPr>
      </p:pic>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处理缺失数据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768320" y="992327"/>
            <a:ext cx="2937405"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2.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处理缺失数据</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802105" y="1579034"/>
            <a:ext cx="10510938" cy="2346283"/>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完成数据概览和类型转换后，还需要对一些缺失数据进行处理，通常在数据分析工作中，数据缺失是较常见的现象，前面简单介绍使用</a:t>
            </a:r>
            <a:r>
              <a:rPr lang="en-US" altLang="zh-CN" sz="2000" dirty="0">
                <a:solidFill>
                  <a:srgbClr val="44546A"/>
                </a:solidFill>
                <a:latin typeface="微软雅黑" panose="020B0503020204020204" pitchFamily="34" charset="-122"/>
                <a:ea typeface="微软雅黑" panose="020B0503020204020204" pitchFamily="34" charset="-122"/>
              </a:rPr>
              <a:t>Pandas</a:t>
            </a:r>
            <a:r>
              <a:rPr lang="zh-CN" altLang="en-US" sz="2000" dirty="0">
                <a:solidFill>
                  <a:srgbClr val="44546A"/>
                </a:solidFill>
                <a:latin typeface="微软雅黑" panose="020B0503020204020204" pitchFamily="34" charset="-122"/>
                <a:ea typeface="微软雅黑" panose="020B0503020204020204" pitchFamily="34" charset="-122"/>
              </a:rPr>
              <a:t>可以加在数据时就对缺失值做一些简单的处理，用</a:t>
            </a:r>
            <a:r>
              <a:rPr lang="en-US" altLang="zh-CN" sz="2000" dirty="0" err="1">
                <a:solidFill>
                  <a:srgbClr val="44546A"/>
                </a:solidFill>
                <a:latin typeface="微软雅黑" panose="020B0503020204020204" pitchFamily="34" charset="-122"/>
                <a:ea typeface="微软雅黑" panose="020B0503020204020204" pitchFamily="34" charset="-122"/>
              </a:rPr>
              <a:t>NaN</a:t>
            </a:r>
            <a:r>
              <a:rPr lang="zh-CN" altLang="en-US" sz="2000" dirty="0">
                <a:solidFill>
                  <a:srgbClr val="44546A"/>
                </a:solidFill>
                <a:latin typeface="微软雅黑" panose="020B0503020204020204" pitchFamily="34" charset="-122"/>
                <a:ea typeface="微软雅黑" panose="020B0503020204020204" pitchFamily="34" charset="-122"/>
              </a:rPr>
              <a:t>表示缺失数据。</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rPr>
              <a:t>利用</a:t>
            </a:r>
            <a:r>
              <a:rPr lang="en-US" altLang="zh-CN" sz="2000" dirty="0" err="1">
                <a:solidFill>
                  <a:srgbClr val="44546A"/>
                </a:solidFill>
                <a:latin typeface="微软雅黑" panose="020B0503020204020204" pitchFamily="34" charset="-122"/>
                <a:ea typeface="微软雅黑" panose="020B0503020204020204" pitchFamily="34" charset="-122"/>
              </a:rPr>
              <a:t>isnull</a:t>
            </a: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rPr>
              <a:t>函数可以从数据库中方便地检测出这些缺失的数据，关于</a:t>
            </a:r>
            <a:r>
              <a:rPr lang="en-US" altLang="zh-CN" sz="2000" dirty="0">
                <a:solidFill>
                  <a:srgbClr val="44546A"/>
                </a:solidFill>
                <a:latin typeface="微软雅黑" panose="020B0503020204020204" pitchFamily="34" charset="-122"/>
                <a:ea typeface="微软雅黑" panose="020B0503020204020204" pitchFamily="34" charset="-122"/>
              </a:rPr>
              <a:t>ex3.csv</a:t>
            </a:r>
            <a:r>
              <a:rPr lang="zh-CN" altLang="en-US" sz="2000" dirty="0">
                <a:solidFill>
                  <a:srgbClr val="44546A"/>
                </a:solidFill>
                <a:latin typeface="微软雅黑" panose="020B0503020204020204" pitchFamily="34" charset="-122"/>
                <a:ea typeface="微软雅黑" panose="020B0503020204020204" pitchFamily="34" charset="-122"/>
              </a:rPr>
              <a:t>文件的示例如下。</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7" name="图片 6"/>
          <p:cNvPicPr>
            <a:picLocks noChangeAspect="1"/>
          </p:cNvPicPr>
          <p:nvPr/>
        </p:nvPicPr>
        <p:blipFill>
          <a:blip r:embed="rId3"/>
          <a:stretch>
            <a:fillRect/>
          </a:stretch>
        </p:blipFill>
        <p:spPr>
          <a:xfrm>
            <a:off x="2878938" y="4313098"/>
            <a:ext cx="6915150" cy="155257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处理缺失数据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80484" y="776929"/>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9" name="图片 8"/>
          <p:cNvPicPr>
            <a:picLocks noChangeAspect="1"/>
          </p:cNvPicPr>
          <p:nvPr/>
        </p:nvPicPr>
        <p:blipFill>
          <a:blip r:embed="rId3"/>
          <a:stretch>
            <a:fillRect/>
          </a:stretch>
        </p:blipFill>
        <p:spPr>
          <a:xfrm>
            <a:off x="3812683" y="2190750"/>
            <a:ext cx="4953000" cy="2476500"/>
          </a:xfrm>
          <a:prstGeom prst="rect">
            <a:avLst/>
          </a:prstGeom>
        </p:spPr>
      </p:pic>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处理缺失数据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检查到缺失值后，通常用户可以选择丢弃所有包含缺失值的数据，或者丢失包含缺失值的某一列的数据，实现程序如下：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6" name="图片 5"/>
          <p:cNvPicPr>
            <a:picLocks noChangeAspect="1"/>
          </p:cNvPicPr>
          <p:nvPr/>
        </p:nvPicPr>
        <p:blipFill>
          <a:blip r:embed="rId3"/>
          <a:stretch>
            <a:fillRect/>
          </a:stretch>
        </p:blipFill>
        <p:spPr>
          <a:xfrm>
            <a:off x="3052762" y="2087450"/>
            <a:ext cx="6086475" cy="1524000"/>
          </a:xfrm>
          <a:prstGeom prst="rect">
            <a:avLst/>
          </a:prstGeom>
        </p:spPr>
      </p:pic>
      <p:sp>
        <p:nvSpPr>
          <p:cNvPr id="7" name="文本框 6"/>
          <p:cNvSpPr txBox="1"/>
          <p:nvPr/>
        </p:nvSpPr>
        <p:spPr>
          <a:xfrm>
            <a:off x="779719" y="3778235"/>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9" name="图片 8"/>
          <p:cNvPicPr>
            <a:picLocks noChangeAspect="1"/>
          </p:cNvPicPr>
          <p:nvPr/>
        </p:nvPicPr>
        <p:blipFill>
          <a:blip r:embed="rId4"/>
          <a:stretch>
            <a:fillRect/>
          </a:stretch>
        </p:blipFill>
        <p:spPr>
          <a:xfrm>
            <a:off x="3934600" y="4617115"/>
            <a:ext cx="4124325" cy="1943100"/>
          </a:xfrm>
          <a:prstGeom prst="rect">
            <a:avLst/>
          </a:prstGeom>
        </p:spPr>
      </p:pic>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处理缺失数据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除了丢弃包含缺失值的数据之外，用户还可选择对缺失值数据进行填充，使用</a:t>
            </a:r>
            <a:r>
              <a:rPr lang="en-US" altLang="zh-CN" sz="2400" dirty="0">
                <a:solidFill>
                  <a:srgbClr val="44546A"/>
                </a:solidFill>
                <a:latin typeface="微软雅黑" panose="020B0503020204020204" pitchFamily="34" charset="-122"/>
                <a:ea typeface="微软雅黑" panose="020B0503020204020204" pitchFamily="34" charset="-122"/>
              </a:rPr>
              <a:t>fillna</a:t>
            </a:r>
            <a:r>
              <a:rPr lang="zh-CN" altLang="en-US" sz="2400" dirty="0">
                <a:solidFill>
                  <a:srgbClr val="44546A"/>
                </a:solidFill>
                <a:latin typeface="微软雅黑" panose="020B0503020204020204" pitchFamily="34" charset="-122"/>
                <a:ea typeface="微软雅黑" panose="020B0503020204020204" pitchFamily="34" charset="-122"/>
              </a:rPr>
              <a:t>方法即可完成，例如：</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2575909" y="2066991"/>
            <a:ext cx="8096250" cy="1590675"/>
          </a:xfrm>
          <a:prstGeom prst="rect">
            <a:avLst/>
          </a:prstGeom>
        </p:spPr>
      </p:pic>
      <p:sp>
        <p:nvSpPr>
          <p:cNvPr id="8" name="文本框 7"/>
          <p:cNvSpPr txBox="1"/>
          <p:nvPr/>
        </p:nvSpPr>
        <p:spPr>
          <a:xfrm>
            <a:off x="779719" y="3778235"/>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11" name="图片 10"/>
          <p:cNvPicPr>
            <a:picLocks noChangeAspect="1"/>
          </p:cNvPicPr>
          <p:nvPr/>
        </p:nvPicPr>
        <p:blipFill>
          <a:blip r:embed="rId4"/>
          <a:stretch>
            <a:fillRect/>
          </a:stretch>
        </p:blipFill>
        <p:spPr>
          <a:xfrm>
            <a:off x="4404307" y="4277859"/>
            <a:ext cx="3924300" cy="2466975"/>
          </a:xfrm>
          <a:prstGeom prst="rect">
            <a:avLst/>
          </a:prstGeom>
        </p:spPr>
      </p:pic>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处理重复数据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768320" y="992327"/>
            <a:ext cx="2937405"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3.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处理重复数据</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802105" y="1579034"/>
            <a:ext cx="10510938" cy="1422954"/>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数据重复也是数据分析中常见的问题，有时这些重复的数据是有实际意义的，能反映事物的客观规律，但有时这些数据是冗余的，并无任何意义，我们需要去除这些容易的数据。解决这个问题，可以借助</a:t>
            </a:r>
            <a:r>
              <a:rPr lang="en-US" altLang="zh-CN" sz="2000" dirty="0">
                <a:solidFill>
                  <a:srgbClr val="44546A"/>
                </a:solidFill>
                <a:latin typeface="微软雅黑" panose="020B0503020204020204" pitchFamily="34" charset="-122"/>
                <a:ea typeface="微软雅黑" panose="020B0503020204020204" pitchFamily="34" charset="-122"/>
              </a:rPr>
              <a:t>Pandas</a:t>
            </a:r>
            <a:r>
              <a:rPr lang="zh-CN" altLang="en-US" sz="2000" dirty="0">
                <a:solidFill>
                  <a:srgbClr val="44546A"/>
                </a:solidFill>
                <a:latin typeface="微软雅黑" panose="020B0503020204020204" pitchFamily="34" charset="-122"/>
                <a:ea typeface="微软雅黑" panose="020B0503020204020204" pitchFamily="34" charset="-122"/>
              </a:rPr>
              <a:t>封装好的方法来实现。</a:t>
            </a:r>
            <a:endParaRPr lang="en-US" altLang="zh-CN" sz="2000" dirty="0">
              <a:solidFill>
                <a:srgbClr val="44546A"/>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3421244" y="3291840"/>
            <a:ext cx="5929163" cy="268224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处理重复数据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圆角矩形 8"/>
          <p:cNvSpPr/>
          <p:nvPr/>
        </p:nvSpPr>
        <p:spPr>
          <a:xfrm>
            <a:off x="768320" y="992327"/>
            <a:ext cx="2937405" cy="463550"/>
          </a:xfrm>
          <a:prstGeom prst="roundRect">
            <a:avLst/>
          </a:prstGeom>
          <a:solidFill>
            <a:srgbClr val="1D7F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zh-CN"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3. </a:t>
            </a:r>
            <a:r>
              <a:rPr lang="zh-CN" altLang="en-US" sz="2000" b="1"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rPr>
              <a:t>处理重复数据</a:t>
            </a:r>
            <a:endParaRPr lang="zh-CN" altLang="en-US" sz="1600" dirty="0">
              <a:solidFill>
                <a:schemeClr val="bg1"/>
              </a:solidFill>
              <a:latin typeface="Arial" panose="020B0604020202020204"/>
              <a:ea typeface="微软雅黑" panose="020B0503020204020204" pitchFamily="34" charset="-122"/>
              <a:cs typeface="Source Han Sans CN Regular" panose="020B0600000000000000" charset="-122"/>
              <a:sym typeface="Arial" panose="020B0604020202020204"/>
            </a:endParaRPr>
          </a:p>
        </p:txBody>
      </p:sp>
      <p:sp>
        <p:nvSpPr>
          <p:cNvPr id="5" name="文本框 4"/>
          <p:cNvSpPr txBox="1"/>
          <p:nvPr/>
        </p:nvSpPr>
        <p:spPr>
          <a:xfrm>
            <a:off x="802105" y="1579034"/>
            <a:ext cx="10510938" cy="1884618"/>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数据重复也是数据分析中常见的问题，有时这些重复的数据是有实际意义的，能反映事物的客观规律，但有时这些数据是冗余的，并无任何意义，我们需要去除这些容易的数据。解决这个问题，可以借助</a:t>
            </a:r>
            <a:r>
              <a:rPr lang="en-US" altLang="zh-CN" sz="2000" dirty="0">
                <a:solidFill>
                  <a:srgbClr val="44546A"/>
                </a:solidFill>
                <a:latin typeface="微软雅黑" panose="020B0503020204020204" pitchFamily="34" charset="-122"/>
                <a:ea typeface="微软雅黑" panose="020B0503020204020204" pitchFamily="34" charset="-122"/>
              </a:rPr>
              <a:t>Pandas</a:t>
            </a:r>
            <a:r>
              <a:rPr lang="zh-CN" altLang="en-US" sz="2000" dirty="0">
                <a:solidFill>
                  <a:srgbClr val="44546A"/>
                </a:solidFill>
                <a:latin typeface="微软雅黑" panose="020B0503020204020204" pitchFamily="34" charset="-122"/>
                <a:ea typeface="微软雅黑" panose="020B0503020204020204" pitchFamily="34" charset="-122"/>
              </a:rPr>
              <a:t>封装好的方法来实现。</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sym typeface="+mn-lt"/>
              </a:rPr>
              <a:t>       </a:t>
            </a:r>
            <a:r>
              <a:rPr lang="zh-CN" altLang="en-US" sz="2000" dirty="0">
                <a:solidFill>
                  <a:srgbClr val="44546A"/>
                </a:solidFill>
                <a:latin typeface="微软雅黑" panose="020B0503020204020204" pitchFamily="34" charset="-122"/>
                <a:ea typeface="微软雅黑" panose="020B0503020204020204" pitchFamily="34" charset="-122"/>
                <a:sym typeface="+mn-lt"/>
              </a:rPr>
              <a:t>先判断数据是否重复，具体实现如下。</a:t>
            </a:r>
          </a:p>
        </p:txBody>
      </p:sp>
      <p:pic>
        <p:nvPicPr>
          <p:cNvPr id="6" name="图片 5"/>
          <p:cNvPicPr>
            <a:picLocks noChangeAspect="1"/>
          </p:cNvPicPr>
          <p:nvPr/>
        </p:nvPicPr>
        <p:blipFill>
          <a:blip r:embed="rId3"/>
          <a:stretch>
            <a:fillRect/>
          </a:stretch>
        </p:blipFill>
        <p:spPr>
          <a:xfrm>
            <a:off x="2139503" y="3586809"/>
            <a:ext cx="8763000" cy="1838325"/>
          </a:xfrm>
          <a:prstGeom prst="rect">
            <a:avLst/>
          </a:prstGeom>
        </p:spPr>
      </p:pic>
    </p:spTree>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处理重复数据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80484" y="776929"/>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4" name="图片 3"/>
          <p:cNvPicPr>
            <a:picLocks noChangeAspect="1"/>
          </p:cNvPicPr>
          <p:nvPr/>
        </p:nvPicPr>
        <p:blipFill rotWithShape="1">
          <a:blip r:embed="rId3"/>
          <a:srcRect l="1" t="66569" r="-1"/>
          <a:stretch>
            <a:fillRect/>
          </a:stretch>
        </p:blipFill>
        <p:spPr>
          <a:xfrm>
            <a:off x="8232041" y="2276469"/>
            <a:ext cx="3785906" cy="2292677"/>
          </a:xfrm>
          <a:prstGeom prst="rect">
            <a:avLst/>
          </a:prstGeom>
        </p:spPr>
      </p:pic>
      <p:pic>
        <p:nvPicPr>
          <p:cNvPr id="3" name="图片 2"/>
          <p:cNvPicPr>
            <a:picLocks noChangeAspect="1"/>
          </p:cNvPicPr>
          <p:nvPr/>
        </p:nvPicPr>
        <p:blipFill rotWithShape="1">
          <a:blip r:embed="rId3"/>
          <a:srcRect t="33195" b="33374"/>
          <a:stretch>
            <a:fillRect/>
          </a:stretch>
        </p:blipFill>
        <p:spPr>
          <a:xfrm>
            <a:off x="4314055" y="2276470"/>
            <a:ext cx="3785905" cy="2292677"/>
          </a:xfrm>
          <a:prstGeom prst="rect">
            <a:avLst/>
          </a:prstGeom>
        </p:spPr>
      </p:pic>
      <p:pic>
        <p:nvPicPr>
          <p:cNvPr id="5" name="图片 4"/>
          <p:cNvPicPr>
            <a:picLocks noChangeAspect="1"/>
          </p:cNvPicPr>
          <p:nvPr/>
        </p:nvPicPr>
        <p:blipFill rotWithShape="1">
          <a:blip r:embed="rId3"/>
          <a:srcRect b="66750"/>
          <a:stretch>
            <a:fillRect/>
          </a:stretch>
        </p:blipFill>
        <p:spPr>
          <a:xfrm>
            <a:off x="426484" y="2288853"/>
            <a:ext cx="3785905" cy="2280294"/>
          </a:xfrm>
          <a:prstGeom prst="rect">
            <a:avLst/>
          </a:prstGeom>
        </p:spPr>
      </p:pic>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数据清洗和准备</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处理重复数据</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1135054"/>
          </a:xfrm>
          <a:prstGeom prst="rect">
            <a:avLst/>
          </a:prstGeom>
          <a:noFill/>
        </p:spPr>
        <p:txBody>
          <a:bodyPr wrap="square" rtlCol="0" anchor="t">
            <a:spAutoFit/>
          </a:bodyPr>
          <a:lstStyle/>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删除重复数据可选择删除重复的行，也可以只针对特定列判断数据是否重复，然后进行删除，具体实现如下：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779719" y="3778235"/>
            <a:ext cx="10632559" cy="499624"/>
          </a:xfrm>
          <a:prstGeom prst="rect">
            <a:avLst/>
          </a:prstGeom>
          <a:noFill/>
        </p:spPr>
        <p:txBody>
          <a:bodyPr wrap="square" rtlCol="0" anchor="t">
            <a:spAutoFit/>
          </a:bodyPr>
          <a:lstStyle/>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Arial" panose="020B0604020202020204"/>
              </a:rPr>
              <a:t>   运行程序得到的结果如下</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1766885" y="1978010"/>
            <a:ext cx="8658225" cy="1800225"/>
          </a:xfrm>
          <a:prstGeom prst="rect">
            <a:avLst/>
          </a:prstGeom>
        </p:spPr>
      </p:pic>
      <p:pic>
        <p:nvPicPr>
          <p:cNvPr id="10" name="图片 9"/>
          <p:cNvPicPr>
            <a:picLocks noChangeAspect="1"/>
          </p:cNvPicPr>
          <p:nvPr/>
        </p:nvPicPr>
        <p:blipFill>
          <a:blip r:embed="rId4"/>
          <a:stretch>
            <a:fillRect/>
          </a:stretch>
        </p:blipFill>
        <p:spPr>
          <a:xfrm>
            <a:off x="1873794" y="4277859"/>
            <a:ext cx="3200400" cy="2409825"/>
          </a:xfrm>
          <a:prstGeom prst="rect">
            <a:avLst/>
          </a:prstGeom>
        </p:spPr>
      </p:pic>
      <p:pic>
        <p:nvPicPr>
          <p:cNvPr id="12" name="图片 11"/>
          <p:cNvPicPr>
            <a:picLocks noChangeAspect="1"/>
          </p:cNvPicPr>
          <p:nvPr/>
        </p:nvPicPr>
        <p:blipFill>
          <a:blip r:embed="rId5"/>
          <a:stretch>
            <a:fillRect/>
          </a:stretch>
        </p:blipFill>
        <p:spPr>
          <a:xfrm>
            <a:off x="5110482" y="4277859"/>
            <a:ext cx="2686050" cy="1933575"/>
          </a:xfrm>
          <a:prstGeom prst="rect">
            <a:avLst/>
          </a:prstGeom>
        </p:spPr>
      </p:pic>
      <p:pic>
        <p:nvPicPr>
          <p:cNvPr id="16" name="图片 15"/>
          <p:cNvPicPr>
            <a:picLocks noChangeAspect="1"/>
          </p:cNvPicPr>
          <p:nvPr/>
        </p:nvPicPr>
        <p:blipFill>
          <a:blip r:embed="rId6"/>
          <a:stretch>
            <a:fillRect/>
          </a:stretch>
        </p:blipFill>
        <p:spPr>
          <a:xfrm>
            <a:off x="7866153" y="4313351"/>
            <a:ext cx="2790825" cy="104775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0" y="2646564"/>
            <a:ext cx="12192000"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000" dirty="0">
                <a:solidFill>
                  <a:srgbClr val="44546A"/>
                </a:solidFill>
              </a:rPr>
              <a:t>机器学习（三）</a:t>
            </a: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1884436"/>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4494C8"/>
                </a:solidFill>
                <a:effectLst/>
              </a:rPr>
              <a:t>机器学习简介</a:t>
            </a:r>
            <a:endParaRPr lang="en-US" altLang="zh-CN" kern="0" dirty="0">
              <a:solidFill>
                <a:srgbClr val="4494C8"/>
              </a:solidFill>
              <a:effectLst/>
            </a:endParaRPr>
          </a:p>
        </p:txBody>
      </p:sp>
      <p:sp>
        <p:nvSpPr>
          <p:cNvPr id="21" name="圆角矩形 20"/>
          <p:cNvSpPr/>
          <p:nvPr/>
        </p:nvSpPr>
        <p:spPr>
          <a:xfrm>
            <a:off x="5410386" y="2679401"/>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文本框 9"/>
          <p:cNvSpPr txBox="1"/>
          <p:nvPr/>
        </p:nvSpPr>
        <p:spPr>
          <a:xfrm>
            <a:off x="5410387" y="3229291"/>
            <a:ext cx="5388992"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02B36F"/>
                </a:solidFill>
                <a:effectLst/>
              </a:rPr>
              <a:t>机器学习库</a:t>
            </a:r>
            <a:endParaRPr lang="en-US" altLang="zh-CN" kern="0" dirty="0">
              <a:solidFill>
                <a:srgbClr val="02B36F"/>
              </a:solidFill>
              <a:effectLst/>
            </a:endParaRPr>
          </a:p>
        </p:txBody>
      </p:sp>
      <p:sp>
        <p:nvSpPr>
          <p:cNvPr id="11" name="圆角矩形 10"/>
          <p:cNvSpPr/>
          <p:nvPr/>
        </p:nvSpPr>
        <p:spPr>
          <a:xfrm>
            <a:off x="5410387" y="402425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文本框 1"/>
          <p:cNvSpPr txBox="1"/>
          <p:nvPr/>
        </p:nvSpPr>
        <p:spPr>
          <a:xfrm>
            <a:off x="5410387" y="4944788"/>
            <a:ext cx="4503634"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02B36F"/>
                </a:solidFill>
                <a:effectLst/>
              </a:rPr>
              <a:t>机器学习算法</a:t>
            </a:r>
            <a:endParaRPr lang="en-US" altLang="zh-CN" kern="0" dirty="0">
              <a:solidFill>
                <a:srgbClr val="02B36F"/>
              </a:solidFill>
              <a:effectLst/>
            </a:endParaRPr>
          </a:p>
        </p:txBody>
      </p:sp>
      <p:sp>
        <p:nvSpPr>
          <p:cNvPr id="3" name="圆角矩形 10"/>
          <p:cNvSpPr/>
          <p:nvPr/>
        </p:nvSpPr>
        <p:spPr>
          <a:xfrm>
            <a:off x="5410387" y="5739753"/>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1+#ppt_w/2"/>
                                          </p:val>
                                        </p:tav>
                                        <p:tav tm="100000">
                                          <p:val>
                                            <p:strVal val="#ppt_x"/>
                                          </p:val>
                                        </p:tav>
                                      </p:tavLst>
                                    </p:anim>
                                    <p:anim calcmode="lin" valueType="num">
                                      <p:cBhvr additive="base">
                                        <p:cTn id="24" dur="1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childTnLst>
                                </p:cTn>
                              </p:par>
                              <p:par>
                                <p:cTn id="31" presetID="2" presetClass="entr" presetSubtype="2" decel="100000" fill="hold" grpId="1" nodeType="with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1500" fill="hold"/>
                                        <p:tgtEl>
                                          <p:spTgt spid="2"/>
                                        </p:tgtEl>
                                        <p:attrNameLst>
                                          <p:attrName>ppt_x</p:attrName>
                                        </p:attrNameLst>
                                      </p:cBhvr>
                                      <p:tavLst>
                                        <p:tav tm="0">
                                          <p:val>
                                            <p:strVal val="1+#ppt_w/2"/>
                                          </p:val>
                                        </p:tav>
                                        <p:tav tm="100000">
                                          <p:val>
                                            <p:strVal val="#ppt_x"/>
                                          </p:val>
                                        </p:tav>
                                      </p:tavLst>
                                    </p:anim>
                                    <p:anim calcmode="lin" valueType="num">
                                      <p:cBhvr additive="base">
                                        <p:cTn id="34" dur="1500" fill="hold"/>
                                        <p:tgtEl>
                                          <p:spTgt spid="2"/>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right)">
                                      <p:cBhvr>
                                        <p:cTn id="3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10" grpId="0" bldLvl="0" animBg="1"/>
      <p:bldP spid="10" grpId="1" bldLvl="0" animBg="1"/>
      <p:bldP spid="11" grpId="0" bldLvl="0" animBg="1"/>
      <p:bldP spid="2" grpId="0" bldLvl="0" animBg="1"/>
      <p:bldP spid="2" grpId="1" bldLvl="0" animBg="1"/>
      <p:bldP spid="3"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简介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80484" y="7769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如果我们用机器学习来判断今天是否适合出门打球。</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878957" y="1357986"/>
            <a:ext cx="10434085"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那我们首先要收集一些气象信息（数据）作为机器学习判断的参考，机器根据这些数据来分析今天的天气情况，帮助我们判断是否适合出门打球。</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8" name="椭圆 7"/>
          <p:cNvSpPr/>
          <p:nvPr/>
        </p:nvSpPr>
        <p:spPr>
          <a:xfrm>
            <a:off x="1891862" y="3073110"/>
            <a:ext cx="1623848" cy="16238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气象信息</a:t>
            </a:r>
            <a:endParaRPr lang="en-US" altLang="zh-CN" sz="1800"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zh-CN" altLang="en-US" sz="1800" dirty="0">
                <a:solidFill>
                  <a:schemeClr val="bg1"/>
                </a:solidFill>
                <a:latin typeface="微软雅黑" panose="020B0503020204020204" pitchFamily="34" charset="-122"/>
                <a:ea typeface="微软雅黑" panose="020B0503020204020204" pitchFamily="34" charset="-122"/>
              </a:rPr>
              <a:t>（数据）</a:t>
            </a:r>
            <a:endParaRPr lang="zh-CN" altLang="en-US" dirty="0">
              <a:solidFill>
                <a:schemeClr val="bg1"/>
              </a:solidFill>
            </a:endParaRPr>
          </a:p>
        </p:txBody>
      </p:sp>
      <p:sp>
        <p:nvSpPr>
          <p:cNvPr id="12" name="文本框 11"/>
          <p:cNvSpPr txBox="1"/>
          <p:nvPr/>
        </p:nvSpPr>
        <p:spPr>
          <a:xfrm>
            <a:off x="3860125" y="3092787"/>
            <a:ext cx="5314275" cy="400110"/>
          </a:xfrm>
          <a:prstGeom prst="rect">
            <a:avLst/>
          </a:prstGeom>
          <a:noFill/>
        </p:spPr>
        <p:txBody>
          <a:bodyPr wrap="none" rtlCol="0">
            <a:spAutoFit/>
          </a:bodyPr>
          <a:lstStyle/>
          <a:p>
            <a:r>
              <a:rPr lang="zh-CN" altLang="en-US" sz="2000" dirty="0">
                <a:solidFill>
                  <a:srgbClr val="44546A"/>
                </a:solidFill>
                <a:latin typeface="微软雅黑" panose="020B0503020204020204" pitchFamily="34" charset="-122"/>
                <a:ea typeface="微软雅黑" panose="020B0503020204020204" pitchFamily="34" charset="-122"/>
              </a:rPr>
              <a:t>其中每一个数据称为“示例”或者“样本”。</a:t>
            </a:r>
          </a:p>
        </p:txBody>
      </p:sp>
      <p:sp>
        <p:nvSpPr>
          <p:cNvPr id="13" name="文本框 12"/>
          <p:cNvSpPr txBox="1"/>
          <p:nvPr/>
        </p:nvSpPr>
        <p:spPr>
          <a:xfrm>
            <a:off x="1828800" y="4754179"/>
            <a:ext cx="2031325" cy="874407"/>
          </a:xfrm>
          <a:prstGeom prst="rect">
            <a:avLst/>
          </a:prstGeom>
          <a:noFill/>
        </p:spPr>
        <p:txBody>
          <a:bodyPr wrap="none" rtlCol="0">
            <a:spAutoFit/>
          </a:bodyPr>
          <a:lstStyle/>
          <a:p>
            <a:pPr algn="ctr">
              <a:lnSpc>
                <a:spcPct val="150000"/>
              </a:lnSpc>
            </a:pPr>
            <a:r>
              <a:rPr lang="zh-CN" altLang="en-US" dirty="0">
                <a:solidFill>
                  <a:srgbClr val="44546A"/>
                </a:solidFill>
                <a:latin typeface="微软雅黑" panose="020B0503020204020204" pitchFamily="34" charset="-122"/>
                <a:ea typeface="微软雅黑" panose="020B0503020204020204" pitchFamily="34" charset="-122"/>
              </a:rPr>
              <a:t>这些数据的集合</a:t>
            </a:r>
            <a:endParaRPr lang="en-US" altLang="zh-CN" dirty="0">
              <a:solidFill>
                <a:srgbClr val="44546A"/>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rgbClr val="44546A"/>
                </a:solidFill>
                <a:latin typeface="微软雅黑" panose="020B0503020204020204" pitchFamily="34" charset="-122"/>
                <a:ea typeface="微软雅黑" panose="020B0503020204020204" pitchFamily="34" charset="-122"/>
              </a:rPr>
              <a:t>被称为“数据集”</a:t>
            </a:r>
          </a:p>
        </p:txBody>
      </p:sp>
      <p:sp>
        <p:nvSpPr>
          <p:cNvPr id="14" name="文本框 13"/>
          <p:cNvSpPr txBox="1"/>
          <p:nvPr/>
        </p:nvSpPr>
        <p:spPr>
          <a:xfrm>
            <a:off x="3860124" y="3754322"/>
            <a:ext cx="7879080" cy="400110"/>
          </a:xfrm>
          <a:prstGeom prst="rect">
            <a:avLst/>
          </a:prstGeom>
          <a:noFill/>
        </p:spPr>
        <p:txBody>
          <a:bodyPr wrap="none" rtlCol="0">
            <a:spAutoFit/>
          </a:bodyPr>
          <a:lstStyle/>
          <a:p>
            <a:r>
              <a:rPr lang="zh-CN" altLang="en-US" sz="2000" dirty="0">
                <a:solidFill>
                  <a:srgbClr val="44546A"/>
                </a:solidFill>
                <a:latin typeface="微软雅黑" panose="020B0503020204020204" pitchFamily="34" charset="-122"/>
                <a:ea typeface="微软雅黑" panose="020B0503020204020204" pitchFamily="34" charset="-122"/>
              </a:rPr>
              <a:t>气象信息中天气、温度、湿度等这些是数据的属性，称为“特征”。</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animBg="1"/>
      <p:bldP spid="12" grpId="0"/>
      <p:bldP spid="13" grpId="0"/>
      <p:bldP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简介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680484" y="77692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其中天气的取值可以是“晴天”“阴天”“雨天”等，这些属性值构成了“属性空间”。</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8" name="文本框 7"/>
          <p:cNvSpPr txBox="1"/>
          <p:nvPr/>
        </p:nvSpPr>
        <p:spPr>
          <a:xfrm>
            <a:off x="680483" y="1911983"/>
            <a:ext cx="10632559" cy="1689052"/>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每天的气象信息由不同的属性构成，每个属性代表不同的维度，所有属性放在一起就是一个多维的空间，每天的气象信息都可以从这个多维的空间中找到一个点（样本）。</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9" name="文本框 8"/>
          <p:cNvSpPr txBox="1"/>
          <p:nvPr/>
        </p:nvSpPr>
        <p:spPr>
          <a:xfrm>
            <a:off x="779720" y="3601035"/>
            <a:ext cx="10632559" cy="1689052"/>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因为空间中的每个点（样本）都对应一个坐标向量，所以我们将</a:t>
            </a:r>
            <a:r>
              <a:rPr lang="zh-CN" altLang="en-US" sz="2400" b="1" dirty="0">
                <a:solidFill>
                  <a:srgbClr val="44546A"/>
                </a:solidFill>
                <a:latin typeface="微软雅黑" panose="020B0503020204020204" pitchFamily="34" charset="-122"/>
                <a:ea typeface="微软雅黑" panose="020B0503020204020204" pitchFamily="34" charset="-122"/>
              </a:rPr>
              <a:t>每个“样本”又称为一个“特征向量”</a:t>
            </a:r>
            <a:r>
              <a:rPr lang="zh-CN" altLang="en-US" sz="2400" dirty="0">
                <a:solidFill>
                  <a:srgbClr val="44546A"/>
                </a:solidFill>
                <a:latin typeface="微软雅黑" panose="020B0503020204020204" pitchFamily="34" charset="-122"/>
                <a:ea typeface="微软雅黑" panose="020B0503020204020204" pitchFamily="34" charset="-122"/>
              </a:rPr>
              <a:t>。“可否打球”就是机器学习根据当天数据（气象信息）做的一个</a:t>
            </a:r>
            <a:r>
              <a:rPr lang="zh-CN" altLang="en-US" sz="2400" b="1" dirty="0">
                <a:solidFill>
                  <a:srgbClr val="44546A"/>
                </a:solidFill>
                <a:latin typeface="微软雅黑" panose="020B0503020204020204" pitchFamily="34" charset="-122"/>
                <a:ea typeface="微软雅黑" panose="020B0503020204020204" pitchFamily="34" charset="-122"/>
              </a:rPr>
              <a:t>概括性的结论</a:t>
            </a:r>
            <a:r>
              <a:rPr lang="zh-CN" altLang="en-US" sz="2400" dirty="0">
                <a:solidFill>
                  <a:srgbClr val="44546A"/>
                </a:solidFill>
                <a:latin typeface="微软雅黑" panose="020B0503020204020204" pitchFamily="34" charset="-122"/>
                <a:ea typeface="微软雅黑" panose="020B0503020204020204" pitchFamily="34" charset="-122"/>
              </a:rPr>
              <a:t>，我们称之为</a:t>
            </a:r>
            <a:r>
              <a:rPr lang="zh-CN" altLang="en-US" sz="2400" b="1" dirty="0">
                <a:solidFill>
                  <a:srgbClr val="44546A"/>
                </a:solidFill>
                <a:latin typeface="微软雅黑" panose="020B0503020204020204" pitchFamily="34" charset="-122"/>
                <a:ea typeface="微软雅黑" panose="020B0503020204020204" pitchFamily="34" charset="-122"/>
              </a:rPr>
              <a:t>标签</a:t>
            </a:r>
            <a:r>
              <a:rPr lang="zh-CN" altLang="en-US" sz="2400" dirty="0">
                <a:solidFill>
                  <a:srgbClr val="44546A"/>
                </a:solidFill>
                <a:latin typeface="微软雅黑" panose="020B0503020204020204" pitchFamily="34" charset="-122"/>
                <a:ea typeface="微软雅黑" panose="020B0503020204020204" pitchFamily="34" charset="-122"/>
              </a:rPr>
              <a:t>。</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简介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680484" y="7769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表中列举了一些气象信息的特征和打球之间的关系。</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graphicFrame>
        <p:nvGraphicFramePr>
          <p:cNvPr id="3" name="表格 3"/>
          <p:cNvGraphicFramePr>
            <a:graphicFrameLocks noGrp="1"/>
          </p:cNvGraphicFramePr>
          <p:nvPr/>
        </p:nvGraphicFramePr>
        <p:xfrm>
          <a:off x="2308072" y="2797912"/>
          <a:ext cx="8128000" cy="23774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70840">
                <a:tc>
                  <a:txBody>
                    <a:bodyPr/>
                    <a:lstStyle/>
                    <a:p>
                      <a:pPr algn="ctr"/>
                      <a:r>
                        <a:rPr lang="zh-CN" altLang="en-US" sz="2000" dirty="0"/>
                        <a:t>编号</a:t>
                      </a:r>
                    </a:p>
                  </a:txBody>
                  <a:tcPr/>
                </a:tc>
                <a:tc>
                  <a:txBody>
                    <a:bodyPr/>
                    <a:lstStyle/>
                    <a:p>
                      <a:pPr algn="ctr"/>
                      <a:r>
                        <a:rPr lang="zh-CN" altLang="en-US" sz="2000" dirty="0"/>
                        <a:t>天气</a:t>
                      </a:r>
                    </a:p>
                  </a:txBody>
                  <a:tcPr/>
                </a:tc>
                <a:tc>
                  <a:txBody>
                    <a:bodyPr/>
                    <a:lstStyle/>
                    <a:p>
                      <a:pPr algn="ctr"/>
                      <a:r>
                        <a:rPr lang="zh-CN" altLang="en-US" sz="2000" dirty="0"/>
                        <a:t>温度</a:t>
                      </a:r>
                    </a:p>
                  </a:txBody>
                  <a:tcPr/>
                </a:tc>
                <a:tc>
                  <a:txBody>
                    <a:bodyPr/>
                    <a:lstStyle/>
                    <a:p>
                      <a:pPr algn="ctr"/>
                      <a:r>
                        <a:rPr lang="zh-CN" altLang="en-US" sz="2000" dirty="0"/>
                        <a:t>湿度</a:t>
                      </a:r>
                    </a:p>
                  </a:txBody>
                  <a:tcPr/>
                </a:tc>
                <a:tc>
                  <a:txBody>
                    <a:bodyPr/>
                    <a:lstStyle/>
                    <a:p>
                      <a:pPr algn="ctr"/>
                      <a:r>
                        <a:rPr lang="zh-CN" altLang="en-US" sz="2000" dirty="0"/>
                        <a:t>可否打球</a:t>
                      </a:r>
                    </a:p>
                  </a:txBody>
                  <a:tcPr/>
                </a:tc>
                <a:extLst>
                  <a:ext uri="{0D108BD9-81ED-4DB2-BD59-A6C34878D82A}">
                    <a16:rowId xmlns:a16="http://schemas.microsoft.com/office/drawing/2014/main" val="10000"/>
                  </a:ext>
                </a:extLst>
              </a:tr>
              <a:tr h="370840">
                <a:tc>
                  <a:txBody>
                    <a:bodyPr/>
                    <a:lstStyle/>
                    <a:p>
                      <a:pPr algn="ctr"/>
                      <a:r>
                        <a:rPr lang="en-US" altLang="zh-CN" sz="2000" kern="1200" dirty="0">
                          <a:solidFill>
                            <a:srgbClr val="44546A"/>
                          </a:solidFill>
                          <a:latin typeface="微软雅黑" panose="020B0503020204020204" pitchFamily="34" charset="-122"/>
                          <a:ea typeface="微软雅黑" panose="020B0503020204020204" pitchFamily="34" charset="-122"/>
                          <a:cs typeface="+mn-cs"/>
                        </a:rPr>
                        <a:t>1</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晴朗</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炎热</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高</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否</a:t>
                      </a:r>
                    </a:p>
                  </a:txBody>
                  <a:tcPr/>
                </a:tc>
                <a:extLst>
                  <a:ext uri="{0D108BD9-81ED-4DB2-BD59-A6C34878D82A}">
                    <a16:rowId xmlns:a16="http://schemas.microsoft.com/office/drawing/2014/main" val="10001"/>
                  </a:ext>
                </a:extLst>
              </a:tr>
              <a:tr h="370840">
                <a:tc>
                  <a:txBody>
                    <a:bodyPr/>
                    <a:lstStyle/>
                    <a:p>
                      <a:pPr algn="ctr"/>
                      <a:r>
                        <a:rPr lang="en-US" altLang="zh-CN" sz="2000" kern="1200" dirty="0">
                          <a:solidFill>
                            <a:srgbClr val="44546A"/>
                          </a:solidFill>
                          <a:latin typeface="微软雅黑" panose="020B0503020204020204" pitchFamily="34" charset="-122"/>
                          <a:ea typeface="微软雅黑" panose="020B0503020204020204" pitchFamily="34" charset="-122"/>
                          <a:cs typeface="+mn-cs"/>
                        </a:rPr>
                        <a:t>2</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kern="1200" dirty="0">
                          <a:solidFill>
                            <a:srgbClr val="44546A"/>
                          </a:solidFill>
                          <a:latin typeface="微软雅黑" panose="020B0503020204020204" pitchFamily="34" charset="-122"/>
                          <a:ea typeface="微软雅黑" panose="020B0503020204020204" pitchFamily="34" charset="-122"/>
                          <a:cs typeface="+mn-cs"/>
                        </a:rPr>
                        <a:t>晴朗</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kern="1200" dirty="0">
                          <a:solidFill>
                            <a:srgbClr val="44546A"/>
                          </a:solidFill>
                          <a:latin typeface="微软雅黑" panose="020B0503020204020204" pitchFamily="34" charset="-122"/>
                          <a:ea typeface="微软雅黑" panose="020B0503020204020204" pitchFamily="34" charset="-122"/>
                          <a:cs typeface="+mn-cs"/>
                        </a:rPr>
                        <a:t>炎热</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高</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否</a:t>
                      </a:r>
                    </a:p>
                  </a:txBody>
                  <a:tcPr/>
                </a:tc>
                <a:extLst>
                  <a:ext uri="{0D108BD9-81ED-4DB2-BD59-A6C34878D82A}">
                    <a16:rowId xmlns:a16="http://schemas.microsoft.com/office/drawing/2014/main" val="10002"/>
                  </a:ext>
                </a:extLst>
              </a:tr>
              <a:tr h="370840">
                <a:tc>
                  <a:txBody>
                    <a:bodyPr/>
                    <a:lstStyle/>
                    <a:p>
                      <a:pPr algn="ctr"/>
                      <a:r>
                        <a:rPr lang="en-US" altLang="zh-CN" sz="2000" kern="1200" dirty="0">
                          <a:solidFill>
                            <a:srgbClr val="44546A"/>
                          </a:solidFill>
                          <a:latin typeface="微软雅黑" panose="020B0503020204020204" pitchFamily="34" charset="-122"/>
                          <a:ea typeface="微软雅黑" panose="020B0503020204020204" pitchFamily="34" charset="-122"/>
                          <a:cs typeface="+mn-cs"/>
                        </a:rPr>
                        <a:t>3</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阴天</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kern="1200" dirty="0">
                          <a:solidFill>
                            <a:srgbClr val="44546A"/>
                          </a:solidFill>
                          <a:latin typeface="微软雅黑" panose="020B0503020204020204" pitchFamily="34" charset="-122"/>
                          <a:ea typeface="微软雅黑" panose="020B0503020204020204" pitchFamily="34" charset="-122"/>
                          <a:cs typeface="+mn-cs"/>
                        </a:rPr>
                        <a:t>炎热</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高</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是</a:t>
                      </a:r>
                    </a:p>
                  </a:txBody>
                  <a:tcPr/>
                </a:tc>
                <a:extLst>
                  <a:ext uri="{0D108BD9-81ED-4DB2-BD59-A6C34878D82A}">
                    <a16:rowId xmlns:a16="http://schemas.microsoft.com/office/drawing/2014/main" val="10003"/>
                  </a:ext>
                </a:extLst>
              </a:tr>
              <a:tr h="370840">
                <a:tc>
                  <a:txBody>
                    <a:bodyPr/>
                    <a:lstStyle/>
                    <a:p>
                      <a:pPr algn="ctr"/>
                      <a:r>
                        <a:rPr lang="en-US" altLang="zh-CN" sz="2000" kern="1200" dirty="0">
                          <a:solidFill>
                            <a:srgbClr val="44546A"/>
                          </a:solidFill>
                          <a:latin typeface="微软雅黑" panose="020B0503020204020204" pitchFamily="34" charset="-122"/>
                          <a:ea typeface="微软雅黑" panose="020B0503020204020204" pitchFamily="34" charset="-122"/>
                          <a:cs typeface="+mn-cs"/>
                        </a:rPr>
                        <a:t>4</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下雨</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温和</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高</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是</a:t>
                      </a:r>
                    </a:p>
                  </a:txBody>
                  <a:tcPr/>
                </a:tc>
                <a:extLst>
                  <a:ext uri="{0D108BD9-81ED-4DB2-BD59-A6C34878D82A}">
                    <a16:rowId xmlns:a16="http://schemas.microsoft.com/office/drawing/2014/main" val="10004"/>
                  </a:ext>
                </a:extLst>
              </a:tr>
              <a:tr h="370840">
                <a:tc>
                  <a:txBody>
                    <a:bodyPr/>
                    <a:lstStyle/>
                    <a:p>
                      <a:pPr algn="ctr"/>
                      <a:r>
                        <a:rPr lang="en-US" altLang="zh-CN" sz="2000" kern="1200" dirty="0">
                          <a:solidFill>
                            <a:srgbClr val="44546A"/>
                          </a:solidFill>
                          <a:latin typeface="微软雅黑" panose="020B0503020204020204" pitchFamily="34" charset="-122"/>
                          <a:ea typeface="微软雅黑" panose="020B0503020204020204" pitchFamily="34" charset="-122"/>
                          <a:cs typeface="+mn-cs"/>
                        </a:rPr>
                        <a:t>5</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下雨</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凉爽</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正常</a:t>
                      </a: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是</a:t>
                      </a:r>
                    </a:p>
                  </a:txBody>
                  <a:tcPr/>
                </a:tc>
                <a:extLst>
                  <a:ext uri="{0D108BD9-81ED-4DB2-BD59-A6C34878D82A}">
                    <a16:rowId xmlns:a16="http://schemas.microsoft.com/office/drawing/2014/main" val="10005"/>
                  </a:ext>
                </a:extLst>
              </a:tr>
            </a:tbl>
          </a:graphicData>
        </a:graphic>
      </p:graphicFrame>
      <p:sp>
        <p:nvSpPr>
          <p:cNvPr id="4" name="文本框 3"/>
          <p:cNvSpPr txBox="1"/>
          <p:nvPr/>
        </p:nvSpPr>
        <p:spPr>
          <a:xfrm>
            <a:off x="3422283" y="2191550"/>
            <a:ext cx="6138277" cy="499624"/>
          </a:xfrm>
          <a:prstGeom prst="rect">
            <a:avLst/>
          </a:prstGeom>
          <a:noFill/>
        </p:spPr>
        <p:txBody>
          <a:bodyPr wrap="square" rtlCol="0" anchor="t">
            <a:spAutoFit/>
          </a:bodyPr>
          <a:lstStyle/>
          <a:p>
            <a:pPr>
              <a:lnSpc>
                <a:spcPct val="150000"/>
              </a:lnSpc>
            </a:pPr>
            <a:r>
              <a:rPr lang="zh-CN" altLang="en-US" sz="2000" b="1" dirty="0">
                <a:solidFill>
                  <a:srgbClr val="44546A"/>
                </a:solidFill>
                <a:latin typeface="微软雅黑" panose="020B0503020204020204" pitchFamily="34" charset="-122"/>
                <a:ea typeface="微软雅黑" panose="020B0503020204020204" pitchFamily="34" charset="-122"/>
              </a:rPr>
              <a:t>        表    气象信息的特征与打球之间的关系</a:t>
            </a:r>
            <a:endParaRPr lang="zh-CN" altLang="en-US" sz="2000" b="1"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简介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680484" y="776929"/>
            <a:ext cx="10632559" cy="1689052"/>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分析这些天气数据，我们就能获得基于天气特征来判断是否适合打球的“理论依据”些“理论依据”称为模型，</a:t>
            </a:r>
            <a:r>
              <a:rPr lang="zh-CN" altLang="en-US" sz="2400" b="1" dirty="0">
                <a:solidFill>
                  <a:srgbClr val="44546A"/>
                </a:solidFill>
                <a:latin typeface="微软雅黑" panose="020B0503020204020204" pitchFamily="34" charset="-122"/>
                <a:ea typeface="微软雅黑" panose="020B0503020204020204" pitchFamily="34" charset="-122"/>
              </a:rPr>
              <a:t>从数据集中“学得”模型的过程称为“学习”或者“训练”</a:t>
            </a:r>
            <a:r>
              <a:rPr lang="zh-CN" altLang="en-US" sz="2400" dirty="0">
                <a:solidFill>
                  <a:srgbClr val="44546A"/>
                </a:solidFill>
                <a:latin typeface="微软雅黑" panose="020B0503020204020204" pitchFamily="34" charset="-122"/>
                <a:ea typeface="微软雅黑" panose="020B0503020204020204" pitchFamily="34" charset="-122"/>
              </a:rPr>
              <a:t>。</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5" name="文本框 4"/>
          <p:cNvSpPr txBox="1"/>
          <p:nvPr/>
        </p:nvSpPr>
        <p:spPr>
          <a:xfrm>
            <a:off x="779720" y="2465981"/>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训练中使用的数据集称为“训练数据集”。</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779719" y="3047038"/>
            <a:ext cx="10632559" cy="1689052"/>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有了模型之后，需要评估模型的好坏和准确性。此时可以将模型应用到另外一批有标签的数据上来，通过“训练”得出结果，用结果表判断模型的准确性，这批有标签的数据集称为“验证数据集”。</a:t>
            </a:r>
            <a:endParaRPr lang="en-US" altLang="zh-CN" sz="2400" dirty="0">
              <a:solidFill>
                <a:srgbClr val="44546A"/>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779719" y="4749620"/>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如果模型在验证数据集上预测出的结论与其真实结果的差异足够小，并且满足预期，那么我们认为模型的准确性是可以接受的。</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简介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680484" y="77692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如上所示，我们得到了一个效果可以接受的模型，下一个步骤就是放到实际应用中去，例如，使用模型来推断今天的天气是否适合打球。</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3" name="文本框 2"/>
          <p:cNvSpPr txBox="1"/>
          <p:nvPr/>
        </p:nvSpPr>
        <p:spPr>
          <a:xfrm>
            <a:off x="680484" y="1842766"/>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当然，前提是已经掌握了今天的气象数据，如天气、温度、湿度。这些用于验证模型好坏的天气数据就称为“测试数据集”。</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1884436"/>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机器学习简介</a:t>
            </a:r>
            <a:endParaRPr lang="en-US" altLang="zh-CN" kern="0" dirty="0">
              <a:solidFill>
                <a:srgbClr val="02B36F"/>
              </a:solidFill>
              <a:effectLst/>
            </a:endParaRPr>
          </a:p>
        </p:txBody>
      </p:sp>
      <p:sp>
        <p:nvSpPr>
          <p:cNvPr id="21" name="圆角矩形 20"/>
          <p:cNvSpPr/>
          <p:nvPr/>
        </p:nvSpPr>
        <p:spPr>
          <a:xfrm>
            <a:off x="5410386" y="2679401"/>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文本框 9"/>
          <p:cNvSpPr txBox="1"/>
          <p:nvPr/>
        </p:nvSpPr>
        <p:spPr>
          <a:xfrm>
            <a:off x="5410387" y="3229291"/>
            <a:ext cx="5388992"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4494C8"/>
                </a:solidFill>
                <a:effectLst/>
              </a:rPr>
              <a:t>机器学习库</a:t>
            </a:r>
            <a:endParaRPr lang="en-US" altLang="zh-CN" kern="0" dirty="0">
              <a:solidFill>
                <a:srgbClr val="4494C8"/>
              </a:solidFill>
              <a:effectLst/>
            </a:endParaRPr>
          </a:p>
        </p:txBody>
      </p:sp>
      <p:sp>
        <p:nvSpPr>
          <p:cNvPr id="11" name="圆角矩形 10"/>
          <p:cNvSpPr/>
          <p:nvPr/>
        </p:nvSpPr>
        <p:spPr>
          <a:xfrm>
            <a:off x="5410387" y="402425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文本框 1"/>
          <p:cNvSpPr txBox="1"/>
          <p:nvPr/>
        </p:nvSpPr>
        <p:spPr>
          <a:xfrm>
            <a:off x="5410387" y="4944788"/>
            <a:ext cx="4503634"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02B36F"/>
                </a:solidFill>
                <a:effectLst/>
              </a:rPr>
              <a:t>机器学习算法</a:t>
            </a:r>
            <a:endParaRPr lang="en-US" altLang="zh-CN" kern="0" dirty="0">
              <a:solidFill>
                <a:srgbClr val="02B36F"/>
              </a:solidFill>
              <a:effectLst/>
            </a:endParaRPr>
          </a:p>
        </p:txBody>
      </p:sp>
      <p:sp>
        <p:nvSpPr>
          <p:cNvPr id="3" name="圆角矩形 10"/>
          <p:cNvSpPr/>
          <p:nvPr/>
        </p:nvSpPr>
        <p:spPr>
          <a:xfrm>
            <a:off x="5410387" y="5739753"/>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1+#ppt_w/2"/>
                                          </p:val>
                                        </p:tav>
                                        <p:tav tm="100000">
                                          <p:val>
                                            <p:strVal val="#ppt_x"/>
                                          </p:val>
                                        </p:tav>
                                      </p:tavLst>
                                    </p:anim>
                                    <p:anim calcmode="lin" valueType="num">
                                      <p:cBhvr additive="base">
                                        <p:cTn id="24" dur="1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childTnLst>
                                </p:cTn>
                              </p:par>
                              <p:par>
                                <p:cTn id="31" presetID="2" presetClass="entr" presetSubtype="2" decel="100000" fill="hold" grpId="1" nodeType="with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1500" fill="hold"/>
                                        <p:tgtEl>
                                          <p:spTgt spid="2"/>
                                        </p:tgtEl>
                                        <p:attrNameLst>
                                          <p:attrName>ppt_x</p:attrName>
                                        </p:attrNameLst>
                                      </p:cBhvr>
                                      <p:tavLst>
                                        <p:tav tm="0">
                                          <p:val>
                                            <p:strVal val="1+#ppt_w/2"/>
                                          </p:val>
                                        </p:tav>
                                        <p:tav tm="100000">
                                          <p:val>
                                            <p:strVal val="#ppt_x"/>
                                          </p:val>
                                        </p:tav>
                                      </p:tavLst>
                                    </p:anim>
                                    <p:anim calcmode="lin" valueType="num">
                                      <p:cBhvr additive="base">
                                        <p:cTn id="34" dur="1500" fill="hold"/>
                                        <p:tgtEl>
                                          <p:spTgt spid="2"/>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right)">
                                      <p:cBhvr>
                                        <p:cTn id="3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10" grpId="0" bldLvl="0" animBg="1"/>
      <p:bldP spid="10" grpId="1" bldLvl="0" animBg="1"/>
      <p:bldP spid="11" grpId="0" bldLvl="0" animBg="1"/>
      <p:bldP spid="2" grpId="0" bldLvl="0" animBg="1"/>
      <p:bldP spid="2" grpId="1" bldLvl="0" animBg="1"/>
      <p:bldP spid="3"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p>
        </p:txBody>
      </p:sp>
      <p:sp>
        <p:nvSpPr>
          <p:cNvPr id="3" name="文本框 2"/>
          <p:cNvSpPr txBox="1"/>
          <p:nvPr/>
        </p:nvSpPr>
        <p:spPr>
          <a:xfrm>
            <a:off x="5016500" y="777916"/>
            <a:ext cx="3739895" cy="1014362"/>
          </a:xfrm>
          <a:prstGeom prst="rect">
            <a:avLst/>
          </a:prstGeom>
          <a:noFill/>
        </p:spPr>
        <p:txBody>
          <a:bodyPr wrap="square" lIns="0" tIns="72000" bIns="72000" rtlCol="0" anchor="b" anchorCtr="0">
            <a:spAutoFit/>
          </a:bodyPr>
          <a:lstStyle>
            <a:defPPr>
              <a:defRPr lang="zh-CN"/>
            </a:defPPr>
            <a:lvl1pPr>
              <a:lnSpc>
                <a:spcPts val="1800"/>
              </a:lnSpc>
              <a:defRPr sz="1200">
                <a:solidFill>
                  <a:schemeClr val="bg1"/>
                </a:solidFill>
                <a:latin typeface="微软雅黑" panose="020B0503020204020204" pitchFamily="34" charset="-122"/>
                <a:ea typeface="微软雅黑" panose="020B0503020204020204" pitchFamily="34" charset="-122"/>
              </a:defRPr>
            </a:lvl1pPr>
          </a:lstStyle>
          <a:p>
            <a:pPr>
              <a:lnSpc>
                <a:spcPct val="150000"/>
              </a:lnSpc>
            </a:pPr>
            <a:r>
              <a:rPr lang="zh-CN" altLang="en-US" sz="2000" dirty="0">
                <a:solidFill>
                  <a:srgbClr val="44546A"/>
                </a:solidFill>
              </a:rPr>
              <a:t>是一个重要的 </a:t>
            </a:r>
            <a:r>
              <a:rPr lang="en-US" altLang="zh-CN" sz="2000" dirty="0">
                <a:solidFill>
                  <a:srgbClr val="44546A"/>
                </a:solidFill>
              </a:rPr>
              <a:t>Python</a:t>
            </a:r>
          </a:p>
          <a:p>
            <a:pPr>
              <a:lnSpc>
                <a:spcPct val="150000"/>
              </a:lnSpc>
            </a:pPr>
            <a:r>
              <a:rPr lang="zh-CN" altLang="en-US" sz="2000" dirty="0">
                <a:solidFill>
                  <a:srgbClr val="44546A"/>
                </a:solidFill>
              </a:rPr>
              <a:t>机器学习库</a:t>
            </a:r>
            <a:r>
              <a:rPr lang="zh-CN" altLang="en-US" sz="2000" dirty="0">
                <a:solidFill>
                  <a:srgbClr val="44546A"/>
                </a:solidFill>
                <a:sym typeface="微软雅黑" panose="020B0503020204020204" pitchFamily="34" charset="-122"/>
              </a:rPr>
              <a:t>。</a:t>
            </a:r>
          </a:p>
        </p:txBody>
      </p:sp>
      <p:sp>
        <p:nvSpPr>
          <p:cNvPr id="4" name="文本框 3"/>
          <p:cNvSpPr txBox="1"/>
          <p:nvPr/>
        </p:nvSpPr>
        <p:spPr>
          <a:xfrm>
            <a:off x="1410940" y="945156"/>
            <a:ext cx="3301949" cy="822515"/>
          </a:xfrm>
          <a:prstGeom prst="rect">
            <a:avLst/>
          </a:prstGeom>
          <a:noFill/>
        </p:spPr>
        <p:txBody>
          <a:bodyPr wrap="square" lIns="0" tIns="72000" bIns="72000" rtlCol="0" anchor="ctr" anchorCtr="0">
            <a:spAutoFit/>
          </a:bodyPr>
          <a:lstStyle>
            <a:defPPr>
              <a:defRPr lang="zh-CN"/>
            </a:defPPr>
            <a:lvl1pPr algn="ctr">
              <a:defRPr sz="2800" b="1">
                <a:solidFill>
                  <a:srgbClr val="70CBCD"/>
                </a:solidFill>
                <a:latin typeface="Geometr706 Md BT" panose="020B0502020203020204" pitchFamily="34" charset="0"/>
                <a:ea typeface="微软雅黑" panose="020B0503020204020204" pitchFamily="34" charset="-122"/>
              </a:defRPr>
            </a:lvl1pPr>
          </a:lstStyle>
          <a:p>
            <a:r>
              <a:rPr lang="en-US" altLang="zh-CN" sz="4400" dirty="0">
                <a:solidFill>
                  <a:srgbClr val="44546A"/>
                </a:solidFill>
                <a:latin typeface="微软雅黑" panose="020B0503020204020204" pitchFamily="34" charset="-122"/>
              </a:rPr>
              <a:t>Scikit-learn</a:t>
            </a:r>
            <a:endParaRPr lang="zh-CN" altLang="en-US" sz="4400" dirty="0">
              <a:solidFill>
                <a:srgbClr val="44546A"/>
              </a:solidFill>
              <a:latin typeface="微软雅黑" panose="020B0503020204020204" pitchFamily="34" charset="-122"/>
              <a:sym typeface="微软雅黑" panose="020B0503020204020204" pitchFamily="34" charset="-122"/>
            </a:endParaRPr>
          </a:p>
        </p:txBody>
      </p:sp>
      <p:sp>
        <p:nvSpPr>
          <p:cNvPr id="6" name="文本框 5"/>
          <p:cNvSpPr txBox="1"/>
          <p:nvPr/>
        </p:nvSpPr>
        <p:spPr>
          <a:xfrm>
            <a:off x="1410940" y="1792278"/>
            <a:ext cx="9928785" cy="1476027"/>
          </a:xfrm>
          <a:prstGeom prst="rect">
            <a:avLst/>
          </a:prstGeom>
          <a:noFill/>
        </p:spPr>
        <p:txBody>
          <a:bodyPr wrap="square" lIns="0" tIns="72000" bIns="72000" rtlCol="0" anchor="b" anchorCtr="0">
            <a:spAutoFit/>
          </a:bodyPr>
          <a:lstStyle>
            <a:defPPr>
              <a:defRPr lang="zh-CN"/>
            </a:defPPr>
            <a:lvl1pPr>
              <a:lnSpc>
                <a:spcPts val="1800"/>
              </a:lnSpc>
              <a:defRPr sz="1200">
                <a:solidFill>
                  <a:schemeClr val="bg1"/>
                </a:solidFill>
                <a:latin typeface="微软雅黑" panose="020B0503020204020204" pitchFamily="34" charset="-122"/>
                <a:ea typeface="微软雅黑" panose="020B0503020204020204" pitchFamily="34" charset="-122"/>
              </a:defRPr>
            </a:lvl1pPr>
          </a:lstStyle>
          <a:p>
            <a:pPr>
              <a:lnSpc>
                <a:spcPct val="150000"/>
              </a:lnSpc>
            </a:pPr>
            <a:r>
              <a:rPr lang="zh-CN" altLang="en-US" sz="2000" dirty="0">
                <a:solidFill>
                  <a:srgbClr val="44546A"/>
                </a:solidFill>
              </a:rPr>
              <a:t>        它对常用的机器学习方法进行了封装，包括</a:t>
            </a:r>
            <a:r>
              <a:rPr lang="zh-CN" altLang="en-US" sz="2000" b="1" dirty="0">
                <a:solidFill>
                  <a:srgbClr val="44546A"/>
                </a:solidFill>
              </a:rPr>
              <a:t>分类、回归、聚类和降维</a:t>
            </a:r>
            <a:r>
              <a:rPr lang="zh-CN" altLang="en-US" sz="2000" dirty="0">
                <a:solidFill>
                  <a:srgbClr val="44546A"/>
                </a:solidFill>
              </a:rPr>
              <a:t>四大机器学习算法，还包括了特征提取、数据处理和模型评估三大模块。</a:t>
            </a:r>
            <a:endParaRPr lang="en-US" altLang="zh-CN" sz="2000" dirty="0">
              <a:solidFill>
                <a:srgbClr val="44546A"/>
              </a:solidFill>
            </a:endParaRPr>
          </a:p>
          <a:p>
            <a:pPr>
              <a:lnSpc>
                <a:spcPct val="150000"/>
              </a:lnSpc>
            </a:pPr>
            <a:r>
              <a:rPr lang="en-US" altLang="zh-CN" sz="2000" dirty="0">
                <a:solidFill>
                  <a:srgbClr val="44546A"/>
                </a:solidFill>
              </a:rPr>
              <a:t>       </a:t>
            </a:r>
            <a:r>
              <a:rPr lang="en-US" altLang="zh-CN" sz="2000" dirty="0" err="1">
                <a:solidFill>
                  <a:srgbClr val="44546A"/>
                </a:solidFill>
              </a:rPr>
              <a:t>Sklearn</a:t>
            </a:r>
            <a:r>
              <a:rPr lang="en-US" altLang="zh-CN" sz="2000" dirty="0">
                <a:solidFill>
                  <a:srgbClr val="44546A"/>
                </a:solidFill>
              </a:rPr>
              <a:t> </a:t>
            </a:r>
            <a:r>
              <a:rPr lang="zh-CN" altLang="en-US" sz="2000" dirty="0">
                <a:solidFill>
                  <a:srgbClr val="44546A"/>
                </a:solidFill>
              </a:rPr>
              <a:t>基于</a:t>
            </a:r>
            <a:r>
              <a:rPr lang="en-US" altLang="zh-CN" sz="2000" dirty="0">
                <a:solidFill>
                  <a:srgbClr val="44546A"/>
                </a:solidFill>
              </a:rPr>
              <a:t>NumPy</a:t>
            </a:r>
            <a:r>
              <a:rPr lang="zh-CN" altLang="en-US" sz="2000" dirty="0">
                <a:solidFill>
                  <a:srgbClr val="44546A"/>
                </a:solidFill>
              </a:rPr>
              <a:t>和</a:t>
            </a:r>
            <a:r>
              <a:rPr lang="en-US" altLang="zh-CN" sz="2000" dirty="0">
                <a:solidFill>
                  <a:srgbClr val="44546A"/>
                </a:solidFill>
              </a:rPr>
              <a:t>SciPy</a:t>
            </a:r>
            <a:r>
              <a:rPr lang="zh-CN" altLang="en-US" sz="2000" dirty="0">
                <a:solidFill>
                  <a:srgbClr val="44546A"/>
                </a:solidFill>
              </a:rPr>
              <a:t>，支持</a:t>
            </a:r>
            <a:r>
              <a:rPr lang="en-US" altLang="zh-CN" sz="2000" dirty="0">
                <a:solidFill>
                  <a:srgbClr val="44546A"/>
                </a:solidFill>
              </a:rPr>
              <a:t>Windows</a:t>
            </a:r>
            <a:r>
              <a:rPr lang="zh-CN" altLang="en-US" sz="2000" dirty="0">
                <a:solidFill>
                  <a:srgbClr val="44546A"/>
                </a:solidFill>
              </a:rPr>
              <a:t>、</a:t>
            </a:r>
            <a:r>
              <a:rPr lang="en-US" altLang="zh-CN" sz="2000" dirty="0">
                <a:solidFill>
                  <a:srgbClr val="44546A"/>
                </a:solidFill>
              </a:rPr>
              <a:t>macOs</a:t>
            </a:r>
            <a:r>
              <a:rPr lang="zh-CN" altLang="en-US" sz="2000" dirty="0">
                <a:solidFill>
                  <a:srgbClr val="44546A"/>
                </a:solidFill>
              </a:rPr>
              <a:t>、</a:t>
            </a:r>
            <a:r>
              <a:rPr lang="en-US" altLang="zh-CN" sz="2000" dirty="0">
                <a:solidFill>
                  <a:srgbClr val="44546A"/>
                </a:solidFill>
              </a:rPr>
              <a:t>Linux</a:t>
            </a:r>
            <a:r>
              <a:rPr lang="zh-CN" altLang="en-US" sz="2000" dirty="0">
                <a:solidFill>
                  <a:srgbClr val="44546A"/>
                </a:solidFill>
              </a:rPr>
              <a:t>三种平台。</a:t>
            </a:r>
            <a:endParaRPr lang="zh-CN" altLang="en-US" sz="2000" dirty="0">
              <a:solidFill>
                <a:srgbClr val="44546A"/>
              </a:solidFill>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 calcmode="lin" valueType="num">
                                      <p:cBhvr>
                                        <p:cTn id="12" dur="200" fill="hold"/>
                                        <p:tgtEl>
                                          <p:spTgt spid="3"/>
                                        </p:tgtEl>
                                        <p:attrNameLst>
                                          <p:attrName>ppt_w</p:attrName>
                                        </p:attrNameLst>
                                      </p:cBhvr>
                                      <p:tavLst>
                                        <p:tav tm="0">
                                          <p:val>
                                            <p:fltVal val="0"/>
                                          </p:val>
                                        </p:tav>
                                        <p:tav tm="100000">
                                          <p:val>
                                            <p:strVal val="#ppt_w"/>
                                          </p:val>
                                        </p:tav>
                                      </p:tavLst>
                                    </p:anim>
                                    <p:anim calcmode="lin" valueType="num">
                                      <p:cBhvr>
                                        <p:cTn id="13" dur="200" fill="hold"/>
                                        <p:tgtEl>
                                          <p:spTgt spid="3"/>
                                        </p:tgtEl>
                                        <p:attrNameLst>
                                          <p:attrName>ppt_h</p:attrName>
                                        </p:attrNameLst>
                                      </p:cBhvr>
                                      <p:tavLst>
                                        <p:tav tm="0">
                                          <p:val>
                                            <p:fltVal val="0"/>
                                          </p:val>
                                        </p:tav>
                                        <p:tav tm="100000">
                                          <p:val>
                                            <p:strVal val="#ppt_h"/>
                                          </p:val>
                                        </p:tav>
                                      </p:tavLst>
                                    </p:anim>
                                    <p:animEffect transition="in" filter="fade">
                                      <p:cBhvr>
                                        <p:cTn id="14" dur="2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学习模式</a:t>
            </a:r>
          </a:p>
        </p:txBody>
      </p:sp>
      <p:sp>
        <p:nvSpPr>
          <p:cNvPr id="5" name="文本框 4"/>
          <p:cNvSpPr txBox="1"/>
          <p:nvPr/>
        </p:nvSpPr>
        <p:spPr>
          <a:xfrm>
            <a:off x="832884" y="802329"/>
            <a:ext cx="10632559" cy="2797048"/>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首先我们介绍鸢尾花数据集，数据集共收集了</a:t>
            </a:r>
            <a:r>
              <a:rPr lang="en-US" altLang="zh-CN" sz="2400" dirty="0">
                <a:solidFill>
                  <a:srgbClr val="44546A"/>
                </a:solidFill>
                <a:latin typeface="微软雅黑" panose="020B0503020204020204" pitchFamily="34" charset="-122"/>
                <a:ea typeface="微软雅黑" panose="020B0503020204020204" pitchFamily="34" charset="-122"/>
              </a:rPr>
              <a:t>3</a:t>
            </a:r>
            <a:r>
              <a:rPr lang="zh-CN" altLang="en-US" sz="2400" dirty="0">
                <a:solidFill>
                  <a:srgbClr val="44546A"/>
                </a:solidFill>
                <a:latin typeface="微软雅黑" panose="020B0503020204020204" pitchFamily="34" charset="-122"/>
                <a:ea typeface="微软雅黑" panose="020B0503020204020204" pitchFamily="34" charset="-122"/>
              </a:rPr>
              <a:t>类尾花，即 </a:t>
            </a:r>
            <a:r>
              <a:rPr lang="en-US" altLang="zh-CN" sz="2400" dirty="0">
                <a:solidFill>
                  <a:srgbClr val="44546A"/>
                </a:solidFill>
                <a:latin typeface="微软雅黑" panose="020B0503020204020204" pitchFamily="34" charset="-122"/>
                <a:ea typeface="微软雅黑" panose="020B0503020204020204" pitchFamily="34" charset="-122"/>
              </a:rPr>
              <a:t>Setosa</a:t>
            </a:r>
            <a:r>
              <a:rPr lang="zh-CN" altLang="en-US" sz="2400" dirty="0">
                <a:solidFill>
                  <a:srgbClr val="44546A"/>
                </a:solidFill>
                <a:latin typeface="微软雅黑" panose="020B0503020204020204" pitchFamily="34" charset="-122"/>
                <a:ea typeface="微软雅黑" panose="020B0503020204020204" pitchFamily="34" charset="-122"/>
              </a:rPr>
              <a:t>鸢尾花、</a:t>
            </a:r>
            <a:r>
              <a:rPr lang="en-US" altLang="zh-CN" sz="2400" dirty="0">
                <a:solidFill>
                  <a:srgbClr val="44546A"/>
                </a:solidFill>
                <a:latin typeface="微软雅黑" panose="020B0503020204020204" pitchFamily="34" charset="-122"/>
                <a:ea typeface="微软雅黑" panose="020B0503020204020204" pitchFamily="34" charset="-122"/>
              </a:rPr>
              <a:t>Versicolour</a:t>
            </a:r>
            <a:r>
              <a:rPr lang="zh-CN" altLang="en-US" sz="2400" dirty="0">
                <a:solidFill>
                  <a:srgbClr val="44546A"/>
                </a:solidFill>
                <a:latin typeface="微软雅黑" panose="020B0503020204020204" pitchFamily="34" charset="-122"/>
                <a:ea typeface="微软雅黑" panose="020B0503020204020204" pitchFamily="34" charset="-122"/>
              </a:rPr>
              <a:t>鸢尾花和 </a:t>
            </a:r>
            <a:r>
              <a:rPr lang="en-US" altLang="zh-CN" sz="2400" dirty="0">
                <a:solidFill>
                  <a:srgbClr val="44546A"/>
                </a:solidFill>
                <a:latin typeface="微软雅黑" panose="020B0503020204020204" pitchFamily="34" charset="-122"/>
                <a:ea typeface="微软雅黑" panose="020B0503020204020204" pitchFamily="34" charset="-122"/>
              </a:rPr>
              <a:t>Virginica </a:t>
            </a:r>
            <a:r>
              <a:rPr lang="zh-CN" altLang="en-US" sz="2400" dirty="0">
                <a:solidFill>
                  <a:srgbClr val="44546A"/>
                </a:solidFill>
                <a:latin typeface="微软雅黑" panose="020B0503020204020204" pitchFamily="34" charset="-122"/>
                <a:ea typeface="微软雅黑" panose="020B0503020204020204" pitchFamily="34" charset="-122"/>
              </a:rPr>
              <a:t>鸢尾花。</a:t>
            </a:r>
            <a:endParaRPr lang="en-US" altLang="zh-CN" sz="24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对于每一类鸢尾花，收集了</a:t>
            </a:r>
            <a:r>
              <a:rPr lang="en-US" altLang="zh-CN" sz="2400" dirty="0">
                <a:solidFill>
                  <a:srgbClr val="44546A"/>
                </a:solidFill>
                <a:latin typeface="微软雅黑" panose="020B0503020204020204" pitchFamily="34" charset="-122"/>
                <a:ea typeface="微软雅黑" panose="020B0503020204020204" pitchFamily="34" charset="-122"/>
              </a:rPr>
              <a:t>50</a:t>
            </a:r>
            <a:r>
              <a:rPr lang="zh-CN" altLang="en-US" sz="2400" dirty="0">
                <a:solidFill>
                  <a:srgbClr val="44546A"/>
                </a:solidFill>
                <a:latin typeface="微软雅黑" panose="020B0503020204020204" pitchFamily="34" charset="-122"/>
                <a:ea typeface="微软雅黑" panose="020B0503020204020204" pitchFamily="34" charset="-122"/>
              </a:rPr>
              <a:t>条样本记录，共计</a:t>
            </a:r>
            <a:r>
              <a:rPr lang="en-US" altLang="zh-CN" sz="2400" dirty="0">
                <a:solidFill>
                  <a:srgbClr val="44546A"/>
                </a:solidFill>
                <a:latin typeface="微软雅黑" panose="020B0503020204020204" pitchFamily="34" charset="-122"/>
                <a:ea typeface="微软雅黑" panose="020B0503020204020204" pitchFamily="34" charset="-122"/>
              </a:rPr>
              <a:t>150</a:t>
            </a:r>
            <a:r>
              <a:rPr lang="zh-CN" altLang="en-US" sz="2400" dirty="0">
                <a:solidFill>
                  <a:srgbClr val="44546A"/>
                </a:solidFill>
                <a:latin typeface="微软雅黑" panose="020B0503020204020204" pitchFamily="34" charset="-122"/>
                <a:ea typeface="微软雅黑" panose="020B0503020204020204" pitchFamily="34" charset="-122"/>
              </a:rPr>
              <a:t>条。</a:t>
            </a:r>
            <a:endParaRPr lang="en-US" altLang="zh-CN" sz="24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数据集包括</a:t>
            </a:r>
            <a:r>
              <a:rPr lang="en-US" altLang="zh-CN" sz="2400" dirty="0">
                <a:solidFill>
                  <a:srgbClr val="44546A"/>
                </a:solidFill>
                <a:latin typeface="微软雅黑" panose="020B0503020204020204" pitchFamily="34" charset="-122"/>
                <a:ea typeface="微软雅黑" panose="020B0503020204020204" pitchFamily="34" charset="-122"/>
              </a:rPr>
              <a:t>4</a:t>
            </a:r>
            <a:r>
              <a:rPr lang="zh-CN" altLang="en-US" sz="2400" dirty="0">
                <a:solidFill>
                  <a:srgbClr val="44546A"/>
                </a:solidFill>
                <a:latin typeface="微软雅黑" panose="020B0503020204020204" pitchFamily="34" charset="-122"/>
                <a:ea typeface="微软雅黑" panose="020B0503020204020204" pitchFamily="34" charset="-122"/>
              </a:rPr>
              <a:t>种属性，分别为花萼的长、花萼的宽、花瓣的长和花瓣的宽，我们可以根据</a:t>
            </a:r>
            <a:r>
              <a:rPr lang="en-US" altLang="zh-CN" sz="2400" dirty="0">
                <a:solidFill>
                  <a:srgbClr val="44546A"/>
                </a:solidFill>
                <a:latin typeface="微软雅黑" panose="020B0503020204020204" pitchFamily="34" charset="-122"/>
                <a:ea typeface="微软雅黑" panose="020B0503020204020204" pitchFamily="34" charset="-122"/>
              </a:rPr>
              <a:t>4</a:t>
            </a:r>
            <a:r>
              <a:rPr lang="zh-CN" altLang="en-US" sz="2400" dirty="0">
                <a:solidFill>
                  <a:srgbClr val="44546A"/>
                </a:solidFill>
                <a:latin typeface="微软雅黑" panose="020B0503020204020204" pitchFamily="34" charset="-122"/>
                <a:ea typeface="微软雅黑" panose="020B0503020204020204" pitchFamily="34" charset="-122"/>
              </a:rPr>
              <a:t>种属性来区分不同的鸢尾花品种。</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3" name="图片 2"/>
          <p:cNvPicPr>
            <a:picLocks noChangeAspect="1"/>
          </p:cNvPicPr>
          <p:nvPr/>
        </p:nvPicPr>
        <p:blipFill>
          <a:blip r:embed="rId3"/>
          <a:stretch>
            <a:fillRect/>
          </a:stretch>
        </p:blipFill>
        <p:spPr>
          <a:xfrm>
            <a:off x="2352675" y="3838575"/>
            <a:ext cx="7486650" cy="2381250"/>
          </a:xfrm>
          <a:prstGeom prst="rect">
            <a:avLst/>
          </a:prstGeom>
        </p:spPr>
      </p:pic>
    </p:spTree>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学习模式</a:t>
            </a:r>
          </a:p>
        </p:txBody>
      </p:sp>
      <p:sp>
        <p:nvSpPr>
          <p:cNvPr id="3" name="文本框 2"/>
          <p:cNvSpPr txBox="1"/>
          <p:nvPr/>
        </p:nvSpPr>
        <p:spPr>
          <a:xfrm>
            <a:off x="832884" y="8023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a:t>
            </a: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程序解释如下。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934484" y="1332528"/>
            <a:ext cx="10632559" cy="4192943"/>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a:t>
            </a:r>
            <a:r>
              <a:rPr lang="en-US" altLang="zh-CN" sz="2000" dirty="0">
                <a:solidFill>
                  <a:srgbClr val="44546A"/>
                </a:solidFill>
                <a:latin typeface="微软雅黑" panose="020B0503020204020204" pitchFamily="34" charset="-122"/>
                <a:ea typeface="微软雅黑" panose="020B0503020204020204" pitchFamily="34" charset="-122"/>
              </a:rPr>
              <a:t> (1)</a:t>
            </a:r>
            <a:r>
              <a:rPr lang="zh-CN" altLang="en-US" sz="2000" dirty="0">
                <a:solidFill>
                  <a:srgbClr val="44546A"/>
                </a:solidFill>
                <a:latin typeface="微软雅黑" panose="020B0503020204020204" pitchFamily="34" charset="-122"/>
                <a:ea typeface="微软雅黑" panose="020B0503020204020204" pitchFamily="34" charset="-122"/>
              </a:rPr>
              <a:t>、导入数据划分模块，数据划分模块可以将原始数据划分为训练数据集和测试数据集。</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(2)</a:t>
            </a:r>
            <a:r>
              <a:rPr lang="zh-CN" altLang="en-US" sz="2000" dirty="0">
                <a:solidFill>
                  <a:srgbClr val="44546A"/>
                </a:solidFill>
                <a:latin typeface="微软雅黑" panose="020B0503020204020204" pitchFamily="34" charset="-122"/>
                <a:ea typeface="微软雅黑" panose="020B0503020204020204" pitchFamily="34" charset="-122"/>
              </a:rPr>
              <a:t>、导入 </a:t>
            </a:r>
            <a:r>
              <a:rPr lang="en-US" altLang="zh-CN" sz="2000" dirty="0">
                <a:solidFill>
                  <a:srgbClr val="44546A"/>
                </a:solidFill>
                <a:latin typeface="微软雅黑" panose="020B0503020204020204" pitchFamily="34" charset="-122"/>
                <a:ea typeface="微软雅黑" panose="020B0503020204020204" pitchFamily="34" charset="-122"/>
              </a:rPr>
              <a:t>Sklearn </a:t>
            </a:r>
            <a:r>
              <a:rPr lang="zh-CN" altLang="en-US" sz="2000" dirty="0">
                <a:solidFill>
                  <a:srgbClr val="44546A"/>
                </a:solidFill>
                <a:latin typeface="微软雅黑" panose="020B0503020204020204" pitchFamily="34" charset="-122"/>
                <a:ea typeface="微软雅黑" panose="020B0503020204020204" pitchFamily="34" charset="-122"/>
              </a:rPr>
              <a:t>的数据集，</a:t>
            </a:r>
            <a:r>
              <a:rPr lang="en-US" altLang="zh-CN" sz="2000" dirty="0">
                <a:solidFill>
                  <a:srgbClr val="44546A"/>
                </a:solidFill>
                <a:latin typeface="微软雅黑" panose="020B0503020204020204" pitchFamily="34" charset="-122"/>
                <a:ea typeface="微软雅黑" panose="020B0503020204020204" pitchFamily="34" charset="-122"/>
              </a:rPr>
              <a:t>Sklearn </a:t>
            </a:r>
            <a:r>
              <a:rPr lang="zh-CN" altLang="en-US" sz="2000" dirty="0">
                <a:solidFill>
                  <a:srgbClr val="44546A"/>
                </a:solidFill>
                <a:latin typeface="微软雅黑" panose="020B0503020204020204" pitchFamily="34" charset="-122"/>
                <a:ea typeface="微软雅黑" panose="020B0503020204020204" pitchFamily="34" charset="-122"/>
              </a:rPr>
              <a:t>的数据集中自带了很多通用的数据集。</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(3)</a:t>
            </a:r>
            <a:r>
              <a:rPr lang="zh-CN" altLang="en-US" sz="2000" dirty="0">
                <a:solidFill>
                  <a:srgbClr val="44546A"/>
                </a:solidFill>
                <a:latin typeface="微软雅黑" panose="020B0503020204020204" pitchFamily="34" charset="-122"/>
                <a:ea typeface="微软雅黑" panose="020B0503020204020204" pitchFamily="34" charset="-122"/>
              </a:rPr>
              <a:t>、导入 </a:t>
            </a:r>
            <a:r>
              <a:rPr lang="en-US" altLang="zh-CN" sz="2000" dirty="0">
                <a:solidFill>
                  <a:srgbClr val="44546A"/>
                </a:solidFill>
                <a:latin typeface="微软雅黑" panose="020B0503020204020204" pitchFamily="34" charset="-122"/>
                <a:ea typeface="微软雅黑" panose="020B0503020204020204" pitchFamily="34" charset="-122"/>
              </a:rPr>
              <a:t>Sklearn </a:t>
            </a:r>
            <a:r>
              <a:rPr lang="zh-CN" altLang="en-US" sz="2000" dirty="0">
                <a:solidFill>
                  <a:srgbClr val="44546A"/>
                </a:solidFill>
                <a:latin typeface="微软雅黑" panose="020B0503020204020204" pitchFamily="34" charset="-122"/>
                <a:ea typeface="微软雅黑" panose="020B0503020204020204" pitchFamily="34" charset="-122"/>
              </a:rPr>
              <a:t>的近邻分类器，</a:t>
            </a:r>
            <a:r>
              <a:rPr lang="en-US" altLang="zh-CN" sz="2000" dirty="0">
                <a:solidFill>
                  <a:srgbClr val="44546A"/>
                </a:solidFill>
                <a:latin typeface="微软雅黑" panose="020B0503020204020204" pitchFamily="34" charset="-122"/>
                <a:ea typeface="微软雅黑" panose="020B0503020204020204" pitchFamily="34" charset="-122"/>
              </a:rPr>
              <a:t>K</a:t>
            </a:r>
            <a:r>
              <a:rPr lang="zh-CN" altLang="en-US" sz="2000" dirty="0">
                <a:solidFill>
                  <a:srgbClr val="44546A"/>
                </a:solidFill>
                <a:latin typeface="微软雅黑" panose="020B0503020204020204" pitchFamily="34" charset="-122"/>
                <a:ea typeface="微软雅黑" panose="020B0503020204020204" pitchFamily="34" charset="-122"/>
              </a:rPr>
              <a:t>近邻分类器可以将数据集中特征值相近的数据划分为同一类别。</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(4)</a:t>
            </a:r>
            <a:r>
              <a:rPr lang="zh-CN" altLang="en-US" sz="2000" dirty="0">
                <a:solidFill>
                  <a:srgbClr val="44546A"/>
                </a:solidFill>
                <a:latin typeface="微软雅黑" panose="020B0503020204020204" pitchFamily="34" charset="-122"/>
                <a:ea typeface="微软雅黑" panose="020B0503020204020204" pitchFamily="34" charset="-122"/>
              </a:rPr>
              <a:t>、加载数据集中的鸢尾花数据集。</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(5)</a:t>
            </a:r>
            <a:r>
              <a:rPr lang="zh-CN" altLang="en-US" sz="2000" dirty="0">
                <a:solidFill>
                  <a:srgbClr val="44546A"/>
                </a:solidFill>
                <a:latin typeface="微软雅黑" panose="020B0503020204020204" pitchFamily="34" charset="-122"/>
                <a:ea typeface="微软雅黑" panose="020B0503020204020204" pitchFamily="34" charset="-122"/>
              </a:rPr>
              <a:t>、取出数据集中所有的属性 </a:t>
            </a:r>
            <a:r>
              <a:rPr lang="en-US" altLang="zh-CN" sz="2000" dirty="0">
                <a:solidFill>
                  <a:srgbClr val="44546A"/>
                </a:solidFill>
                <a:latin typeface="微软雅黑" panose="020B0503020204020204" pitchFamily="34" charset="-122"/>
                <a:ea typeface="微软雅黑" panose="020B0503020204020204" pitchFamily="34" charset="-122"/>
              </a:rPr>
              <a:t>data</a:t>
            </a:r>
            <a:r>
              <a:rPr lang="zh-CN" altLang="en-US" sz="2000" dirty="0">
                <a:solidFill>
                  <a:srgbClr val="44546A"/>
                </a:solidFill>
                <a:latin typeface="微软雅黑" panose="020B0503020204020204" pitchFamily="34" charset="-122"/>
                <a:ea typeface="微软雅黑" panose="020B0503020204020204" pitchFamily="34" charset="-122"/>
              </a:rPr>
              <a:t>，</a:t>
            </a:r>
            <a:r>
              <a:rPr lang="en-US" altLang="zh-CN" sz="2000" dirty="0">
                <a:solidFill>
                  <a:srgbClr val="44546A"/>
                </a:solidFill>
                <a:latin typeface="微软雅黑" panose="020B0503020204020204" pitchFamily="34" charset="-122"/>
                <a:ea typeface="微软雅黑" panose="020B0503020204020204" pitchFamily="34" charset="-122"/>
              </a:rPr>
              <a:t>data </a:t>
            </a:r>
            <a:r>
              <a:rPr lang="zh-CN" altLang="en-US" sz="2000" dirty="0">
                <a:solidFill>
                  <a:srgbClr val="44546A"/>
                </a:solidFill>
                <a:latin typeface="微软雅黑" panose="020B0503020204020204" pitchFamily="34" charset="-122"/>
                <a:ea typeface="微软雅黑" panose="020B0503020204020204" pitchFamily="34" charset="-122"/>
              </a:rPr>
              <a:t>的格式为 </a:t>
            </a:r>
            <a:r>
              <a:rPr lang="en-US" altLang="zh-CN" sz="2000" dirty="0">
                <a:solidFill>
                  <a:srgbClr val="44546A"/>
                </a:solidFill>
                <a:latin typeface="微软雅黑" panose="020B0503020204020204" pitchFamily="34" charset="-122"/>
                <a:ea typeface="微软雅黑" panose="020B0503020204020204" pitchFamily="34" charset="-122"/>
              </a:rPr>
              <a:t>[5.1 3.5 1.4 0.2][4.9 3.2 1.4 0.2]</a:t>
            </a:r>
            <a:r>
              <a:rPr lang="zh-CN" altLang="en-US" sz="2000" dirty="0">
                <a:solidFill>
                  <a:srgbClr val="44546A"/>
                </a:solidFill>
                <a:latin typeface="微软雅黑" panose="020B0503020204020204" pitchFamily="34" charset="-122"/>
                <a:ea typeface="微软雅黑" panose="020B0503020204020204" pitchFamily="34" charset="-122"/>
              </a:rPr>
              <a:t>每组中有</a:t>
            </a:r>
            <a:r>
              <a:rPr lang="en-US" altLang="zh-CN" sz="2000" dirty="0">
                <a:solidFill>
                  <a:srgbClr val="44546A"/>
                </a:solidFill>
                <a:latin typeface="微软雅黑" panose="020B0503020204020204" pitchFamily="34" charset="-122"/>
                <a:ea typeface="微软雅黑" panose="020B0503020204020204" pitchFamily="34" charset="-122"/>
              </a:rPr>
              <a:t>4</a:t>
            </a:r>
            <a:r>
              <a:rPr lang="zh-CN" altLang="en-US" sz="2000" dirty="0">
                <a:solidFill>
                  <a:srgbClr val="44546A"/>
                </a:solidFill>
                <a:latin typeface="微软雅黑" panose="020B0503020204020204" pitchFamily="34" charset="-122"/>
                <a:ea typeface="微软雅黑" panose="020B0503020204020204" pitchFamily="34" charset="-122"/>
              </a:rPr>
              <a:t>个值，代表着</a:t>
            </a:r>
            <a:r>
              <a:rPr lang="en-US" altLang="zh-CN" sz="2000" dirty="0">
                <a:solidFill>
                  <a:srgbClr val="44546A"/>
                </a:solidFill>
                <a:latin typeface="微软雅黑" panose="020B0503020204020204" pitchFamily="34" charset="-122"/>
                <a:ea typeface="微软雅黑" panose="020B0503020204020204" pitchFamily="34" charset="-122"/>
              </a:rPr>
              <a:t>4</a:t>
            </a:r>
            <a:r>
              <a:rPr lang="zh-CN" altLang="en-US" sz="2000" dirty="0">
                <a:solidFill>
                  <a:srgbClr val="44546A"/>
                </a:solidFill>
                <a:latin typeface="微软雅黑" panose="020B0503020204020204" pitchFamily="34" charset="-122"/>
                <a:ea typeface="微软雅黑" panose="020B0503020204020204" pitchFamily="34" charset="-122"/>
              </a:rPr>
              <a:t>个属性的取值。</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(6)</a:t>
            </a:r>
            <a:r>
              <a:rPr lang="zh-CN" altLang="en-US" sz="2000" dirty="0">
                <a:solidFill>
                  <a:srgbClr val="44546A"/>
                </a:solidFill>
                <a:latin typeface="微软雅黑" panose="020B0503020204020204" pitchFamily="34" charset="-122"/>
                <a:ea typeface="微软雅黑" panose="020B0503020204020204" pitchFamily="34" charset="-122"/>
              </a:rPr>
              <a:t>、取出数据集中的分类，即监督学习中的标签，标记样本集所属的类别，在本例中为</a:t>
            </a:r>
            <a:r>
              <a:rPr lang="en-US" altLang="zh-CN" sz="2000" dirty="0">
                <a:solidFill>
                  <a:srgbClr val="44546A"/>
                </a:solidFill>
                <a:latin typeface="微软雅黑" panose="020B0503020204020204" pitchFamily="34" charset="-122"/>
                <a:ea typeface="微软雅黑" panose="020B0503020204020204" pitchFamily="34" charset="-122"/>
              </a:rPr>
              <a:t>0~2</a:t>
            </a:r>
            <a:r>
              <a:rPr lang="zh-CN" altLang="en-US" sz="2000" dirty="0">
                <a:solidFill>
                  <a:srgbClr val="44546A"/>
                </a:solidFill>
                <a:latin typeface="微软雅黑" panose="020B0503020204020204" pitchFamily="34" charset="-122"/>
                <a:ea typeface="微软雅黑" panose="020B0503020204020204" pitchFamily="34" charset="-122"/>
              </a:rPr>
              <a:t>的数据集，代表着不同类别的鸢尾花。</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学习模式</a:t>
            </a:r>
          </a:p>
        </p:txBody>
      </p:sp>
      <p:sp>
        <p:nvSpPr>
          <p:cNvPr id="3" name="文本框 2"/>
          <p:cNvSpPr txBox="1"/>
          <p:nvPr/>
        </p:nvSpPr>
        <p:spPr>
          <a:xfrm>
            <a:off x="832884" y="8023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a:t>
            </a: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程序解释如下。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934484" y="1332528"/>
            <a:ext cx="10632559" cy="4192943"/>
          </a:xfrm>
          <a:prstGeom prst="rect">
            <a:avLst/>
          </a:prstGeom>
          <a:noFill/>
        </p:spPr>
        <p:txBody>
          <a:bodyPr wrap="square" rtlCol="0" anchor="t">
            <a:spAutoFit/>
          </a:bodyPr>
          <a:lstStyle/>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rPr>
              <a:t>     </a:t>
            </a:r>
            <a:r>
              <a:rPr lang="en-US" altLang="zh-CN" sz="2000" dirty="0">
                <a:solidFill>
                  <a:srgbClr val="44546A"/>
                </a:solidFill>
                <a:latin typeface="微软雅黑" panose="020B0503020204020204" pitchFamily="34" charset="-122"/>
                <a:ea typeface="微软雅黑" panose="020B0503020204020204" pitchFamily="34" charset="-122"/>
              </a:rPr>
              <a:t> (7)</a:t>
            </a:r>
            <a:r>
              <a:rPr lang="zh-CN" altLang="en-US" sz="2000" dirty="0">
                <a:solidFill>
                  <a:srgbClr val="44546A"/>
                </a:solidFill>
                <a:latin typeface="微软雅黑" panose="020B0503020204020204" pitchFamily="34" charset="-122"/>
                <a:ea typeface="微软雅黑" panose="020B0503020204020204" pitchFamily="34" charset="-122"/>
              </a:rPr>
              <a:t>、将数据集切割为训练数据集和测试数据集，目的是区分开两个集合，使它们不会在训练和测试中互相影响。本例中采用的方案是将所有数据集中的 </a:t>
            </a:r>
            <a:r>
              <a:rPr lang="en-US" altLang="zh-CN" sz="2000" dirty="0">
                <a:solidFill>
                  <a:srgbClr val="44546A"/>
                </a:solidFill>
                <a:latin typeface="微软雅黑" panose="020B0503020204020204" pitchFamily="34" charset="-122"/>
                <a:ea typeface="微软雅黑" panose="020B0503020204020204" pitchFamily="34" charset="-122"/>
              </a:rPr>
              <a:t>30% </a:t>
            </a:r>
            <a:r>
              <a:rPr lang="zh-CN" altLang="en-US" sz="2000" dirty="0">
                <a:solidFill>
                  <a:srgbClr val="44546A"/>
                </a:solidFill>
                <a:latin typeface="微软雅黑" panose="020B0503020204020204" pitchFamily="34" charset="-122"/>
                <a:ea typeface="微软雅黑" panose="020B0503020204020204" pitchFamily="34" charset="-122"/>
              </a:rPr>
              <a:t>划分为测试数据集，另外的</a:t>
            </a:r>
            <a:r>
              <a:rPr lang="en-US" altLang="zh-CN" sz="2000" dirty="0">
                <a:solidFill>
                  <a:srgbClr val="44546A"/>
                </a:solidFill>
                <a:latin typeface="微软雅黑" panose="020B0503020204020204" pitchFamily="34" charset="-122"/>
                <a:ea typeface="微软雅黑" panose="020B0503020204020204" pitchFamily="34" charset="-122"/>
              </a:rPr>
              <a:t>70%</a:t>
            </a:r>
            <a:r>
              <a:rPr lang="zh-CN" altLang="en-US" sz="2000" dirty="0">
                <a:solidFill>
                  <a:srgbClr val="44546A"/>
                </a:solidFill>
                <a:latin typeface="微软雅黑" panose="020B0503020204020204" pitchFamily="34" charset="-122"/>
                <a:ea typeface="微软雅黑" panose="020B0503020204020204" pitchFamily="34" charset="-122"/>
              </a:rPr>
              <a:t>划分为训练数据集，即</a:t>
            </a:r>
            <a:r>
              <a:rPr lang="en-US" altLang="zh-CN" sz="2000" dirty="0">
                <a:solidFill>
                  <a:srgbClr val="44546A"/>
                </a:solidFill>
                <a:latin typeface="微软雅黑" panose="020B0503020204020204" pitchFamily="34" charset="-122"/>
                <a:ea typeface="微软雅黑" panose="020B0503020204020204" pitchFamily="34" charset="-122"/>
              </a:rPr>
              <a:t>x_train</a:t>
            </a:r>
            <a:r>
              <a:rPr lang="zh-CN" altLang="en-US" sz="2000" dirty="0">
                <a:solidFill>
                  <a:srgbClr val="44546A"/>
                </a:solidFill>
                <a:latin typeface="微软雅黑" panose="020B0503020204020204" pitchFamily="34" charset="-122"/>
                <a:ea typeface="微软雅黑" panose="020B0503020204020204" pitchFamily="34" charset="-122"/>
              </a:rPr>
              <a:t>、</a:t>
            </a:r>
            <a:r>
              <a:rPr lang="en-US" altLang="zh-CN" sz="2000" dirty="0">
                <a:solidFill>
                  <a:srgbClr val="44546A"/>
                </a:solidFill>
                <a:latin typeface="微软雅黑" panose="020B0503020204020204" pitchFamily="34" charset="-122"/>
                <a:ea typeface="微软雅黑" panose="020B0503020204020204" pitchFamily="34" charset="-122"/>
              </a:rPr>
              <a:t>y_train </a:t>
            </a:r>
            <a:r>
              <a:rPr lang="zh-CN" altLang="en-US" sz="2000" dirty="0">
                <a:solidFill>
                  <a:srgbClr val="44546A"/>
                </a:solidFill>
                <a:latin typeface="微软雅黑" panose="020B0503020204020204" pitchFamily="34" charset="-122"/>
                <a:ea typeface="微软雅黑" panose="020B0503020204020204" pitchFamily="34" charset="-122"/>
              </a:rPr>
              <a:t>的占比为</a:t>
            </a:r>
            <a:r>
              <a:rPr lang="en-US" altLang="zh-CN" sz="2000" dirty="0">
                <a:solidFill>
                  <a:srgbClr val="44546A"/>
                </a:solidFill>
                <a:latin typeface="微软雅黑" panose="020B0503020204020204" pitchFamily="34" charset="-122"/>
                <a:ea typeface="微软雅黑" panose="020B0503020204020204" pitchFamily="34" charset="-122"/>
              </a:rPr>
              <a:t>70%</a:t>
            </a:r>
            <a:r>
              <a:rPr lang="zh-CN" altLang="en-US" sz="2000" dirty="0">
                <a:solidFill>
                  <a:srgbClr val="44546A"/>
                </a:solidFill>
                <a:latin typeface="微软雅黑" panose="020B0503020204020204" pitchFamily="34" charset="-122"/>
                <a:ea typeface="微软雅黑" panose="020B0503020204020204" pitchFamily="34" charset="-122"/>
              </a:rPr>
              <a:t>。需要注意的是，</a:t>
            </a:r>
            <a:r>
              <a:rPr lang="en-US" altLang="zh-CN" sz="2000" dirty="0">
                <a:solidFill>
                  <a:srgbClr val="44546A"/>
                </a:solidFill>
                <a:latin typeface="微软雅黑" panose="020B0503020204020204" pitchFamily="34" charset="-122"/>
                <a:ea typeface="微软雅黑" panose="020B0503020204020204" pitchFamily="34" charset="-122"/>
              </a:rPr>
              <a:t>train_test_ split</a:t>
            </a:r>
            <a:r>
              <a:rPr lang="zh-CN" altLang="en-US" sz="2000" dirty="0">
                <a:solidFill>
                  <a:srgbClr val="44546A"/>
                </a:solidFill>
                <a:latin typeface="微软雅黑" panose="020B0503020204020204" pitchFamily="34" charset="-122"/>
                <a:ea typeface="微软雅黑" panose="020B0503020204020204" pitchFamily="34" charset="-122"/>
              </a:rPr>
              <a:t>还会对数据进行一个打乱的操作，这样是为了使模型可以正确地提取到数据特征和规律。</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(8)</a:t>
            </a:r>
            <a:r>
              <a:rPr lang="zh-CN" altLang="en-US" sz="2000" dirty="0">
                <a:solidFill>
                  <a:srgbClr val="44546A"/>
                </a:solidFill>
                <a:latin typeface="微软雅黑" panose="020B0503020204020204" pitchFamily="34" charset="-122"/>
                <a:ea typeface="微软雅黑" panose="020B0503020204020204" pitchFamily="34" charset="-122"/>
              </a:rPr>
              <a:t>、定义模型方法，本例中采用</a:t>
            </a:r>
            <a:r>
              <a:rPr lang="en-US" altLang="zh-CN" sz="2000" dirty="0">
                <a:solidFill>
                  <a:srgbClr val="44546A"/>
                </a:solidFill>
                <a:latin typeface="微软雅黑" panose="020B0503020204020204" pitchFamily="34" charset="-122"/>
                <a:ea typeface="微软雅黑" panose="020B0503020204020204" pitchFamily="34" charset="-122"/>
              </a:rPr>
              <a:t>K</a:t>
            </a:r>
            <a:r>
              <a:rPr lang="zh-CN" altLang="en-US" sz="2000" dirty="0">
                <a:solidFill>
                  <a:srgbClr val="44546A"/>
                </a:solidFill>
                <a:latin typeface="微软雅黑" panose="020B0503020204020204" pitchFamily="34" charset="-122"/>
                <a:ea typeface="微软雅黑" panose="020B0503020204020204" pitchFamily="34" charset="-122"/>
              </a:rPr>
              <a:t>近邻算法，简称为 </a:t>
            </a:r>
            <a:r>
              <a:rPr lang="en-US" altLang="zh-CN" sz="2000" dirty="0">
                <a:solidFill>
                  <a:srgbClr val="44546A"/>
                </a:solidFill>
                <a:latin typeface="微软雅黑" panose="020B0503020204020204" pitchFamily="34" charset="-122"/>
                <a:ea typeface="微软雅黑" panose="020B0503020204020204" pitchFamily="34" charset="-122"/>
              </a:rPr>
              <a:t>knn</a:t>
            </a:r>
            <a:r>
              <a:rPr lang="zh-CN" altLang="en-US" sz="2000" dirty="0">
                <a:solidFill>
                  <a:srgbClr val="44546A"/>
                </a:solidFill>
                <a:latin typeface="微软雅黑" panose="020B0503020204020204" pitchFamily="34" charset="-122"/>
                <a:ea typeface="微软雅黑" panose="020B0503020204020204" pitchFamily="34" charset="-122"/>
              </a:rPr>
              <a:t>。</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rPr>
              <a:t>     (9)</a:t>
            </a:r>
            <a:r>
              <a:rPr lang="zh-CN" altLang="en-US" sz="2000" dirty="0">
                <a:solidFill>
                  <a:srgbClr val="44546A"/>
                </a:solidFill>
                <a:latin typeface="微软雅黑" panose="020B0503020204020204" pitchFamily="34" charset="-122"/>
                <a:ea typeface="微软雅黑" panose="020B0503020204020204" pitchFamily="34" charset="-122"/>
              </a:rPr>
              <a:t> 、调用</a:t>
            </a:r>
            <a:r>
              <a:rPr lang="en-US" altLang="zh-CN" sz="2000" dirty="0">
                <a:solidFill>
                  <a:srgbClr val="44546A"/>
                </a:solidFill>
                <a:latin typeface="微软雅黑" panose="020B0503020204020204" pitchFamily="34" charset="-122"/>
                <a:ea typeface="微软雅黑" panose="020B0503020204020204" pitchFamily="34" charset="-122"/>
              </a:rPr>
              <a:t>fit </a:t>
            </a:r>
            <a:r>
              <a:rPr lang="zh-CN" altLang="en-US" sz="2000" dirty="0">
                <a:solidFill>
                  <a:srgbClr val="44546A"/>
                </a:solidFill>
                <a:latin typeface="微软雅黑" panose="020B0503020204020204" pitchFamily="34" charset="-122"/>
                <a:ea typeface="微软雅黑" panose="020B0503020204020204" pitchFamily="34" charset="-122"/>
              </a:rPr>
              <a:t>方法自动完成模型训练，这是关键的一步。</a:t>
            </a:r>
            <a:endParaRPr lang="en-US" altLang="zh-CN" sz="20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sym typeface="+mn-lt"/>
              </a:rPr>
              <a:t>     (10)</a:t>
            </a:r>
            <a:r>
              <a:rPr lang="zh-CN" altLang="en-US"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mn-lt"/>
              </a:rPr>
              <a:t>将测试数据集</a:t>
            </a:r>
            <a:r>
              <a:rPr lang="en-US" altLang="zh-CN" sz="2000" dirty="0" err="1">
                <a:solidFill>
                  <a:srgbClr val="44546A"/>
                </a:solidFill>
                <a:latin typeface="微软雅黑" panose="020B0503020204020204" pitchFamily="34" charset="-122"/>
                <a:ea typeface="微软雅黑" panose="020B0503020204020204" pitchFamily="34" charset="-122"/>
                <a:sym typeface="+mn-lt"/>
              </a:rPr>
              <a:t>x_test</a:t>
            </a:r>
            <a:r>
              <a:rPr lang="zh-CN" altLang="en-US" sz="2000" dirty="0">
                <a:solidFill>
                  <a:srgbClr val="44546A"/>
                </a:solidFill>
                <a:latin typeface="微软雅黑" panose="020B0503020204020204" pitchFamily="34" charset="-122"/>
                <a:ea typeface="微软雅黑" panose="020B0503020204020204" pitchFamily="34" charset="-122"/>
                <a:sym typeface="+mn-lt"/>
              </a:rPr>
              <a:t>应用到训练完成之后的 </a:t>
            </a:r>
            <a:r>
              <a:rPr lang="en-US" altLang="zh-CN" sz="2000" dirty="0">
                <a:solidFill>
                  <a:srgbClr val="44546A"/>
                </a:solidFill>
                <a:latin typeface="微软雅黑" panose="020B0503020204020204" pitchFamily="34" charset="-122"/>
                <a:ea typeface="微软雅黑" panose="020B0503020204020204" pitchFamily="34" charset="-122"/>
                <a:sym typeface="+mn-lt"/>
              </a:rPr>
              <a:t>knn </a:t>
            </a:r>
            <a:r>
              <a:rPr lang="zh-CN" altLang="en-US" sz="2000" dirty="0">
                <a:solidFill>
                  <a:srgbClr val="44546A"/>
                </a:solidFill>
                <a:latin typeface="微软雅黑" panose="020B0503020204020204" pitchFamily="34" charset="-122"/>
                <a:ea typeface="微软雅黑" panose="020B0503020204020204" pitchFamily="34" charset="-122"/>
                <a:sym typeface="+mn-lt"/>
              </a:rPr>
              <a:t>模型中，并输出预测结果。</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en-US" altLang="zh-CN" sz="2000" dirty="0">
                <a:solidFill>
                  <a:srgbClr val="44546A"/>
                </a:solidFill>
                <a:latin typeface="微软雅黑" panose="020B0503020204020204" pitchFamily="34" charset="-122"/>
                <a:ea typeface="微软雅黑" panose="020B0503020204020204" pitchFamily="34" charset="-122"/>
                <a:sym typeface="+mn-lt"/>
              </a:rPr>
              <a:t>     (11)</a:t>
            </a:r>
            <a:r>
              <a:rPr lang="zh-CN" altLang="en-US" sz="2000" dirty="0">
                <a:solidFill>
                  <a:srgbClr val="44546A"/>
                </a:solidFill>
                <a:latin typeface="微软雅黑" panose="020B0503020204020204" pitchFamily="34" charset="-122"/>
                <a:ea typeface="微软雅黑" panose="020B0503020204020204" pitchFamily="34" charset="-122"/>
              </a:rPr>
              <a:t> 、</a:t>
            </a:r>
            <a:r>
              <a:rPr lang="zh-CN" altLang="en-US" sz="2000" dirty="0">
                <a:solidFill>
                  <a:srgbClr val="44546A"/>
                </a:solidFill>
                <a:latin typeface="微软雅黑" panose="020B0503020204020204" pitchFamily="34" charset="-122"/>
                <a:ea typeface="微软雅黑" panose="020B0503020204020204" pitchFamily="34" charset="-122"/>
                <a:sym typeface="+mn-lt"/>
              </a:rPr>
              <a:t>输出测试数据集中的真实结果，对比步骤</a:t>
            </a:r>
            <a:r>
              <a:rPr lang="en-US" altLang="zh-CN" sz="2000" dirty="0">
                <a:solidFill>
                  <a:srgbClr val="44546A"/>
                </a:solidFill>
                <a:latin typeface="微软雅黑" panose="020B0503020204020204" pitchFamily="34" charset="-122"/>
                <a:ea typeface="微软雅黑" panose="020B0503020204020204" pitchFamily="34" charset="-122"/>
                <a:sym typeface="+mn-lt"/>
              </a:rPr>
              <a:t>(10)</a:t>
            </a:r>
            <a:r>
              <a:rPr lang="zh-CN" altLang="en-US" sz="2000" dirty="0">
                <a:solidFill>
                  <a:srgbClr val="44546A"/>
                </a:solidFill>
                <a:latin typeface="微软雅黑" panose="020B0503020204020204" pitchFamily="34" charset="-122"/>
                <a:ea typeface="微软雅黑" panose="020B0503020204020204" pitchFamily="34" charset="-122"/>
                <a:sym typeface="+mn-lt"/>
              </a:rPr>
              <a:t>中的结果，可以分析预测结果和真实结果之间的误差。</a:t>
            </a:r>
          </a:p>
        </p:txBody>
      </p:sp>
    </p:spTree>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学习模式</a:t>
            </a:r>
          </a:p>
        </p:txBody>
      </p:sp>
      <p:sp>
        <p:nvSpPr>
          <p:cNvPr id="3" name="文本框 2"/>
          <p:cNvSpPr txBox="1"/>
          <p:nvPr/>
        </p:nvSpPr>
        <p:spPr>
          <a:xfrm>
            <a:off x="832884" y="802329"/>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a:t>
            </a:r>
            <a:r>
              <a:rPr lang="en-US" altLang="zh-CN" sz="2400" dirty="0">
                <a:solidFill>
                  <a:srgbClr val="44546A"/>
                </a:solidFill>
                <a:latin typeface="微软雅黑" panose="020B0503020204020204" pitchFamily="34" charset="-122"/>
                <a:ea typeface="微软雅黑" panose="020B0503020204020204" pitchFamily="34" charset="-122"/>
              </a:rPr>
              <a:t> </a:t>
            </a:r>
            <a:r>
              <a:rPr lang="zh-CN" altLang="en-US" sz="2400" dirty="0">
                <a:solidFill>
                  <a:srgbClr val="44546A"/>
                </a:solidFill>
                <a:latin typeface="微软雅黑" panose="020B0503020204020204" pitchFamily="34" charset="-122"/>
                <a:ea typeface="微软雅黑" panose="020B0503020204020204" pitchFamily="34" charset="-122"/>
              </a:rPr>
              <a:t>输出结果如下。</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1624012" y="2006311"/>
            <a:ext cx="8943975" cy="476250"/>
          </a:xfrm>
          <a:prstGeom prst="rect">
            <a:avLst/>
          </a:prstGeom>
        </p:spPr>
      </p:pic>
      <p:sp>
        <p:nvSpPr>
          <p:cNvPr id="4" name="文本框 3">
            <a:extLst>
              <a:ext uri="{FF2B5EF4-FFF2-40B4-BE49-F238E27FC236}">
                <a16:creationId xmlns:a16="http://schemas.microsoft.com/office/drawing/2014/main" id="{15C1E81A-B76E-911F-CEA5-4F07BBD8F546}"/>
              </a:ext>
            </a:extLst>
          </p:cNvPr>
          <p:cNvSpPr txBox="1"/>
          <p:nvPr/>
        </p:nvSpPr>
        <p:spPr>
          <a:xfrm>
            <a:off x="959835" y="3253915"/>
            <a:ext cx="10054504" cy="2797048"/>
          </a:xfrm>
          <a:prstGeom prst="rect">
            <a:avLst/>
          </a:prstGeom>
          <a:noFill/>
        </p:spPr>
        <p:txBody>
          <a:bodyPr wrap="square" rtlCol="0">
            <a:spAutoFit/>
          </a:bodyPr>
          <a:lstStyle/>
          <a:p>
            <a:pPr marR="0" lvl="0" indent="0" fontAlgn="auto">
              <a:lnSpc>
                <a:spcPct val="150000"/>
              </a:lnSpc>
              <a:spcBef>
                <a:spcPts val="0"/>
              </a:spcBef>
              <a:spcAft>
                <a:spcPts val="0"/>
              </a:spcAft>
              <a:buClrTx/>
              <a:buSzTx/>
              <a:buFontTx/>
              <a:buNone/>
              <a:defRPr/>
            </a:pPr>
            <a:r>
              <a:rPr lang="en-US" altLang="zh-CN" sz="2400" dirty="0">
                <a:solidFill>
                  <a:srgbClr val="44546A"/>
                </a:solidFill>
                <a:latin typeface="微软雅黑" panose="020B0503020204020204" pitchFamily="34" charset="-122"/>
                <a:ea typeface="微软雅黑" panose="020B0503020204020204" pitchFamily="34" charset="-122"/>
                <a:sym typeface="+mn-lt"/>
              </a:rPr>
              <a:t>	</a:t>
            </a:r>
            <a:r>
              <a:rPr lang="zh-CN" altLang="en-US" sz="2400" dirty="0">
                <a:solidFill>
                  <a:srgbClr val="44546A"/>
                </a:solidFill>
                <a:latin typeface="微软雅黑" panose="020B0503020204020204" pitchFamily="34" charset="-122"/>
                <a:ea typeface="微软雅黑" panose="020B0503020204020204" pitchFamily="34" charset="-122"/>
                <a:sym typeface="+mn-lt"/>
              </a:rPr>
              <a:t>从上面的结果我们可以看出，预测值和真实值是不完全一样的，这说明机器学习得出的训练结果只能无限趋近于真实值，不能完全和真实值一样。</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a:p>
            <a:pPr marR="0" lvl="0" indent="0" fontAlgn="auto">
              <a:lnSpc>
                <a:spcPct val="150000"/>
              </a:lnSpc>
              <a:spcBef>
                <a:spcPts val="0"/>
              </a:spcBef>
              <a:spcAft>
                <a:spcPts val="0"/>
              </a:spcAft>
              <a:buClrTx/>
              <a:buSzTx/>
              <a:buFontTx/>
              <a:buNone/>
              <a:defRPr/>
            </a:pPr>
            <a:r>
              <a:rPr lang="en-US" altLang="zh-CN" sz="2400" dirty="0">
                <a:solidFill>
                  <a:srgbClr val="44546A"/>
                </a:solidFill>
                <a:latin typeface="微软雅黑" panose="020B0503020204020204" pitchFamily="34" charset="-122"/>
                <a:ea typeface="微软雅黑" panose="020B0503020204020204" pitchFamily="34" charset="-122"/>
                <a:sym typeface="+mn-lt"/>
              </a:rPr>
              <a:t>	</a:t>
            </a:r>
            <a:r>
              <a:rPr lang="zh-CN" altLang="en-US" sz="2400" dirty="0">
                <a:solidFill>
                  <a:srgbClr val="44546A"/>
                </a:solidFill>
                <a:latin typeface="微软雅黑" panose="020B0503020204020204" pitchFamily="34" charset="-122"/>
                <a:ea typeface="微软雅黑" panose="020B0503020204020204" pitchFamily="34" charset="-122"/>
                <a:sym typeface="+mn-lt"/>
              </a:rPr>
              <a:t>如上所述就是 </a:t>
            </a:r>
            <a:r>
              <a:rPr lang="en-US" altLang="zh-CN" sz="2400" dirty="0" err="1">
                <a:solidFill>
                  <a:srgbClr val="44546A"/>
                </a:solidFill>
                <a:latin typeface="微软雅黑" panose="020B0503020204020204" pitchFamily="34" charset="-122"/>
                <a:ea typeface="微软雅黑" panose="020B0503020204020204" pitchFamily="34" charset="-122"/>
                <a:sym typeface="+mn-lt"/>
              </a:rPr>
              <a:t>Sklearn</a:t>
            </a:r>
            <a:r>
              <a:rPr lang="en-US" altLang="zh-CN" sz="2400" dirty="0">
                <a:solidFill>
                  <a:srgbClr val="44546A"/>
                </a:solidFill>
                <a:latin typeface="微软雅黑" panose="020B0503020204020204" pitchFamily="34" charset="-122"/>
                <a:ea typeface="微软雅黑" panose="020B0503020204020204" pitchFamily="34" charset="-122"/>
                <a:sym typeface="+mn-lt"/>
              </a:rPr>
              <a:t> </a:t>
            </a:r>
            <a:r>
              <a:rPr lang="zh-CN" altLang="en-US" sz="2400" dirty="0">
                <a:solidFill>
                  <a:srgbClr val="44546A"/>
                </a:solidFill>
                <a:latin typeface="微软雅黑" panose="020B0503020204020204" pitchFamily="34" charset="-122"/>
                <a:ea typeface="微软雅黑" panose="020B0503020204020204" pitchFamily="34" charset="-122"/>
                <a:sym typeface="+mn-lt"/>
              </a:rPr>
              <a:t>的通用学习模式，我们还可以选择不同的数据源、不同的模型不同的数据切割方法等来输出不同的训练效果。</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常用数据集</a:t>
            </a:r>
          </a:p>
        </p:txBody>
      </p:sp>
      <p:sp>
        <p:nvSpPr>
          <p:cNvPr id="3" name="文本框 2"/>
          <p:cNvSpPr txBox="1"/>
          <p:nvPr/>
        </p:nvSpPr>
        <p:spPr>
          <a:xfrm>
            <a:off x="832884" y="80232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在模型的训练过程中离不开数据集，方便的数据集可以使我们把更多的精力放在模型的优化上，</a:t>
            </a:r>
            <a:r>
              <a:rPr lang="en-US" altLang="zh-CN" sz="2400" dirty="0">
                <a:solidFill>
                  <a:srgbClr val="44546A"/>
                </a:solidFill>
                <a:latin typeface="微软雅黑" panose="020B0503020204020204" pitchFamily="34" charset="-122"/>
                <a:ea typeface="微软雅黑" panose="020B0503020204020204" pitchFamily="34" charset="-122"/>
              </a:rPr>
              <a:t>Sklearn</a:t>
            </a:r>
            <a:r>
              <a:rPr lang="zh-CN" altLang="en-US" sz="2400" dirty="0">
                <a:solidFill>
                  <a:srgbClr val="44546A"/>
                </a:solidFill>
                <a:latin typeface="微软雅黑" panose="020B0503020204020204" pitchFamily="34" charset="-122"/>
                <a:ea typeface="微软雅黑" panose="020B0503020204020204" pitchFamily="34" charset="-122"/>
              </a:rPr>
              <a:t>提供了集中类型的数据集。</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1308100" y="2224729"/>
            <a:ext cx="10104179" cy="2346283"/>
          </a:xfrm>
          <a:prstGeom prst="rect">
            <a:avLst/>
          </a:prstGeom>
          <a:noFill/>
        </p:spPr>
        <p:txBody>
          <a:bodyPr wrap="square" rtlCol="0" anchor="t">
            <a:spAutoFit/>
          </a:bodyPr>
          <a:lstStyle/>
          <a:p>
            <a:pPr marL="342900" indent="-342900">
              <a:lnSpc>
                <a:spcPct val="150000"/>
              </a:lnSpc>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rPr>
              <a:t>自带的数据集：</a:t>
            </a:r>
            <a:r>
              <a:rPr lang="en-US" altLang="zh-CN" sz="2000" dirty="0">
                <a:solidFill>
                  <a:srgbClr val="44546A"/>
                </a:solidFill>
                <a:latin typeface="微软雅黑" panose="020B0503020204020204" pitchFamily="34" charset="-122"/>
                <a:ea typeface="微软雅黑" panose="020B0503020204020204" pitchFamily="34" charset="-122"/>
              </a:rPr>
              <a:t>sklearn.datasets.load_&lt;name&gt;</a:t>
            </a:r>
            <a:r>
              <a:rPr lang="zh-CN" altLang="en-US" sz="2000" dirty="0">
                <a:solidFill>
                  <a:srgbClr val="44546A"/>
                </a:solidFill>
                <a:latin typeface="微软雅黑" panose="020B0503020204020204" pitchFamily="34" charset="-122"/>
                <a:ea typeface="微软雅黑" panose="020B0503020204020204" pitchFamily="34" charset="-122"/>
              </a:rPr>
              <a:t>。</a:t>
            </a:r>
            <a:endParaRPr lang="en-US" altLang="zh-CN" sz="2000" dirty="0">
              <a:solidFill>
                <a:srgbClr val="44546A"/>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rPr>
              <a:t>可在线下载的真实数据集： </a:t>
            </a:r>
            <a:r>
              <a:rPr lang="en-US" altLang="zh-CN" sz="2000" dirty="0">
                <a:solidFill>
                  <a:srgbClr val="44546A"/>
                </a:solidFill>
                <a:latin typeface="微软雅黑" panose="020B0503020204020204" pitchFamily="34" charset="-122"/>
                <a:ea typeface="微软雅黑" panose="020B0503020204020204" pitchFamily="34" charset="-122"/>
              </a:rPr>
              <a:t>sklearn.datasets.fetch_&lt;name&gt;</a:t>
            </a:r>
            <a:r>
              <a:rPr lang="zh-CN" altLang="en-US" sz="2000" dirty="0">
                <a:solidFill>
                  <a:srgbClr val="44546A"/>
                </a:solidFill>
                <a:latin typeface="微软雅黑" panose="020B0503020204020204" pitchFamily="34" charset="-122"/>
                <a:ea typeface="微软雅黑" panose="020B0503020204020204" pitchFamily="34" charset="-122"/>
              </a:rPr>
              <a:t>。</a:t>
            </a:r>
            <a:endParaRPr lang="en-US" altLang="zh-CN" sz="2000" dirty="0">
              <a:solidFill>
                <a:srgbClr val="44546A"/>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rPr>
              <a:t>计算机生成的数据集： </a:t>
            </a:r>
            <a:r>
              <a:rPr lang="en-US" altLang="zh-CN" sz="2000" dirty="0">
                <a:solidFill>
                  <a:srgbClr val="44546A"/>
                </a:solidFill>
                <a:latin typeface="微软雅黑" panose="020B0503020204020204" pitchFamily="34" charset="-122"/>
                <a:ea typeface="微软雅黑" panose="020B0503020204020204" pitchFamily="34" charset="-122"/>
              </a:rPr>
              <a:t>sklearn.datasets.make_&lt;name&gt;</a:t>
            </a:r>
            <a:r>
              <a:rPr lang="zh-CN" altLang="en-US" sz="2000" dirty="0">
                <a:solidFill>
                  <a:srgbClr val="44546A"/>
                </a:solidFill>
                <a:latin typeface="微软雅黑" panose="020B0503020204020204" pitchFamily="34" charset="-122"/>
                <a:ea typeface="微软雅黑" panose="020B0503020204020204" pitchFamily="34" charset="-122"/>
              </a:rPr>
              <a:t>。</a:t>
            </a:r>
            <a:endParaRPr lang="en-US" altLang="zh-CN" sz="2000" dirty="0">
              <a:solidFill>
                <a:srgbClr val="44546A"/>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dirty="0">
                <a:solidFill>
                  <a:srgbClr val="44546A"/>
                </a:solidFill>
                <a:latin typeface="微软雅黑" panose="020B0503020204020204" pitchFamily="34" charset="-122"/>
                <a:ea typeface="微软雅黑" panose="020B0503020204020204" pitchFamily="34" charset="-122"/>
              </a:rPr>
              <a:t>svmlight/libsvm </a:t>
            </a:r>
            <a:r>
              <a:rPr lang="zh-CN" altLang="en-US" sz="2000" dirty="0">
                <a:solidFill>
                  <a:srgbClr val="44546A"/>
                </a:solidFill>
                <a:latin typeface="微软雅黑" panose="020B0503020204020204" pitchFamily="34" charset="-122"/>
                <a:ea typeface="微软雅黑" panose="020B0503020204020204" pitchFamily="34" charset="-122"/>
              </a:rPr>
              <a:t>格式的数据集：</a:t>
            </a:r>
            <a:r>
              <a:rPr lang="en-US" altLang="zh-CN" sz="2000" dirty="0">
                <a:solidFill>
                  <a:srgbClr val="44546A"/>
                </a:solidFill>
                <a:latin typeface="微软雅黑" panose="020B0503020204020204" pitchFamily="34" charset="-122"/>
                <a:ea typeface="微软雅黑" panose="020B0503020204020204" pitchFamily="34" charset="-122"/>
              </a:rPr>
              <a:t> sklearn.datasets.load_svmlight_file(…)</a:t>
            </a:r>
            <a:r>
              <a:rPr lang="zh-CN" altLang="en-US" sz="2000" dirty="0">
                <a:solidFill>
                  <a:srgbClr val="44546A"/>
                </a:solidFill>
                <a:latin typeface="微软雅黑" panose="020B0503020204020204" pitchFamily="34" charset="-122"/>
                <a:ea typeface="微软雅黑" panose="020B0503020204020204" pitchFamily="34" charset="-122"/>
              </a:rPr>
              <a:t>。</a:t>
            </a:r>
            <a:endParaRPr lang="en-US" altLang="zh-CN" sz="2000" dirty="0">
              <a:solidFill>
                <a:srgbClr val="44546A"/>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rPr>
              <a:t>在线获取的数据集：</a:t>
            </a:r>
            <a:r>
              <a:rPr lang="en-US" altLang="zh-CN" sz="2000" dirty="0">
                <a:solidFill>
                  <a:srgbClr val="44546A"/>
                </a:solidFill>
                <a:latin typeface="微软雅黑" panose="020B0503020204020204" pitchFamily="34" charset="-122"/>
                <a:ea typeface="微软雅黑" panose="020B0503020204020204" pitchFamily="34" charset="-122"/>
              </a:rPr>
              <a:t> sklearn.datasets.fetch_mldata(...)</a:t>
            </a:r>
            <a:r>
              <a:rPr lang="zh-CN" altLang="en-US" sz="2000" dirty="0">
                <a:solidFill>
                  <a:srgbClr val="44546A"/>
                </a:solidFill>
                <a:latin typeface="微软雅黑" panose="020B0503020204020204" pitchFamily="34" charset="-122"/>
                <a:ea typeface="微软雅黑" panose="020B0503020204020204" pitchFamily="34" charset="-122"/>
              </a:rPr>
              <a:t>。</a:t>
            </a:r>
            <a:endParaRPr lang="zh-CN" altLang="en-US" sz="20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常用数据集</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自带的数据集</a:t>
            </a:r>
          </a:p>
        </p:txBody>
      </p:sp>
      <p:sp>
        <p:nvSpPr>
          <p:cNvPr id="3" name="文本框 2"/>
          <p:cNvSpPr txBox="1"/>
          <p:nvPr/>
        </p:nvSpPr>
        <p:spPr>
          <a:xfrm>
            <a:off x="832884" y="80232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常见的自带的数据集如鸢尾花数据集、波士顿房价数据集、乳腺癌数据集、红酒数据集、葡萄酒数据集等，如表所示。</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graphicFrame>
        <p:nvGraphicFramePr>
          <p:cNvPr id="5" name="表格 5"/>
          <p:cNvGraphicFramePr>
            <a:graphicFrameLocks noGrp="1"/>
          </p:cNvGraphicFramePr>
          <p:nvPr/>
        </p:nvGraphicFramePr>
        <p:xfrm>
          <a:off x="1968500" y="2827866"/>
          <a:ext cx="8127999" cy="3144520"/>
        </p:xfrm>
        <a:graphic>
          <a:graphicData uri="http://schemas.openxmlformats.org/drawingml/2006/table">
            <a:tbl>
              <a:tblPr firstRow="1" bandRow="1">
                <a:tableStyleId>{5C22544A-7EE6-4342-B048-85BDC9FD1C3A}</a:tableStyleId>
              </a:tblPr>
              <a:tblGrid>
                <a:gridCol w="2387600">
                  <a:extLst>
                    <a:ext uri="{9D8B030D-6E8A-4147-A177-3AD203B41FA5}">
                      <a16:colId xmlns:a16="http://schemas.microsoft.com/office/drawing/2014/main" val="20000"/>
                    </a:ext>
                  </a:extLst>
                </a:gridCol>
                <a:gridCol w="3031066">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pPr algn="ctr"/>
                      <a:r>
                        <a:rPr lang="zh-CN" altLang="en-US" dirty="0"/>
                        <a:t>自带的数据集</a:t>
                      </a:r>
                    </a:p>
                  </a:txBody>
                  <a:tcPr/>
                </a:tc>
                <a:tc>
                  <a:txBody>
                    <a:bodyPr/>
                    <a:lstStyle/>
                    <a:p>
                      <a:pPr algn="ctr"/>
                      <a:r>
                        <a:rPr lang="en-US" altLang="zh-CN" dirty="0"/>
                        <a:t>API</a:t>
                      </a:r>
                      <a:endParaRPr lang="zh-CN" altLang="en-US" dirty="0"/>
                    </a:p>
                  </a:txBody>
                  <a:tcPr/>
                </a:tc>
                <a:tc>
                  <a:txBody>
                    <a:bodyPr/>
                    <a:lstStyle/>
                    <a:p>
                      <a:pPr algn="ctr"/>
                      <a:r>
                        <a:rPr lang="zh-CN" altLang="en-US" dirty="0"/>
                        <a:t>数据集特征</a:t>
                      </a:r>
                    </a:p>
                  </a:txBody>
                  <a:tcPr/>
                </a:tc>
                <a:extLst>
                  <a:ext uri="{0D108BD9-81ED-4DB2-BD59-A6C34878D82A}">
                    <a16:rowId xmlns:a16="http://schemas.microsoft.com/office/drawing/2014/main" val="10000"/>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波士顿房价数据集</a:t>
                      </a:r>
                    </a:p>
                  </a:txBody>
                  <a:tcPr/>
                </a:tc>
                <a:tc>
                  <a:txBody>
                    <a:bodyPr/>
                    <a:lstStyle/>
                    <a:p>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load_boston(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可用于回归任务</a:t>
                      </a:r>
                    </a:p>
                  </a:txBody>
                  <a:tcPr/>
                </a:tc>
                <a:extLst>
                  <a:ext uri="{0D108BD9-81ED-4DB2-BD59-A6C34878D82A}">
                    <a16:rowId xmlns:a16="http://schemas.microsoft.com/office/drawing/2014/main" val="10001"/>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鸢尾花数据集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load_iris(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可用于多分类</a:t>
                      </a:r>
                      <a:r>
                        <a:rPr lang="en-US" altLang="zh-CN" sz="2000" kern="1200" dirty="0">
                          <a:solidFill>
                            <a:srgbClr val="44546A"/>
                          </a:solidFill>
                          <a:latin typeface="微软雅黑" panose="020B0503020204020204" pitchFamily="34" charset="-122"/>
                          <a:ea typeface="微软雅黑" panose="020B0503020204020204" pitchFamily="34" charset="-122"/>
                          <a:cs typeface="+mn-cs"/>
                        </a:rPr>
                        <a:t>/</a:t>
                      </a:r>
                      <a:r>
                        <a:rPr lang="zh-CN" altLang="en-US" sz="2000" kern="1200" dirty="0">
                          <a:solidFill>
                            <a:srgbClr val="44546A"/>
                          </a:solidFill>
                          <a:latin typeface="微软雅黑" panose="020B0503020204020204" pitchFamily="34" charset="-122"/>
                          <a:ea typeface="微软雅黑" panose="020B0503020204020204" pitchFamily="34" charset="-122"/>
                          <a:cs typeface="+mn-cs"/>
                        </a:rPr>
                        <a:t>聚类</a:t>
                      </a:r>
                    </a:p>
                  </a:txBody>
                  <a:tcPr/>
                </a:tc>
                <a:extLst>
                  <a:ext uri="{0D108BD9-81ED-4DB2-BD59-A6C34878D82A}">
                    <a16:rowId xmlns:a16="http://schemas.microsoft.com/office/drawing/2014/main" val="10002"/>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糖尿病病情数据集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load_diabets(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可用于回归任务</a:t>
                      </a:r>
                    </a:p>
                  </a:txBody>
                  <a:tcPr/>
                </a:tc>
                <a:extLst>
                  <a:ext uri="{0D108BD9-81ED-4DB2-BD59-A6C34878D82A}">
                    <a16:rowId xmlns:a16="http://schemas.microsoft.com/office/drawing/2014/main" val="10003"/>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手写数字数据集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load_digits(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可用于训练神经网络</a:t>
                      </a:r>
                    </a:p>
                  </a:txBody>
                  <a:tcPr/>
                </a:tc>
                <a:extLst>
                  <a:ext uri="{0D108BD9-81ED-4DB2-BD59-A6C34878D82A}">
                    <a16:rowId xmlns:a16="http://schemas.microsoft.com/office/drawing/2014/main" val="10004"/>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体能训练数据集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 linnerud(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可用于多变量回归</a:t>
                      </a:r>
                    </a:p>
                  </a:txBody>
                  <a:tcPr/>
                </a:tc>
                <a:extLst>
                  <a:ext uri="{0D108BD9-81ED-4DB2-BD59-A6C34878D82A}">
                    <a16:rowId xmlns:a16="http://schemas.microsoft.com/office/drawing/2014/main" val="10005"/>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红酒数据集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 wine(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可用于多分类</a:t>
                      </a:r>
                    </a:p>
                  </a:txBody>
                  <a:tcPr/>
                </a:tc>
                <a:extLst>
                  <a:ext uri="{0D108BD9-81ED-4DB2-BD59-A6C34878D82A}">
                    <a16:rowId xmlns:a16="http://schemas.microsoft.com/office/drawing/2014/main" val="10006"/>
                  </a:ext>
                </a:extLst>
              </a:tr>
              <a:tr h="370840">
                <a:tc>
                  <a:txBody>
                    <a:bodyPr/>
                    <a:lstStyle/>
                    <a:p>
                      <a:pPr algn="ctr"/>
                      <a:r>
                        <a:rPr lang="zh-CN" altLang="en-US" sz="2000" kern="1200" dirty="0">
                          <a:solidFill>
                            <a:srgbClr val="44546A"/>
                          </a:solidFill>
                          <a:latin typeface="微软雅黑" panose="020B0503020204020204" pitchFamily="34" charset="-122"/>
                          <a:ea typeface="微软雅黑" panose="020B0503020204020204" pitchFamily="34" charset="-122"/>
                          <a:cs typeface="+mn-cs"/>
                        </a:rPr>
                        <a:t>乳腺癌数据集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2000" kern="1200" dirty="0">
                          <a:solidFill>
                            <a:srgbClr val="44546A"/>
                          </a:solidFill>
                          <a:latin typeface="微软雅黑" panose="020B0503020204020204" pitchFamily="34" charset="-122"/>
                          <a:ea typeface="微软雅黑" panose="020B0503020204020204" pitchFamily="34" charset="-122"/>
                          <a:cs typeface="+mn-cs"/>
                        </a:rPr>
                        <a:t>load_ breast_cancer( )</a:t>
                      </a:r>
                      <a:endParaRPr lang="zh-CN" altLang="en-US" sz="2000" kern="1200" dirty="0">
                        <a:solidFill>
                          <a:srgbClr val="44546A"/>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2000" kern="1200" dirty="0">
                          <a:solidFill>
                            <a:srgbClr val="44546A"/>
                          </a:solidFill>
                          <a:latin typeface="微软雅黑" panose="020B0503020204020204" pitchFamily="34" charset="-122"/>
                          <a:ea typeface="微软雅黑" panose="020B0503020204020204" pitchFamily="34" charset="-122"/>
                          <a:cs typeface="+mn-cs"/>
                        </a:rPr>
                        <a:t>可用于二分类</a:t>
                      </a:r>
                    </a:p>
                  </a:txBody>
                  <a:tcPr/>
                </a:tc>
                <a:extLst>
                  <a:ext uri="{0D108BD9-81ED-4DB2-BD59-A6C34878D82A}">
                    <a16:rowId xmlns:a16="http://schemas.microsoft.com/office/drawing/2014/main" val="10007"/>
                  </a:ext>
                </a:extLst>
              </a:tr>
            </a:tbl>
          </a:graphicData>
        </a:graphic>
      </p:graphicFrame>
      <p:sp>
        <p:nvSpPr>
          <p:cNvPr id="6" name="文本框 5"/>
          <p:cNvSpPr txBox="1"/>
          <p:nvPr/>
        </p:nvSpPr>
        <p:spPr>
          <a:xfrm>
            <a:off x="4414309" y="2333804"/>
            <a:ext cx="4869392" cy="499624"/>
          </a:xfrm>
          <a:prstGeom prst="rect">
            <a:avLst/>
          </a:prstGeom>
          <a:noFill/>
        </p:spPr>
        <p:txBody>
          <a:bodyPr wrap="square" rtlCol="0" anchor="t">
            <a:spAutoFit/>
          </a:bodyPr>
          <a:lstStyle/>
          <a:p>
            <a:pPr>
              <a:lnSpc>
                <a:spcPct val="150000"/>
              </a:lnSpc>
            </a:pPr>
            <a:r>
              <a:rPr lang="zh-CN" altLang="en-US" sz="2000" b="1" dirty="0">
                <a:solidFill>
                  <a:srgbClr val="44546A"/>
                </a:solidFill>
                <a:latin typeface="微软雅黑" panose="020B0503020204020204" pitchFamily="34" charset="-122"/>
                <a:ea typeface="微软雅黑" panose="020B0503020204020204" pitchFamily="34" charset="-122"/>
              </a:rPr>
              <a:t>表</a:t>
            </a:r>
            <a:r>
              <a:rPr lang="en-US" altLang="zh-CN" sz="2000" b="1" dirty="0">
                <a:solidFill>
                  <a:srgbClr val="44546A"/>
                </a:solidFill>
                <a:latin typeface="微软雅黑" panose="020B0503020204020204" pitchFamily="34" charset="-122"/>
                <a:ea typeface="微软雅黑" panose="020B0503020204020204" pitchFamily="34" charset="-122"/>
              </a:rPr>
              <a:t>  Sklearn</a:t>
            </a:r>
            <a:r>
              <a:rPr lang="zh-CN" altLang="en-US" sz="2000" b="1" dirty="0">
                <a:solidFill>
                  <a:srgbClr val="44546A"/>
                </a:solidFill>
                <a:latin typeface="微软雅黑" panose="020B0503020204020204" pitchFamily="34" charset="-122"/>
                <a:ea typeface="微软雅黑" panose="020B0503020204020204" pitchFamily="34" charset="-122"/>
              </a:rPr>
              <a:t>自带的数据集</a:t>
            </a:r>
            <a:endParaRPr lang="zh-CN" altLang="en-US" sz="2000" b="1"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9" y="297785"/>
            <a:ext cx="964374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机器学习库</a:t>
            </a:r>
            <a:r>
              <a:rPr lang="en-US" altLang="zh-CN" b="1" dirty="0">
                <a:solidFill>
                  <a:srgbClr val="44546A"/>
                </a:solidFill>
                <a:latin typeface="微软雅黑" panose="020B0503020204020204" pitchFamily="34" charset="-122"/>
                <a:ea typeface="微软雅黑" panose="020B0503020204020204" pitchFamily="34" charset="-122"/>
              </a:rPr>
              <a:t>-Sklearn</a:t>
            </a:r>
            <a:r>
              <a:rPr lang="zh-CN" altLang="en-US" b="1" dirty="0">
                <a:solidFill>
                  <a:srgbClr val="44546A"/>
                </a:solidFill>
                <a:latin typeface="微软雅黑" panose="020B0503020204020204" pitchFamily="34" charset="-122"/>
                <a:ea typeface="微软雅黑" panose="020B0503020204020204" pitchFamily="34" charset="-122"/>
              </a:rPr>
              <a:t>常用数据集</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可在线下载的真实数据集</a:t>
            </a:r>
          </a:p>
        </p:txBody>
      </p:sp>
      <p:sp>
        <p:nvSpPr>
          <p:cNvPr id="3" name="文本框 2"/>
          <p:cNvSpPr txBox="1"/>
          <p:nvPr/>
        </p:nvSpPr>
        <p:spPr>
          <a:xfrm>
            <a:off x="832884" y="802329"/>
            <a:ext cx="10632559" cy="11350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rPr>
              <a:t>      </a:t>
            </a:r>
            <a:r>
              <a:rPr lang="en-US" altLang="zh-CN" sz="2400" dirty="0">
                <a:solidFill>
                  <a:srgbClr val="44546A"/>
                </a:solidFill>
                <a:latin typeface="微软雅黑" panose="020B0503020204020204" pitchFamily="34" charset="-122"/>
                <a:ea typeface="微软雅黑" panose="020B0503020204020204" pitchFamily="34" charset="-122"/>
              </a:rPr>
              <a:t>Sklearn</a:t>
            </a:r>
            <a:r>
              <a:rPr lang="zh-CN" altLang="en-US" sz="2400" dirty="0">
                <a:solidFill>
                  <a:srgbClr val="44546A"/>
                </a:solidFill>
                <a:latin typeface="微软雅黑" panose="020B0503020204020204" pitchFamily="34" charset="-122"/>
                <a:ea typeface="微软雅黑" panose="020B0503020204020204" pitchFamily="34" charset="-122"/>
              </a:rPr>
              <a:t>提供了下载真实数据集（如表）的工具，在需要这些数据的时候可以使用</a:t>
            </a:r>
            <a:r>
              <a:rPr lang="en-US" altLang="zh-CN" sz="2400" dirty="0">
                <a:solidFill>
                  <a:srgbClr val="44546A"/>
                </a:solidFill>
                <a:latin typeface="微软雅黑" panose="020B0503020204020204" pitchFamily="34" charset="-122"/>
                <a:ea typeface="微软雅黑" panose="020B0503020204020204" pitchFamily="34" charset="-122"/>
              </a:rPr>
              <a:t>API</a:t>
            </a:r>
            <a:r>
              <a:rPr lang="zh-CN" altLang="en-US" sz="2400" dirty="0">
                <a:solidFill>
                  <a:srgbClr val="44546A"/>
                </a:solidFill>
                <a:latin typeface="微软雅黑" panose="020B0503020204020204" pitchFamily="34" charset="-122"/>
                <a:ea typeface="微软雅黑" panose="020B0503020204020204" pitchFamily="34" charset="-122"/>
              </a:rPr>
              <a:t>来进行下载。</a:t>
            </a:r>
            <a:endParaRPr lang="zh-CN" altLang="en-US" sz="2400" dirty="0">
              <a:solidFill>
                <a:srgbClr val="44546A"/>
              </a:solidFill>
              <a:latin typeface="微软雅黑" panose="020B0503020204020204" pitchFamily="34" charset="-122"/>
              <a:ea typeface="微软雅黑" panose="020B0503020204020204" pitchFamily="34" charset="-122"/>
              <a:sym typeface="+mn-lt"/>
            </a:endParaRPr>
          </a:p>
        </p:txBody>
      </p:sp>
      <p:graphicFrame>
        <p:nvGraphicFramePr>
          <p:cNvPr id="5" name="表格 5"/>
          <p:cNvGraphicFramePr>
            <a:graphicFrameLocks noGrp="1"/>
          </p:cNvGraphicFramePr>
          <p:nvPr/>
        </p:nvGraphicFramePr>
        <p:xfrm>
          <a:off x="567559" y="2827866"/>
          <a:ext cx="10752080" cy="2661920"/>
        </p:xfrm>
        <a:graphic>
          <a:graphicData uri="http://schemas.openxmlformats.org/drawingml/2006/table">
            <a:tbl>
              <a:tblPr firstRow="1" bandRow="1">
                <a:tableStyleId>{5C22544A-7EE6-4342-B048-85BDC9FD1C3A}</a:tableStyleId>
              </a:tblPr>
              <a:tblGrid>
                <a:gridCol w="2556731">
                  <a:extLst>
                    <a:ext uri="{9D8B030D-6E8A-4147-A177-3AD203B41FA5}">
                      <a16:colId xmlns:a16="http://schemas.microsoft.com/office/drawing/2014/main" val="20000"/>
                    </a:ext>
                  </a:extLst>
                </a:gridCol>
                <a:gridCol w="5091786">
                  <a:extLst>
                    <a:ext uri="{9D8B030D-6E8A-4147-A177-3AD203B41FA5}">
                      <a16:colId xmlns:a16="http://schemas.microsoft.com/office/drawing/2014/main" val="20001"/>
                    </a:ext>
                  </a:extLst>
                </a:gridCol>
                <a:gridCol w="3103563">
                  <a:extLst>
                    <a:ext uri="{9D8B030D-6E8A-4147-A177-3AD203B41FA5}">
                      <a16:colId xmlns:a16="http://schemas.microsoft.com/office/drawing/2014/main" val="20002"/>
                    </a:ext>
                  </a:extLst>
                </a:gridCol>
              </a:tblGrid>
              <a:tr h="370840">
                <a:tc>
                  <a:txBody>
                    <a:bodyPr/>
                    <a:lstStyle/>
                    <a:p>
                      <a:pPr algn="ctr"/>
                      <a:r>
                        <a:rPr lang="zh-CN" altLang="en-US" dirty="0"/>
                        <a:t>真实数据集</a:t>
                      </a:r>
                    </a:p>
                  </a:txBody>
                  <a:tcPr/>
                </a:tc>
                <a:tc>
                  <a:txBody>
                    <a:bodyPr/>
                    <a:lstStyle/>
                    <a:p>
                      <a:pPr algn="ctr"/>
                      <a:r>
                        <a:rPr lang="en-US" altLang="zh-CN" dirty="0"/>
                        <a:t>API</a:t>
                      </a:r>
                      <a:endParaRPr lang="zh-CN" altLang="en-US" dirty="0"/>
                    </a:p>
                  </a:txBody>
                  <a:tcPr/>
                </a:tc>
                <a:tc>
                  <a:txBody>
                    <a:bodyPr/>
                    <a:lstStyle/>
                    <a:p>
                      <a:pPr algn="ctr"/>
                      <a:r>
                        <a:rPr lang="zh-CN" altLang="en-US" dirty="0"/>
                        <a:t>简介</a:t>
                      </a:r>
                    </a:p>
                  </a:txBody>
                  <a:tcPr/>
                </a:tc>
                <a:extLst>
                  <a:ext uri="{0D108BD9-81ED-4DB2-BD59-A6C34878D82A}">
                    <a16:rowId xmlns:a16="http://schemas.microsoft.com/office/drawing/2014/main" val="10000"/>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人脸识别数据集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800" kern="1200" dirty="0">
                          <a:solidFill>
                            <a:srgbClr val="44546A"/>
                          </a:solidFill>
                          <a:latin typeface="微软雅黑" panose="020B0503020204020204" pitchFamily="34" charset="-122"/>
                          <a:ea typeface="微软雅黑" panose="020B0503020204020204" pitchFamily="34" charset="-122"/>
                          <a:cs typeface="+mn-cs"/>
                        </a:rPr>
                        <a:t>fetch_olivetti_faces([data_home, shuffle, ...])</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包含人脸数据的数据集</a:t>
                      </a:r>
                    </a:p>
                  </a:txBody>
                  <a:tcPr/>
                </a:tc>
                <a:extLst>
                  <a:ext uri="{0D108BD9-81ED-4DB2-BD59-A6C34878D82A}">
                    <a16:rowId xmlns:a16="http://schemas.microsoft.com/office/drawing/2014/main" val="10001"/>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新闻文档数据</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800" kern="1200" dirty="0">
                          <a:solidFill>
                            <a:srgbClr val="44546A"/>
                          </a:solidFill>
                          <a:latin typeface="微软雅黑" panose="020B0503020204020204" pitchFamily="34" charset="-122"/>
                          <a:ea typeface="微软雅黑" panose="020B0503020204020204" pitchFamily="34" charset="-122"/>
                          <a:cs typeface="+mn-cs"/>
                        </a:rPr>
                        <a:t>fetch_20newsgroups([data_home, subset, ...])</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包含</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18000</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篇文章，共涉及</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20</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种话题</a:t>
                      </a:r>
                    </a:p>
                  </a:txBody>
                  <a:tcPr/>
                </a:tc>
                <a:extLst>
                  <a:ext uri="{0D108BD9-81ED-4DB2-BD59-A6C34878D82A}">
                    <a16:rowId xmlns:a16="http://schemas.microsoft.com/office/drawing/2014/main" val="10002"/>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森木植被数据集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800" kern="1200" dirty="0">
                          <a:solidFill>
                            <a:srgbClr val="44546A"/>
                          </a:solidFill>
                          <a:latin typeface="微软雅黑" panose="020B0503020204020204" pitchFamily="34" charset="-122"/>
                          <a:ea typeface="微软雅黑" panose="020B0503020204020204" pitchFamily="34" charset="-122"/>
                          <a:cs typeface="+mn-cs"/>
                        </a:rPr>
                        <a:t>fetch_covtype([data_home,...])</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包含美国科罗拉多州不同地块的森林植被类型</a:t>
                      </a:r>
                    </a:p>
                  </a:txBody>
                  <a:tcPr/>
                </a:tc>
                <a:extLst>
                  <a:ext uri="{0D108BD9-81ED-4DB2-BD59-A6C34878D82A}">
                    <a16:rowId xmlns:a16="http://schemas.microsoft.com/office/drawing/2014/main" val="10003"/>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800" kern="1200" dirty="0">
                          <a:solidFill>
                            <a:srgbClr val="44546A"/>
                          </a:solidFill>
                          <a:latin typeface="微软雅黑" panose="020B0503020204020204" pitchFamily="34" charset="-122"/>
                          <a:ea typeface="微软雅黑" panose="020B0503020204020204" pitchFamily="34" charset="-122"/>
                          <a:cs typeface="+mn-cs"/>
                        </a:rPr>
                        <a:t>Kdd99</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入侵检测数据集</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800" kern="1200" dirty="0">
                          <a:solidFill>
                            <a:srgbClr val="44546A"/>
                          </a:solidFill>
                          <a:latin typeface="微软雅黑" panose="020B0503020204020204" pitchFamily="34" charset="-122"/>
                          <a:ea typeface="微软雅黑" panose="020B0503020204020204" pitchFamily="34" charset="-122"/>
                          <a:cs typeface="+mn-cs"/>
                        </a:rPr>
                        <a:t>fetch_kddcip99([subset, data_home, shuffle,...])</a:t>
                      </a:r>
                    </a:p>
                  </a:txBody>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800" kern="1200" dirty="0">
                          <a:solidFill>
                            <a:srgbClr val="44546A"/>
                          </a:solidFill>
                          <a:latin typeface="微软雅黑" panose="020B0503020204020204" pitchFamily="34" charset="-122"/>
                          <a:ea typeface="微软雅黑" panose="020B0503020204020204" pitchFamily="34" charset="-122"/>
                          <a:cs typeface="+mn-cs"/>
                        </a:rPr>
                        <a:t>包含</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4</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大类（</a:t>
                      </a:r>
                      <a:r>
                        <a:rPr lang="en-US" altLang="zh-CN" sz="1800" kern="1200" dirty="0">
                          <a:solidFill>
                            <a:srgbClr val="44546A"/>
                          </a:solidFill>
                          <a:latin typeface="微软雅黑" panose="020B0503020204020204" pitchFamily="34" charset="-122"/>
                          <a:ea typeface="微软雅黑" panose="020B0503020204020204" pitchFamily="34" charset="-122"/>
                          <a:cs typeface="+mn-cs"/>
                        </a:rPr>
                        <a:t>39</a:t>
                      </a:r>
                      <a:r>
                        <a:rPr lang="zh-CN" altLang="en-US" sz="1800" kern="1200" dirty="0">
                          <a:solidFill>
                            <a:srgbClr val="44546A"/>
                          </a:solidFill>
                          <a:latin typeface="微软雅黑" panose="020B0503020204020204" pitchFamily="34" charset="-122"/>
                          <a:ea typeface="微软雅黑" panose="020B0503020204020204" pitchFamily="34" charset="-122"/>
                          <a:cs typeface="+mn-cs"/>
                        </a:rPr>
                        <a:t>种攻击类型）网络连接记录</a:t>
                      </a:r>
                    </a:p>
                  </a:txBody>
                  <a:tcPr/>
                </a:tc>
                <a:extLst>
                  <a:ext uri="{0D108BD9-81ED-4DB2-BD59-A6C34878D82A}">
                    <a16:rowId xmlns:a16="http://schemas.microsoft.com/office/drawing/2014/main" val="10004"/>
                  </a:ext>
                </a:extLst>
              </a:tr>
            </a:tbl>
          </a:graphicData>
        </a:graphic>
      </p:graphicFrame>
      <p:sp>
        <p:nvSpPr>
          <p:cNvPr id="6" name="文本框 5"/>
          <p:cNvSpPr txBox="1"/>
          <p:nvPr/>
        </p:nvSpPr>
        <p:spPr>
          <a:xfrm>
            <a:off x="5083050" y="1965632"/>
            <a:ext cx="4869392" cy="499624"/>
          </a:xfrm>
          <a:prstGeom prst="rect">
            <a:avLst/>
          </a:prstGeom>
          <a:noFill/>
        </p:spPr>
        <p:txBody>
          <a:bodyPr wrap="square" rtlCol="0" anchor="t">
            <a:spAutoFit/>
          </a:bodyPr>
          <a:lstStyle/>
          <a:p>
            <a:pPr>
              <a:lnSpc>
                <a:spcPct val="150000"/>
              </a:lnSpc>
            </a:pPr>
            <a:r>
              <a:rPr lang="zh-CN" altLang="en-US" sz="2000" b="1" dirty="0">
                <a:solidFill>
                  <a:srgbClr val="44546A"/>
                </a:solidFill>
                <a:latin typeface="微软雅黑" panose="020B0503020204020204" pitchFamily="34" charset="-122"/>
                <a:ea typeface="微软雅黑" panose="020B0503020204020204" pitchFamily="34" charset="-122"/>
              </a:rPr>
              <a:t>表</a:t>
            </a:r>
            <a:r>
              <a:rPr lang="en-US" altLang="zh-CN" sz="2000" b="1" dirty="0">
                <a:solidFill>
                  <a:srgbClr val="44546A"/>
                </a:solidFill>
                <a:latin typeface="微软雅黑" panose="020B0503020204020204" pitchFamily="34" charset="-122"/>
                <a:ea typeface="微软雅黑" panose="020B0503020204020204" pitchFamily="34" charset="-122"/>
              </a:rPr>
              <a:t>  </a:t>
            </a:r>
            <a:r>
              <a:rPr lang="zh-CN" altLang="en-US" sz="2000" b="1" dirty="0">
                <a:solidFill>
                  <a:srgbClr val="44546A"/>
                </a:solidFill>
                <a:latin typeface="微软雅黑" panose="020B0503020204020204" pitchFamily="34" charset="-122"/>
                <a:ea typeface="微软雅黑" panose="020B0503020204020204" pitchFamily="34" charset="-122"/>
              </a:rPr>
              <a:t>真实数据集</a:t>
            </a:r>
            <a:endParaRPr lang="zh-CN" altLang="en-US" sz="2000" b="1"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1884436"/>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机器学习简介</a:t>
            </a:r>
            <a:endParaRPr lang="en-US" altLang="zh-CN" kern="0" dirty="0">
              <a:solidFill>
                <a:srgbClr val="02B36F"/>
              </a:solidFill>
              <a:effectLst/>
            </a:endParaRPr>
          </a:p>
        </p:txBody>
      </p:sp>
      <p:sp>
        <p:nvSpPr>
          <p:cNvPr id="21" name="圆角矩形 20"/>
          <p:cNvSpPr/>
          <p:nvPr/>
        </p:nvSpPr>
        <p:spPr>
          <a:xfrm>
            <a:off x="5410386" y="2679401"/>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 name="文本框 9"/>
          <p:cNvSpPr txBox="1"/>
          <p:nvPr/>
        </p:nvSpPr>
        <p:spPr>
          <a:xfrm>
            <a:off x="5410387" y="3229291"/>
            <a:ext cx="5388992"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02B36F"/>
                </a:solidFill>
                <a:effectLst/>
              </a:rPr>
              <a:t>机器学习库</a:t>
            </a:r>
            <a:endParaRPr lang="en-US" altLang="zh-CN" kern="0" dirty="0">
              <a:solidFill>
                <a:srgbClr val="02B36F"/>
              </a:solidFill>
              <a:effectLst/>
            </a:endParaRPr>
          </a:p>
        </p:txBody>
      </p:sp>
      <p:sp>
        <p:nvSpPr>
          <p:cNvPr id="11" name="圆角矩形 10"/>
          <p:cNvSpPr/>
          <p:nvPr/>
        </p:nvSpPr>
        <p:spPr>
          <a:xfrm>
            <a:off x="5410387" y="402425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1500" fill="hold"/>
                                        <p:tgtEl>
                                          <p:spTgt spid="10"/>
                                        </p:tgtEl>
                                        <p:attrNameLst>
                                          <p:attrName>ppt_x</p:attrName>
                                        </p:attrNameLst>
                                      </p:cBhvr>
                                      <p:tavLst>
                                        <p:tav tm="0">
                                          <p:val>
                                            <p:strVal val="1+#ppt_w/2"/>
                                          </p:val>
                                        </p:tav>
                                        <p:tav tm="100000">
                                          <p:val>
                                            <p:strVal val="#ppt_x"/>
                                          </p:val>
                                        </p:tav>
                                      </p:tavLst>
                                    </p:anim>
                                    <p:anim calcmode="lin" valueType="num">
                                      <p:cBhvr additive="base">
                                        <p:cTn id="24" dur="1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10" grpId="0" bldLvl="0" animBg="1"/>
      <p:bldP spid="10" grpId="1" bldLvl="0" animBg="1"/>
      <p:bldP spid="11"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0" y="2646564"/>
            <a:ext cx="12192000"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000" dirty="0">
                <a:solidFill>
                  <a:srgbClr val="44546A"/>
                </a:solidFill>
              </a:rPr>
              <a:t>机器学习（四）</a:t>
            </a: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10" name="文本框 9"/>
          <p:cNvSpPr txBox="1"/>
          <p:nvPr/>
        </p:nvSpPr>
        <p:spPr>
          <a:xfrm>
            <a:off x="5269946" y="2752865"/>
            <a:ext cx="5997494"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lvl="0">
              <a:defRPr/>
            </a:pPr>
            <a:r>
              <a:rPr lang="zh-CN" altLang="en-US" kern="0" dirty="0">
                <a:solidFill>
                  <a:srgbClr val="4494C8"/>
                </a:solidFill>
                <a:effectLst/>
              </a:rPr>
              <a:t>在</a:t>
            </a:r>
            <a:r>
              <a:rPr lang="en-US" altLang="zh-CN" kern="0" dirty="0">
                <a:solidFill>
                  <a:srgbClr val="4494C8"/>
                </a:solidFill>
                <a:effectLst/>
              </a:rPr>
              <a:t>scikit-learn</a:t>
            </a:r>
            <a:r>
              <a:rPr lang="zh-CN" altLang="en-US" kern="0" dirty="0">
                <a:solidFill>
                  <a:srgbClr val="4494C8"/>
                </a:solidFill>
                <a:effectLst/>
              </a:rPr>
              <a:t>使用各大算法</a:t>
            </a:r>
            <a:endParaRPr lang="en-US" altLang="zh-CN" kern="0" dirty="0">
              <a:solidFill>
                <a:srgbClr val="4494C8"/>
              </a:solidFill>
              <a:effectLst/>
            </a:endParaRPr>
          </a:p>
        </p:txBody>
      </p:sp>
      <p:sp>
        <p:nvSpPr>
          <p:cNvPr id="11" name="圆角矩形 10"/>
          <p:cNvSpPr/>
          <p:nvPr/>
        </p:nvSpPr>
        <p:spPr>
          <a:xfrm>
            <a:off x="5269947" y="3547830"/>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500" fill="hold"/>
                                        <p:tgtEl>
                                          <p:spTgt spid="10"/>
                                        </p:tgtEl>
                                        <p:attrNameLst>
                                          <p:attrName>ppt_x</p:attrName>
                                        </p:attrNameLst>
                                      </p:cBhvr>
                                      <p:tavLst>
                                        <p:tav tm="0">
                                          <p:val>
                                            <p:strVal val="1+#ppt_w/2"/>
                                          </p:val>
                                        </p:tav>
                                        <p:tav tm="100000">
                                          <p:val>
                                            <p:strVal val="#ppt_x"/>
                                          </p:val>
                                        </p:tav>
                                      </p:tavLst>
                                    </p:anim>
                                    <p:anim calcmode="lin" valueType="num">
                                      <p:cBhvr additive="base">
                                        <p:cTn id="14" dur="1500" fill="hold"/>
                                        <p:tgtEl>
                                          <p:spTgt spid="1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0" grpId="0" bldLvl="0" animBg="1"/>
      <p:bldP spid="10" grpId="1" bldLvl="0" animBg="1"/>
      <p:bldP spid="11"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p>
        </p:txBody>
      </p:sp>
      <p:sp>
        <p:nvSpPr>
          <p:cNvPr id="3" name="文本框 2"/>
          <p:cNvSpPr txBox="1"/>
          <p:nvPr/>
        </p:nvSpPr>
        <p:spPr>
          <a:xfrm>
            <a:off x="779720" y="777917"/>
            <a:ext cx="10632559" cy="2797048"/>
          </a:xfrm>
          <a:prstGeom prst="rect">
            <a:avLst/>
          </a:prstGeom>
          <a:noFill/>
        </p:spPr>
        <p:txBody>
          <a:bodyPr wrap="square" rtlCol="0" anchor="t">
            <a:spAutoFit/>
          </a:bodyPr>
          <a:lstStyle/>
          <a:p>
            <a:pPr>
              <a:lnSpc>
                <a:spcPct val="150000"/>
              </a:lnSpc>
            </a:pPr>
            <a:r>
              <a:rPr lang="zh-CN" altLang="en-US" sz="2400" b="0" dirty="0">
                <a:solidFill>
                  <a:srgbClr val="44546A"/>
                </a:solidFill>
                <a:latin typeface="微软雅黑" panose="020B0503020204020204" pitchFamily="34" charset="-122"/>
                <a:ea typeface="微软雅黑" panose="020B0503020204020204" pitchFamily="34" charset="-122"/>
                <a:sym typeface="+mn-lt"/>
              </a:rPr>
              <a:t>       以一个医疗行业较为经典的肿瘤预测模型为例，讲解如何在实战中</a:t>
            </a:r>
            <a:r>
              <a:rPr lang="zh-CN" altLang="en-US" sz="2400" b="1" dirty="0">
                <a:solidFill>
                  <a:srgbClr val="44546A"/>
                </a:solidFill>
                <a:latin typeface="微软雅黑" panose="020B0503020204020204" pitchFamily="34" charset="-122"/>
                <a:ea typeface="微软雅黑" panose="020B0503020204020204" pitchFamily="34" charset="-122"/>
                <a:sym typeface="+mn-lt"/>
              </a:rPr>
              <a:t>应用朴素贝叶斯模型</a:t>
            </a:r>
            <a:r>
              <a:rPr lang="zh-CN" altLang="en-US" sz="2400" b="0" dirty="0">
                <a:solidFill>
                  <a:srgbClr val="44546A"/>
                </a:solidFill>
                <a:latin typeface="微软雅黑" panose="020B0503020204020204" pitchFamily="34" charset="-122"/>
                <a:ea typeface="微软雅黑" panose="020B0503020204020204" pitchFamily="34" charset="-122"/>
                <a:sym typeface="+mn-lt"/>
              </a:rPr>
              <a:t>来</a:t>
            </a:r>
            <a:r>
              <a:rPr lang="zh-CN" altLang="en-US" sz="2400" b="1" dirty="0">
                <a:solidFill>
                  <a:srgbClr val="44546A"/>
                </a:solidFill>
                <a:latin typeface="微软雅黑" panose="020B0503020204020204" pitchFamily="34" charset="-122"/>
                <a:ea typeface="微软雅黑" panose="020B0503020204020204" pitchFamily="34" charset="-122"/>
                <a:sym typeface="+mn-lt"/>
              </a:rPr>
              <a:t>预测肿瘤为良性肿瘤还是恶性肿瘤</a:t>
            </a:r>
            <a:r>
              <a:rPr lang="zh-CN" altLang="en-US" sz="2400" b="0" dirty="0">
                <a:solidFill>
                  <a:srgbClr val="44546A"/>
                </a:solidFill>
                <a:latin typeface="微软雅黑" panose="020B0503020204020204" pitchFamily="34" charset="-122"/>
                <a:ea typeface="微软雅黑" panose="020B0503020204020204" pitchFamily="34" charset="-122"/>
                <a:sym typeface="+mn-lt"/>
              </a:rPr>
              <a:t>。</a:t>
            </a:r>
            <a:endParaRPr lang="en-US" altLang="zh-CN" sz="2400" b="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sym typeface="+mn-lt"/>
              </a:rPr>
              <a:t>       </a:t>
            </a:r>
            <a:r>
              <a:rPr lang="zh-CN" altLang="en-US" sz="2400" b="0" dirty="0">
                <a:solidFill>
                  <a:srgbClr val="44546A"/>
                </a:solidFill>
                <a:latin typeface="微软雅黑" panose="020B0503020204020204" pitchFamily="34" charset="-122"/>
                <a:ea typeface="微软雅黑" panose="020B0503020204020204" pitchFamily="34" charset="-122"/>
                <a:sym typeface="+mn-lt"/>
              </a:rPr>
              <a:t>肿瘤性质的判断影响着患者的治疗方式和痊愈速度。传统的做法是医生根据数十个指标来判断肿瘤的性质，预测效果依赖于医生的个人经验而且效率较低，而通过机器学习，我们有望能快速预测肿瘤的性质。</a:t>
            </a:r>
            <a:endParaRPr lang="en-US" altLang="zh-CN" sz="2400" b="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p>
        </p:txBody>
      </p:sp>
      <p:grpSp>
        <p:nvGrpSpPr>
          <p:cNvPr id="6" name="组合 5">
            <a:extLst>
              <a:ext uri="{FF2B5EF4-FFF2-40B4-BE49-F238E27FC236}">
                <a16:creationId xmlns:a16="http://schemas.microsoft.com/office/drawing/2014/main" id="{48E6B611-0C73-B99F-DFA1-5010B9172C1C}"/>
              </a:ext>
            </a:extLst>
          </p:cNvPr>
          <p:cNvGrpSpPr/>
          <p:nvPr/>
        </p:nvGrpSpPr>
        <p:grpSpPr>
          <a:xfrm>
            <a:off x="3011247" y="1204864"/>
            <a:ext cx="6169505" cy="4448272"/>
            <a:chOff x="4421459" y="2274075"/>
            <a:chExt cx="3241862" cy="2343978"/>
          </a:xfrm>
        </p:grpSpPr>
        <p:pic>
          <p:nvPicPr>
            <p:cNvPr id="3" name="图片 2"/>
            <p:cNvPicPr>
              <a:picLocks noChangeAspect="1"/>
            </p:cNvPicPr>
            <p:nvPr/>
          </p:nvPicPr>
          <p:blipFill>
            <a:blip r:embed="rId3"/>
            <a:stretch>
              <a:fillRect/>
            </a:stretch>
          </p:blipFill>
          <p:spPr>
            <a:xfrm>
              <a:off x="4421459" y="2274903"/>
              <a:ext cx="2295525" cy="2343150"/>
            </a:xfrm>
            <a:prstGeom prst="rect">
              <a:avLst/>
            </a:prstGeom>
          </p:spPr>
        </p:pic>
        <p:pic>
          <p:nvPicPr>
            <p:cNvPr id="4" name="图片 3"/>
            <p:cNvPicPr>
              <a:picLocks noChangeAspect="1"/>
            </p:cNvPicPr>
            <p:nvPr/>
          </p:nvPicPr>
          <p:blipFill>
            <a:blip r:embed="rId4"/>
            <a:stretch>
              <a:fillRect/>
            </a:stretch>
          </p:blipFill>
          <p:spPr>
            <a:xfrm>
              <a:off x="6729871" y="2274075"/>
              <a:ext cx="933450" cy="2324100"/>
            </a:xfrm>
            <a:prstGeom prst="rect">
              <a:avLst/>
            </a:prstGeom>
          </p:spPr>
        </p:pic>
      </p:grpSp>
    </p:spTree>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p>
        </p:txBody>
      </p:sp>
      <p:sp>
        <p:nvSpPr>
          <p:cNvPr id="3" name="文本框 2"/>
          <p:cNvSpPr txBox="1"/>
          <p:nvPr/>
        </p:nvSpPr>
        <p:spPr>
          <a:xfrm>
            <a:off x="779720" y="777917"/>
            <a:ext cx="10632559" cy="6625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a:t>
            </a:r>
            <a:r>
              <a:rPr lang="zh-CN" altLang="en-US" sz="2800" dirty="0">
                <a:solidFill>
                  <a:srgbClr val="44546A"/>
                </a:solidFill>
                <a:latin typeface="微软雅黑" panose="020B0503020204020204" pitchFamily="34" charset="-122"/>
                <a:ea typeface="微软雅黑" panose="020B0503020204020204" pitchFamily="34" charset="-122"/>
                <a:sym typeface="+mn-lt"/>
              </a:rPr>
              <a:t>步骤：</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1892968" y="1621042"/>
            <a:ext cx="9519311" cy="3269613"/>
          </a:xfrm>
          <a:prstGeom prst="rect">
            <a:avLst/>
          </a:prstGeom>
          <a:noFill/>
        </p:spPr>
        <p:txBody>
          <a:bodyPr wrap="square" rtlCol="0" anchor="t">
            <a:spAutoFit/>
          </a:bodyPr>
          <a:lstStyle/>
          <a:p>
            <a:pPr marL="342900" indent="-342900">
              <a:lnSpc>
                <a:spcPct val="150000"/>
              </a:lnSpc>
              <a:buClr>
                <a:schemeClr val="accent1"/>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读取数据与划分</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1"/>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读取数据</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1"/>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划分特征变量和目标变量</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342900" indent="-342900">
              <a:lnSpc>
                <a:spcPct val="150000"/>
              </a:lnSpc>
              <a:buClr>
                <a:srgbClr val="1D7FC6"/>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模型的搭建与使用</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模型搭建</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模型预测与评估</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p>
        </p:txBody>
      </p:sp>
      <p:sp>
        <p:nvSpPr>
          <p:cNvPr id="3" name="文本框 2"/>
          <p:cNvSpPr txBox="1"/>
          <p:nvPr/>
        </p:nvSpPr>
        <p:spPr>
          <a:xfrm>
            <a:off x="779720" y="777917"/>
            <a:ext cx="10632559" cy="662554"/>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a:t>
            </a:r>
            <a:r>
              <a:rPr lang="zh-CN" altLang="en-US" sz="2800" dirty="0">
                <a:solidFill>
                  <a:srgbClr val="44546A"/>
                </a:solidFill>
                <a:latin typeface="微软雅黑" panose="020B0503020204020204" pitchFamily="34" charset="-122"/>
                <a:ea typeface="微软雅黑" panose="020B0503020204020204" pitchFamily="34" charset="-122"/>
                <a:sym typeface="+mn-lt"/>
              </a:rPr>
              <a:t>步骤：</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1892968" y="1621042"/>
            <a:ext cx="9519311" cy="3269613"/>
          </a:xfrm>
          <a:prstGeom prst="rect">
            <a:avLst/>
          </a:prstGeom>
          <a:noFill/>
        </p:spPr>
        <p:txBody>
          <a:bodyPr wrap="square" rtlCol="0" anchor="t">
            <a:spAutoFit/>
          </a:bodyPr>
          <a:lstStyle/>
          <a:p>
            <a:pPr marL="342900" indent="-342900">
              <a:lnSpc>
                <a:spcPct val="150000"/>
              </a:lnSpc>
              <a:buClr>
                <a:schemeClr val="accent1"/>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读取数据与划分</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1"/>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读取数据</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1"/>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划分特征变量和目标变量</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342900" indent="-342900">
              <a:lnSpc>
                <a:spcPct val="150000"/>
              </a:lnSpc>
              <a:buClr>
                <a:srgbClr val="1D7FC6"/>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模型的搭建与使用</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模型搭建</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2000" dirty="0">
                <a:solidFill>
                  <a:srgbClr val="44546A"/>
                </a:solidFill>
                <a:latin typeface="微软雅黑" panose="020B0503020204020204" pitchFamily="34" charset="-122"/>
                <a:ea typeface="微软雅黑" panose="020B0503020204020204" pitchFamily="34" charset="-122"/>
                <a:sym typeface="+mn-lt"/>
              </a:rPr>
              <a:t>模型预测与评估</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sp>
        <p:nvSpPr>
          <p:cNvPr id="5" name="左大括号 4"/>
          <p:cNvSpPr/>
          <p:nvPr/>
        </p:nvSpPr>
        <p:spPr>
          <a:xfrm>
            <a:off x="3988904" y="2080591"/>
            <a:ext cx="516835" cy="5291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4505739" y="1895925"/>
            <a:ext cx="1348382" cy="369332"/>
          </a:xfrm>
          <a:prstGeom prst="rect">
            <a:avLst/>
          </a:prstGeom>
          <a:noFill/>
        </p:spPr>
        <p:txBody>
          <a:bodyPr wrap="none" rtlCol="0">
            <a:spAutoFit/>
          </a:bodyPr>
          <a:lstStyle/>
          <a:p>
            <a:r>
              <a:rPr lang="en-US" altLang="zh-CN" dirty="0">
                <a:solidFill>
                  <a:srgbClr val="44546A"/>
                </a:solidFill>
                <a:latin typeface="微软雅黑" panose="020B0503020204020204" pitchFamily="34" charset="-122"/>
                <a:ea typeface="微软雅黑" panose="020B0503020204020204" pitchFamily="34" charset="-122"/>
              </a:rPr>
              <a:t>read_csv( )</a:t>
            </a:r>
            <a:endParaRPr lang="zh-CN" altLang="en-US" dirty="0">
              <a:solidFill>
                <a:srgbClr val="44546A"/>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505739" y="2293391"/>
            <a:ext cx="1558055" cy="369332"/>
          </a:xfrm>
          <a:prstGeom prst="rect">
            <a:avLst/>
          </a:prstGeom>
          <a:noFill/>
        </p:spPr>
        <p:txBody>
          <a:bodyPr wrap="none" rtlCol="0">
            <a:spAutoFit/>
          </a:bodyPr>
          <a:lstStyle/>
          <a:p>
            <a:r>
              <a:rPr lang="en-US" altLang="zh-CN" dirty="0">
                <a:solidFill>
                  <a:srgbClr val="44546A"/>
                </a:solidFill>
                <a:latin typeface="微软雅黑" panose="020B0503020204020204" pitchFamily="34" charset="-122"/>
                <a:ea typeface="微软雅黑" panose="020B0503020204020204" pitchFamily="34" charset="-122"/>
              </a:rPr>
              <a:t>read_excel( )</a:t>
            </a:r>
            <a:endParaRPr lang="zh-CN" altLang="en-US" dirty="0">
              <a:solidFill>
                <a:srgbClr val="44546A"/>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109596" y="2265257"/>
            <a:ext cx="543027" cy="461665"/>
          </a:xfrm>
          <a:prstGeom prst="rect">
            <a:avLst/>
          </a:prstGeom>
          <a:noFill/>
        </p:spPr>
        <p:txBody>
          <a:bodyPr wrap="square" rtlCol="0">
            <a:spAutoFit/>
          </a:bodyPr>
          <a:lstStyle/>
          <a:p>
            <a:r>
              <a:rPr lang="zh-CN" altLang="en-US" sz="2400" dirty="0">
                <a:solidFill>
                  <a:srgbClr val="00B050"/>
                </a:solidFill>
              </a:rPr>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读取数据与划分</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读取数据</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10" name="图片 9"/>
          <p:cNvPicPr>
            <a:picLocks noChangeAspect="1"/>
          </p:cNvPicPr>
          <p:nvPr/>
        </p:nvPicPr>
        <p:blipFill>
          <a:blip r:embed="rId3"/>
          <a:stretch>
            <a:fillRect/>
          </a:stretch>
        </p:blipFill>
        <p:spPr>
          <a:xfrm>
            <a:off x="2546023" y="2181156"/>
            <a:ext cx="7099953" cy="895348"/>
          </a:xfrm>
          <a:prstGeom prst="rect">
            <a:avLst/>
          </a:prstGeom>
        </p:spPr>
      </p:pic>
    </p:spTree>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读取数据与划分</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a:t>
            </a:r>
            <a:r>
              <a:rPr lang="zh-CN" altLang="en-US" sz="2000" b="1" dirty="0">
                <a:solidFill>
                  <a:srgbClr val="44546A"/>
                </a:solidFill>
                <a:latin typeface="微软雅黑" panose="020B0503020204020204" pitchFamily="34" charset="-122"/>
                <a:ea typeface="微软雅黑" panose="020B0503020204020204" pitchFamily="34" charset="-122"/>
                <a:sym typeface="+mn-lt"/>
              </a:rPr>
              <a:t>特征变量</a:t>
            </a:r>
            <a:r>
              <a:rPr lang="zh-CN" altLang="en-US" sz="2000" dirty="0">
                <a:solidFill>
                  <a:srgbClr val="44546A"/>
                </a:solidFill>
                <a:latin typeface="微软雅黑" panose="020B0503020204020204" pitchFamily="34" charset="-122"/>
                <a:ea typeface="微软雅黑" panose="020B0503020204020204" pitchFamily="34" charset="-122"/>
                <a:sym typeface="+mn-lt"/>
              </a:rPr>
              <a:t>和</a:t>
            </a:r>
            <a:r>
              <a:rPr lang="zh-CN" altLang="en-US" sz="2000" b="1" dirty="0">
                <a:solidFill>
                  <a:srgbClr val="44546A"/>
                </a:solidFill>
                <a:latin typeface="微软雅黑" panose="020B0503020204020204" pitchFamily="34" charset="-122"/>
                <a:ea typeface="微软雅黑" panose="020B0503020204020204" pitchFamily="34" charset="-122"/>
                <a:sym typeface="+mn-lt"/>
              </a:rPr>
              <a:t>目标变量</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sp>
        <p:nvSpPr>
          <p:cNvPr id="15" name="左大括号 14"/>
          <p:cNvSpPr/>
          <p:nvPr/>
        </p:nvSpPr>
        <p:spPr>
          <a:xfrm rot="16200000">
            <a:off x="5347118" y="3831375"/>
            <a:ext cx="444208" cy="2295525"/>
          </a:xfrm>
          <a:prstGeom prst="leftBrace">
            <a:avLst>
              <a:gd name="adj1" fmla="val 8333"/>
              <a:gd name="adj2" fmla="val 5067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p:cNvSpPr/>
          <p:nvPr/>
        </p:nvSpPr>
        <p:spPr>
          <a:xfrm rot="16200000">
            <a:off x="6961406" y="4642035"/>
            <a:ext cx="444208" cy="634449"/>
          </a:xfrm>
          <a:prstGeom prst="leftBrace">
            <a:avLst>
              <a:gd name="adj1" fmla="val 8333"/>
              <a:gd name="adj2" fmla="val 5067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p:cNvSpPr txBox="1"/>
          <p:nvPr/>
        </p:nvSpPr>
        <p:spPr>
          <a:xfrm>
            <a:off x="5043755" y="5340222"/>
            <a:ext cx="1210588" cy="400110"/>
          </a:xfrm>
          <a:prstGeom prst="rect">
            <a:avLst/>
          </a:prstGeom>
          <a:noFill/>
        </p:spPr>
        <p:txBody>
          <a:bodyPr wrap="none" rtlCol="0">
            <a:spAutoFit/>
          </a:bodyPr>
          <a:lstStyle/>
          <a:p>
            <a:r>
              <a:rPr lang="zh-CN" altLang="en-US" sz="2000" dirty="0">
                <a:solidFill>
                  <a:srgbClr val="44546A"/>
                </a:solidFill>
                <a:latin typeface="微软雅黑" panose="020B0503020204020204" pitchFamily="34" charset="-122"/>
                <a:ea typeface="微软雅黑" panose="020B0503020204020204" pitchFamily="34" charset="-122"/>
              </a:rPr>
              <a:t>特征变量</a:t>
            </a:r>
          </a:p>
        </p:txBody>
      </p:sp>
      <p:sp>
        <p:nvSpPr>
          <p:cNvPr id="18" name="文本框 17"/>
          <p:cNvSpPr txBox="1"/>
          <p:nvPr/>
        </p:nvSpPr>
        <p:spPr>
          <a:xfrm>
            <a:off x="6591302" y="5320344"/>
            <a:ext cx="1210588" cy="400110"/>
          </a:xfrm>
          <a:prstGeom prst="rect">
            <a:avLst/>
          </a:prstGeom>
          <a:noFill/>
        </p:spPr>
        <p:txBody>
          <a:bodyPr wrap="none" rtlCol="0">
            <a:spAutoFit/>
          </a:bodyPr>
          <a:lstStyle/>
          <a:p>
            <a:r>
              <a:rPr lang="zh-CN" altLang="en-US" sz="2000" dirty="0">
                <a:solidFill>
                  <a:srgbClr val="44546A"/>
                </a:solidFill>
                <a:latin typeface="微软雅黑" panose="020B0503020204020204" pitchFamily="34" charset="-122"/>
                <a:ea typeface="微软雅黑" panose="020B0503020204020204" pitchFamily="34" charset="-122"/>
              </a:rPr>
              <a:t>目标变量</a:t>
            </a:r>
          </a:p>
        </p:txBody>
      </p:sp>
      <p:pic>
        <p:nvPicPr>
          <p:cNvPr id="6" name="图片 5"/>
          <p:cNvPicPr>
            <a:picLocks noChangeAspect="1"/>
          </p:cNvPicPr>
          <p:nvPr/>
        </p:nvPicPr>
        <p:blipFill>
          <a:blip r:embed="rId3"/>
          <a:stretch>
            <a:fillRect/>
          </a:stretch>
        </p:blipFill>
        <p:spPr>
          <a:xfrm>
            <a:off x="4421459" y="2274903"/>
            <a:ext cx="2295525" cy="2343150"/>
          </a:xfrm>
          <a:prstGeom prst="rect">
            <a:avLst/>
          </a:prstGeom>
        </p:spPr>
      </p:pic>
      <p:pic>
        <p:nvPicPr>
          <p:cNvPr id="8" name="图片 7"/>
          <p:cNvPicPr>
            <a:picLocks noChangeAspect="1"/>
          </p:cNvPicPr>
          <p:nvPr/>
        </p:nvPicPr>
        <p:blipFill>
          <a:blip r:embed="rId4"/>
          <a:stretch>
            <a:fillRect/>
          </a:stretch>
        </p:blipFill>
        <p:spPr>
          <a:xfrm>
            <a:off x="6729871" y="2274075"/>
            <a:ext cx="933450" cy="23241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1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读取数据与划分</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a:t>
            </a:r>
            <a:r>
              <a:rPr lang="zh-CN" altLang="en-US" sz="2000" b="1" dirty="0">
                <a:solidFill>
                  <a:srgbClr val="44546A"/>
                </a:solidFill>
                <a:latin typeface="微软雅黑" panose="020B0503020204020204" pitchFamily="34" charset="-122"/>
                <a:ea typeface="微软雅黑" panose="020B0503020204020204" pitchFamily="34" charset="-122"/>
                <a:sym typeface="+mn-lt"/>
              </a:rPr>
              <a:t>特征变量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X</a:t>
            </a:r>
            <a:r>
              <a:rPr lang="zh-CN" altLang="en-US" sz="2000" dirty="0">
                <a:solidFill>
                  <a:srgbClr val="44546A"/>
                </a:solidFill>
                <a:latin typeface="微软雅黑" panose="020B0503020204020204" pitchFamily="34" charset="-122"/>
                <a:ea typeface="微软雅黑" panose="020B0503020204020204" pitchFamily="34" charset="-122"/>
                <a:sym typeface="+mn-lt"/>
              </a:rPr>
              <a:t>和</a:t>
            </a:r>
            <a:r>
              <a:rPr lang="zh-CN" altLang="en-US" sz="2000" b="1" dirty="0">
                <a:solidFill>
                  <a:srgbClr val="44546A"/>
                </a:solidFill>
                <a:latin typeface="微软雅黑" panose="020B0503020204020204" pitchFamily="34" charset="-122"/>
                <a:ea typeface="微软雅黑" panose="020B0503020204020204" pitchFamily="34" charset="-122"/>
                <a:sym typeface="+mn-lt"/>
              </a:rPr>
              <a:t>目标变量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y</a:t>
            </a:r>
          </a:p>
        </p:txBody>
      </p:sp>
      <p:sp>
        <p:nvSpPr>
          <p:cNvPr id="8" name="文本框 7"/>
          <p:cNvSpPr txBox="1"/>
          <p:nvPr/>
        </p:nvSpPr>
        <p:spPr>
          <a:xfrm>
            <a:off x="1641176" y="1841705"/>
            <a:ext cx="9519311" cy="961289"/>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2000" b="0" dirty="0">
                <a:solidFill>
                  <a:srgbClr val="44546A"/>
                </a:solidFill>
                <a:latin typeface="微软雅黑" panose="020B0503020204020204" pitchFamily="34" charset="-122"/>
                <a:ea typeface="微软雅黑" panose="020B0503020204020204" pitchFamily="34" charset="-122"/>
                <a:sym typeface="+mn-lt"/>
              </a:rPr>
              <a:t>      根据上图的描述，特征变量只需要保留除了“肿瘤性质”以外的列。那么在代码实现的时候，可以删除</a:t>
            </a:r>
            <a:r>
              <a:rPr lang="en-US" altLang="zh-CN" sz="2000" b="0" dirty="0">
                <a:solidFill>
                  <a:srgbClr val="44546A"/>
                </a:solidFill>
                <a:latin typeface="微软雅黑" panose="020B0503020204020204" pitchFamily="34" charset="-122"/>
                <a:ea typeface="微软雅黑" panose="020B0503020204020204" pitchFamily="34" charset="-122"/>
                <a:sym typeface="+mn-lt"/>
              </a:rPr>
              <a:t>【</a:t>
            </a:r>
            <a:r>
              <a:rPr lang="zh-CN" altLang="en-US" sz="2000" b="0" dirty="0">
                <a:solidFill>
                  <a:srgbClr val="44546A"/>
                </a:solidFill>
                <a:latin typeface="微软雅黑" panose="020B0503020204020204" pitchFamily="34" charset="-122"/>
                <a:ea typeface="微软雅黑" panose="020B0503020204020204" pitchFamily="34" charset="-122"/>
                <a:sym typeface="+mn-lt"/>
              </a:rPr>
              <a:t>肿瘤性质</a:t>
            </a:r>
            <a:r>
              <a:rPr lang="en-US" altLang="zh-CN" sz="2000" b="0" dirty="0">
                <a:solidFill>
                  <a:srgbClr val="44546A"/>
                </a:solidFill>
                <a:latin typeface="微软雅黑" panose="020B0503020204020204" pitchFamily="34" charset="-122"/>
                <a:ea typeface="微软雅黑" panose="020B0503020204020204" pitchFamily="34" charset="-122"/>
                <a:sym typeface="+mn-lt"/>
              </a:rPr>
              <a:t>】</a:t>
            </a:r>
            <a:r>
              <a:rPr lang="zh-CN" altLang="en-US" sz="2000" b="0" dirty="0">
                <a:solidFill>
                  <a:srgbClr val="44546A"/>
                </a:solidFill>
                <a:latin typeface="微软雅黑" panose="020B0503020204020204" pitchFamily="34" charset="-122"/>
                <a:ea typeface="微软雅黑" panose="020B0503020204020204" pitchFamily="34" charset="-122"/>
                <a:sym typeface="+mn-lt"/>
              </a:rPr>
              <a:t>列。</a:t>
            </a:r>
            <a:endParaRPr lang="en-US" altLang="zh-CN" sz="2000" b="0" dirty="0">
              <a:solidFill>
                <a:srgbClr val="44546A"/>
              </a:solidFill>
              <a:latin typeface="微软雅黑" panose="020B0503020204020204" pitchFamily="34" charset="-122"/>
              <a:ea typeface="微软雅黑" panose="020B0503020204020204" pitchFamily="34" charset="-122"/>
              <a:sym typeface="+mn-lt"/>
            </a:endParaRPr>
          </a:p>
        </p:txBody>
      </p:sp>
      <p:sp>
        <p:nvSpPr>
          <p:cNvPr id="9" name="文本框 8"/>
          <p:cNvSpPr txBox="1"/>
          <p:nvPr/>
        </p:nvSpPr>
        <p:spPr>
          <a:xfrm>
            <a:off x="1641176" y="2929376"/>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删除函数：</a:t>
            </a:r>
            <a:r>
              <a:rPr lang="en-US" altLang="zh-CN" sz="2000" dirty="0">
                <a:solidFill>
                  <a:srgbClr val="44546A"/>
                </a:solidFill>
                <a:latin typeface="微软雅黑" panose="020B0503020204020204" pitchFamily="34" charset="-122"/>
                <a:ea typeface="微软雅黑" panose="020B0503020204020204" pitchFamily="34" charset="-122"/>
                <a:sym typeface="+mn-lt"/>
              </a:rPr>
              <a:t>drop( )</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读取数据与划分</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a:t>
            </a:r>
            <a:r>
              <a:rPr lang="zh-CN" altLang="en-US" sz="2000" b="1" dirty="0">
                <a:solidFill>
                  <a:srgbClr val="44546A"/>
                </a:solidFill>
                <a:latin typeface="微软雅黑" panose="020B0503020204020204" pitchFamily="34" charset="-122"/>
                <a:ea typeface="微软雅黑" panose="020B0503020204020204" pitchFamily="34" charset="-122"/>
                <a:sym typeface="+mn-lt"/>
              </a:rPr>
              <a:t>特征变量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X</a:t>
            </a:r>
            <a:r>
              <a:rPr lang="zh-CN" altLang="en-US" sz="2000" dirty="0">
                <a:solidFill>
                  <a:srgbClr val="44546A"/>
                </a:solidFill>
                <a:latin typeface="微软雅黑" panose="020B0503020204020204" pitchFamily="34" charset="-122"/>
                <a:ea typeface="微软雅黑" panose="020B0503020204020204" pitchFamily="34" charset="-122"/>
                <a:sym typeface="+mn-lt"/>
              </a:rPr>
              <a:t>和</a:t>
            </a:r>
            <a:r>
              <a:rPr lang="zh-CN" altLang="en-US" sz="2000" b="1" dirty="0">
                <a:solidFill>
                  <a:srgbClr val="44546A"/>
                </a:solidFill>
                <a:latin typeface="微软雅黑" panose="020B0503020204020204" pitchFamily="34" charset="-122"/>
                <a:ea typeface="微软雅黑" panose="020B0503020204020204" pitchFamily="34" charset="-122"/>
                <a:sym typeface="+mn-lt"/>
              </a:rPr>
              <a:t>目标变量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y</a:t>
            </a:r>
          </a:p>
        </p:txBody>
      </p:sp>
      <p:sp>
        <p:nvSpPr>
          <p:cNvPr id="9" name="文本框 8"/>
          <p:cNvSpPr txBox="1"/>
          <p:nvPr/>
        </p:nvSpPr>
        <p:spPr>
          <a:xfrm>
            <a:off x="1641176" y="1839105"/>
            <a:ext cx="9519311" cy="499624"/>
          </a:xfrm>
          <a:prstGeom prst="rect">
            <a:avLst/>
          </a:prstGeom>
          <a:noFill/>
        </p:spPr>
        <p:txBody>
          <a:bodyPr wrap="square" rtlCol="0" anchor="t">
            <a:spAutoFit/>
          </a:bodyPr>
          <a:lstStyle/>
          <a:p>
            <a:pPr lvl="1">
              <a:lnSpc>
                <a:spcPct val="150000"/>
              </a:lnSpc>
              <a:buClr>
                <a:schemeClr val="accent1"/>
              </a:buClr>
            </a:pPr>
            <a:r>
              <a:rPr lang="en-US" altLang="zh-CN" sz="2000" dirty="0">
                <a:solidFill>
                  <a:srgbClr val="44546A"/>
                </a:solidFill>
                <a:latin typeface="微软雅黑" panose="020B0503020204020204" pitchFamily="34" charset="-122"/>
                <a:ea typeface="微软雅黑" panose="020B0503020204020204" pitchFamily="34" charset="-122"/>
                <a:sym typeface="+mn-lt"/>
              </a:rPr>
              <a:t>drop( )</a:t>
            </a:r>
            <a:r>
              <a:rPr lang="zh-CN" altLang="en-US" sz="2000" dirty="0">
                <a:solidFill>
                  <a:srgbClr val="44546A"/>
                </a:solidFill>
                <a:latin typeface="微软雅黑" panose="020B0503020204020204" pitchFamily="34" charset="-122"/>
                <a:ea typeface="微软雅黑" panose="020B0503020204020204" pitchFamily="34" charset="-122"/>
                <a:sym typeface="+mn-lt"/>
              </a:rPr>
              <a:t> 语法格式：</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1070855" y="2639244"/>
            <a:ext cx="4938554" cy="3007691"/>
          </a:xfrm>
          <a:prstGeom prst="rect">
            <a:avLst/>
          </a:prstGeom>
        </p:spPr>
      </p:pic>
      <p:sp>
        <p:nvSpPr>
          <p:cNvPr id="4" name="文本框 3"/>
          <p:cNvSpPr txBox="1"/>
          <p:nvPr/>
        </p:nvSpPr>
        <p:spPr>
          <a:xfrm>
            <a:off x="5718274" y="2112939"/>
            <a:ext cx="6368161" cy="3834511"/>
          </a:xfrm>
          <a:prstGeom prst="rect">
            <a:avLst/>
          </a:prstGeom>
          <a:noFill/>
        </p:spPr>
        <p:txBody>
          <a:bodyPr wrap="square" rtlCol="0" anchor="t">
            <a:spAutoFit/>
          </a:bodyPr>
          <a:lstStyle/>
          <a:p>
            <a:pPr lvl="1">
              <a:lnSpc>
                <a:spcPct val="150000"/>
              </a:lnSpc>
              <a:buClr>
                <a:schemeClr val="accent1"/>
              </a:buClr>
            </a:pPr>
            <a:r>
              <a:rPr lang="zh-CN" altLang="en-US" sz="2000" b="1" dirty="0">
                <a:solidFill>
                  <a:srgbClr val="44546A"/>
                </a:solidFill>
                <a:latin typeface="微软雅黑" panose="020B0503020204020204" pitchFamily="34" charset="-122"/>
                <a:ea typeface="微软雅黑" panose="020B0503020204020204" pitchFamily="34" charset="-122"/>
                <a:sym typeface="+mn-lt"/>
              </a:rPr>
              <a:t>参数说明</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a:p>
            <a:pPr marL="742950" lvl="1" indent="-285750">
              <a:lnSpc>
                <a:spcPct val="150000"/>
              </a:lnSpc>
              <a:buClr>
                <a:schemeClr val="accent1"/>
              </a:buClr>
              <a:buFont typeface="Arial" panose="020B0604020202020204" pitchFamily="34" charset="0"/>
              <a:buChar char="•"/>
            </a:pPr>
            <a:r>
              <a:rPr lang="en-US" altLang="zh-CN" sz="1600" dirty="0">
                <a:solidFill>
                  <a:srgbClr val="44546A"/>
                </a:solidFill>
                <a:latin typeface="微软雅黑" panose="020B0503020204020204" pitchFamily="34" charset="-122"/>
                <a:ea typeface="微软雅黑" panose="020B0503020204020204" pitchFamily="34" charset="-122"/>
                <a:sym typeface="+mn-lt"/>
              </a:rPr>
              <a:t>labels</a:t>
            </a:r>
            <a:r>
              <a:rPr lang="zh-CN" altLang="en-US" sz="1600" dirty="0">
                <a:solidFill>
                  <a:srgbClr val="44546A"/>
                </a:solidFill>
                <a:latin typeface="微软雅黑" panose="020B0503020204020204" pitchFamily="34" charset="-122"/>
                <a:ea typeface="微软雅黑" panose="020B0503020204020204" pitchFamily="34" charset="-122"/>
                <a:sym typeface="+mn-lt"/>
              </a:rPr>
              <a:t>：要删除的行列的名字，接收列表参数，列表内有多个参数时表示删除多行或者多列。</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742950" lvl="1" indent="-285750">
              <a:lnSpc>
                <a:spcPct val="150000"/>
              </a:lnSpc>
              <a:buClr>
                <a:schemeClr val="accent1"/>
              </a:buClr>
              <a:buFont typeface="Arial" panose="020B0604020202020204" pitchFamily="34" charset="0"/>
              <a:buChar char="•"/>
            </a:pPr>
            <a:r>
              <a:rPr lang="en-US" altLang="zh-CN" sz="1600" dirty="0">
                <a:solidFill>
                  <a:srgbClr val="44546A"/>
                </a:solidFill>
                <a:latin typeface="微软雅黑" panose="020B0503020204020204" pitchFamily="34" charset="-122"/>
                <a:ea typeface="微软雅黑" panose="020B0503020204020204" pitchFamily="34" charset="-122"/>
                <a:sym typeface="+mn-lt"/>
              </a:rPr>
              <a:t>axis</a:t>
            </a:r>
            <a:r>
              <a:rPr lang="zh-CN" altLang="en-US" sz="1600" dirty="0">
                <a:solidFill>
                  <a:srgbClr val="44546A"/>
                </a:solidFill>
                <a:latin typeface="微软雅黑" panose="020B0503020204020204" pitchFamily="34" charset="-122"/>
                <a:ea typeface="微软雅黑" panose="020B0503020204020204" pitchFamily="34" charset="-122"/>
                <a:sym typeface="+mn-lt"/>
              </a:rPr>
              <a:t>：要删除的轴，与</a:t>
            </a:r>
            <a:r>
              <a:rPr lang="en-US" altLang="zh-CN" sz="1600" dirty="0">
                <a:solidFill>
                  <a:srgbClr val="44546A"/>
                </a:solidFill>
                <a:latin typeface="微软雅黑" panose="020B0503020204020204" pitchFamily="34" charset="-122"/>
                <a:ea typeface="微软雅黑" panose="020B0503020204020204" pitchFamily="34" charset="-122"/>
                <a:sym typeface="+mn-lt"/>
              </a:rPr>
              <a:t>labels</a:t>
            </a:r>
            <a:r>
              <a:rPr lang="zh-CN" altLang="en-US" sz="1600" dirty="0">
                <a:solidFill>
                  <a:srgbClr val="44546A"/>
                </a:solidFill>
                <a:latin typeface="微软雅黑" panose="020B0503020204020204" pitchFamily="34" charset="-122"/>
                <a:ea typeface="微软雅黑" panose="020B0503020204020204" pitchFamily="34" charset="-122"/>
                <a:sym typeface="+mn-lt"/>
              </a:rPr>
              <a:t>参数配合使用。</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lvl="1">
              <a:lnSpc>
                <a:spcPct val="150000"/>
              </a:lnSpc>
              <a:buClr>
                <a:schemeClr val="accent1"/>
              </a:buClr>
            </a:pPr>
            <a:r>
              <a:rPr lang="zh-CN" altLang="en-US" sz="1600" dirty="0">
                <a:solidFill>
                  <a:srgbClr val="44546A"/>
                </a:solidFill>
                <a:latin typeface="微软雅黑" panose="020B0503020204020204" pitchFamily="34" charset="-122"/>
                <a:ea typeface="微软雅黑" panose="020B0503020204020204" pitchFamily="34" charset="-122"/>
                <a:sym typeface="+mn-lt"/>
              </a:rPr>
              <a:t>    默认为</a:t>
            </a:r>
            <a:r>
              <a:rPr lang="en-US" altLang="zh-CN" sz="1600" dirty="0">
                <a:solidFill>
                  <a:srgbClr val="44546A"/>
                </a:solidFill>
                <a:latin typeface="微软雅黑" panose="020B0503020204020204" pitchFamily="34" charset="-122"/>
                <a:ea typeface="微软雅黑" panose="020B0503020204020204" pitchFamily="34" charset="-122"/>
                <a:sym typeface="+mn-lt"/>
              </a:rPr>
              <a:t>0</a:t>
            </a:r>
            <a:r>
              <a:rPr lang="zh-CN" altLang="en-US" sz="1600" dirty="0">
                <a:solidFill>
                  <a:srgbClr val="44546A"/>
                </a:solidFill>
                <a:latin typeface="微软雅黑" panose="020B0503020204020204" pitchFamily="34" charset="-122"/>
                <a:ea typeface="微软雅黑" panose="020B0503020204020204" pitchFamily="34" charset="-122"/>
                <a:sym typeface="+mn-lt"/>
              </a:rPr>
              <a:t>，指删除行；</a:t>
            </a:r>
            <a:r>
              <a:rPr lang="en-US" altLang="zh-CN" sz="1600" dirty="0">
                <a:solidFill>
                  <a:srgbClr val="44546A"/>
                </a:solidFill>
                <a:latin typeface="微软雅黑" panose="020B0503020204020204" pitchFamily="34" charset="-122"/>
                <a:ea typeface="微软雅黑" panose="020B0503020204020204" pitchFamily="34" charset="-122"/>
                <a:sym typeface="+mn-lt"/>
              </a:rPr>
              <a:t>axis=1</a:t>
            </a:r>
            <a:r>
              <a:rPr lang="zh-CN" altLang="en-US" sz="1600" dirty="0">
                <a:solidFill>
                  <a:srgbClr val="44546A"/>
                </a:solidFill>
                <a:latin typeface="微软雅黑" panose="020B0503020204020204" pitchFamily="34" charset="-122"/>
                <a:ea typeface="微软雅黑" panose="020B0503020204020204" pitchFamily="34" charset="-122"/>
                <a:sym typeface="+mn-lt"/>
              </a:rPr>
              <a:t>，删除列。</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742950" lvl="1" indent="-285750">
              <a:lnSpc>
                <a:spcPct val="150000"/>
              </a:lnSpc>
              <a:buClr>
                <a:schemeClr val="accent1"/>
              </a:buClr>
              <a:buFont typeface="Arial" panose="020B0604020202020204" pitchFamily="34" charset="0"/>
              <a:buChar char="•"/>
            </a:pPr>
            <a:r>
              <a:rPr lang="en-US" altLang="zh-CN" sz="1600" dirty="0">
                <a:solidFill>
                  <a:srgbClr val="44546A"/>
                </a:solidFill>
                <a:latin typeface="微软雅黑" panose="020B0503020204020204" pitchFamily="34" charset="-122"/>
                <a:ea typeface="微软雅黑" panose="020B0503020204020204" pitchFamily="34" charset="-122"/>
                <a:sym typeface="+mn-lt"/>
              </a:rPr>
              <a:t>index</a:t>
            </a:r>
            <a:r>
              <a:rPr lang="zh-CN" altLang="en-US" sz="1600" dirty="0">
                <a:solidFill>
                  <a:srgbClr val="44546A"/>
                </a:solidFill>
                <a:latin typeface="微软雅黑" panose="020B0503020204020204" pitchFamily="34" charset="-122"/>
                <a:ea typeface="微软雅黑" panose="020B0503020204020204" pitchFamily="34" charset="-122"/>
                <a:sym typeface="+mn-lt"/>
              </a:rPr>
              <a:t>：直接指定要删除的行。</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742950" lvl="1" indent="-285750">
              <a:lnSpc>
                <a:spcPct val="150000"/>
              </a:lnSpc>
              <a:buClr>
                <a:schemeClr val="accent1"/>
              </a:buClr>
              <a:buFont typeface="Arial" panose="020B0604020202020204" pitchFamily="34" charset="0"/>
              <a:buChar char="•"/>
            </a:pPr>
            <a:r>
              <a:rPr lang="en-US" altLang="zh-CN" sz="1600" dirty="0">
                <a:solidFill>
                  <a:srgbClr val="44546A"/>
                </a:solidFill>
                <a:latin typeface="微软雅黑" panose="020B0503020204020204" pitchFamily="34" charset="-122"/>
                <a:ea typeface="微软雅黑" panose="020B0503020204020204" pitchFamily="34" charset="-122"/>
                <a:sym typeface="+mn-lt"/>
              </a:rPr>
              <a:t>columns</a:t>
            </a:r>
            <a:r>
              <a:rPr lang="zh-CN" altLang="en-US" sz="1600" dirty="0">
                <a:solidFill>
                  <a:srgbClr val="44546A"/>
                </a:solidFill>
                <a:latin typeface="微软雅黑" panose="020B0503020204020204" pitchFamily="34" charset="-122"/>
                <a:ea typeface="微软雅黑" panose="020B0503020204020204" pitchFamily="34" charset="-122"/>
                <a:sym typeface="+mn-lt"/>
              </a:rPr>
              <a:t>：直接指定要删除的列。</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742950" lvl="1" indent="-285750">
              <a:lnSpc>
                <a:spcPct val="150000"/>
              </a:lnSpc>
              <a:buClr>
                <a:schemeClr val="accent1"/>
              </a:buClr>
              <a:buFont typeface="Arial" panose="020B0604020202020204" pitchFamily="34" charset="0"/>
              <a:buChar char="•"/>
            </a:pPr>
            <a:r>
              <a:rPr lang="en-US" altLang="zh-CN" sz="1600" dirty="0">
                <a:solidFill>
                  <a:srgbClr val="44546A"/>
                </a:solidFill>
                <a:latin typeface="微软雅黑" panose="020B0503020204020204" pitchFamily="34" charset="-122"/>
                <a:ea typeface="微软雅黑" panose="020B0503020204020204" pitchFamily="34" charset="-122"/>
                <a:sym typeface="+mn-lt"/>
              </a:rPr>
              <a:t>inplace</a:t>
            </a:r>
            <a:r>
              <a:rPr lang="zh-CN" altLang="en-US" sz="1600" dirty="0">
                <a:solidFill>
                  <a:srgbClr val="44546A"/>
                </a:solidFill>
                <a:latin typeface="微软雅黑" panose="020B0503020204020204" pitchFamily="34" charset="-122"/>
                <a:ea typeface="微软雅黑" panose="020B0503020204020204" pitchFamily="34" charset="-122"/>
                <a:sym typeface="+mn-lt"/>
              </a:rPr>
              <a:t>：</a:t>
            </a:r>
            <a:r>
              <a:rPr lang="en-US" altLang="zh-CN" sz="1600" dirty="0">
                <a:solidFill>
                  <a:srgbClr val="44546A"/>
                </a:solidFill>
                <a:latin typeface="微软雅黑" panose="020B0503020204020204" pitchFamily="34" charset="-122"/>
                <a:ea typeface="微软雅黑" panose="020B0503020204020204" pitchFamily="34" charset="-122"/>
                <a:sym typeface="+mn-lt"/>
              </a:rPr>
              <a:t> </a:t>
            </a:r>
            <a:r>
              <a:rPr lang="zh-CN" altLang="en-US" sz="1600" dirty="0">
                <a:solidFill>
                  <a:srgbClr val="44546A"/>
                </a:solidFill>
                <a:latin typeface="微软雅黑" panose="020B0503020204020204" pitchFamily="34" charset="-122"/>
                <a:ea typeface="微软雅黑" panose="020B0503020204020204" pitchFamily="34" charset="-122"/>
                <a:sym typeface="+mn-lt"/>
              </a:rPr>
              <a:t>是否直接在原数据上进行删除操作，默认为</a:t>
            </a:r>
            <a:r>
              <a:rPr lang="en-US" altLang="zh-CN" sz="1600" dirty="0">
                <a:solidFill>
                  <a:srgbClr val="44546A"/>
                </a:solidFill>
                <a:latin typeface="微软雅黑" panose="020B0503020204020204" pitchFamily="34" charset="-122"/>
                <a:ea typeface="微软雅黑" panose="020B0503020204020204" pitchFamily="34" charset="-122"/>
                <a:sym typeface="+mn-lt"/>
              </a:rPr>
              <a:t>false (</a:t>
            </a:r>
            <a:r>
              <a:rPr lang="zh-CN" altLang="en-US" sz="1600" dirty="0">
                <a:solidFill>
                  <a:srgbClr val="44546A"/>
                </a:solidFill>
                <a:latin typeface="微软雅黑" panose="020B0503020204020204" pitchFamily="34" charset="-122"/>
                <a:ea typeface="微软雅黑" panose="020B0503020204020204" pitchFamily="34" charset="-122"/>
                <a:sym typeface="+mn-lt"/>
              </a:rPr>
              <a:t>删除操作不改变原数据</a:t>
            </a:r>
            <a:r>
              <a:rPr lang="en-US" altLang="zh-CN" sz="1600" dirty="0">
                <a:solidFill>
                  <a:srgbClr val="44546A"/>
                </a:solidFill>
                <a:latin typeface="微软雅黑" panose="020B0503020204020204" pitchFamily="34" charset="-122"/>
                <a:ea typeface="微软雅黑" panose="020B0503020204020204" pitchFamily="34" charset="-122"/>
                <a:sym typeface="+mn-lt"/>
              </a:rPr>
              <a:t>)</a:t>
            </a:r>
            <a:r>
              <a:rPr lang="zh-CN" altLang="en-US" sz="1600" dirty="0">
                <a:solidFill>
                  <a:srgbClr val="44546A"/>
                </a:solidFill>
                <a:latin typeface="微软雅黑" panose="020B0503020204020204" pitchFamily="34" charset="-122"/>
                <a:ea typeface="微软雅黑" panose="020B0503020204020204" pitchFamily="34" charset="-122"/>
                <a:sym typeface="+mn-lt"/>
              </a:rPr>
              <a:t>，而是返回一个执行删除操作后的新</a:t>
            </a:r>
            <a:r>
              <a:rPr lang="en-US" altLang="zh-CN" sz="1600" dirty="0">
                <a:solidFill>
                  <a:srgbClr val="44546A"/>
                </a:solidFill>
                <a:latin typeface="微软雅黑" panose="020B0503020204020204" pitchFamily="34" charset="-122"/>
                <a:ea typeface="微软雅黑" panose="020B0503020204020204" pitchFamily="34" charset="-122"/>
                <a:sym typeface="+mn-lt"/>
              </a:rPr>
              <a:t>dataframe; inplace=True</a:t>
            </a:r>
            <a:r>
              <a:rPr lang="zh-CN" altLang="en-US" sz="1600" dirty="0">
                <a:solidFill>
                  <a:srgbClr val="44546A"/>
                </a:solidFill>
                <a:latin typeface="微软雅黑" panose="020B0503020204020204" pitchFamily="34" charset="-122"/>
                <a:ea typeface="微软雅黑" panose="020B0503020204020204" pitchFamily="34" charset="-122"/>
                <a:sym typeface="+mn-lt"/>
              </a:rPr>
              <a:t>，直接在原数据上修改。</a:t>
            </a:r>
            <a:endParaRPr lang="en-US" altLang="zh-CN" sz="1600" b="1" dirty="0">
              <a:solidFill>
                <a:srgbClr val="44546A"/>
              </a:solidFill>
              <a:latin typeface="微软雅黑" panose="020B0503020204020204" pitchFamily="34" charset="-122"/>
              <a:ea typeface="微软雅黑" panose="020B0503020204020204" pitchFamily="34" charset="-122"/>
              <a:sym typeface="+mn-lt"/>
            </a:endParaRPr>
          </a:p>
        </p:txBody>
      </p:sp>
      <p:sp>
        <p:nvSpPr>
          <p:cNvPr id="10" name="矩形: 圆角 9"/>
          <p:cNvSpPr/>
          <p:nvPr/>
        </p:nvSpPr>
        <p:spPr>
          <a:xfrm>
            <a:off x="6182593" y="4479796"/>
            <a:ext cx="3538330" cy="31805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读取数据与划分</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a:t>
            </a:r>
            <a:r>
              <a:rPr lang="zh-CN" altLang="en-US" sz="2000" b="1" dirty="0">
                <a:solidFill>
                  <a:srgbClr val="44546A"/>
                </a:solidFill>
                <a:latin typeface="微软雅黑" panose="020B0503020204020204" pitchFamily="34" charset="-122"/>
                <a:ea typeface="微软雅黑" panose="020B0503020204020204" pitchFamily="34" charset="-122"/>
                <a:sym typeface="+mn-lt"/>
              </a:rPr>
              <a:t>特征变量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X</a:t>
            </a:r>
            <a:r>
              <a:rPr lang="zh-CN" altLang="en-US" sz="2000" dirty="0">
                <a:solidFill>
                  <a:srgbClr val="44546A"/>
                </a:solidFill>
                <a:latin typeface="微软雅黑" panose="020B0503020204020204" pitchFamily="34" charset="-122"/>
                <a:ea typeface="微软雅黑" panose="020B0503020204020204" pitchFamily="34" charset="-122"/>
                <a:sym typeface="+mn-lt"/>
              </a:rPr>
              <a:t>和</a:t>
            </a:r>
            <a:r>
              <a:rPr lang="zh-CN" altLang="en-US" sz="2000" b="1" dirty="0">
                <a:solidFill>
                  <a:srgbClr val="44546A"/>
                </a:solidFill>
                <a:latin typeface="微软雅黑" panose="020B0503020204020204" pitchFamily="34" charset="-122"/>
                <a:ea typeface="微软雅黑" panose="020B0503020204020204" pitchFamily="34" charset="-122"/>
                <a:sym typeface="+mn-lt"/>
              </a:rPr>
              <a:t>目标变量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y</a:t>
            </a:r>
          </a:p>
        </p:txBody>
      </p:sp>
      <p:sp>
        <p:nvSpPr>
          <p:cNvPr id="9" name="文本框 8"/>
          <p:cNvSpPr txBox="1"/>
          <p:nvPr/>
        </p:nvSpPr>
        <p:spPr>
          <a:xfrm>
            <a:off x="1641176" y="1839105"/>
            <a:ext cx="9519311" cy="499624"/>
          </a:xfrm>
          <a:prstGeom prst="rect">
            <a:avLst/>
          </a:prstGeom>
          <a:noFill/>
        </p:spPr>
        <p:txBody>
          <a:bodyPr wrap="square" rtlCol="0" anchor="t">
            <a:spAutoFit/>
          </a:bodyPr>
          <a:lstStyle/>
          <a:p>
            <a:pPr lvl="1">
              <a:lnSpc>
                <a:spcPct val="150000"/>
              </a:lnSpc>
              <a:buClr>
                <a:schemeClr val="accent1"/>
              </a:buClr>
            </a:pPr>
            <a:r>
              <a:rPr lang="en-US" altLang="zh-CN" sz="2000" dirty="0">
                <a:solidFill>
                  <a:srgbClr val="44546A"/>
                </a:solidFill>
                <a:latin typeface="微软雅黑" panose="020B0503020204020204" pitchFamily="34" charset="-122"/>
                <a:ea typeface="微软雅黑" panose="020B0503020204020204" pitchFamily="34" charset="-122"/>
                <a:sym typeface="+mn-lt"/>
              </a:rPr>
              <a:t>drop( )</a:t>
            </a:r>
            <a:r>
              <a:rPr lang="zh-CN" altLang="en-US" sz="2000" dirty="0">
                <a:solidFill>
                  <a:srgbClr val="44546A"/>
                </a:solidFill>
                <a:latin typeface="微软雅黑" panose="020B0503020204020204" pitchFamily="34" charset="-122"/>
                <a:ea typeface="微软雅黑" panose="020B0503020204020204" pitchFamily="34" charset="-122"/>
                <a:sym typeface="+mn-lt"/>
              </a:rPr>
              <a:t> 语法格式：</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8" name="图片 7"/>
          <p:cNvPicPr>
            <a:picLocks noChangeAspect="1"/>
          </p:cNvPicPr>
          <p:nvPr/>
        </p:nvPicPr>
        <p:blipFill>
          <a:blip r:embed="rId3"/>
          <a:stretch>
            <a:fillRect/>
          </a:stretch>
        </p:blipFill>
        <p:spPr>
          <a:xfrm>
            <a:off x="3696321" y="2982154"/>
            <a:ext cx="4295775" cy="628650"/>
          </a:xfrm>
          <a:prstGeom prst="rect">
            <a:avLst/>
          </a:prstGeom>
        </p:spPr>
      </p:pic>
    </p:spTree>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读取数据与划分</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a:t>
            </a:r>
            <a:r>
              <a:rPr lang="zh-CN" altLang="en-US" sz="2000" b="1" dirty="0">
                <a:solidFill>
                  <a:srgbClr val="44546A"/>
                </a:solidFill>
                <a:latin typeface="微软雅黑" panose="020B0503020204020204" pitchFamily="34" charset="-122"/>
                <a:ea typeface="微软雅黑" panose="020B0503020204020204" pitchFamily="34" charset="-122"/>
                <a:sym typeface="+mn-lt"/>
              </a:rPr>
              <a:t>特征变量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X</a:t>
            </a:r>
            <a:r>
              <a:rPr lang="zh-CN" altLang="en-US" sz="2000" dirty="0">
                <a:solidFill>
                  <a:srgbClr val="44546A"/>
                </a:solidFill>
                <a:latin typeface="微软雅黑" panose="020B0503020204020204" pitchFamily="34" charset="-122"/>
                <a:ea typeface="微软雅黑" panose="020B0503020204020204" pitchFamily="34" charset="-122"/>
                <a:sym typeface="+mn-lt"/>
              </a:rPr>
              <a:t>和</a:t>
            </a:r>
            <a:r>
              <a:rPr lang="zh-CN" altLang="en-US" sz="2000" b="1" dirty="0">
                <a:solidFill>
                  <a:srgbClr val="44546A"/>
                </a:solidFill>
                <a:latin typeface="微软雅黑" panose="020B0503020204020204" pitchFamily="34" charset="-122"/>
                <a:ea typeface="微软雅黑" panose="020B0503020204020204" pitchFamily="34" charset="-122"/>
                <a:sym typeface="+mn-lt"/>
              </a:rPr>
              <a:t>目标变量</a:t>
            </a:r>
            <a:r>
              <a:rPr lang="en-US" altLang="zh-CN" sz="2000" b="1" dirty="0">
                <a:solidFill>
                  <a:srgbClr val="44546A"/>
                </a:solidFill>
                <a:latin typeface="微软雅黑" panose="020B0503020204020204" pitchFamily="34" charset="-122"/>
                <a:ea typeface="微软雅黑" panose="020B0503020204020204" pitchFamily="34" charset="-122"/>
                <a:sym typeface="+mn-lt"/>
              </a:rPr>
              <a:t>y</a:t>
            </a:r>
          </a:p>
        </p:txBody>
      </p:sp>
      <p:sp>
        <p:nvSpPr>
          <p:cNvPr id="9" name="文本框 8"/>
          <p:cNvSpPr txBox="1"/>
          <p:nvPr/>
        </p:nvSpPr>
        <p:spPr>
          <a:xfrm>
            <a:off x="1641176" y="1839105"/>
            <a:ext cx="9519311" cy="499624"/>
          </a:xfrm>
          <a:prstGeom prst="rect">
            <a:avLst/>
          </a:prstGeom>
          <a:noFill/>
        </p:spPr>
        <p:txBody>
          <a:bodyPr wrap="square" rtlCol="0" anchor="t">
            <a:spAutoFit/>
          </a:bodyPr>
          <a:lstStyle/>
          <a:p>
            <a:pPr lvl="1">
              <a:lnSpc>
                <a:spcPct val="150000"/>
              </a:lnSpc>
              <a:buClr>
                <a:schemeClr val="accent1"/>
              </a:buClr>
            </a:pPr>
            <a:r>
              <a:rPr lang="en-US" altLang="zh-CN" sz="2000" dirty="0">
                <a:solidFill>
                  <a:srgbClr val="44546A"/>
                </a:solidFill>
                <a:latin typeface="微软雅黑" panose="020B0503020204020204" pitchFamily="34" charset="-122"/>
                <a:ea typeface="微软雅黑" panose="020B0503020204020204" pitchFamily="34" charset="-122"/>
                <a:sym typeface="+mn-lt"/>
              </a:rPr>
              <a:t>drop( )</a:t>
            </a:r>
            <a:r>
              <a:rPr lang="zh-CN" altLang="en-US" sz="2000" dirty="0">
                <a:solidFill>
                  <a:srgbClr val="44546A"/>
                </a:solidFill>
                <a:latin typeface="微软雅黑" panose="020B0503020204020204" pitchFamily="34" charset="-122"/>
                <a:ea typeface="微软雅黑" panose="020B0503020204020204" pitchFamily="34" charset="-122"/>
                <a:sym typeface="+mn-lt"/>
              </a:rPr>
              <a:t> 语法格式：</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2216449" y="2364283"/>
            <a:ext cx="8334375" cy="2371725"/>
          </a:xfrm>
          <a:prstGeom prst="rect">
            <a:avLst/>
          </a:prstGeom>
        </p:spPr>
      </p:pic>
      <p:pic>
        <p:nvPicPr>
          <p:cNvPr id="6" name="图片 5"/>
          <p:cNvPicPr>
            <a:picLocks noChangeAspect="1"/>
          </p:cNvPicPr>
          <p:nvPr/>
        </p:nvPicPr>
        <p:blipFill>
          <a:blip r:embed="rId4"/>
          <a:stretch>
            <a:fillRect/>
          </a:stretch>
        </p:blipFill>
        <p:spPr>
          <a:xfrm>
            <a:off x="3792813" y="4805883"/>
            <a:ext cx="1812857" cy="2052117"/>
          </a:xfrm>
          <a:prstGeom prst="rect">
            <a:avLst/>
          </a:prstGeom>
        </p:spPr>
      </p:pic>
      <p:pic>
        <p:nvPicPr>
          <p:cNvPr id="10" name="图片 9"/>
          <p:cNvPicPr>
            <a:picLocks noChangeAspect="1"/>
          </p:cNvPicPr>
          <p:nvPr/>
        </p:nvPicPr>
        <p:blipFill>
          <a:blip r:embed="rId5"/>
          <a:stretch>
            <a:fillRect/>
          </a:stretch>
        </p:blipFill>
        <p:spPr>
          <a:xfrm>
            <a:off x="6974371" y="4761563"/>
            <a:ext cx="2341907" cy="2087747"/>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p:cNvSpPr txBox="1"/>
          <p:nvPr/>
        </p:nvSpPr>
        <p:spPr>
          <a:xfrm>
            <a:off x="1641176" y="1839105"/>
            <a:ext cx="9519311" cy="961289"/>
          </a:xfrm>
          <a:prstGeom prst="rect">
            <a:avLst/>
          </a:prstGeom>
          <a:noFill/>
        </p:spPr>
        <p:txBody>
          <a:bodyPr wrap="square" rtlCol="0" anchor="t">
            <a:spAutoFit/>
          </a:bodyPr>
          <a:lstStyle/>
          <a:p>
            <a:pPr lvl="1">
              <a:lnSpc>
                <a:spcPct val="150000"/>
              </a:lnSpc>
              <a:buClr>
                <a:schemeClr val="accent1"/>
              </a:buClr>
            </a:pPr>
            <a:r>
              <a:rPr lang="en-US" altLang="zh-CN" sz="2000" dirty="0">
                <a:solidFill>
                  <a:srgbClr val="44546A"/>
                </a:solidFill>
                <a:latin typeface="微软雅黑" panose="020B0503020204020204" pitchFamily="34" charset="-122"/>
                <a:ea typeface="微软雅黑" panose="020B0503020204020204" pitchFamily="34" charset="-122"/>
                <a:sym typeface="+mn-lt"/>
              </a:rPr>
              <a:t>train_test_split </a:t>
            </a:r>
            <a:r>
              <a:rPr lang="zh-CN" altLang="en-US" sz="2000" dirty="0">
                <a:solidFill>
                  <a:srgbClr val="44546A"/>
                </a:solidFill>
                <a:latin typeface="微软雅黑" panose="020B0503020204020204" pitchFamily="34" charset="-122"/>
                <a:ea typeface="微软雅黑" panose="020B0503020204020204" pitchFamily="34" charset="-122"/>
                <a:sym typeface="+mn-lt"/>
              </a:rPr>
              <a:t>函数来自 </a:t>
            </a:r>
            <a:r>
              <a:rPr lang="en-US" altLang="zh-CN" sz="2000" dirty="0">
                <a:solidFill>
                  <a:srgbClr val="44546A"/>
                </a:solidFill>
                <a:latin typeface="微软雅黑" panose="020B0503020204020204" pitchFamily="34" charset="-122"/>
                <a:ea typeface="微软雅黑" panose="020B0503020204020204" pitchFamily="34" charset="-122"/>
                <a:sym typeface="+mn-lt"/>
              </a:rPr>
              <a:t>scikit-learn </a:t>
            </a:r>
            <a:r>
              <a:rPr lang="zh-CN" altLang="en-US" sz="2000" dirty="0">
                <a:solidFill>
                  <a:srgbClr val="44546A"/>
                </a:solidFill>
                <a:latin typeface="微软雅黑" panose="020B0503020204020204" pitchFamily="34" charset="-122"/>
                <a:ea typeface="微软雅黑" panose="020B0503020204020204" pitchFamily="34" charset="-122"/>
                <a:sym typeface="+mn-lt"/>
              </a:rPr>
              <a:t>库（也称为</a:t>
            </a:r>
            <a:r>
              <a:rPr lang="en-US" altLang="zh-CN" sz="2000" dirty="0">
                <a:solidFill>
                  <a:srgbClr val="44546A"/>
                </a:solidFill>
                <a:latin typeface="微软雅黑" panose="020B0503020204020204" pitchFamily="34" charset="-122"/>
                <a:ea typeface="微软雅黑" panose="020B0503020204020204" pitchFamily="34" charset="-122"/>
                <a:sym typeface="+mn-lt"/>
              </a:rPr>
              <a:t>sklearn</a:t>
            </a:r>
            <a:r>
              <a:rPr lang="zh-CN" altLang="en-US" sz="2000" dirty="0">
                <a:solidFill>
                  <a:srgbClr val="44546A"/>
                </a:solidFill>
                <a:latin typeface="微软雅黑" panose="020B0503020204020204" pitchFamily="34" charset="-122"/>
                <a:ea typeface="微软雅黑" panose="020B0503020204020204" pitchFamily="34" charset="-122"/>
                <a:sym typeface="+mn-lt"/>
              </a:rPr>
              <a:t>），常用于划分训练集和测试集。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sp>
        <p:nvSpPr>
          <p:cNvPr id="5" name="文本框 4"/>
          <p:cNvSpPr txBox="1"/>
          <p:nvPr/>
        </p:nvSpPr>
        <p:spPr>
          <a:xfrm>
            <a:off x="1641175" y="2944009"/>
            <a:ext cx="9519311" cy="499624"/>
          </a:xfrm>
          <a:prstGeom prst="rect">
            <a:avLst/>
          </a:prstGeom>
          <a:noFill/>
        </p:spPr>
        <p:txBody>
          <a:bodyPr wrap="square" rtlCol="0" anchor="t">
            <a:spAutoFit/>
          </a:bodyPr>
          <a:lstStyle/>
          <a:p>
            <a:pPr marL="800100" lvl="1" indent="-342900">
              <a:lnSpc>
                <a:spcPct val="150000"/>
              </a:lnSpc>
              <a:buClr>
                <a:schemeClr val="accent1"/>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安装命令</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11" name="图片 10"/>
          <p:cNvPicPr>
            <a:picLocks noChangeAspect="1"/>
          </p:cNvPicPr>
          <p:nvPr/>
        </p:nvPicPr>
        <p:blipFill>
          <a:blip r:embed="rId3"/>
          <a:stretch>
            <a:fillRect/>
          </a:stretch>
        </p:blipFill>
        <p:spPr>
          <a:xfrm>
            <a:off x="3330022" y="3605112"/>
            <a:ext cx="3653873" cy="637303"/>
          </a:xfrm>
          <a:prstGeom prst="rect">
            <a:avLst/>
          </a:prstGeom>
        </p:spPr>
      </p:pic>
      <p:sp>
        <p:nvSpPr>
          <p:cNvPr id="12" name="文本框 11"/>
          <p:cNvSpPr txBox="1"/>
          <p:nvPr/>
        </p:nvSpPr>
        <p:spPr>
          <a:xfrm>
            <a:off x="1641174" y="4403894"/>
            <a:ext cx="9519311" cy="499624"/>
          </a:xfrm>
          <a:prstGeom prst="rect">
            <a:avLst/>
          </a:prstGeom>
          <a:noFill/>
        </p:spPr>
        <p:txBody>
          <a:bodyPr wrap="square" rtlCol="0" anchor="t">
            <a:spAutoFit/>
          </a:bodyPr>
          <a:lstStyle/>
          <a:p>
            <a:pPr marL="800100" lvl="1" indent="-342900">
              <a:lnSpc>
                <a:spcPct val="150000"/>
              </a:lnSpc>
              <a:buClr>
                <a:schemeClr val="accent1"/>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函数的导入</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14" name="图片 13"/>
          <p:cNvPicPr>
            <a:picLocks noChangeAspect="1"/>
          </p:cNvPicPr>
          <p:nvPr/>
        </p:nvPicPr>
        <p:blipFill>
          <a:blip r:embed="rId4"/>
          <a:stretch>
            <a:fillRect/>
          </a:stretch>
        </p:blipFill>
        <p:spPr>
          <a:xfrm>
            <a:off x="3237257" y="5264616"/>
            <a:ext cx="6569352" cy="584231"/>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pic>
        <p:nvPicPr>
          <p:cNvPr id="16" name="图片 15"/>
          <p:cNvPicPr>
            <a:picLocks noChangeAspect="1"/>
          </p:cNvPicPr>
          <p:nvPr/>
        </p:nvPicPr>
        <p:blipFill>
          <a:blip r:embed="rId3"/>
          <a:stretch>
            <a:fillRect/>
          </a:stretch>
        </p:blipFill>
        <p:spPr>
          <a:xfrm>
            <a:off x="1641177" y="2114919"/>
            <a:ext cx="8848725" cy="571500"/>
          </a:xfrm>
          <a:prstGeom prst="rect">
            <a:avLst/>
          </a:prstGeom>
        </p:spPr>
      </p:pic>
      <p:sp>
        <p:nvSpPr>
          <p:cNvPr id="17" name="文本框 16"/>
          <p:cNvSpPr txBox="1"/>
          <p:nvPr/>
        </p:nvSpPr>
        <p:spPr>
          <a:xfrm>
            <a:off x="1793577" y="14918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19" name="图片 18"/>
          <p:cNvPicPr>
            <a:picLocks noChangeAspect="1"/>
          </p:cNvPicPr>
          <p:nvPr/>
        </p:nvPicPr>
        <p:blipFill>
          <a:blip r:embed="rId4"/>
          <a:stretch>
            <a:fillRect/>
          </a:stretch>
        </p:blipFill>
        <p:spPr>
          <a:xfrm>
            <a:off x="1182429" y="3052394"/>
            <a:ext cx="10229850" cy="223837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pic>
        <p:nvPicPr>
          <p:cNvPr id="16" name="图片 15"/>
          <p:cNvPicPr>
            <a:picLocks noChangeAspect="1"/>
          </p:cNvPicPr>
          <p:nvPr/>
        </p:nvPicPr>
        <p:blipFill>
          <a:blip r:embed="rId3"/>
          <a:stretch>
            <a:fillRect/>
          </a:stretch>
        </p:blipFill>
        <p:spPr>
          <a:xfrm>
            <a:off x="1641177" y="2114919"/>
            <a:ext cx="8848725" cy="571500"/>
          </a:xfrm>
          <a:prstGeom prst="rect">
            <a:avLst/>
          </a:prstGeom>
        </p:spPr>
      </p:pic>
      <p:sp>
        <p:nvSpPr>
          <p:cNvPr id="17" name="文本框 16"/>
          <p:cNvSpPr txBox="1"/>
          <p:nvPr/>
        </p:nvSpPr>
        <p:spPr>
          <a:xfrm>
            <a:off x="1793577" y="14918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4"/>
          <a:stretch>
            <a:fillRect/>
          </a:stretch>
        </p:blipFill>
        <p:spPr>
          <a:xfrm>
            <a:off x="962024" y="3022738"/>
            <a:ext cx="10267950" cy="280035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2815669" y="2139481"/>
            <a:ext cx="6153150" cy="1352550"/>
          </a:xfrm>
          <a:prstGeom prst="rect">
            <a:avLst/>
          </a:prstGeom>
        </p:spPr>
      </p:pic>
      <p:pic>
        <p:nvPicPr>
          <p:cNvPr id="8" name="图片 7"/>
          <p:cNvPicPr>
            <a:picLocks noChangeAspect="1"/>
          </p:cNvPicPr>
          <p:nvPr/>
        </p:nvPicPr>
        <p:blipFill>
          <a:blip r:embed="rId4"/>
          <a:stretch>
            <a:fillRect/>
          </a:stretch>
        </p:blipFill>
        <p:spPr>
          <a:xfrm>
            <a:off x="5147126" y="4061201"/>
            <a:ext cx="2057400" cy="1514475"/>
          </a:xfrm>
          <a:prstGeom prst="rect">
            <a:avLst/>
          </a:prstGeom>
        </p:spPr>
      </p:pic>
      <p:sp>
        <p:nvSpPr>
          <p:cNvPr id="6" name="文本框 5"/>
          <p:cNvSpPr txBox="1"/>
          <p:nvPr/>
        </p:nvSpPr>
        <p:spPr>
          <a:xfrm>
            <a:off x="4209164" y="3904980"/>
            <a:ext cx="1171220" cy="458908"/>
          </a:xfrm>
          <a:prstGeom prst="rect">
            <a:avLst/>
          </a:prstGeom>
          <a:noFill/>
        </p:spPr>
        <p:txBody>
          <a:bodyPr wrap="square" rtlCol="0" anchor="t">
            <a:spAutoFit/>
          </a:bodyPr>
          <a:lstStyle/>
          <a:p>
            <a:pPr lvl="1">
              <a:lnSpc>
                <a:spcPct val="150000"/>
              </a:lnSpc>
              <a:buClr>
                <a:schemeClr val="accent1"/>
              </a:buClr>
            </a:pPr>
            <a:r>
              <a:rPr lang="en-US" altLang="zh-CN" dirty="0">
                <a:solidFill>
                  <a:srgbClr val="44546A"/>
                </a:solidFill>
                <a:latin typeface="微软雅黑" panose="020B0503020204020204" pitchFamily="34" charset="-122"/>
                <a:ea typeface="微软雅黑" panose="020B0503020204020204" pitchFamily="34" charset="-122"/>
                <a:sym typeface="+mn-lt"/>
              </a:rPr>
              <a:t>X</a:t>
            </a:r>
            <a:r>
              <a:rPr lang="zh-CN" altLang="en-US"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sp>
        <p:nvSpPr>
          <p:cNvPr id="9" name="文本框 8"/>
          <p:cNvSpPr txBox="1"/>
          <p:nvPr/>
        </p:nvSpPr>
        <p:spPr>
          <a:xfrm>
            <a:off x="4209164" y="5132235"/>
            <a:ext cx="1171220" cy="458908"/>
          </a:xfrm>
          <a:prstGeom prst="rect">
            <a:avLst/>
          </a:prstGeom>
          <a:noFill/>
        </p:spPr>
        <p:txBody>
          <a:bodyPr wrap="square" rtlCol="0" anchor="t">
            <a:spAutoFit/>
          </a:bodyPr>
          <a:lstStyle/>
          <a:p>
            <a:pPr lvl="1">
              <a:lnSpc>
                <a:spcPct val="150000"/>
              </a:lnSpc>
              <a:buClr>
                <a:schemeClr val="accent1"/>
              </a:buClr>
            </a:pPr>
            <a:r>
              <a:rPr lang="en-US" altLang="zh-CN" dirty="0">
                <a:solidFill>
                  <a:srgbClr val="44546A"/>
                </a:solidFill>
                <a:latin typeface="微软雅黑" panose="020B0503020204020204" pitchFamily="34" charset="-122"/>
                <a:ea typeface="微软雅黑" panose="020B0503020204020204" pitchFamily="34" charset="-122"/>
                <a:sym typeface="+mn-lt"/>
              </a:rPr>
              <a:t>y</a:t>
            </a:r>
            <a:r>
              <a:rPr lang="zh-CN" altLang="en-US"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10" name="图片 9"/>
          <p:cNvPicPr>
            <a:picLocks noChangeAspect="1"/>
          </p:cNvPicPr>
          <p:nvPr/>
        </p:nvPicPr>
        <p:blipFill>
          <a:blip r:embed="rId3"/>
          <a:stretch>
            <a:fillRect/>
          </a:stretch>
        </p:blipFill>
        <p:spPr>
          <a:xfrm>
            <a:off x="1641177" y="2127972"/>
            <a:ext cx="10248900" cy="1323975"/>
          </a:xfrm>
          <a:prstGeom prst="rect">
            <a:avLst/>
          </a:prstGeom>
        </p:spPr>
      </p:pic>
      <p:pic>
        <p:nvPicPr>
          <p:cNvPr id="12" name="图片 11"/>
          <p:cNvPicPr>
            <a:picLocks noChangeAspect="1"/>
          </p:cNvPicPr>
          <p:nvPr/>
        </p:nvPicPr>
        <p:blipFill>
          <a:blip r:embed="rId4"/>
          <a:stretch>
            <a:fillRect/>
          </a:stretch>
        </p:blipFill>
        <p:spPr>
          <a:xfrm>
            <a:off x="3039713" y="5131464"/>
            <a:ext cx="1447800" cy="1428750"/>
          </a:xfrm>
          <a:prstGeom prst="rect">
            <a:avLst/>
          </a:prstGeom>
        </p:spPr>
      </p:pic>
      <p:pic>
        <p:nvPicPr>
          <p:cNvPr id="14" name="图片 13"/>
          <p:cNvPicPr>
            <a:picLocks noChangeAspect="1"/>
          </p:cNvPicPr>
          <p:nvPr/>
        </p:nvPicPr>
        <p:blipFill>
          <a:blip r:embed="rId5"/>
          <a:stretch>
            <a:fillRect/>
          </a:stretch>
        </p:blipFill>
        <p:spPr>
          <a:xfrm>
            <a:off x="8382391" y="5131464"/>
            <a:ext cx="1323975" cy="1295400"/>
          </a:xfrm>
          <a:prstGeom prst="rect">
            <a:avLst/>
          </a:prstGeom>
        </p:spPr>
      </p:pic>
      <p:sp>
        <p:nvSpPr>
          <p:cNvPr id="4" name="文本框 3"/>
          <p:cNvSpPr txBox="1"/>
          <p:nvPr/>
        </p:nvSpPr>
        <p:spPr>
          <a:xfrm>
            <a:off x="1641177" y="3451947"/>
            <a:ext cx="10248900" cy="499624"/>
          </a:xfrm>
          <a:prstGeom prst="rect">
            <a:avLst/>
          </a:prstGeom>
          <a:noFill/>
        </p:spPr>
        <p:txBody>
          <a:bodyPr wrap="square" rtlCol="0" anchor="t">
            <a:spAutoFit/>
          </a:bodyPr>
          <a:lstStyle/>
          <a:p>
            <a:pPr lvl="1">
              <a:lnSpc>
                <a:spcPct val="150000"/>
              </a:lnSpc>
              <a:buClr>
                <a:schemeClr val="accent1"/>
              </a:buClr>
            </a:pPr>
            <a:r>
              <a:rPr lang="en-US" altLang="zh-CN" sz="2000" dirty="0">
                <a:solidFill>
                  <a:srgbClr val="44546A"/>
                </a:solidFill>
                <a:latin typeface="微软雅黑" panose="020B0503020204020204" pitchFamily="34" charset="-122"/>
                <a:ea typeface="微软雅黑" panose="020B0503020204020204" pitchFamily="34" charset="-122"/>
                <a:sym typeface="+mn-lt"/>
              </a:rPr>
              <a:t>test_size=0.33</a:t>
            </a:r>
            <a:r>
              <a:rPr lang="zh-CN" altLang="en-US" sz="2000" dirty="0">
                <a:solidFill>
                  <a:srgbClr val="44546A"/>
                </a:solidFill>
                <a:latin typeface="微软雅黑" panose="020B0503020204020204" pitchFamily="34" charset="-122"/>
                <a:ea typeface="微软雅黑" panose="020B0503020204020204" pitchFamily="34" charset="-122"/>
                <a:sym typeface="+mn-lt"/>
              </a:rPr>
              <a:t>，意味着</a:t>
            </a:r>
            <a:r>
              <a:rPr lang="zh-CN" altLang="en-US" sz="2000" u="sng" dirty="0">
                <a:solidFill>
                  <a:srgbClr val="44546A"/>
                </a:solidFill>
                <a:latin typeface="微软雅黑" panose="020B0503020204020204" pitchFamily="34" charset="-122"/>
                <a:ea typeface="微软雅黑" panose="020B0503020204020204" pitchFamily="34" charset="-122"/>
                <a:sym typeface="+mn-lt"/>
              </a:rPr>
              <a:t>测试集</a:t>
            </a:r>
            <a:r>
              <a:rPr lang="zh-CN" altLang="en-US" sz="2000" dirty="0">
                <a:solidFill>
                  <a:srgbClr val="44546A"/>
                </a:solidFill>
                <a:latin typeface="微软雅黑" panose="020B0503020204020204" pitchFamily="34" charset="-122"/>
                <a:ea typeface="微软雅黑" panose="020B0503020204020204" pitchFamily="34" charset="-122"/>
                <a:sym typeface="+mn-lt"/>
              </a:rPr>
              <a:t>占</a:t>
            </a:r>
            <a:r>
              <a:rPr lang="zh-CN" altLang="en-US" sz="2000" u="sng" dirty="0">
                <a:solidFill>
                  <a:srgbClr val="44546A"/>
                </a:solidFill>
                <a:latin typeface="微软雅黑" panose="020B0503020204020204" pitchFamily="34" charset="-122"/>
                <a:ea typeface="微软雅黑" panose="020B0503020204020204" pitchFamily="34" charset="-122"/>
                <a:sym typeface="+mn-lt"/>
              </a:rPr>
              <a:t>完整数据集</a:t>
            </a:r>
            <a:r>
              <a:rPr lang="zh-CN" altLang="en-US" sz="2000" dirty="0">
                <a:solidFill>
                  <a:srgbClr val="44546A"/>
                </a:solidFill>
                <a:latin typeface="微软雅黑" panose="020B0503020204020204" pitchFamily="34" charset="-122"/>
                <a:ea typeface="微软雅黑" panose="020B0503020204020204" pitchFamily="34" charset="-122"/>
                <a:sym typeface="+mn-lt"/>
              </a:rPr>
              <a:t>的</a:t>
            </a:r>
            <a:r>
              <a:rPr lang="en-US" altLang="zh-CN" sz="2000" dirty="0">
                <a:solidFill>
                  <a:srgbClr val="44546A"/>
                </a:solidFill>
                <a:latin typeface="微软雅黑" panose="020B0503020204020204" pitchFamily="34" charset="-122"/>
                <a:ea typeface="微软雅黑" panose="020B0503020204020204" pitchFamily="34" charset="-122"/>
                <a:sym typeface="+mn-lt"/>
              </a:rPr>
              <a:t>33%</a:t>
            </a:r>
            <a:r>
              <a:rPr lang="zh-CN" altLang="en-US" sz="2000" dirty="0">
                <a:solidFill>
                  <a:srgbClr val="44546A"/>
                </a:solidFill>
                <a:latin typeface="微软雅黑" panose="020B0503020204020204" pitchFamily="34" charset="-122"/>
                <a:ea typeface="微软雅黑" panose="020B0503020204020204" pitchFamily="34" charset="-122"/>
                <a:sym typeface="+mn-lt"/>
              </a:rPr>
              <a:t>。</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sp>
        <p:nvSpPr>
          <p:cNvPr id="6" name="左大括号 5"/>
          <p:cNvSpPr/>
          <p:nvPr/>
        </p:nvSpPr>
        <p:spPr>
          <a:xfrm>
            <a:off x="2776330" y="5134337"/>
            <a:ext cx="225287" cy="9486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265043" y="5379192"/>
            <a:ext cx="3129947" cy="458908"/>
          </a:xfrm>
          <a:prstGeom prst="rect">
            <a:avLst/>
          </a:prstGeom>
          <a:noFill/>
        </p:spPr>
        <p:txBody>
          <a:bodyPr wrap="square" rtlCol="0" anchor="t">
            <a:spAutoFit/>
          </a:bodyPr>
          <a:lstStyle/>
          <a:p>
            <a:pPr lvl="1">
              <a:lnSpc>
                <a:spcPct val="150000"/>
              </a:lnSpc>
              <a:buClr>
                <a:schemeClr val="accent1"/>
              </a:buClr>
            </a:pPr>
            <a:r>
              <a:rPr lang="zh-CN" altLang="en-US" dirty="0">
                <a:solidFill>
                  <a:srgbClr val="44546A"/>
                </a:solidFill>
                <a:latin typeface="微软雅黑" panose="020B0503020204020204" pitchFamily="34" charset="-122"/>
                <a:ea typeface="微软雅黑" panose="020B0503020204020204" pitchFamily="34" charset="-122"/>
                <a:sym typeface="+mn-lt"/>
              </a:rPr>
              <a:t>划分的训练集（</a:t>
            </a:r>
            <a:r>
              <a:rPr lang="en-US" altLang="zh-CN" dirty="0">
                <a:solidFill>
                  <a:srgbClr val="44546A"/>
                </a:solidFill>
                <a:latin typeface="微软雅黑" panose="020B0503020204020204" pitchFamily="34" charset="-122"/>
                <a:ea typeface="微软雅黑" panose="020B0503020204020204" pitchFamily="34" charset="-122"/>
                <a:sym typeface="+mn-lt"/>
              </a:rPr>
              <a:t>3</a:t>
            </a:r>
            <a:r>
              <a:rPr lang="zh-CN" altLang="en-US"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sp>
        <p:nvSpPr>
          <p:cNvPr id="13" name="文本框 12"/>
          <p:cNvSpPr txBox="1"/>
          <p:nvPr/>
        </p:nvSpPr>
        <p:spPr>
          <a:xfrm>
            <a:off x="-145773" y="6234164"/>
            <a:ext cx="3355234" cy="458908"/>
          </a:xfrm>
          <a:prstGeom prst="rect">
            <a:avLst/>
          </a:prstGeom>
          <a:noFill/>
        </p:spPr>
        <p:txBody>
          <a:bodyPr wrap="square" rtlCol="0" anchor="t">
            <a:spAutoFit/>
          </a:bodyPr>
          <a:lstStyle/>
          <a:p>
            <a:pPr lvl="1">
              <a:lnSpc>
                <a:spcPct val="150000"/>
              </a:lnSpc>
              <a:buClr>
                <a:schemeClr val="accent1"/>
              </a:buClr>
            </a:pPr>
            <a:r>
              <a:rPr lang="zh-CN" altLang="en-US" dirty="0">
                <a:solidFill>
                  <a:srgbClr val="44546A"/>
                </a:solidFill>
                <a:latin typeface="微软雅黑" panose="020B0503020204020204" pitchFamily="34" charset="-122"/>
                <a:ea typeface="微软雅黑" panose="020B0503020204020204" pitchFamily="34" charset="-122"/>
                <a:sym typeface="+mn-lt"/>
              </a:rPr>
              <a:t>划分的训练集标签（</a:t>
            </a:r>
            <a:r>
              <a:rPr lang="en-US" altLang="zh-CN" dirty="0">
                <a:solidFill>
                  <a:srgbClr val="44546A"/>
                </a:solidFill>
                <a:latin typeface="微软雅黑" panose="020B0503020204020204" pitchFamily="34" charset="-122"/>
                <a:ea typeface="微软雅黑" panose="020B0503020204020204" pitchFamily="34" charset="-122"/>
                <a:sym typeface="+mn-lt"/>
              </a:rPr>
              <a:t>3</a:t>
            </a:r>
            <a:r>
              <a:rPr lang="zh-CN" altLang="en-US"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cxnSp>
        <p:nvCxnSpPr>
          <p:cNvPr id="16" name="直接连接符 15"/>
          <p:cNvCxnSpPr/>
          <p:nvPr/>
        </p:nvCxnSpPr>
        <p:spPr>
          <a:xfrm>
            <a:off x="2776330" y="6493539"/>
            <a:ext cx="263383"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左大括号 16"/>
          <p:cNvSpPr/>
          <p:nvPr/>
        </p:nvSpPr>
        <p:spPr>
          <a:xfrm>
            <a:off x="8035813" y="5250257"/>
            <a:ext cx="233542" cy="5878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5367130" y="5289065"/>
            <a:ext cx="3337659" cy="458908"/>
          </a:xfrm>
          <a:prstGeom prst="rect">
            <a:avLst/>
          </a:prstGeom>
          <a:noFill/>
        </p:spPr>
        <p:txBody>
          <a:bodyPr wrap="square" rtlCol="0" anchor="t">
            <a:spAutoFit/>
          </a:bodyPr>
          <a:lstStyle/>
          <a:p>
            <a:pPr lvl="1">
              <a:lnSpc>
                <a:spcPct val="150000"/>
              </a:lnSpc>
              <a:buClr>
                <a:schemeClr val="accent1"/>
              </a:buClr>
            </a:pPr>
            <a:r>
              <a:rPr lang="zh-CN" altLang="en-US" dirty="0">
                <a:solidFill>
                  <a:srgbClr val="44546A"/>
                </a:solidFill>
                <a:latin typeface="微软雅黑" panose="020B0503020204020204" pitchFamily="34" charset="-122"/>
                <a:ea typeface="微软雅黑" panose="020B0503020204020204" pitchFamily="34" charset="-122"/>
                <a:sym typeface="+mn-lt"/>
              </a:rPr>
              <a:t>划分的测试集合（</a:t>
            </a:r>
            <a:r>
              <a:rPr lang="en-US" altLang="zh-CN" dirty="0">
                <a:solidFill>
                  <a:srgbClr val="44546A"/>
                </a:solidFill>
                <a:latin typeface="微软雅黑" panose="020B0503020204020204" pitchFamily="34" charset="-122"/>
                <a:ea typeface="微软雅黑" panose="020B0503020204020204" pitchFamily="34" charset="-122"/>
                <a:sym typeface="+mn-lt"/>
              </a:rPr>
              <a:t>2</a:t>
            </a:r>
            <a:r>
              <a:rPr lang="zh-CN" altLang="en-US"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sp>
        <p:nvSpPr>
          <p:cNvPr id="19" name="文本框 18"/>
          <p:cNvSpPr txBox="1"/>
          <p:nvPr/>
        </p:nvSpPr>
        <p:spPr>
          <a:xfrm>
            <a:off x="5247861" y="5984002"/>
            <a:ext cx="3477217" cy="458908"/>
          </a:xfrm>
          <a:prstGeom prst="rect">
            <a:avLst/>
          </a:prstGeom>
          <a:noFill/>
        </p:spPr>
        <p:txBody>
          <a:bodyPr wrap="square" rtlCol="0" anchor="t">
            <a:spAutoFit/>
          </a:bodyPr>
          <a:lstStyle/>
          <a:p>
            <a:pPr lvl="1">
              <a:lnSpc>
                <a:spcPct val="150000"/>
              </a:lnSpc>
              <a:buClr>
                <a:schemeClr val="accent1"/>
              </a:buClr>
            </a:pPr>
            <a:r>
              <a:rPr lang="zh-CN" altLang="en-US" dirty="0">
                <a:solidFill>
                  <a:srgbClr val="44546A"/>
                </a:solidFill>
                <a:latin typeface="微软雅黑" panose="020B0503020204020204" pitchFamily="34" charset="-122"/>
                <a:ea typeface="微软雅黑" panose="020B0503020204020204" pitchFamily="34" charset="-122"/>
                <a:sym typeface="+mn-lt"/>
              </a:rPr>
              <a:t>划分的测试集标签（</a:t>
            </a:r>
            <a:r>
              <a:rPr lang="en-US" altLang="zh-CN" dirty="0">
                <a:solidFill>
                  <a:srgbClr val="44546A"/>
                </a:solidFill>
                <a:latin typeface="微软雅黑" panose="020B0503020204020204" pitchFamily="34" charset="-122"/>
                <a:ea typeface="微软雅黑" panose="020B0503020204020204" pitchFamily="34" charset="-122"/>
                <a:sym typeface="+mn-lt"/>
              </a:rPr>
              <a:t>2</a:t>
            </a:r>
            <a:r>
              <a:rPr lang="zh-CN" altLang="en-US"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cxnSp>
        <p:nvCxnSpPr>
          <p:cNvPr id="20" name="直接连接符 19"/>
          <p:cNvCxnSpPr/>
          <p:nvPr/>
        </p:nvCxnSpPr>
        <p:spPr>
          <a:xfrm>
            <a:off x="8106418" y="6264085"/>
            <a:ext cx="263383"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8256104" y="2014330"/>
            <a:ext cx="1616766" cy="49962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641177" y="3862699"/>
            <a:ext cx="10248900" cy="961289"/>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若完整数据集的数量为</a:t>
            </a:r>
            <a:r>
              <a:rPr lang="en-US" altLang="zh-CN" sz="2000" dirty="0">
                <a:solidFill>
                  <a:srgbClr val="44546A"/>
                </a:solidFill>
                <a:latin typeface="微软雅黑" panose="020B0503020204020204" pitchFamily="34" charset="-122"/>
                <a:ea typeface="微软雅黑" panose="020B0503020204020204" pitchFamily="34" charset="-122"/>
                <a:sym typeface="+mn-lt"/>
              </a:rPr>
              <a:t>5</a:t>
            </a:r>
            <a:r>
              <a:rPr lang="zh-CN" altLang="en-US" sz="2000" dirty="0">
                <a:solidFill>
                  <a:srgbClr val="44546A"/>
                </a:solidFill>
                <a:latin typeface="微软雅黑" panose="020B0503020204020204" pitchFamily="34" charset="-122"/>
                <a:ea typeface="微软雅黑" panose="020B0503020204020204" pitchFamily="34" charset="-122"/>
                <a:sym typeface="+mn-lt"/>
              </a:rPr>
              <a:t>，则</a:t>
            </a:r>
            <a:r>
              <a:rPr lang="zh-CN" altLang="en-US" sz="2000" b="1" dirty="0">
                <a:solidFill>
                  <a:srgbClr val="44546A"/>
                </a:solidFill>
                <a:latin typeface="微软雅黑" panose="020B0503020204020204" pitchFamily="34" charset="-122"/>
                <a:ea typeface="微软雅黑" panose="020B0503020204020204" pitchFamily="34" charset="-122"/>
                <a:sym typeface="+mn-lt"/>
              </a:rPr>
              <a:t>测试集</a:t>
            </a:r>
            <a:r>
              <a:rPr lang="zh-CN" altLang="en-US" sz="2000" dirty="0">
                <a:solidFill>
                  <a:srgbClr val="44546A"/>
                </a:solidFill>
                <a:latin typeface="微软雅黑" panose="020B0503020204020204" pitchFamily="34" charset="-122"/>
                <a:ea typeface="微软雅黑" panose="020B0503020204020204" pitchFamily="34" charset="-122"/>
                <a:sym typeface="+mn-lt"/>
              </a:rPr>
              <a:t>的数量为</a:t>
            </a:r>
            <a:r>
              <a:rPr lang="en-US" altLang="zh-CN" sz="2000" dirty="0">
                <a:solidFill>
                  <a:srgbClr val="44546A"/>
                </a:solidFill>
                <a:latin typeface="微软雅黑" panose="020B0503020204020204" pitchFamily="34" charset="-122"/>
                <a:ea typeface="微软雅黑" panose="020B0503020204020204" pitchFamily="34" charset="-122"/>
                <a:sym typeface="+mn-lt"/>
              </a:rPr>
              <a:t>5</a:t>
            </a:r>
            <a:r>
              <a:rPr lang="zh-CN" altLang="en-US" sz="2000" dirty="0">
                <a:solidFill>
                  <a:srgbClr val="44546A"/>
                </a:solidFill>
                <a:latin typeface="微软雅黑" panose="020B0503020204020204" pitchFamily="34" charset="-122"/>
                <a:ea typeface="微软雅黑" panose="020B0503020204020204" pitchFamily="34" charset="-122"/>
                <a:sym typeface="+mn-lt"/>
              </a:rPr>
              <a:t>*</a:t>
            </a:r>
            <a:r>
              <a:rPr lang="en-US" altLang="zh-CN" sz="2000" dirty="0">
                <a:solidFill>
                  <a:srgbClr val="44546A"/>
                </a:solidFill>
                <a:latin typeface="微软雅黑" panose="020B0503020204020204" pitchFamily="34" charset="-122"/>
                <a:ea typeface="微软雅黑" panose="020B0503020204020204" pitchFamily="34" charset="-122"/>
                <a:sym typeface="+mn-lt"/>
              </a:rPr>
              <a:t>0.33=1.65</a:t>
            </a:r>
            <a:r>
              <a:rPr lang="zh-CN" altLang="en-US" sz="2000" dirty="0">
                <a:solidFill>
                  <a:srgbClr val="44546A"/>
                </a:solidFill>
                <a:latin typeface="微软雅黑" panose="020B0503020204020204" pitchFamily="34" charset="-122"/>
                <a:ea typeface="微软雅黑" panose="020B0503020204020204" pitchFamily="34" charset="-122"/>
                <a:sym typeface="+mn-lt"/>
              </a:rPr>
              <a:t>，四舍五入约为</a:t>
            </a:r>
            <a:r>
              <a:rPr lang="en-US" altLang="zh-CN" sz="2000" dirty="0">
                <a:solidFill>
                  <a:srgbClr val="44546A"/>
                </a:solidFill>
                <a:latin typeface="微软雅黑" panose="020B0503020204020204" pitchFamily="34" charset="-122"/>
                <a:ea typeface="微软雅黑" panose="020B0503020204020204" pitchFamily="34" charset="-122"/>
                <a:sym typeface="+mn-lt"/>
              </a:rPr>
              <a:t>2</a:t>
            </a:r>
            <a:r>
              <a:rPr lang="zh-CN" altLang="en-US" sz="2000" dirty="0">
                <a:solidFill>
                  <a:srgbClr val="44546A"/>
                </a:solidFill>
                <a:latin typeface="微软雅黑" panose="020B0503020204020204" pitchFamily="34" charset="-122"/>
                <a:ea typeface="微软雅黑" panose="020B0503020204020204" pitchFamily="34" charset="-122"/>
                <a:sym typeface="+mn-lt"/>
              </a:rPr>
              <a:t>；</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lvl="1">
              <a:lnSpc>
                <a:spcPct val="150000"/>
              </a:lnSpc>
              <a:buClr>
                <a:schemeClr val="accent1"/>
              </a:buClr>
            </a:pPr>
            <a:r>
              <a:rPr lang="en-US" altLang="zh-CN" sz="2000" dirty="0">
                <a:solidFill>
                  <a:srgbClr val="44546A"/>
                </a:solidFill>
                <a:latin typeface="微软雅黑" panose="020B0503020204020204" pitchFamily="34" charset="-122"/>
                <a:ea typeface="微软雅黑" panose="020B0503020204020204" pitchFamily="34" charset="-122"/>
                <a:sym typeface="+mn-lt"/>
              </a:rPr>
              <a:t>                                           </a:t>
            </a:r>
            <a:r>
              <a:rPr lang="zh-CN" altLang="en-US" sz="2000" b="1" dirty="0">
                <a:solidFill>
                  <a:srgbClr val="44546A"/>
                </a:solidFill>
                <a:latin typeface="微软雅黑" panose="020B0503020204020204" pitchFamily="34" charset="-122"/>
                <a:ea typeface="微软雅黑" panose="020B0503020204020204" pitchFamily="34" charset="-122"/>
                <a:sym typeface="+mn-lt"/>
              </a:rPr>
              <a:t>训练集</a:t>
            </a:r>
            <a:r>
              <a:rPr lang="zh-CN" altLang="en-US" sz="2000" dirty="0">
                <a:solidFill>
                  <a:srgbClr val="44546A"/>
                </a:solidFill>
                <a:latin typeface="微软雅黑" panose="020B0503020204020204" pitchFamily="34" charset="-122"/>
                <a:ea typeface="微软雅黑" panose="020B0503020204020204" pitchFamily="34" charset="-122"/>
                <a:sym typeface="+mn-lt"/>
              </a:rPr>
              <a:t>的数量：完整数据集的总数</a:t>
            </a:r>
            <a:r>
              <a:rPr lang="en-US" altLang="zh-CN" sz="2000" dirty="0">
                <a:solidFill>
                  <a:srgbClr val="44546A"/>
                </a:solidFill>
                <a:latin typeface="微软雅黑" panose="020B0503020204020204" pitchFamily="34" charset="-122"/>
                <a:ea typeface="微软雅黑" panose="020B0503020204020204" pitchFamily="34" charset="-122"/>
                <a:sym typeface="+mn-lt"/>
              </a:rPr>
              <a:t>-</a:t>
            </a:r>
            <a:r>
              <a:rPr lang="zh-CN" altLang="en-US" sz="2000" dirty="0">
                <a:solidFill>
                  <a:srgbClr val="44546A"/>
                </a:solidFill>
                <a:latin typeface="微软雅黑" panose="020B0503020204020204" pitchFamily="34" charset="-122"/>
                <a:ea typeface="微软雅黑" panose="020B0503020204020204" pitchFamily="34" charset="-122"/>
                <a:sym typeface="+mn-lt"/>
              </a:rPr>
              <a:t>测试集的总数</a:t>
            </a:r>
            <a:r>
              <a:rPr lang="en-US" altLang="zh-CN" sz="2000" dirty="0">
                <a:solidFill>
                  <a:srgbClr val="44546A"/>
                </a:solidFill>
                <a:latin typeface="微软雅黑" panose="020B0503020204020204" pitchFamily="34" charset="-122"/>
                <a:ea typeface="微软雅黑" panose="020B0503020204020204" pitchFamily="34" charset="-122"/>
                <a:sym typeface="+mn-lt"/>
              </a:rPr>
              <a:t>=5-2=3</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9" grpId="0"/>
      <p:bldP spid="13" grpId="0"/>
      <p:bldP spid="17" grpId="0" animBg="1"/>
      <p:bldP spid="18" grpId="0"/>
      <p:bldP spid="19" grpId="0"/>
      <p:bldP spid="21" grpId="0" animBg="1"/>
      <p:bldP spid="2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pic>
        <p:nvPicPr>
          <p:cNvPr id="10" name="图片 9"/>
          <p:cNvPicPr>
            <a:picLocks noChangeAspect="1"/>
          </p:cNvPicPr>
          <p:nvPr/>
        </p:nvPicPr>
        <p:blipFill>
          <a:blip r:embed="rId3"/>
          <a:stretch>
            <a:fillRect/>
          </a:stretch>
        </p:blipFill>
        <p:spPr>
          <a:xfrm>
            <a:off x="1641177" y="2127972"/>
            <a:ext cx="10248900" cy="1323975"/>
          </a:xfrm>
          <a:prstGeom prst="rect">
            <a:avLst/>
          </a:prstGeom>
        </p:spPr>
      </p:pic>
      <p:sp>
        <p:nvSpPr>
          <p:cNvPr id="4" name="文本框 3"/>
          <p:cNvSpPr txBox="1"/>
          <p:nvPr/>
        </p:nvSpPr>
        <p:spPr>
          <a:xfrm>
            <a:off x="1641177" y="3451947"/>
            <a:ext cx="10248900"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小练习：调整以上代码</a:t>
            </a:r>
            <a:r>
              <a:rPr lang="zh-CN" altLang="en-US" sz="2000" dirty="0">
                <a:solidFill>
                  <a:srgbClr val="44546A"/>
                </a:solidFill>
                <a:latin typeface="微软雅黑" panose="020B0503020204020204" pitchFamily="34" charset="-122"/>
                <a:ea typeface="微软雅黑" panose="020B0503020204020204" pitchFamily="34" charset="-122"/>
              </a:rPr>
              <a:t>，按照</a:t>
            </a:r>
            <a:r>
              <a:rPr lang="en-US" altLang="zh-CN" sz="2000" dirty="0">
                <a:solidFill>
                  <a:srgbClr val="44546A"/>
                </a:solidFill>
                <a:latin typeface="微软雅黑" panose="020B0503020204020204" pitchFamily="34" charset="-122"/>
                <a:ea typeface="微软雅黑" panose="020B0503020204020204" pitchFamily="34" charset="-122"/>
              </a:rPr>
              <a:t>7:3</a:t>
            </a:r>
            <a:r>
              <a:rPr lang="zh-CN" altLang="en-US" sz="2000" dirty="0">
                <a:solidFill>
                  <a:srgbClr val="44546A"/>
                </a:solidFill>
                <a:latin typeface="微软雅黑" panose="020B0503020204020204" pitchFamily="34" charset="-122"/>
                <a:ea typeface="微软雅黑" panose="020B0503020204020204" pitchFamily="34" charset="-122"/>
              </a:rPr>
              <a:t>的比例，随机划分为训练集和测试集</a:t>
            </a:r>
            <a:r>
              <a:rPr lang="zh-CN" altLang="en-US" sz="2000" dirty="0">
                <a:solidFill>
                  <a:srgbClr val="44546A"/>
                </a:solidFill>
                <a:latin typeface="微软雅黑" panose="020B0503020204020204" pitchFamily="34" charset="-122"/>
                <a:ea typeface="微软雅黑" panose="020B0503020204020204" pitchFamily="34" charset="-122"/>
                <a:sym typeface="+mn-lt"/>
              </a:rPr>
              <a:t>。</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
        <p:nvSpPr>
          <p:cNvPr id="5" name="矩形: 圆角 4"/>
          <p:cNvSpPr/>
          <p:nvPr/>
        </p:nvSpPr>
        <p:spPr>
          <a:xfrm>
            <a:off x="4909980" y="3491002"/>
            <a:ext cx="1815516" cy="49962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8044074" y="3951571"/>
            <a:ext cx="8613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150631" y="3951571"/>
            <a:ext cx="8613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7652071" y="3951571"/>
            <a:ext cx="1498560" cy="458908"/>
          </a:xfrm>
          <a:prstGeom prst="rect">
            <a:avLst/>
          </a:prstGeom>
          <a:noFill/>
        </p:spPr>
        <p:txBody>
          <a:bodyPr wrap="square" rtlCol="0" anchor="t">
            <a:spAutoFit/>
          </a:bodyPr>
          <a:lstStyle/>
          <a:p>
            <a:pPr lvl="1">
              <a:lnSpc>
                <a:spcPct val="150000"/>
              </a:lnSpc>
              <a:buClr>
                <a:schemeClr val="accent1"/>
              </a:buClr>
            </a:pPr>
            <a:r>
              <a:rPr lang="zh-CN" altLang="en-US" dirty="0">
                <a:solidFill>
                  <a:srgbClr val="44546A"/>
                </a:solidFill>
                <a:latin typeface="微软雅黑" panose="020B0503020204020204" pitchFamily="34" charset="-122"/>
                <a:ea typeface="微软雅黑" panose="020B0503020204020204" pitchFamily="34" charset="-122"/>
                <a:sym typeface="+mn-lt"/>
              </a:rPr>
              <a:t>占</a:t>
            </a:r>
            <a:r>
              <a:rPr lang="en-US" altLang="zh-CN" b="1" dirty="0">
                <a:solidFill>
                  <a:srgbClr val="44546A"/>
                </a:solidFill>
                <a:latin typeface="微软雅黑" panose="020B0503020204020204" pitchFamily="34" charset="-122"/>
                <a:ea typeface="微软雅黑" panose="020B0503020204020204" pitchFamily="34" charset="-122"/>
                <a:sym typeface="+mn-lt"/>
              </a:rPr>
              <a:t>70</a:t>
            </a:r>
            <a:r>
              <a:rPr lang="en-US" altLang="zh-CN"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sp>
        <p:nvSpPr>
          <p:cNvPr id="24" name="文本框 23"/>
          <p:cNvSpPr txBox="1"/>
          <p:nvPr/>
        </p:nvSpPr>
        <p:spPr>
          <a:xfrm>
            <a:off x="8565391" y="3951571"/>
            <a:ext cx="1498560" cy="458908"/>
          </a:xfrm>
          <a:prstGeom prst="rect">
            <a:avLst/>
          </a:prstGeom>
          <a:noFill/>
        </p:spPr>
        <p:txBody>
          <a:bodyPr wrap="square" rtlCol="0" anchor="t">
            <a:spAutoFit/>
          </a:bodyPr>
          <a:lstStyle/>
          <a:p>
            <a:pPr lvl="1">
              <a:lnSpc>
                <a:spcPct val="150000"/>
              </a:lnSpc>
              <a:buClr>
                <a:schemeClr val="accent1"/>
              </a:buClr>
            </a:pPr>
            <a:r>
              <a:rPr lang="zh-CN" altLang="en-US" dirty="0">
                <a:solidFill>
                  <a:srgbClr val="44546A"/>
                </a:solidFill>
                <a:latin typeface="微软雅黑" panose="020B0503020204020204" pitchFamily="34" charset="-122"/>
                <a:ea typeface="微软雅黑" panose="020B0503020204020204" pitchFamily="34" charset="-122"/>
                <a:sym typeface="+mn-lt"/>
              </a:rPr>
              <a:t>占</a:t>
            </a:r>
            <a:r>
              <a:rPr lang="en-US" altLang="zh-CN" b="1" dirty="0">
                <a:solidFill>
                  <a:srgbClr val="44546A"/>
                </a:solidFill>
                <a:latin typeface="微软雅黑" panose="020B0503020204020204" pitchFamily="34" charset="-122"/>
                <a:ea typeface="微软雅黑" panose="020B0503020204020204" pitchFamily="34" charset="-122"/>
                <a:sym typeface="+mn-lt"/>
              </a:rPr>
              <a:t>30</a:t>
            </a:r>
            <a:r>
              <a:rPr lang="en-US" altLang="zh-CN" dirty="0">
                <a:solidFill>
                  <a:srgbClr val="44546A"/>
                </a:solidFill>
                <a:latin typeface="微软雅黑" panose="020B0503020204020204" pitchFamily="34" charset="-122"/>
                <a:ea typeface="微软雅黑" panose="020B0503020204020204" pitchFamily="34" charset="-122"/>
                <a:sym typeface="+mn-lt"/>
              </a:rPr>
              <a:t>%</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pic>
        <p:nvPicPr>
          <p:cNvPr id="26" name="图片 25"/>
          <p:cNvPicPr>
            <a:picLocks noChangeAspect="1"/>
          </p:cNvPicPr>
          <p:nvPr/>
        </p:nvPicPr>
        <p:blipFill>
          <a:blip r:embed="rId4"/>
          <a:stretch>
            <a:fillRect/>
          </a:stretch>
        </p:blipFill>
        <p:spPr>
          <a:xfrm>
            <a:off x="1641177" y="4772366"/>
            <a:ext cx="10020300" cy="1371600"/>
          </a:xfrm>
          <a:prstGeom prst="rect">
            <a:avLst/>
          </a:prstGeom>
        </p:spPr>
      </p:pic>
      <p:sp>
        <p:nvSpPr>
          <p:cNvPr id="27" name="矩形: 圆角 26"/>
          <p:cNvSpPr/>
          <p:nvPr/>
        </p:nvSpPr>
        <p:spPr>
          <a:xfrm>
            <a:off x="8256104" y="2014330"/>
            <a:ext cx="1616766" cy="49962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8256104" y="4717285"/>
            <a:ext cx="1616766" cy="49962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down)">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down)">
                                      <p:cBhvr>
                                        <p:cTn id="4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23" grpId="0"/>
      <p:bldP spid="24" grpId="0"/>
      <p:bldP spid="27" grpId="0" animBg="1"/>
      <p:bldP spid="2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课堂练习</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1"/>
              </a:buClr>
            </a:pPr>
            <a:r>
              <a:rPr lang="zh-CN" altLang="en-US" sz="20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2000" b="1" dirty="0">
              <a:solidFill>
                <a:srgbClr val="44546A"/>
              </a:solidFill>
              <a:latin typeface="微软雅黑" panose="020B0503020204020204" pitchFamily="34" charset="-122"/>
              <a:ea typeface="微软雅黑" panose="020B0503020204020204" pitchFamily="34" charset="-122"/>
              <a:sym typeface="+mn-lt"/>
            </a:endParaRPr>
          </a:p>
        </p:txBody>
      </p:sp>
      <p:sp>
        <p:nvSpPr>
          <p:cNvPr id="6" name="文本框 5"/>
          <p:cNvSpPr txBox="1"/>
          <p:nvPr/>
        </p:nvSpPr>
        <p:spPr>
          <a:xfrm>
            <a:off x="318053" y="1835523"/>
            <a:ext cx="9519311" cy="4357731"/>
          </a:xfrm>
          <a:prstGeom prst="rect">
            <a:avLst/>
          </a:prstGeom>
          <a:noFill/>
        </p:spPr>
        <p:txBody>
          <a:bodyPr wrap="square" rtlCol="0" anchor="t">
            <a:spAutoFit/>
          </a:bodyPr>
          <a:lstStyle/>
          <a:p>
            <a:pPr marL="342900" indent="-342900">
              <a:lnSpc>
                <a:spcPct val="150000"/>
              </a:lnSpc>
              <a:buClr>
                <a:schemeClr val="accent1"/>
              </a:buClr>
              <a:buFont typeface="Wingdings" panose="05000000000000000000" pitchFamily="2" charset="2"/>
              <a:buChar char="l"/>
            </a:pPr>
            <a:r>
              <a:rPr lang="zh-CN" altLang="en-US" sz="1600" dirty="0">
                <a:solidFill>
                  <a:srgbClr val="44546A"/>
                </a:solidFill>
                <a:latin typeface="微软雅黑" panose="020B0503020204020204" pitchFamily="34" charset="-122"/>
                <a:ea typeface="微软雅黑" panose="020B0503020204020204" pitchFamily="34" charset="-122"/>
                <a:sym typeface="+mn-lt"/>
              </a:rPr>
              <a:t>读取数据与划分</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1"/>
              </a:buClr>
              <a:buFont typeface="Arial" panose="020B0604020202020204" pitchFamily="34" charset="0"/>
              <a:buChar char="•"/>
            </a:pPr>
            <a:r>
              <a:rPr lang="zh-CN" altLang="en-US" sz="1600" dirty="0">
                <a:solidFill>
                  <a:srgbClr val="44546A"/>
                </a:solidFill>
                <a:latin typeface="微软雅黑" panose="020B0503020204020204" pitchFamily="34" charset="-122"/>
                <a:ea typeface="微软雅黑" panose="020B0503020204020204" pitchFamily="34" charset="-122"/>
                <a:sym typeface="+mn-lt"/>
              </a:rPr>
              <a:t>读取数据</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buClr>
                <a:schemeClr val="accent1"/>
              </a:buClr>
              <a:buFont typeface="Arial" panose="020B0604020202020204" pitchFamily="34" charset="0"/>
              <a:buChar char="•"/>
            </a:pP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1"/>
              </a:buClr>
              <a:buFont typeface="Arial" panose="020B0604020202020204" pitchFamily="34" charset="0"/>
              <a:buChar char="•"/>
            </a:pPr>
            <a:r>
              <a:rPr lang="zh-CN" altLang="en-US" sz="1600" dirty="0">
                <a:solidFill>
                  <a:srgbClr val="44546A"/>
                </a:solidFill>
                <a:latin typeface="微软雅黑" panose="020B0503020204020204" pitchFamily="34" charset="-122"/>
                <a:ea typeface="微软雅黑" panose="020B0503020204020204" pitchFamily="34" charset="-122"/>
                <a:sym typeface="+mn-lt"/>
              </a:rPr>
              <a:t>划分特征变量和目标变量</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342900" indent="-342900">
              <a:lnSpc>
                <a:spcPct val="150000"/>
              </a:lnSpc>
              <a:buClr>
                <a:srgbClr val="1D7FC6"/>
              </a:buClr>
              <a:buFont typeface="Wingdings" panose="05000000000000000000" pitchFamily="2" charset="2"/>
              <a:buChar char="l"/>
            </a:pPr>
            <a:r>
              <a:rPr lang="zh-CN" altLang="en-US" sz="1600" dirty="0">
                <a:solidFill>
                  <a:srgbClr val="44546A"/>
                </a:solidFill>
                <a:latin typeface="微软雅黑" panose="020B0503020204020204" pitchFamily="34" charset="-122"/>
                <a:ea typeface="微软雅黑" panose="020B0503020204020204" pitchFamily="34" charset="-122"/>
                <a:sym typeface="+mn-lt"/>
              </a:rPr>
              <a:t>模型的搭建与使用</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1600" dirty="0">
                <a:solidFill>
                  <a:srgbClr val="44546A"/>
                </a:solidFill>
                <a:latin typeface="微软雅黑" panose="020B0503020204020204" pitchFamily="34" charset="-122"/>
                <a:ea typeface="微软雅黑" panose="020B0503020204020204" pitchFamily="34" charset="-122"/>
                <a:sym typeface="+mn-lt"/>
              </a:rPr>
              <a:t>划分训练集和测试集</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1600" dirty="0">
                <a:solidFill>
                  <a:srgbClr val="44546A"/>
                </a:solidFill>
                <a:latin typeface="微软雅黑" panose="020B0503020204020204" pitchFamily="34" charset="-122"/>
                <a:ea typeface="微软雅黑" panose="020B0503020204020204" pitchFamily="34" charset="-122"/>
                <a:sym typeface="+mn-lt"/>
              </a:rPr>
              <a:t>模型搭建</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a:p>
            <a:pPr marL="800100" lvl="1" indent="-342900">
              <a:lnSpc>
                <a:spcPct val="150000"/>
              </a:lnSpc>
              <a:buClr>
                <a:schemeClr val="accent3"/>
              </a:buClr>
              <a:buFont typeface="Arial" panose="020B0604020202020204" pitchFamily="34" charset="0"/>
              <a:buChar char="•"/>
            </a:pPr>
            <a:r>
              <a:rPr lang="zh-CN" altLang="en-US" sz="1600" dirty="0">
                <a:solidFill>
                  <a:srgbClr val="44546A"/>
                </a:solidFill>
                <a:latin typeface="微软雅黑" panose="020B0503020204020204" pitchFamily="34" charset="-122"/>
                <a:ea typeface="微软雅黑" panose="020B0503020204020204" pitchFamily="34" charset="-122"/>
                <a:sym typeface="+mn-lt"/>
              </a:rPr>
              <a:t>模型预测与评估</a:t>
            </a:r>
            <a:endParaRPr lang="en-US" altLang="zh-CN" sz="1600" dirty="0">
              <a:solidFill>
                <a:srgbClr val="44546A"/>
              </a:solidFill>
              <a:latin typeface="微软雅黑" panose="020B0503020204020204" pitchFamily="34" charset="-122"/>
              <a:ea typeface="微软雅黑" panose="020B0503020204020204" pitchFamily="34" charset="-122"/>
              <a:sym typeface="+mn-lt"/>
            </a:endParaRPr>
          </a:p>
        </p:txBody>
      </p:sp>
      <p:pic>
        <p:nvPicPr>
          <p:cNvPr id="10" name="图片 9"/>
          <p:cNvPicPr>
            <a:picLocks noChangeAspect="1"/>
          </p:cNvPicPr>
          <p:nvPr/>
        </p:nvPicPr>
        <p:blipFill>
          <a:blip r:embed="rId3"/>
          <a:stretch>
            <a:fillRect/>
          </a:stretch>
        </p:blipFill>
        <p:spPr>
          <a:xfrm>
            <a:off x="3665261" y="1920538"/>
            <a:ext cx="8201025" cy="3400425"/>
          </a:xfrm>
          <a:prstGeom prst="rect">
            <a:avLst/>
          </a:prstGeom>
        </p:spPr>
      </p:pic>
      <p:pic>
        <p:nvPicPr>
          <p:cNvPr id="12" name="图形 11" descr="复选标记"/>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84783" y="3729463"/>
            <a:ext cx="801756" cy="801756"/>
          </a:xfrm>
          <a:prstGeom prst="rect">
            <a:avLst/>
          </a:prstGeom>
        </p:spPr>
      </p:pic>
      <p:sp>
        <p:nvSpPr>
          <p:cNvPr id="15" name="矩形: 圆角 14"/>
          <p:cNvSpPr/>
          <p:nvPr/>
        </p:nvSpPr>
        <p:spPr>
          <a:xfrm>
            <a:off x="3935896" y="3729463"/>
            <a:ext cx="7659756" cy="537737"/>
          </a:xfrm>
          <a:prstGeom prst="roundRect">
            <a:avLst/>
          </a:prstGeom>
          <a:noFill/>
          <a:ln>
            <a:solidFill>
              <a:srgbClr val="991D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8741962" y="4267200"/>
            <a:ext cx="2997118" cy="458908"/>
          </a:xfrm>
          <a:prstGeom prst="rect">
            <a:avLst/>
          </a:prstGeom>
          <a:noFill/>
        </p:spPr>
        <p:txBody>
          <a:bodyPr wrap="square" rtlCol="0" anchor="t">
            <a:spAutoFit/>
          </a:bodyPr>
          <a:lstStyle/>
          <a:p>
            <a:pPr lvl="1">
              <a:lnSpc>
                <a:spcPct val="150000"/>
              </a:lnSpc>
              <a:buClr>
                <a:schemeClr val="accent1"/>
              </a:buClr>
            </a:pPr>
            <a:r>
              <a:rPr lang="zh-CN" altLang="en-US" b="1" dirty="0">
                <a:solidFill>
                  <a:srgbClr val="44546A"/>
                </a:solidFill>
                <a:latin typeface="微软雅黑" panose="020B0503020204020204" pitchFamily="34" charset="-122"/>
                <a:ea typeface="微软雅黑" panose="020B0503020204020204" pitchFamily="34" charset="-122"/>
                <a:sym typeface="+mn-lt"/>
              </a:rPr>
              <a:t>需一行写完整</a:t>
            </a:r>
            <a:endParaRPr lang="en-US" altLang="zh-CN" b="1" dirty="0">
              <a:solidFill>
                <a:srgbClr val="44546A"/>
              </a:solidFill>
              <a:latin typeface="微软雅黑" panose="020B0503020204020204" pitchFamily="34" charset="-122"/>
              <a:ea typeface="微软雅黑" panose="020B0503020204020204" pitchFamily="34" charset="-122"/>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1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课堂练习</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3"/>
              </a:buClr>
            </a:pPr>
            <a:r>
              <a:rPr lang="zh-CN" altLang="en-US" sz="2000" dirty="0">
                <a:solidFill>
                  <a:srgbClr val="44546A"/>
                </a:solidFill>
                <a:latin typeface="微软雅黑" panose="020B0503020204020204" pitchFamily="34" charset="-122"/>
                <a:ea typeface="微软雅黑" panose="020B0503020204020204" pitchFamily="34" charset="-122"/>
                <a:sym typeface="+mn-lt"/>
              </a:rPr>
              <a:t>模型搭建</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sp>
        <p:nvSpPr>
          <p:cNvPr id="6" name="文本框 5"/>
          <p:cNvSpPr txBox="1"/>
          <p:nvPr/>
        </p:nvSpPr>
        <p:spPr>
          <a:xfrm>
            <a:off x="2672689" y="3757381"/>
            <a:ext cx="5521709" cy="499624"/>
          </a:xfrm>
          <a:prstGeom prst="rect">
            <a:avLst/>
          </a:prstGeom>
          <a:noFill/>
        </p:spPr>
        <p:txBody>
          <a:bodyPr wrap="square" rtlCol="0" anchor="t">
            <a:spAutoFit/>
          </a:bodyPr>
          <a:lstStyle/>
          <a:p>
            <a:pPr lvl="1">
              <a:lnSpc>
                <a:spcPct val="150000"/>
              </a:lnSpc>
              <a:buClr>
                <a:schemeClr val="accent3"/>
              </a:buClr>
            </a:pPr>
            <a:r>
              <a:rPr lang="zh-CN" altLang="en-US" sz="2000" dirty="0">
                <a:solidFill>
                  <a:srgbClr val="44546A"/>
                </a:solidFill>
                <a:latin typeface="微软雅黑" panose="020B0503020204020204" pitchFamily="34" charset="-122"/>
                <a:ea typeface="微软雅黑" panose="020B0503020204020204" pitchFamily="34" charset="-122"/>
                <a:sym typeface="+mn-lt"/>
              </a:rPr>
              <a:t>调用</a:t>
            </a:r>
            <a:r>
              <a:rPr lang="en-US" altLang="zh-CN" sz="2000" dirty="0">
                <a:solidFill>
                  <a:srgbClr val="44546A"/>
                </a:solidFill>
                <a:latin typeface="微软雅黑" panose="020B0503020204020204" pitchFamily="34" charset="-122"/>
                <a:ea typeface="微软雅黑" panose="020B0503020204020204" pitchFamily="34" charset="-122"/>
                <a:sym typeface="+mn-lt"/>
              </a:rPr>
              <a:t>fit</a:t>
            </a:r>
            <a:r>
              <a:rPr lang="zh-CN" altLang="en-US" sz="2000" dirty="0">
                <a:solidFill>
                  <a:srgbClr val="44546A"/>
                </a:solidFill>
                <a:latin typeface="微软雅黑" panose="020B0503020204020204" pitchFamily="34" charset="-122"/>
                <a:ea typeface="微软雅黑" panose="020B0503020204020204" pitchFamily="34" charset="-122"/>
                <a:sym typeface="+mn-lt"/>
              </a:rPr>
              <a:t>方法自动完成模型训练。</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pic>
        <p:nvPicPr>
          <p:cNvPr id="9" name="图片 8"/>
          <p:cNvPicPr>
            <a:picLocks noChangeAspect="1"/>
          </p:cNvPicPr>
          <p:nvPr/>
        </p:nvPicPr>
        <p:blipFill>
          <a:blip r:embed="rId3"/>
          <a:stretch>
            <a:fillRect/>
          </a:stretch>
        </p:blipFill>
        <p:spPr>
          <a:xfrm>
            <a:off x="1892419" y="2222520"/>
            <a:ext cx="8619415" cy="1387741"/>
          </a:xfrm>
          <a:prstGeom prst="rect">
            <a:avLst/>
          </a:prstGeom>
        </p:spPr>
      </p:pic>
      <p:sp>
        <p:nvSpPr>
          <p:cNvPr id="10" name="文本框 9"/>
          <p:cNvSpPr txBox="1"/>
          <p:nvPr/>
        </p:nvSpPr>
        <p:spPr>
          <a:xfrm>
            <a:off x="5433543" y="1505814"/>
            <a:ext cx="4786888" cy="369332"/>
          </a:xfrm>
          <a:prstGeom prst="rect">
            <a:avLst/>
          </a:prstGeom>
          <a:noFill/>
        </p:spPr>
        <p:txBody>
          <a:bodyPr wrap="none" rtlCol="0">
            <a:spAutoFit/>
          </a:bodyPr>
          <a:lstStyle/>
          <a:p>
            <a:r>
              <a:rPr lang="en-US" altLang="zh-CN" b="0" i="0" dirty="0">
                <a:solidFill>
                  <a:srgbClr val="38AD24"/>
                </a:solidFill>
                <a:effectLst/>
                <a:latin typeface="+mn-ea"/>
              </a:rPr>
              <a:t># </a:t>
            </a:r>
            <a:r>
              <a:rPr lang="zh-CN" altLang="en-US" b="0" i="0" dirty="0">
                <a:solidFill>
                  <a:srgbClr val="38AD24"/>
                </a:solidFill>
                <a:effectLst/>
                <a:latin typeface="+mn-ea"/>
              </a:rPr>
              <a:t>导入朴素贝叶斯模型，这里选用高斯分类器</a:t>
            </a:r>
            <a:endParaRPr lang="zh-CN" altLang="en-US" b="0" i="0" dirty="0">
              <a:solidFill>
                <a:srgbClr val="666666"/>
              </a:solidFill>
              <a:effectLst/>
              <a:latin typeface="+mn-ea"/>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拓展</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各模型的搭建与基本使用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pic>
        <p:nvPicPr>
          <p:cNvPr id="5" name="图片 4"/>
          <p:cNvPicPr>
            <a:picLocks noChangeAspect="1"/>
          </p:cNvPicPr>
          <p:nvPr/>
        </p:nvPicPr>
        <p:blipFill>
          <a:blip r:embed="rId3"/>
          <a:stretch>
            <a:fillRect/>
          </a:stretch>
        </p:blipFill>
        <p:spPr>
          <a:xfrm>
            <a:off x="1521101" y="1839105"/>
            <a:ext cx="4895850" cy="714375"/>
          </a:xfrm>
          <a:prstGeom prst="rect">
            <a:avLst/>
          </a:prstGeom>
        </p:spPr>
      </p:pic>
      <p:pic>
        <p:nvPicPr>
          <p:cNvPr id="11" name="图片 10"/>
          <p:cNvPicPr>
            <a:picLocks noChangeAspect="1"/>
          </p:cNvPicPr>
          <p:nvPr/>
        </p:nvPicPr>
        <p:blipFill>
          <a:blip r:embed="rId4"/>
          <a:stretch>
            <a:fillRect/>
          </a:stretch>
        </p:blipFill>
        <p:spPr>
          <a:xfrm>
            <a:off x="1568726" y="3033611"/>
            <a:ext cx="4848225" cy="762000"/>
          </a:xfrm>
          <a:prstGeom prst="rect">
            <a:avLst/>
          </a:prstGeom>
        </p:spPr>
      </p:pic>
      <p:pic>
        <p:nvPicPr>
          <p:cNvPr id="15" name="图片 14"/>
          <p:cNvPicPr>
            <a:picLocks noChangeAspect="1"/>
          </p:cNvPicPr>
          <p:nvPr/>
        </p:nvPicPr>
        <p:blipFill>
          <a:blip r:embed="rId5"/>
          <a:stretch>
            <a:fillRect/>
          </a:stretch>
        </p:blipFill>
        <p:spPr>
          <a:xfrm>
            <a:off x="1616351" y="4141305"/>
            <a:ext cx="4800600" cy="762000"/>
          </a:xfrm>
          <a:prstGeom prst="rect">
            <a:avLst/>
          </a:prstGeom>
        </p:spPr>
      </p:pic>
      <p:pic>
        <p:nvPicPr>
          <p:cNvPr id="17" name="图片 16"/>
          <p:cNvPicPr>
            <a:picLocks noChangeAspect="1"/>
          </p:cNvPicPr>
          <p:nvPr/>
        </p:nvPicPr>
        <p:blipFill>
          <a:blip r:embed="rId6"/>
          <a:stretch>
            <a:fillRect/>
          </a:stretch>
        </p:blipFill>
        <p:spPr>
          <a:xfrm>
            <a:off x="1616351" y="5312415"/>
            <a:ext cx="4895850" cy="733425"/>
          </a:xfrm>
          <a:prstGeom prst="rect">
            <a:avLst/>
          </a:prstGeom>
        </p:spPr>
      </p:pic>
      <p:sp>
        <p:nvSpPr>
          <p:cNvPr id="18" name="文本框 17"/>
          <p:cNvSpPr txBox="1"/>
          <p:nvPr/>
        </p:nvSpPr>
        <p:spPr>
          <a:xfrm>
            <a:off x="6512201" y="1830528"/>
            <a:ext cx="2071721" cy="338554"/>
          </a:xfrm>
          <a:prstGeom prst="rect">
            <a:avLst/>
          </a:prstGeom>
          <a:noFill/>
        </p:spPr>
        <p:txBody>
          <a:bodyPr wrap="none" rtlCol="0">
            <a:spAutoFit/>
          </a:bodyPr>
          <a:lstStyle/>
          <a:p>
            <a:r>
              <a:rPr lang="en-US" altLang="zh-CN" sz="1600" b="0" i="0" dirty="0">
                <a:solidFill>
                  <a:srgbClr val="38AD24"/>
                </a:solidFill>
                <a:effectLst/>
                <a:latin typeface="+mn-ea"/>
              </a:rPr>
              <a:t># </a:t>
            </a:r>
            <a:r>
              <a:rPr lang="zh-CN" altLang="en-US" sz="1600" b="0" i="0" dirty="0">
                <a:solidFill>
                  <a:srgbClr val="38AD24"/>
                </a:solidFill>
                <a:effectLst/>
                <a:latin typeface="+mn-ea"/>
              </a:rPr>
              <a:t>导入</a:t>
            </a:r>
            <a:r>
              <a:rPr lang="zh-CN" altLang="en-US" sz="1600" b="1" i="0" dirty="0">
                <a:solidFill>
                  <a:srgbClr val="38AD24"/>
                </a:solidFill>
                <a:effectLst/>
                <a:latin typeface="+mn-ea"/>
              </a:rPr>
              <a:t>逻辑回归</a:t>
            </a:r>
            <a:r>
              <a:rPr lang="zh-CN" altLang="en-US" sz="1600" b="0" i="0" dirty="0">
                <a:solidFill>
                  <a:srgbClr val="38AD24"/>
                </a:solidFill>
                <a:effectLst/>
                <a:latin typeface="+mn-ea"/>
              </a:rPr>
              <a:t>模型</a:t>
            </a:r>
            <a:endParaRPr lang="zh-CN" altLang="en-US" sz="1600" b="0" i="0" dirty="0">
              <a:solidFill>
                <a:srgbClr val="666666"/>
              </a:solidFill>
              <a:effectLst/>
              <a:latin typeface="+mn-ea"/>
            </a:endParaRPr>
          </a:p>
        </p:txBody>
      </p:sp>
      <p:sp>
        <p:nvSpPr>
          <p:cNvPr id="19" name="文本框 18"/>
          <p:cNvSpPr txBox="1"/>
          <p:nvPr/>
        </p:nvSpPr>
        <p:spPr>
          <a:xfrm>
            <a:off x="6512200" y="3068158"/>
            <a:ext cx="2452896" cy="338554"/>
          </a:xfrm>
          <a:prstGeom prst="rect">
            <a:avLst/>
          </a:prstGeom>
          <a:noFill/>
        </p:spPr>
        <p:txBody>
          <a:bodyPr wrap="square" rtlCol="0">
            <a:spAutoFit/>
          </a:bodyPr>
          <a:lstStyle/>
          <a:p>
            <a:r>
              <a:rPr lang="en-US" altLang="zh-CN" sz="1600" b="0" i="0" dirty="0">
                <a:solidFill>
                  <a:srgbClr val="38AD24"/>
                </a:solidFill>
                <a:effectLst/>
                <a:latin typeface="+mn-ea"/>
              </a:rPr>
              <a:t># </a:t>
            </a:r>
            <a:r>
              <a:rPr lang="zh-CN" altLang="en-US" sz="1600" b="0" i="0" dirty="0">
                <a:solidFill>
                  <a:srgbClr val="38AD24"/>
                </a:solidFill>
                <a:effectLst/>
                <a:latin typeface="+mn-ea"/>
              </a:rPr>
              <a:t>导入</a:t>
            </a:r>
            <a:r>
              <a:rPr lang="zh-CN" altLang="en-US" sz="1600" b="1" dirty="0">
                <a:solidFill>
                  <a:srgbClr val="6EB957"/>
                </a:solidFill>
                <a:effectLst/>
                <a:latin typeface="Consolas" panose="020B0609020204030204" pitchFamily="49" charset="0"/>
              </a:rPr>
              <a:t>随机森林</a:t>
            </a:r>
            <a:r>
              <a:rPr lang="zh-CN" altLang="en-US" sz="1600" dirty="0">
                <a:solidFill>
                  <a:srgbClr val="6EB957"/>
                </a:solidFill>
                <a:effectLst/>
                <a:latin typeface="Consolas" panose="020B0609020204030204" pitchFamily="49" charset="0"/>
              </a:rPr>
              <a:t>模型</a:t>
            </a:r>
            <a:endParaRPr lang="zh-CN" altLang="en-US" sz="1600" i="0" dirty="0">
              <a:solidFill>
                <a:srgbClr val="666666"/>
              </a:solidFill>
              <a:effectLst/>
              <a:latin typeface="+mn-ea"/>
            </a:endParaRPr>
          </a:p>
        </p:txBody>
      </p:sp>
      <p:sp>
        <p:nvSpPr>
          <p:cNvPr id="20" name="文本框 19"/>
          <p:cNvSpPr txBox="1"/>
          <p:nvPr/>
        </p:nvSpPr>
        <p:spPr>
          <a:xfrm>
            <a:off x="6508713" y="4141585"/>
            <a:ext cx="2452896" cy="338554"/>
          </a:xfrm>
          <a:prstGeom prst="rect">
            <a:avLst/>
          </a:prstGeom>
          <a:noFill/>
        </p:spPr>
        <p:txBody>
          <a:bodyPr wrap="square" rtlCol="0">
            <a:spAutoFit/>
          </a:bodyPr>
          <a:lstStyle/>
          <a:p>
            <a:r>
              <a:rPr lang="en-US" altLang="zh-CN" sz="1600" b="0" i="0" dirty="0">
                <a:solidFill>
                  <a:srgbClr val="38AD24"/>
                </a:solidFill>
                <a:effectLst/>
                <a:latin typeface="+mn-ea"/>
              </a:rPr>
              <a:t># </a:t>
            </a:r>
            <a:r>
              <a:rPr lang="zh-CN" altLang="en-US" sz="1600" b="0" i="0" dirty="0">
                <a:solidFill>
                  <a:srgbClr val="38AD24"/>
                </a:solidFill>
                <a:effectLst/>
                <a:latin typeface="+mn-ea"/>
              </a:rPr>
              <a:t>导入</a:t>
            </a:r>
            <a:r>
              <a:rPr lang="zh-CN" altLang="en-US" sz="1600" b="1" dirty="0">
                <a:solidFill>
                  <a:srgbClr val="6EB957"/>
                </a:solidFill>
                <a:effectLst/>
                <a:latin typeface="Consolas" panose="020B0609020204030204" pitchFamily="49" charset="0"/>
              </a:rPr>
              <a:t>决策树</a:t>
            </a:r>
            <a:r>
              <a:rPr lang="zh-CN" altLang="en-US" sz="1600" dirty="0">
                <a:solidFill>
                  <a:srgbClr val="6EB957"/>
                </a:solidFill>
                <a:effectLst/>
                <a:latin typeface="Consolas" panose="020B0609020204030204" pitchFamily="49" charset="0"/>
              </a:rPr>
              <a:t>模型</a:t>
            </a:r>
            <a:endParaRPr lang="zh-CN" altLang="en-US" sz="1600" dirty="0">
              <a:solidFill>
                <a:srgbClr val="333333"/>
              </a:solidFill>
              <a:effectLst/>
              <a:latin typeface="Consolas" panose="020B0609020204030204" pitchFamily="49" charset="0"/>
            </a:endParaRPr>
          </a:p>
        </p:txBody>
      </p:sp>
      <p:sp>
        <p:nvSpPr>
          <p:cNvPr id="21" name="文本框 20"/>
          <p:cNvSpPr txBox="1"/>
          <p:nvPr/>
        </p:nvSpPr>
        <p:spPr>
          <a:xfrm>
            <a:off x="6508713" y="5340573"/>
            <a:ext cx="2452896" cy="338554"/>
          </a:xfrm>
          <a:prstGeom prst="rect">
            <a:avLst/>
          </a:prstGeom>
          <a:noFill/>
        </p:spPr>
        <p:txBody>
          <a:bodyPr wrap="square" rtlCol="0">
            <a:spAutoFit/>
          </a:bodyPr>
          <a:lstStyle/>
          <a:p>
            <a:r>
              <a:rPr lang="en-US" altLang="zh-CN" sz="1600" b="0" i="0" dirty="0">
                <a:solidFill>
                  <a:srgbClr val="38AD24"/>
                </a:solidFill>
                <a:effectLst/>
                <a:latin typeface="+mn-ea"/>
              </a:rPr>
              <a:t># </a:t>
            </a:r>
            <a:r>
              <a:rPr lang="zh-CN" altLang="en-US" sz="1600" b="0" i="0" dirty="0">
                <a:solidFill>
                  <a:srgbClr val="38AD24"/>
                </a:solidFill>
                <a:effectLst/>
                <a:latin typeface="+mn-ea"/>
              </a:rPr>
              <a:t>导入</a:t>
            </a:r>
            <a:r>
              <a:rPr lang="en-US" altLang="zh-CN" sz="1600" b="1" dirty="0">
                <a:solidFill>
                  <a:srgbClr val="6EB957"/>
                </a:solidFill>
                <a:effectLst/>
                <a:latin typeface="Consolas" panose="020B0609020204030204" pitchFamily="49" charset="0"/>
              </a:rPr>
              <a:t>K</a:t>
            </a:r>
            <a:r>
              <a:rPr lang="zh-CN" altLang="en-US" sz="1600" b="1" dirty="0">
                <a:solidFill>
                  <a:srgbClr val="6EB957"/>
                </a:solidFill>
                <a:effectLst/>
                <a:latin typeface="Consolas" panose="020B0609020204030204" pitchFamily="49" charset="0"/>
              </a:rPr>
              <a:t>近邻</a:t>
            </a:r>
            <a:r>
              <a:rPr lang="zh-CN" altLang="en-US" sz="1600" dirty="0">
                <a:solidFill>
                  <a:srgbClr val="6EB957"/>
                </a:solidFill>
                <a:effectLst/>
                <a:latin typeface="Consolas" panose="020B0609020204030204" pitchFamily="49" charset="0"/>
              </a:rPr>
              <a:t>模型</a:t>
            </a:r>
            <a:endParaRPr lang="zh-CN" altLang="en-US" sz="1600" dirty="0">
              <a:solidFill>
                <a:srgbClr val="333333"/>
              </a:solidFill>
              <a:effectLst/>
              <a:latin typeface="Consolas" panose="020B0609020204030204" pitchFamily="49"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机器学习</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案例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肿瘤预测模型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读取数据</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课堂练习</a:t>
            </a:r>
          </a:p>
        </p:txBody>
      </p:sp>
      <p:sp>
        <p:nvSpPr>
          <p:cNvPr id="3" name="文本框 2"/>
          <p:cNvSpPr txBox="1"/>
          <p:nvPr/>
        </p:nvSpPr>
        <p:spPr>
          <a:xfrm>
            <a:off x="779720" y="777917"/>
            <a:ext cx="1063255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模型的搭建与使用</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p:cNvSpPr txBox="1"/>
          <p:nvPr/>
        </p:nvSpPr>
        <p:spPr>
          <a:xfrm>
            <a:off x="1641177" y="1339481"/>
            <a:ext cx="9519311" cy="499624"/>
          </a:xfrm>
          <a:prstGeom prst="rect">
            <a:avLst/>
          </a:prstGeom>
          <a:noFill/>
        </p:spPr>
        <p:txBody>
          <a:bodyPr wrap="square" rtlCol="0" anchor="t">
            <a:spAutoFit/>
          </a:bodyPr>
          <a:lstStyle/>
          <a:p>
            <a:pPr lvl="1">
              <a:lnSpc>
                <a:spcPct val="150000"/>
              </a:lnSpc>
              <a:buClr>
                <a:schemeClr val="accent3"/>
              </a:buClr>
            </a:pPr>
            <a:r>
              <a:rPr lang="zh-CN" altLang="en-US" sz="2000" dirty="0">
                <a:solidFill>
                  <a:srgbClr val="44546A"/>
                </a:solidFill>
                <a:latin typeface="微软雅黑" panose="020B0503020204020204" pitchFamily="34" charset="-122"/>
                <a:ea typeface="微软雅黑" panose="020B0503020204020204" pitchFamily="34" charset="-122"/>
                <a:sym typeface="+mn-lt"/>
              </a:rPr>
              <a:t>模型预测与评估</a:t>
            </a:r>
          </a:p>
        </p:txBody>
      </p:sp>
      <p:sp>
        <p:nvSpPr>
          <p:cNvPr id="4" name="文本框 3"/>
          <p:cNvSpPr txBox="1"/>
          <p:nvPr/>
        </p:nvSpPr>
        <p:spPr>
          <a:xfrm>
            <a:off x="1641177" y="1901045"/>
            <a:ext cx="9519311" cy="499624"/>
          </a:xfrm>
          <a:prstGeom prst="rect">
            <a:avLst/>
          </a:prstGeom>
          <a:noFill/>
        </p:spPr>
        <p:txBody>
          <a:bodyPr wrap="square" rtlCol="0" anchor="t">
            <a:spAutoFit/>
          </a:bodyPr>
          <a:lstStyle/>
          <a:p>
            <a:pPr marL="800100" lvl="1" indent="-342900">
              <a:lnSpc>
                <a:spcPct val="150000"/>
              </a:lnSpc>
              <a:buClr>
                <a:schemeClr val="accent3"/>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使用训练集拟合的模型对测试集进行预测。</a:t>
            </a:r>
          </a:p>
        </p:txBody>
      </p:sp>
      <p:sp>
        <p:nvSpPr>
          <p:cNvPr id="10" name="文本框 9"/>
          <p:cNvSpPr txBox="1"/>
          <p:nvPr/>
        </p:nvSpPr>
        <p:spPr>
          <a:xfrm>
            <a:off x="1641177" y="3429000"/>
            <a:ext cx="9519311" cy="499624"/>
          </a:xfrm>
          <a:prstGeom prst="rect">
            <a:avLst/>
          </a:prstGeom>
          <a:noFill/>
        </p:spPr>
        <p:txBody>
          <a:bodyPr wrap="square" rtlCol="0" anchor="t">
            <a:spAutoFit/>
          </a:bodyPr>
          <a:lstStyle/>
          <a:p>
            <a:pPr marL="800100" lvl="1" indent="-342900">
              <a:lnSpc>
                <a:spcPct val="150000"/>
              </a:lnSpc>
              <a:buClr>
                <a:schemeClr val="accent3"/>
              </a:buClr>
              <a:buFont typeface="Wingdings" panose="05000000000000000000" pitchFamily="2" charset="2"/>
              <a:buChar char="l"/>
            </a:pPr>
            <a:r>
              <a:rPr lang="zh-CN" altLang="en-US" sz="2000" dirty="0">
                <a:solidFill>
                  <a:srgbClr val="44546A"/>
                </a:solidFill>
                <a:latin typeface="微软雅黑" panose="020B0503020204020204" pitchFamily="34" charset="-122"/>
                <a:ea typeface="微软雅黑" panose="020B0503020204020204" pitchFamily="34" charset="-122"/>
                <a:sym typeface="+mn-lt"/>
              </a:rPr>
              <a:t>查看所有测试数据集的预测准确度。</a:t>
            </a:r>
          </a:p>
        </p:txBody>
      </p:sp>
      <p:pic>
        <p:nvPicPr>
          <p:cNvPr id="14" name="图片 13"/>
          <p:cNvPicPr>
            <a:picLocks noChangeAspect="1"/>
          </p:cNvPicPr>
          <p:nvPr/>
        </p:nvPicPr>
        <p:blipFill>
          <a:blip r:embed="rId3"/>
          <a:stretch>
            <a:fillRect/>
          </a:stretch>
        </p:blipFill>
        <p:spPr>
          <a:xfrm>
            <a:off x="3838574" y="2638609"/>
            <a:ext cx="4514850" cy="552450"/>
          </a:xfrm>
          <a:prstGeom prst="rect">
            <a:avLst/>
          </a:prstGeom>
        </p:spPr>
      </p:pic>
      <p:pic>
        <p:nvPicPr>
          <p:cNvPr id="18" name="图片 17"/>
          <p:cNvPicPr>
            <a:picLocks noChangeAspect="1"/>
          </p:cNvPicPr>
          <p:nvPr/>
        </p:nvPicPr>
        <p:blipFill>
          <a:blip r:embed="rId4"/>
          <a:stretch>
            <a:fillRect/>
          </a:stretch>
        </p:blipFill>
        <p:spPr>
          <a:xfrm>
            <a:off x="3137351" y="4166565"/>
            <a:ext cx="6076950" cy="1562100"/>
          </a:xfrm>
          <a:prstGeom prst="rect">
            <a:avLst/>
          </a:prstGeom>
        </p:spPr>
      </p:pic>
      <p:sp>
        <p:nvSpPr>
          <p:cNvPr id="19" name="文本框 18"/>
          <p:cNvSpPr txBox="1"/>
          <p:nvPr/>
        </p:nvSpPr>
        <p:spPr>
          <a:xfrm>
            <a:off x="390173" y="5845692"/>
            <a:ext cx="11571305" cy="874407"/>
          </a:xfrm>
          <a:prstGeom prst="rect">
            <a:avLst/>
          </a:prstGeom>
          <a:noFill/>
        </p:spPr>
        <p:txBody>
          <a:bodyPr wrap="square" rtlCol="0" anchor="t">
            <a:spAutoFit/>
          </a:bodyPr>
          <a:lstStyle/>
          <a:p>
            <a:pPr lvl="1" algn="ctr">
              <a:lnSpc>
                <a:spcPct val="150000"/>
              </a:lnSpc>
              <a:buClr>
                <a:schemeClr val="accent3"/>
              </a:buClr>
            </a:pPr>
            <a:r>
              <a:rPr lang="zh-CN" altLang="en-US" dirty="0">
                <a:solidFill>
                  <a:srgbClr val="44546A"/>
                </a:solidFill>
                <a:latin typeface="微软雅黑" panose="020B0503020204020204" pitchFamily="34" charset="-122"/>
                <a:ea typeface="微软雅黑" panose="020B0503020204020204" pitchFamily="34" charset="-122"/>
                <a:sym typeface="+mn-lt"/>
              </a:rPr>
              <a:t>对于</a:t>
            </a:r>
            <a:r>
              <a:rPr lang="en-US" altLang="zh-CN" dirty="0">
                <a:solidFill>
                  <a:srgbClr val="44546A"/>
                </a:solidFill>
                <a:latin typeface="微软雅黑" panose="020B0503020204020204" pitchFamily="34" charset="-122"/>
                <a:ea typeface="微软雅黑" panose="020B0503020204020204" pitchFamily="34" charset="-122"/>
                <a:sym typeface="+mn-lt"/>
              </a:rPr>
              <a:t>classifiers</a:t>
            </a:r>
            <a:r>
              <a:rPr lang="zh-CN" altLang="en-US" dirty="0">
                <a:solidFill>
                  <a:srgbClr val="44546A"/>
                </a:solidFill>
                <a:latin typeface="微软雅黑" panose="020B0503020204020204" pitchFamily="34" charset="-122"/>
                <a:ea typeface="微软雅黑" panose="020B0503020204020204" pitchFamily="34" charset="-122"/>
                <a:sym typeface="+mn-lt"/>
              </a:rPr>
              <a:t>，</a:t>
            </a:r>
            <a:r>
              <a:rPr lang="en-US" altLang="zh-CN" dirty="0">
                <a:solidFill>
                  <a:srgbClr val="44546A"/>
                </a:solidFill>
                <a:latin typeface="微软雅黑" panose="020B0503020204020204" pitchFamily="34" charset="-122"/>
                <a:ea typeface="微软雅黑" panose="020B0503020204020204" pitchFamily="34" charset="-122"/>
                <a:sym typeface="+mn-lt"/>
              </a:rPr>
              <a:t>accuracy_score </a:t>
            </a:r>
            <a:r>
              <a:rPr lang="zh-CN" altLang="en-US" dirty="0">
                <a:solidFill>
                  <a:srgbClr val="44546A"/>
                </a:solidFill>
                <a:latin typeface="微软雅黑" panose="020B0503020204020204" pitchFamily="34" charset="-122"/>
                <a:ea typeface="微软雅黑" panose="020B0503020204020204" pitchFamily="34" charset="-122"/>
                <a:sym typeface="+mn-lt"/>
              </a:rPr>
              <a:t>和 </a:t>
            </a:r>
            <a:r>
              <a:rPr lang="en-US" altLang="zh-CN" dirty="0">
                <a:solidFill>
                  <a:srgbClr val="44546A"/>
                </a:solidFill>
                <a:latin typeface="微软雅黑" panose="020B0503020204020204" pitchFamily="34" charset="-122"/>
                <a:ea typeface="微软雅黑" panose="020B0503020204020204" pitchFamily="34" charset="-122"/>
                <a:sym typeface="+mn-lt"/>
              </a:rPr>
              <a:t>model.score( )</a:t>
            </a:r>
            <a:r>
              <a:rPr lang="zh-CN" altLang="en-US" dirty="0">
                <a:solidFill>
                  <a:srgbClr val="44546A"/>
                </a:solidFill>
                <a:latin typeface="微软雅黑" panose="020B0503020204020204" pitchFamily="34" charset="-122"/>
                <a:ea typeface="微软雅黑" panose="020B0503020204020204" pitchFamily="34" charset="-122"/>
                <a:sym typeface="+mn-lt"/>
              </a:rPr>
              <a:t>是一样的作用，</a:t>
            </a:r>
            <a:endParaRPr lang="en-US" altLang="zh-CN" dirty="0">
              <a:solidFill>
                <a:srgbClr val="44546A"/>
              </a:solidFill>
              <a:latin typeface="微软雅黑" panose="020B0503020204020204" pitchFamily="34" charset="-122"/>
              <a:ea typeface="微软雅黑" panose="020B0503020204020204" pitchFamily="34" charset="-122"/>
              <a:sym typeface="+mn-lt"/>
            </a:endParaRPr>
          </a:p>
          <a:p>
            <a:pPr lvl="1" algn="ctr">
              <a:lnSpc>
                <a:spcPct val="150000"/>
              </a:lnSpc>
              <a:buClr>
                <a:schemeClr val="accent3"/>
              </a:buClr>
            </a:pPr>
            <a:r>
              <a:rPr lang="zh-CN" altLang="en-US" dirty="0">
                <a:solidFill>
                  <a:srgbClr val="44546A"/>
                </a:solidFill>
                <a:latin typeface="微软雅黑" panose="020B0503020204020204" pitchFamily="34" charset="-122"/>
                <a:ea typeface="微软雅黑" panose="020B0503020204020204" pitchFamily="34" charset="-122"/>
                <a:sym typeface="+mn-lt"/>
              </a:rPr>
              <a:t>只是通过不同的方式计算了相同的东西。</a:t>
            </a:r>
          </a:p>
        </p:txBody>
      </p:sp>
      <p:sp>
        <p:nvSpPr>
          <p:cNvPr id="20" name="左大括号 19"/>
          <p:cNvSpPr/>
          <p:nvPr/>
        </p:nvSpPr>
        <p:spPr>
          <a:xfrm>
            <a:off x="2648727" y="4269156"/>
            <a:ext cx="357809" cy="4996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左大括号 20"/>
          <p:cNvSpPr/>
          <p:nvPr/>
        </p:nvSpPr>
        <p:spPr>
          <a:xfrm>
            <a:off x="2648726" y="5227038"/>
            <a:ext cx="357809" cy="4996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1244491" y="4834230"/>
            <a:ext cx="1338828" cy="369332"/>
          </a:xfrm>
          <a:prstGeom prst="rect">
            <a:avLst/>
          </a:prstGeom>
          <a:noFill/>
        </p:spPr>
        <p:txBody>
          <a:bodyPr wrap="none" rtlCol="0">
            <a:spAutoFit/>
          </a:bodyPr>
          <a:lstStyle/>
          <a:p>
            <a:r>
              <a:rPr lang="zh-CN" altLang="en-US" dirty="0">
                <a:solidFill>
                  <a:srgbClr val="44546A"/>
                </a:solidFill>
                <a:latin typeface="微软雅黑" panose="020B0503020204020204" pitchFamily="34" charset="-122"/>
                <a:ea typeface="微软雅黑" panose="020B0503020204020204" pitchFamily="34" charset="-122"/>
              </a:rPr>
              <a:t>二选一即可</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up)">
                                      <p:cBhvr>
                                        <p:cTn id="32" dur="500"/>
                                        <p:tgtEl>
                                          <p:spTgt spid="20"/>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up)">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9" grpId="0"/>
      <p:bldP spid="20" grpId="0" animBg="1"/>
      <p:bldP spid="21" grpId="0" animBg="1"/>
      <p:bldP spid="2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1" y="1600487"/>
            <a:ext cx="12192000" cy="110799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6600" dirty="0">
                <a:solidFill>
                  <a:srgbClr val="44546A"/>
                </a:solidFill>
              </a:rPr>
              <a:t>模拟实操考试</a:t>
            </a:r>
          </a:p>
        </p:txBody>
      </p:sp>
      <p:sp>
        <p:nvSpPr>
          <p:cNvPr id="2" name="文本框 1">
            <a:extLst>
              <a:ext uri="{FF2B5EF4-FFF2-40B4-BE49-F238E27FC236}">
                <a16:creationId xmlns:a16="http://schemas.microsoft.com/office/drawing/2014/main" id="{EF30F9CC-ABBB-C7A9-3D0A-367F49818D80}"/>
              </a:ext>
            </a:extLst>
          </p:cNvPr>
          <p:cNvSpPr txBox="1"/>
          <p:nvPr/>
        </p:nvSpPr>
        <p:spPr>
          <a:xfrm>
            <a:off x="1659651" y="2871098"/>
            <a:ext cx="8872695" cy="646331"/>
          </a:xfrm>
          <a:prstGeom prst="rect">
            <a:avLst/>
          </a:prstGeom>
          <a:noFill/>
        </p:spPr>
        <p:txBody>
          <a:bodyPr wrap="square" rtlCol="0">
            <a:spAutoFit/>
          </a:bodyPr>
          <a:lstStyle/>
          <a:p>
            <a:r>
              <a:rPr lang="en-US" altLang="zh-CN" sz="3600" u="sng"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hlinkClick r:id="rId4"/>
              </a:rPr>
              <a:t>https://study.inpei.cn/AiTrainerExamNgWeb/</a:t>
            </a:r>
            <a:endParaRPr lang="zh-CN" altLang="en-US" sz="3600" dirty="0"/>
          </a:p>
        </p:txBody>
      </p:sp>
      <p:sp>
        <p:nvSpPr>
          <p:cNvPr id="3" name="文本框 2">
            <a:extLst>
              <a:ext uri="{FF2B5EF4-FFF2-40B4-BE49-F238E27FC236}">
                <a16:creationId xmlns:a16="http://schemas.microsoft.com/office/drawing/2014/main" id="{0C691142-BB57-F08E-BB7D-F73B1D925939}"/>
              </a:ext>
            </a:extLst>
          </p:cNvPr>
          <p:cNvSpPr txBox="1"/>
          <p:nvPr/>
        </p:nvSpPr>
        <p:spPr>
          <a:xfrm>
            <a:off x="4161690" y="3760869"/>
            <a:ext cx="3868615" cy="954107"/>
          </a:xfrm>
          <a:prstGeom prst="rect">
            <a:avLst/>
          </a:prstGeom>
          <a:noFill/>
        </p:spPr>
        <p:txBody>
          <a:bodyPr wrap="square" rtlCol="0">
            <a:spAutoFit/>
          </a:bodyPr>
          <a:lstStyle/>
          <a:p>
            <a:r>
              <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rPr>
              <a:t>账号</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：报名时的手机号</a:t>
            </a:r>
            <a:b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br>
            <a:r>
              <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rPr>
              <a:t>密码</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：身份证后六位</a:t>
            </a: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考试题目解析</a:t>
            </a:r>
          </a:p>
        </p:txBody>
      </p:sp>
      <p:pic>
        <p:nvPicPr>
          <p:cNvPr id="6" name="图片 5">
            <a:extLst>
              <a:ext uri="{FF2B5EF4-FFF2-40B4-BE49-F238E27FC236}">
                <a16:creationId xmlns:a16="http://schemas.microsoft.com/office/drawing/2014/main" id="{63DCB8E2-0E70-0038-4272-CE1C3A711218}"/>
              </a:ext>
            </a:extLst>
          </p:cNvPr>
          <p:cNvPicPr>
            <a:picLocks noChangeAspect="1"/>
          </p:cNvPicPr>
          <p:nvPr/>
        </p:nvPicPr>
        <p:blipFill>
          <a:blip r:embed="rId3"/>
          <a:stretch>
            <a:fillRect/>
          </a:stretch>
        </p:blipFill>
        <p:spPr>
          <a:xfrm>
            <a:off x="4803112" y="-5962"/>
            <a:ext cx="5039489" cy="6863962"/>
          </a:xfrm>
          <a:prstGeom prst="rect">
            <a:avLst/>
          </a:prstGeom>
        </p:spPr>
      </p:pic>
    </p:spTree>
    <p:extLst>
      <p:ext uri="{BB962C8B-B14F-4D97-AF65-F5344CB8AC3E}">
        <p14:creationId xmlns:p14="http://schemas.microsoft.com/office/powerpoint/2010/main" val="3858107196"/>
      </p:ext>
    </p:extLst>
  </p:cSld>
  <p:clrMapOvr>
    <a:masterClrMapping/>
  </p:clrMapOvr>
  <p:transition spd="slow">
    <p:push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考试题目解析</a:t>
            </a:r>
          </a:p>
        </p:txBody>
      </p:sp>
      <p:sp>
        <p:nvSpPr>
          <p:cNvPr id="5" name="文本框 4">
            <a:extLst>
              <a:ext uri="{FF2B5EF4-FFF2-40B4-BE49-F238E27FC236}">
                <a16:creationId xmlns:a16="http://schemas.microsoft.com/office/drawing/2014/main" id="{BB256294-47BD-0558-7429-466F82A086BA}"/>
              </a:ext>
            </a:extLst>
          </p:cNvPr>
          <p:cNvSpPr txBox="1"/>
          <p:nvPr/>
        </p:nvSpPr>
        <p:spPr>
          <a:xfrm>
            <a:off x="1410938" y="831223"/>
            <a:ext cx="4194214" cy="879087"/>
          </a:xfrm>
          <a:prstGeom prst="rect">
            <a:avLst/>
          </a:prstGeom>
          <a:noFill/>
        </p:spPr>
        <p:txBody>
          <a:bodyPr wrap="square" rtlCol="0" anchor="t">
            <a:spAutoFit/>
          </a:bodyPr>
          <a:lstStyle/>
          <a:p>
            <a:pPr>
              <a:lnSpc>
                <a:spcPct val="150000"/>
              </a:lnSpc>
            </a:pPr>
            <a:r>
              <a:rPr lang="en-US" altLang="zh-CN" b="1" i="0" dirty="0">
                <a:effectLst/>
                <a:latin typeface="-apple-system"/>
              </a:rPr>
              <a:t>X = data['</a:t>
            </a:r>
            <a:r>
              <a:rPr lang="zh-CN" altLang="en-US" b="1" i="0" dirty="0">
                <a:effectLst/>
                <a:latin typeface="-apple-system"/>
              </a:rPr>
              <a:t>预估薪资</a:t>
            </a:r>
            <a:r>
              <a:rPr lang="en-US" altLang="zh-CN" b="1" i="0" dirty="0">
                <a:effectLst/>
                <a:latin typeface="-apple-system"/>
              </a:rPr>
              <a:t>']</a:t>
            </a:r>
            <a:br>
              <a:rPr lang="zh-CN" altLang="en-US" b="1" dirty="0"/>
            </a:br>
            <a:r>
              <a:rPr lang="en-US" altLang="zh-CN" b="1" i="0" dirty="0">
                <a:effectLst/>
                <a:latin typeface="-apple-system"/>
              </a:rPr>
              <a:t>y = data['</a:t>
            </a:r>
            <a:r>
              <a:rPr lang="zh-CN" altLang="en-US" b="1" i="0" dirty="0">
                <a:effectLst/>
                <a:latin typeface="-apple-system"/>
              </a:rPr>
              <a:t>是否会购买</a:t>
            </a:r>
            <a:r>
              <a:rPr lang="en-US" altLang="zh-CN" b="1" i="0" dirty="0">
                <a:effectLst/>
                <a:latin typeface="-apple-system"/>
              </a:rPr>
              <a:t>']</a:t>
            </a:r>
            <a:endParaRPr lang="en-US" altLang="zh-CN" sz="1600" b="1" dirty="0">
              <a:solidFill>
                <a:srgbClr val="44546A"/>
              </a:solidFill>
              <a:latin typeface="微软雅黑" panose="020B0503020204020204" pitchFamily="34" charset="-122"/>
              <a:ea typeface="微软雅黑" panose="020B0503020204020204" pitchFamily="34" charset="-122"/>
              <a:sym typeface="+mn-lt"/>
            </a:endParaRPr>
          </a:p>
        </p:txBody>
      </p:sp>
      <p:sp>
        <p:nvSpPr>
          <p:cNvPr id="8" name="文本框 7">
            <a:extLst>
              <a:ext uri="{FF2B5EF4-FFF2-40B4-BE49-F238E27FC236}">
                <a16:creationId xmlns:a16="http://schemas.microsoft.com/office/drawing/2014/main" id="{92D00F2A-8C81-DF71-2046-A67FDCD1A186}"/>
              </a:ext>
            </a:extLst>
          </p:cNvPr>
          <p:cNvSpPr txBox="1"/>
          <p:nvPr/>
        </p:nvSpPr>
        <p:spPr>
          <a:xfrm>
            <a:off x="1410938" y="1819870"/>
            <a:ext cx="9370089" cy="880369"/>
          </a:xfrm>
          <a:prstGeom prst="rect">
            <a:avLst/>
          </a:prstGeom>
          <a:noFill/>
        </p:spPr>
        <p:txBody>
          <a:bodyPr wrap="square">
            <a:spAutoFit/>
          </a:bodyPr>
          <a:lstStyle/>
          <a:p>
            <a:pPr>
              <a:lnSpc>
                <a:spcPct val="150000"/>
              </a:lnSpc>
            </a:pPr>
            <a:r>
              <a:rPr lang="en-US" altLang="zh-CN" b="1" dirty="0">
                <a:latin typeface="-apple-system"/>
              </a:rPr>
              <a:t>from </a:t>
            </a:r>
            <a:r>
              <a:rPr lang="en-US" altLang="zh-CN" b="1" dirty="0" err="1">
                <a:latin typeface="-apple-system"/>
              </a:rPr>
              <a:t>sklearn.model_selection</a:t>
            </a:r>
            <a:r>
              <a:rPr lang="en-US" altLang="zh-CN" b="1" dirty="0">
                <a:latin typeface="-apple-system"/>
              </a:rPr>
              <a:t> import </a:t>
            </a:r>
            <a:r>
              <a:rPr lang="en-US" altLang="zh-CN" b="1" dirty="0" err="1">
                <a:latin typeface="-apple-system"/>
              </a:rPr>
              <a:t>train_test_split</a:t>
            </a:r>
            <a:endParaRPr lang="en-US" altLang="zh-CN" b="1" dirty="0">
              <a:latin typeface="-apple-system"/>
            </a:endParaRPr>
          </a:p>
          <a:p>
            <a:pPr>
              <a:lnSpc>
                <a:spcPct val="150000"/>
              </a:lnSpc>
            </a:pPr>
            <a:r>
              <a:rPr lang="en-US" altLang="zh-CN" b="1" dirty="0" err="1">
                <a:latin typeface="-apple-system"/>
              </a:rPr>
              <a:t>X_train</a:t>
            </a:r>
            <a:r>
              <a:rPr lang="en-US" altLang="zh-CN" b="1" dirty="0">
                <a:latin typeface="-apple-system"/>
              </a:rPr>
              <a:t>, </a:t>
            </a:r>
            <a:r>
              <a:rPr lang="en-US" altLang="zh-CN" b="1" dirty="0" err="1">
                <a:latin typeface="-apple-system"/>
              </a:rPr>
              <a:t>X_test</a:t>
            </a:r>
            <a:r>
              <a:rPr lang="en-US" altLang="zh-CN" b="1" dirty="0">
                <a:latin typeface="-apple-system"/>
              </a:rPr>
              <a:t>, </a:t>
            </a:r>
            <a:r>
              <a:rPr lang="en-US" altLang="zh-CN" b="1" dirty="0" err="1">
                <a:latin typeface="-apple-system"/>
              </a:rPr>
              <a:t>y_train</a:t>
            </a:r>
            <a:r>
              <a:rPr lang="en-US" altLang="zh-CN" b="1" dirty="0">
                <a:latin typeface="-apple-system"/>
              </a:rPr>
              <a:t>, </a:t>
            </a:r>
            <a:r>
              <a:rPr lang="en-US" altLang="zh-CN" b="1" dirty="0" err="1">
                <a:latin typeface="-apple-system"/>
              </a:rPr>
              <a:t>y_test</a:t>
            </a:r>
            <a:r>
              <a:rPr lang="en-US" altLang="zh-CN" b="1" dirty="0">
                <a:latin typeface="-apple-system"/>
              </a:rPr>
              <a:t> = </a:t>
            </a:r>
            <a:r>
              <a:rPr lang="en-US" altLang="zh-CN" b="1" dirty="0" err="1">
                <a:latin typeface="-apple-system"/>
              </a:rPr>
              <a:t>train_test_split</a:t>
            </a:r>
            <a:r>
              <a:rPr lang="en-US" altLang="zh-CN" b="1" dirty="0">
                <a:latin typeface="-apple-system"/>
              </a:rPr>
              <a:t>(X , y, </a:t>
            </a:r>
            <a:r>
              <a:rPr lang="en-US" altLang="zh-CN" b="1" dirty="0" err="1">
                <a:latin typeface="-apple-system"/>
              </a:rPr>
              <a:t>test_size</a:t>
            </a:r>
            <a:r>
              <a:rPr lang="en-US" altLang="zh-CN" b="1" dirty="0">
                <a:latin typeface="-apple-system"/>
              </a:rPr>
              <a:t>=0.2, </a:t>
            </a:r>
            <a:r>
              <a:rPr lang="en-US" altLang="zh-CN" b="1" dirty="0" err="1">
                <a:latin typeface="-apple-system"/>
              </a:rPr>
              <a:t>random_state</a:t>
            </a:r>
            <a:r>
              <a:rPr lang="en-US" altLang="zh-CN" b="1" dirty="0">
                <a:latin typeface="-apple-system"/>
              </a:rPr>
              <a:t> = 2020)</a:t>
            </a:r>
            <a:endParaRPr lang="zh-CN" altLang="en-US" b="1" dirty="0">
              <a:latin typeface="-apple-system"/>
            </a:endParaRPr>
          </a:p>
        </p:txBody>
      </p:sp>
      <p:sp>
        <p:nvSpPr>
          <p:cNvPr id="10" name="文本框 9">
            <a:extLst>
              <a:ext uri="{FF2B5EF4-FFF2-40B4-BE49-F238E27FC236}">
                <a16:creationId xmlns:a16="http://schemas.microsoft.com/office/drawing/2014/main" id="{C9FAE102-5565-8B84-C8AF-B783DCB7BDE1}"/>
              </a:ext>
            </a:extLst>
          </p:cNvPr>
          <p:cNvSpPr txBox="1"/>
          <p:nvPr/>
        </p:nvSpPr>
        <p:spPr>
          <a:xfrm>
            <a:off x="1435620" y="2863827"/>
            <a:ext cx="6400800" cy="878574"/>
          </a:xfrm>
          <a:prstGeom prst="rect">
            <a:avLst/>
          </a:prstGeom>
          <a:noFill/>
        </p:spPr>
        <p:txBody>
          <a:bodyPr wrap="square">
            <a:spAutoFit/>
          </a:bodyPr>
          <a:lstStyle/>
          <a:p>
            <a:pPr>
              <a:lnSpc>
                <a:spcPct val="150000"/>
              </a:lnSpc>
            </a:pPr>
            <a:r>
              <a:rPr lang="en-US" altLang="zh-CN" b="1" dirty="0" err="1">
                <a:latin typeface="-apple-system"/>
              </a:rPr>
              <a:t>X_train</a:t>
            </a:r>
            <a:r>
              <a:rPr lang="en-US" altLang="zh-CN" b="1" dirty="0">
                <a:latin typeface="-apple-system"/>
              </a:rPr>
              <a:t> = </a:t>
            </a:r>
            <a:r>
              <a:rPr lang="en-US" altLang="zh-CN" b="1" dirty="0" err="1">
                <a:latin typeface="-apple-system"/>
              </a:rPr>
              <a:t>X_train.values.reshape</a:t>
            </a:r>
            <a:r>
              <a:rPr lang="en-US" altLang="zh-CN" b="1" dirty="0">
                <a:latin typeface="-apple-system"/>
              </a:rPr>
              <a:t>(-1,1)</a:t>
            </a:r>
            <a:br>
              <a:rPr lang="en-US" altLang="zh-CN" b="1" dirty="0">
                <a:latin typeface="-apple-system"/>
              </a:rPr>
            </a:br>
            <a:r>
              <a:rPr lang="en-US" altLang="zh-CN" b="1" dirty="0" err="1">
                <a:latin typeface="-apple-system"/>
              </a:rPr>
              <a:t>X_test</a:t>
            </a:r>
            <a:r>
              <a:rPr lang="en-US" altLang="zh-CN" b="1" dirty="0">
                <a:latin typeface="-apple-system"/>
              </a:rPr>
              <a:t> = </a:t>
            </a:r>
            <a:r>
              <a:rPr lang="en-US" altLang="zh-CN" b="1" dirty="0" err="1">
                <a:latin typeface="-apple-system"/>
              </a:rPr>
              <a:t>X_test.values.reshape</a:t>
            </a:r>
            <a:r>
              <a:rPr lang="en-US" altLang="zh-CN" b="1" dirty="0">
                <a:latin typeface="-apple-system"/>
              </a:rPr>
              <a:t>(-1,1)</a:t>
            </a:r>
            <a:endParaRPr lang="zh-CN" altLang="en-US" b="1" dirty="0">
              <a:latin typeface="-apple-system"/>
            </a:endParaRPr>
          </a:p>
        </p:txBody>
      </p:sp>
      <p:sp>
        <p:nvSpPr>
          <p:cNvPr id="12" name="文本框 11">
            <a:extLst>
              <a:ext uri="{FF2B5EF4-FFF2-40B4-BE49-F238E27FC236}">
                <a16:creationId xmlns:a16="http://schemas.microsoft.com/office/drawing/2014/main" id="{E63895D1-35E1-AB08-052F-418A3E0EF30E}"/>
              </a:ext>
            </a:extLst>
          </p:cNvPr>
          <p:cNvSpPr txBox="1"/>
          <p:nvPr/>
        </p:nvSpPr>
        <p:spPr>
          <a:xfrm>
            <a:off x="1435620" y="3869169"/>
            <a:ext cx="6400800" cy="923330"/>
          </a:xfrm>
          <a:prstGeom prst="rect">
            <a:avLst/>
          </a:prstGeom>
          <a:noFill/>
        </p:spPr>
        <p:txBody>
          <a:bodyPr wrap="square">
            <a:spAutoFit/>
          </a:bodyPr>
          <a:lstStyle/>
          <a:p>
            <a:r>
              <a:rPr lang="en-US" altLang="zh-CN" b="1" i="0" dirty="0">
                <a:effectLst/>
                <a:latin typeface="-apple-system"/>
              </a:rPr>
              <a:t>from </a:t>
            </a:r>
            <a:r>
              <a:rPr lang="en-US" altLang="zh-CN" b="1" i="0" dirty="0" err="1">
                <a:effectLst/>
                <a:latin typeface="-apple-system"/>
              </a:rPr>
              <a:t>sklearn.linear_model</a:t>
            </a:r>
            <a:r>
              <a:rPr lang="en-US" altLang="zh-CN" b="1" i="0" dirty="0">
                <a:effectLst/>
                <a:latin typeface="-apple-system"/>
              </a:rPr>
              <a:t> import </a:t>
            </a:r>
            <a:r>
              <a:rPr lang="fr-FR" altLang="zh-CN" b="1" i="0" dirty="0">
                <a:effectLst/>
                <a:latin typeface="-apple-system"/>
              </a:rPr>
              <a:t>LogisticRegression</a:t>
            </a:r>
          </a:p>
          <a:p>
            <a:r>
              <a:rPr lang="fr-FR" altLang="zh-CN" b="1" i="0" dirty="0">
                <a:effectLst/>
                <a:latin typeface="-apple-system"/>
              </a:rPr>
              <a:t>model = LogisticRegression()</a:t>
            </a:r>
            <a:br>
              <a:rPr lang="fr-FR" altLang="zh-CN" b="1" dirty="0"/>
            </a:br>
            <a:r>
              <a:rPr lang="fr-FR" altLang="zh-CN" b="1" i="0" dirty="0">
                <a:effectLst/>
                <a:latin typeface="-apple-system"/>
              </a:rPr>
              <a:t>model.fit(X_train, y_train)</a:t>
            </a:r>
            <a:endParaRPr lang="zh-CN" altLang="en-US" b="1" dirty="0"/>
          </a:p>
        </p:txBody>
      </p:sp>
      <p:sp>
        <p:nvSpPr>
          <p:cNvPr id="14" name="文本框 13">
            <a:extLst>
              <a:ext uri="{FF2B5EF4-FFF2-40B4-BE49-F238E27FC236}">
                <a16:creationId xmlns:a16="http://schemas.microsoft.com/office/drawing/2014/main" id="{8FB2D08A-BB3C-2B68-72AD-B2E1892381DA}"/>
              </a:ext>
            </a:extLst>
          </p:cNvPr>
          <p:cNvSpPr txBox="1"/>
          <p:nvPr/>
        </p:nvSpPr>
        <p:spPr>
          <a:xfrm>
            <a:off x="1410938" y="4889610"/>
            <a:ext cx="6400800" cy="923330"/>
          </a:xfrm>
          <a:prstGeom prst="rect">
            <a:avLst/>
          </a:prstGeom>
          <a:noFill/>
        </p:spPr>
        <p:txBody>
          <a:bodyPr wrap="square">
            <a:spAutoFit/>
          </a:bodyPr>
          <a:lstStyle/>
          <a:p>
            <a:r>
              <a:rPr lang="en-US" altLang="zh-CN" b="1" dirty="0">
                <a:latin typeface="-apple-system"/>
              </a:rPr>
              <a:t>fro</a:t>
            </a:r>
            <a:r>
              <a:rPr lang="en-US" altLang="zh-CN" b="1" i="0" dirty="0">
                <a:effectLst/>
                <a:latin typeface="-apple-system"/>
              </a:rPr>
              <a:t>m </a:t>
            </a:r>
            <a:r>
              <a:rPr lang="en-US" altLang="zh-CN" b="1" i="0" dirty="0" err="1">
                <a:effectLst/>
                <a:latin typeface="-apple-system"/>
              </a:rPr>
              <a:t>sklearn</a:t>
            </a:r>
            <a:r>
              <a:rPr lang="en-US" altLang="zh-CN" b="1" dirty="0" err="1">
                <a:latin typeface="-apple-system"/>
              </a:rPr>
              <a:t>.metrics</a:t>
            </a:r>
            <a:r>
              <a:rPr lang="en-US" altLang="zh-CN" b="1" dirty="0">
                <a:latin typeface="-apple-system"/>
              </a:rPr>
              <a:t> import </a:t>
            </a:r>
            <a:r>
              <a:rPr lang="en-US" altLang="zh-CN" b="1" dirty="0" err="1">
                <a:latin typeface="-apple-system"/>
              </a:rPr>
              <a:t>accuracy_score</a:t>
            </a:r>
            <a:endParaRPr lang="en-US" altLang="zh-CN" b="1" i="0" dirty="0">
              <a:effectLst/>
              <a:latin typeface="-apple-system"/>
            </a:endParaRPr>
          </a:p>
          <a:p>
            <a:r>
              <a:rPr lang="en-US" altLang="zh-CN" b="1" i="0" dirty="0">
                <a:effectLst/>
                <a:latin typeface="-apple-system"/>
              </a:rPr>
              <a:t>accuracy = </a:t>
            </a:r>
            <a:r>
              <a:rPr lang="en-US" altLang="zh-CN" b="1" i="0" dirty="0" err="1">
                <a:effectLst/>
                <a:latin typeface="-apple-system"/>
              </a:rPr>
              <a:t>model.score</a:t>
            </a:r>
            <a:r>
              <a:rPr lang="en-US" altLang="zh-CN" b="1" i="0" dirty="0">
                <a:effectLst/>
                <a:latin typeface="-apple-system"/>
              </a:rPr>
              <a:t>(</a:t>
            </a:r>
            <a:r>
              <a:rPr lang="en-US" altLang="zh-CN" b="1" i="0" dirty="0" err="1">
                <a:effectLst/>
                <a:latin typeface="-apple-system"/>
              </a:rPr>
              <a:t>X_test</a:t>
            </a:r>
            <a:r>
              <a:rPr lang="en-US" altLang="zh-CN" b="1" i="0" dirty="0">
                <a:effectLst/>
                <a:latin typeface="-apple-system"/>
              </a:rPr>
              <a:t>, </a:t>
            </a:r>
            <a:r>
              <a:rPr lang="en-US" altLang="zh-CN" b="1" i="0" dirty="0" err="1">
                <a:effectLst/>
                <a:latin typeface="-apple-system"/>
              </a:rPr>
              <a:t>y_test</a:t>
            </a:r>
            <a:r>
              <a:rPr lang="en-US" altLang="zh-CN" b="1" i="0" dirty="0">
                <a:effectLst/>
                <a:latin typeface="-apple-system"/>
              </a:rPr>
              <a:t>)</a:t>
            </a:r>
            <a:br>
              <a:rPr lang="en-US" altLang="zh-CN" b="1" dirty="0"/>
            </a:br>
            <a:r>
              <a:rPr lang="en-US" altLang="zh-CN" b="1" i="0" dirty="0">
                <a:effectLst/>
                <a:latin typeface="-apple-system"/>
              </a:rPr>
              <a:t>print(accuracy)</a:t>
            </a:r>
            <a:endParaRPr lang="zh-CN" altLang="en-US" b="1" dirty="0"/>
          </a:p>
        </p:txBody>
      </p:sp>
      <p:sp>
        <p:nvSpPr>
          <p:cNvPr id="16" name="文本框 15">
            <a:extLst>
              <a:ext uri="{FF2B5EF4-FFF2-40B4-BE49-F238E27FC236}">
                <a16:creationId xmlns:a16="http://schemas.microsoft.com/office/drawing/2014/main" id="{FD4EA71F-984B-75B8-DC02-232D6659529B}"/>
              </a:ext>
            </a:extLst>
          </p:cNvPr>
          <p:cNvSpPr txBox="1"/>
          <p:nvPr/>
        </p:nvSpPr>
        <p:spPr>
          <a:xfrm>
            <a:off x="1410938" y="5867531"/>
            <a:ext cx="6400800" cy="646331"/>
          </a:xfrm>
          <a:prstGeom prst="rect">
            <a:avLst/>
          </a:prstGeom>
          <a:noFill/>
        </p:spPr>
        <p:txBody>
          <a:bodyPr wrap="square">
            <a:spAutoFit/>
          </a:bodyPr>
          <a:lstStyle/>
          <a:p>
            <a:r>
              <a:rPr lang="en-US" altLang="zh-CN" b="1" i="0" dirty="0" err="1">
                <a:effectLst/>
                <a:latin typeface="-apple-system"/>
              </a:rPr>
              <a:t>y_test_pred</a:t>
            </a:r>
            <a:r>
              <a:rPr lang="en-US" altLang="zh-CN" b="1" i="0" dirty="0">
                <a:effectLst/>
                <a:latin typeface="-apple-system"/>
              </a:rPr>
              <a:t> = </a:t>
            </a:r>
            <a:r>
              <a:rPr lang="en-US" altLang="zh-CN" b="1" i="0" dirty="0" err="1">
                <a:effectLst/>
                <a:latin typeface="-apple-system"/>
              </a:rPr>
              <a:t>model.predict</a:t>
            </a:r>
            <a:r>
              <a:rPr lang="en-US" altLang="zh-CN" b="1" i="0" dirty="0">
                <a:effectLst/>
                <a:latin typeface="-apple-system"/>
              </a:rPr>
              <a:t>(</a:t>
            </a:r>
            <a:r>
              <a:rPr lang="en-US" altLang="zh-CN" b="1" i="0" dirty="0" err="1">
                <a:effectLst/>
                <a:latin typeface="-apple-system"/>
              </a:rPr>
              <a:t>X_test</a:t>
            </a:r>
            <a:r>
              <a:rPr lang="en-US" altLang="zh-CN" b="1" i="0" dirty="0">
                <a:effectLst/>
                <a:latin typeface="-apple-system"/>
              </a:rPr>
              <a:t>)</a:t>
            </a:r>
            <a:br>
              <a:rPr lang="en-US" altLang="zh-CN" b="1" dirty="0"/>
            </a:br>
            <a:r>
              <a:rPr lang="en-US" altLang="zh-CN" b="1" i="0" dirty="0">
                <a:effectLst/>
                <a:latin typeface="-apple-system"/>
              </a:rPr>
              <a:t>print(</a:t>
            </a:r>
            <a:r>
              <a:rPr lang="en-US" altLang="zh-CN" b="1" i="0" dirty="0" err="1">
                <a:effectLst/>
                <a:latin typeface="-apple-system"/>
              </a:rPr>
              <a:t>y_test_pred</a:t>
            </a:r>
            <a:r>
              <a:rPr lang="en-US" altLang="zh-CN" b="1" i="0" dirty="0">
                <a:effectLst/>
                <a:latin typeface="-apple-system"/>
              </a:rPr>
              <a:t>)</a:t>
            </a:r>
            <a:endParaRPr lang="zh-CN" altLang="en-US" b="1" dirty="0"/>
          </a:p>
        </p:txBody>
      </p:sp>
      <p:pic>
        <p:nvPicPr>
          <p:cNvPr id="4" name="图片 3">
            <a:extLst>
              <a:ext uri="{FF2B5EF4-FFF2-40B4-BE49-F238E27FC236}">
                <a16:creationId xmlns:a16="http://schemas.microsoft.com/office/drawing/2014/main" id="{BC026623-7F90-BDAE-3598-2E9F0DA2860F}"/>
              </a:ext>
            </a:extLst>
          </p:cNvPr>
          <p:cNvPicPr>
            <a:picLocks noChangeAspect="1"/>
          </p:cNvPicPr>
          <p:nvPr/>
        </p:nvPicPr>
        <p:blipFill>
          <a:blip r:embed="rId3"/>
          <a:stretch>
            <a:fillRect/>
          </a:stretch>
        </p:blipFill>
        <p:spPr>
          <a:xfrm>
            <a:off x="7111361" y="864911"/>
            <a:ext cx="4601217" cy="619211"/>
          </a:xfrm>
          <a:prstGeom prst="rect">
            <a:avLst/>
          </a:prstGeom>
        </p:spPr>
      </p:pic>
      <p:pic>
        <p:nvPicPr>
          <p:cNvPr id="9" name="图片 8">
            <a:extLst>
              <a:ext uri="{FF2B5EF4-FFF2-40B4-BE49-F238E27FC236}">
                <a16:creationId xmlns:a16="http://schemas.microsoft.com/office/drawing/2014/main" id="{6CCEEA2A-1F36-6984-4B4F-090C66E0974B}"/>
              </a:ext>
            </a:extLst>
          </p:cNvPr>
          <p:cNvPicPr>
            <a:picLocks noChangeAspect="1"/>
          </p:cNvPicPr>
          <p:nvPr/>
        </p:nvPicPr>
        <p:blipFill>
          <a:blip r:embed="rId4"/>
          <a:stretch>
            <a:fillRect/>
          </a:stretch>
        </p:blipFill>
        <p:spPr>
          <a:xfrm>
            <a:off x="7111361" y="1711366"/>
            <a:ext cx="4610743" cy="590632"/>
          </a:xfrm>
          <a:prstGeom prst="rect">
            <a:avLst/>
          </a:prstGeom>
        </p:spPr>
      </p:pic>
      <p:pic>
        <p:nvPicPr>
          <p:cNvPr id="13" name="图片 12">
            <a:extLst>
              <a:ext uri="{FF2B5EF4-FFF2-40B4-BE49-F238E27FC236}">
                <a16:creationId xmlns:a16="http://schemas.microsoft.com/office/drawing/2014/main" id="{060F1D43-4AE2-044C-46E5-D4397415E3D5}"/>
              </a:ext>
            </a:extLst>
          </p:cNvPr>
          <p:cNvPicPr>
            <a:picLocks noChangeAspect="1"/>
          </p:cNvPicPr>
          <p:nvPr/>
        </p:nvPicPr>
        <p:blipFill>
          <a:blip r:embed="rId5"/>
          <a:stretch>
            <a:fillRect/>
          </a:stretch>
        </p:blipFill>
        <p:spPr>
          <a:xfrm>
            <a:off x="7111361" y="2994336"/>
            <a:ext cx="4620270" cy="619211"/>
          </a:xfrm>
          <a:prstGeom prst="rect">
            <a:avLst/>
          </a:prstGeom>
        </p:spPr>
      </p:pic>
      <p:pic>
        <p:nvPicPr>
          <p:cNvPr id="17" name="图片 16">
            <a:extLst>
              <a:ext uri="{FF2B5EF4-FFF2-40B4-BE49-F238E27FC236}">
                <a16:creationId xmlns:a16="http://schemas.microsoft.com/office/drawing/2014/main" id="{35C355FE-7E99-B860-1A8C-836A7905E5C8}"/>
              </a:ext>
            </a:extLst>
          </p:cNvPr>
          <p:cNvPicPr>
            <a:picLocks noChangeAspect="1"/>
          </p:cNvPicPr>
          <p:nvPr/>
        </p:nvPicPr>
        <p:blipFill>
          <a:blip r:embed="rId6"/>
          <a:stretch>
            <a:fillRect/>
          </a:stretch>
        </p:blipFill>
        <p:spPr>
          <a:xfrm>
            <a:off x="7111361" y="4006682"/>
            <a:ext cx="4525006" cy="600159"/>
          </a:xfrm>
          <a:prstGeom prst="rect">
            <a:avLst/>
          </a:prstGeom>
        </p:spPr>
      </p:pic>
      <p:pic>
        <p:nvPicPr>
          <p:cNvPr id="20" name="图片 19">
            <a:extLst>
              <a:ext uri="{FF2B5EF4-FFF2-40B4-BE49-F238E27FC236}">
                <a16:creationId xmlns:a16="http://schemas.microsoft.com/office/drawing/2014/main" id="{6FC42E27-6819-93D7-9A08-D8AD3AB8C228}"/>
              </a:ext>
            </a:extLst>
          </p:cNvPr>
          <p:cNvPicPr>
            <a:picLocks noChangeAspect="1"/>
          </p:cNvPicPr>
          <p:nvPr/>
        </p:nvPicPr>
        <p:blipFill rotWithShape="1">
          <a:blip r:embed="rId7"/>
          <a:srcRect b="18485"/>
          <a:stretch/>
        </p:blipFill>
        <p:spPr>
          <a:xfrm>
            <a:off x="7431933" y="5084711"/>
            <a:ext cx="2715004" cy="310615"/>
          </a:xfrm>
          <a:prstGeom prst="rect">
            <a:avLst/>
          </a:prstGeom>
        </p:spPr>
      </p:pic>
      <p:pic>
        <p:nvPicPr>
          <p:cNvPr id="22" name="图片 21">
            <a:extLst>
              <a:ext uri="{FF2B5EF4-FFF2-40B4-BE49-F238E27FC236}">
                <a16:creationId xmlns:a16="http://schemas.microsoft.com/office/drawing/2014/main" id="{63801BBD-6843-5601-2E92-C5AAEB555AE1}"/>
              </a:ext>
            </a:extLst>
          </p:cNvPr>
          <p:cNvPicPr>
            <a:picLocks noChangeAspect="1"/>
          </p:cNvPicPr>
          <p:nvPr/>
        </p:nvPicPr>
        <p:blipFill>
          <a:blip r:embed="rId8"/>
          <a:stretch>
            <a:fillRect/>
          </a:stretch>
        </p:blipFill>
        <p:spPr>
          <a:xfrm>
            <a:off x="7365248" y="6113549"/>
            <a:ext cx="2848373" cy="342948"/>
          </a:xfrm>
          <a:prstGeom prst="rect">
            <a:avLst/>
          </a:prstGeom>
        </p:spPr>
      </p:pic>
    </p:spTree>
    <p:extLst>
      <p:ext uri="{BB962C8B-B14F-4D97-AF65-F5344CB8AC3E}">
        <p14:creationId xmlns:p14="http://schemas.microsoft.com/office/powerpoint/2010/main" val="623114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2" grpId="0"/>
      <p:bldP spid="1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b="1" dirty="0">
                <a:solidFill>
                  <a:srgbClr val="44546A"/>
                </a:solidFill>
                <a:latin typeface="微软雅黑" panose="020B0503020204020204" pitchFamily="34" charset="-122"/>
                <a:ea typeface="微软雅黑" panose="020B0503020204020204" pitchFamily="34" charset="-122"/>
              </a:rPr>
              <a:t>2025</a:t>
            </a:r>
            <a:r>
              <a:rPr lang="zh-CN" altLang="en-US" b="1" dirty="0">
                <a:solidFill>
                  <a:srgbClr val="44546A"/>
                </a:solidFill>
                <a:latin typeface="微软雅黑" panose="020B0503020204020204" pitchFamily="34" charset="-122"/>
                <a:ea typeface="微软雅黑" panose="020B0503020204020204" pitchFamily="34" charset="-122"/>
              </a:rPr>
              <a:t>年</a:t>
            </a:r>
            <a:r>
              <a:rPr lang="en-US" altLang="zh-CN" b="1" dirty="0">
                <a:solidFill>
                  <a:srgbClr val="44546A"/>
                </a:solidFill>
                <a:latin typeface="微软雅黑" panose="020B0503020204020204" pitchFamily="34" charset="-122"/>
                <a:ea typeface="微软雅黑" panose="020B0503020204020204" pitchFamily="34" charset="-122"/>
              </a:rPr>
              <a:t>04</a:t>
            </a:r>
            <a:r>
              <a:rPr lang="zh-CN" altLang="en-US" b="1" dirty="0">
                <a:solidFill>
                  <a:srgbClr val="44546A"/>
                </a:solidFill>
                <a:latin typeface="微软雅黑" panose="020B0503020204020204" pitchFamily="34" charset="-122"/>
                <a:ea typeface="微软雅黑" panose="020B0503020204020204" pitchFamily="34" charset="-122"/>
              </a:rPr>
              <a:t>月</a:t>
            </a:r>
            <a:r>
              <a:rPr lang="en-US" altLang="zh-CN" b="1" dirty="0">
                <a:solidFill>
                  <a:srgbClr val="44546A"/>
                </a:solidFill>
                <a:latin typeface="微软雅黑" panose="020B0503020204020204" pitchFamily="34" charset="-122"/>
                <a:ea typeface="微软雅黑" panose="020B0503020204020204" pitchFamily="34" charset="-122"/>
              </a:rPr>
              <a:t>13</a:t>
            </a:r>
            <a:r>
              <a:rPr lang="zh-CN" altLang="en-US" b="1" dirty="0">
                <a:solidFill>
                  <a:srgbClr val="44546A"/>
                </a:solidFill>
                <a:latin typeface="微软雅黑" panose="020B0503020204020204" pitchFamily="34" charset="-122"/>
                <a:ea typeface="微软雅黑" panose="020B0503020204020204" pitchFamily="34" charset="-122"/>
              </a:rPr>
              <a:t>日考试真题</a:t>
            </a:r>
          </a:p>
        </p:txBody>
      </p:sp>
      <p:sp>
        <p:nvSpPr>
          <p:cNvPr id="3" name="文本框 2"/>
          <p:cNvSpPr txBox="1"/>
          <p:nvPr/>
        </p:nvSpPr>
        <p:spPr>
          <a:xfrm>
            <a:off x="6853561" y="282976"/>
            <a:ext cx="4194214" cy="2900281"/>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医生看病叫号流程图？</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a:p>
            <a:pPr marL="971550" lvl="1" indent="-514350">
              <a:lnSpc>
                <a:spcPct val="150000"/>
              </a:lnSpc>
              <a:buFont typeface="+mj-lt"/>
              <a:buAutoNum type="arabicPeriod"/>
            </a:pPr>
            <a:r>
              <a:rPr lang="zh-CN" altLang="en-US" sz="2000" dirty="0">
                <a:solidFill>
                  <a:srgbClr val="44546A"/>
                </a:solidFill>
                <a:latin typeface="微软雅黑" panose="020B0503020204020204" pitchFamily="34" charset="-122"/>
                <a:ea typeface="微软雅黑" panose="020B0503020204020204" pitchFamily="34" charset="-122"/>
                <a:sym typeface="+mn-lt"/>
              </a:rPr>
              <a:t>就诊是否已经报道</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971550" lvl="1" indent="-514350">
              <a:lnSpc>
                <a:spcPct val="150000"/>
              </a:lnSpc>
              <a:buFont typeface="+mj-lt"/>
              <a:buAutoNum type="arabicPeriod"/>
            </a:pPr>
            <a:r>
              <a:rPr lang="zh-CN" altLang="en-US" sz="2000" dirty="0">
                <a:solidFill>
                  <a:srgbClr val="44546A"/>
                </a:solidFill>
                <a:latin typeface="微软雅黑" panose="020B0503020204020204" pitchFamily="34" charset="-122"/>
                <a:ea typeface="微软雅黑" panose="020B0503020204020204" pitchFamily="34" charset="-122"/>
                <a:sym typeface="+mn-lt"/>
              </a:rPr>
              <a:t>就诊人员是否到场</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971550" lvl="1" indent="-514350">
              <a:lnSpc>
                <a:spcPct val="150000"/>
              </a:lnSpc>
              <a:buFont typeface="+mj-lt"/>
              <a:buAutoNum type="arabicPeriod"/>
            </a:pPr>
            <a:r>
              <a:rPr lang="zh-CN" altLang="en-US" sz="2000" dirty="0">
                <a:solidFill>
                  <a:srgbClr val="44546A"/>
                </a:solidFill>
                <a:latin typeface="微软雅黑" panose="020B0503020204020204" pitchFamily="34" charset="-122"/>
                <a:ea typeface="微软雅黑" panose="020B0503020204020204" pitchFamily="34" charset="-122"/>
                <a:sym typeface="+mn-lt"/>
              </a:rPr>
              <a:t>是否有其他候诊人</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971550" lvl="1" indent="-514350">
              <a:lnSpc>
                <a:spcPct val="150000"/>
              </a:lnSpc>
              <a:buFont typeface="+mj-lt"/>
              <a:buAutoNum type="arabicPeriod"/>
            </a:pPr>
            <a:r>
              <a:rPr lang="zh-CN" altLang="en-US" sz="2000" dirty="0">
                <a:solidFill>
                  <a:srgbClr val="44546A"/>
                </a:solidFill>
                <a:latin typeface="微软雅黑" panose="020B0503020204020204" pitchFamily="34" charset="-122"/>
                <a:ea typeface="微软雅黑" panose="020B0503020204020204" pitchFamily="34" charset="-122"/>
                <a:sym typeface="+mn-lt"/>
              </a:rPr>
              <a:t>一个号连续叫</a:t>
            </a:r>
            <a:r>
              <a:rPr lang="en-US" altLang="zh-CN" sz="2000" dirty="0">
                <a:solidFill>
                  <a:srgbClr val="44546A"/>
                </a:solidFill>
                <a:latin typeface="微软雅黑" panose="020B0503020204020204" pitchFamily="34" charset="-122"/>
                <a:ea typeface="微软雅黑" panose="020B0503020204020204" pitchFamily="34" charset="-122"/>
                <a:sym typeface="+mn-lt"/>
              </a:rPr>
              <a:t>5</a:t>
            </a:r>
            <a:r>
              <a:rPr lang="zh-CN" altLang="en-US" sz="2000" dirty="0">
                <a:solidFill>
                  <a:srgbClr val="44546A"/>
                </a:solidFill>
                <a:latin typeface="微软雅黑" panose="020B0503020204020204" pitchFamily="34" charset="-122"/>
                <a:ea typeface="微软雅黑" panose="020B0503020204020204" pitchFamily="34" charset="-122"/>
                <a:sym typeface="+mn-lt"/>
              </a:rPr>
              <a:t>次</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marL="971550" lvl="1" indent="-514350">
              <a:lnSpc>
                <a:spcPct val="150000"/>
              </a:lnSpc>
              <a:buFont typeface="+mj-lt"/>
              <a:buAutoNum type="arabicPeriod"/>
            </a:pPr>
            <a:r>
              <a:rPr lang="zh-CN" altLang="en-US" sz="2000" dirty="0">
                <a:solidFill>
                  <a:srgbClr val="44546A"/>
                </a:solidFill>
                <a:latin typeface="微软雅黑" panose="020B0503020204020204" pitchFamily="34" charset="-122"/>
                <a:ea typeface="微软雅黑" panose="020B0503020204020204" pitchFamily="34" charset="-122"/>
                <a:sym typeface="+mn-lt"/>
              </a:rPr>
              <a:t>按下一位按键叫号</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sp>
        <p:nvSpPr>
          <p:cNvPr id="5" name="文本框 4">
            <a:extLst>
              <a:ext uri="{FF2B5EF4-FFF2-40B4-BE49-F238E27FC236}">
                <a16:creationId xmlns:a16="http://schemas.microsoft.com/office/drawing/2014/main" id="{BB256294-47BD-0558-7429-466F82A086BA}"/>
              </a:ext>
            </a:extLst>
          </p:cNvPr>
          <p:cNvSpPr txBox="1"/>
          <p:nvPr/>
        </p:nvSpPr>
        <p:spPr>
          <a:xfrm>
            <a:off x="1692292" y="975474"/>
            <a:ext cx="4194214" cy="151528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散点图过滤条件：</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sym typeface="+mn-lt"/>
              </a:rPr>
              <a:t>影视院最受欢迎的前六类型？</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zh-CN" altLang="en-US" sz="2000" dirty="0">
                <a:solidFill>
                  <a:srgbClr val="44546A"/>
                </a:solidFill>
                <a:latin typeface="微软雅黑" panose="020B0503020204020204" pitchFamily="34" charset="-122"/>
                <a:ea typeface="微软雅黑" panose="020B0503020204020204" pitchFamily="34" charset="-122"/>
                <a:sym typeface="+mn-lt"/>
              </a:rPr>
              <a:t>最近日期为最近三天的怎么筛选？</a:t>
            </a:r>
            <a:endParaRPr lang="en-US" altLang="zh-CN" sz="2000" dirty="0">
              <a:solidFill>
                <a:srgbClr val="44546A"/>
              </a:solidFill>
              <a:latin typeface="微软雅黑" panose="020B0503020204020204" pitchFamily="34" charset="-122"/>
              <a:ea typeface="微软雅黑" panose="020B0503020204020204" pitchFamily="34" charset="-122"/>
              <a:sym typeface="+mn-lt"/>
            </a:endParaRPr>
          </a:p>
        </p:txBody>
      </p:sp>
      <p:sp>
        <p:nvSpPr>
          <p:cNvPr id="4" name="文本框 3">
            <a:extLst>
              <a:ext uri="{FF2B5EF4-FFF2-40B4-BE49-F238E27FC236}">
                <a16:creationId xmlns:a16="http://schemas.microsoft.com/office/drawing/2014/main" id="{E5A9E84F-F3B9-5DE2-69BE-2595032E755B}"/>
              </a:ext>
            </a:extLst>
          </p:cNvPr>
          <p:cNvSpPr txBox="1"/>
          <p:nvPr/>
        </p:nvSpPr>
        <p:spPr>
          <a:xfrm>
            <a:off x="6579842" y="3433570"/>
            <a:ext cx="4741652" cy="2889381"/>
          </a:xfrm>
          <a:prstGeom prst="rect">
            <a:avLst/>
          </a:prstGeom>
          <a:noFill/>
        </p:spPr>
        <p:txBody>
          <a:bodyPr wrap="square" rtlCol="0" anchor="t">
            <a:spAutoFit/>
          </a:bodyPr>
          <a:lstStyle/>
          <a:p>
            <a:pPr>
              <a:lnSpc>
                <a:spcPct val="150000"/>
              </a:lnSpc>
            </a:pPr>
            <a:r>
              <a:rPr lang="zh-CN" altLang="en-US" sz="2800" dirty="0">
                <a:solidFill>
                  <a:srgbClr val="44546A"/>
                </a:solidFill>
                <a:latin typeface="微软雅黑" panose="020B0503020204020204" pitchFamily="34" charset="-122"/>
                <a:ea typeface="微软雅黑" panose="020B0503020204020204" pitchFamily="34" charset="-122"/>
                <a:sym typeface="+mn-lt"/>
              </a:rPr>
              <a:t>肿瘤预测模型？</a:t>
            </a:r>
            <a:endParaRPr lang="en-US" altLang="zh-CN" sz="280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sym typeface="+mn-lt"/>
              </a:rPr>
              <a:t>1.</a:t>
            </a:r>
            <a:r>
              <a:rPr lang="zh-CN" altLang="en-US" sz="2400" dirty="0">
                <a:solidFill>
                  <a:srgbClr val="44546A"/>
                </a:solidFill>
                <a:latin typeface="微软雅黑" panose="020B0503020204020204" pitchFamily="34" charset="-122"/>
                <a:ea typeface="微软雅黑" panose="020B0503020204020204" pitchFamily="34" charset="-122"/>
                <a:sym typeface="+mn-lt"/>
              </a:rPr>
              <a:t>划分</a:t>
            </a:r>
            <a:r>
              <a:rPr lang="en-US" altLang="zh-CN" sz="2400" dirty="0">
                <a:solidFill>
                  <a:srgbClr val="44546A"/>
                </a:solidFill>
                <a:latin typeface="微软雅黑" panose="020B0503020204020204" pitchFamily="34" charset="-122"/>
                <a:ea typeface="微软雅黑" panose="020B0503020204020204" pitchFamily="34" charset="-122"/>
                <a:sym typeface="+mn-lt"/>
              </a:rPr>
              <a:t>X</a:t>
            </a:r>
            <a:r>
              <a:rPr lang="zh-CN" altLang="en-US" sz="2400" dirty="0">
                <a:solidFill>
                  <a:srgbClr val="44546A"/>
                </a:solidFill>
                <a:latin typeface="微软雅黑" panose="020B0503020204020204" pitchFamily="34" charset="-122"/>
                <a:ea typeface="微软雅黑" panose="020B0503020204020204" pitchFamily="34" charset="-122"/>
                <a:sym typeface="+mn-lt"/>
              </a:rPr>
              <a:t>特征和</a:t>
            </a:r>
            <a:r>
              <a:rPr lang="en-US" altLang="zh-CN" sz="2400" dirty="0">
                <a:solidFill>
                  <a:srgbClr val="44546A"/>
                </a:solidFill>
                <a:latin typeface="微软雅黑" panose="020B0503020204020204" pitchFamily="34" charset="-122"/>
                <a:ea typeface="微软雅黑" panose="020B0503020204020204" pitchFamily="34" charset="-122"/>
                <a:sym typeface="+mn-lt"/>
              </a:rPr>
              <a:t>y</a:t>
            </a:r>
            <a:r>
              <a:rPr lang="zh-CN" altLang="en-US" sz="2400" dirty="0">
                <a:solidFill>
                  <a:srgbClr val="44546A"/>
                </a:solidFill>
                <a:latin typeface="微软雅黑" panose="020B0503020204020204" pitchFamily="34" charset="-122"/>
                <a:ea typeface="微软雅黑" panose="020B0503020204020204" pitchFamily="34" charset="-122"/>
                <a:sym typeface="+mn-lt"/>
              </a:rPr>
              <a:t>标签（是否肿瘤）</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sym typeface="+mn-lt"/>
              </a:rPr>
              <a:t>2.</a:t>
            </a:r>
            <a:r>
              <a:rPr lang="zh-CN" altLang="en-US" sz="2400" dirty="0">
                <a:solidFill>
                  <a:srgbClr val="44546A"/>
                </a:solidFill>
                <a:latin typeface="微软雅黑" panose="020B0503020204020204" pitchFamily="34" charset="-122"/>
                <a:ea typeface="微软雅黑" panose="020B0503020204020204" pitchFamily="34" charset="-122"/>
                <a:sym typeface="+mn-lt"/>
              </a:rPr>
              <a:t>划分测试集为</a:t>
            </a:r>
            <a:r>
              <a:rPr lang="en-US" altLang="zh-CN" sz="2400" dirty="0">
                <a:solidFill>
                  <a:srgbClr val="44546A"/>
                </a:solidFill>
                <a:latin typeface="微软雅黑" panose="020B0503020204020204" pitchFamily="34" charset="-122"/>
                <a:ea typeface="微软雅黑" panose="020B0503020204020204" pitchFamily="34" charset="-122"/>
                <a:sym typeface="+mn-lt"/>
              </a:rPr>
              <a:t>1/3</a:t>
            </a: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sym typeface="+mn-lt"/>
              </a:rPr>
              <a:t>3.</a:t>
            </a:r>
            <a:r>
              <a:rPr lang="zh-CN" altLang="en-US" sz="2400" dirty="0">
                <a:solidFill>
                  <a:srgbClr val="44546A"/>
                </a:solidFill>
                <a:latin typeface="微软雅黑" panose="020B0503020204020204" pitchFamily="34" charset="-122"/>
                <a:ea typeface="微软雅黑" panose="020B0503020204020204" pitchFamily="34" charset="-122"/>
                <a:sym typeface="+mn-lt"/>
              </a:rPr>
              <a:t>使用朴素贝叶斯模型训练模型</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a:p>
            <a:pPr>
              <a:lnSpc>
                <a:spcPct val="150000"/>
              </a:lnSpc>
            </a:pPr>
            <a:r>
              <a:rPr lang="en-US" altLang="zh-CN" sz="2400" dirty="0">
                <a:solidFill>
                  <a:srgbClr val="44546A"/>
                </a:solidFill>
                <a:latin typeface="微软雅黑" panose="020B0503020204020204" pitchFamily="34" charset="-122"/>
                <a:ea typeface="微软雅黑" panose="020B0503020204020204" pitchFamily="34" charset="-122"/>
                <a:sym typeface="+mn-lt"/>
              </a:rPr>
              <a:t>4.</a:t>
            </a:r>
            <a:r>
              <a:rPr lang="zh-CN" altLang="en-US" sz="2400" dirty="0">
                <a:solidFill>
                  <a:srgbClr val="44546A"/>
                </a:solidFill>
                <a:latin typeface="微软雅黑" panose="020B0503020204020204" pitchFamily="34" charset="-122"/>
                <a:ea typeface="微软雅黑" panose="020B0503020204020204" pitchFamily="34" charset="-122"/>
                <a:sym typeface="+mn-lt"/>
              </a:rPr>
              <a:t>输出测试集的预测值</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p:txBody>
      </p:sp>
      <p:pic>
        <p:nvPicPr>
          <p:cNvPr id="7" name="图片 6">
            <a:extLst>
              <a:ext uri="{FF2B5EF4-FFF2-40B4-BE49-F238E27FC236}">
                <a16:creationId xmlns:a16="http://schemas.microsoft.com/office/drawing/2014/main" id="{05041FD8-EF3A-D46D-BF66-080FCFB1B671}"/>
              </a:ext>
            </a:extLst>
          </p:cNvPr>
          <p:cNvPicPr>
            <a:picLocks noChangeAspect="1"/>
          </p:cNvPicPr>
          <p:nvPr/>
        </p:nvPicPr>
        <p:blipFill>
          <a:blip r:embed="rId3"/>
          <a:stretch>
            <a:fillRect/>
          </a:stretch>
        </p:blipFill>
        <p:spPr>
          <a:xfrm>
            <a:off x="1135734" y="2738222"/>
            <a:ext cx="5317553" cy="3821992"/>
          </a:xfrm>
          <a:prstGeom prst="rect">
            <a:avLst/>
          </a:prstGeom>
        </p:spPr>
      </p:pic>
    </p:spTree>
    <p:extLst>
      <p:ext uri="{BB962C8B-B14F-4D97-AF65-F5344CB8AC3E}">
        <p14:creationId xmlns:p14="http://schemas.microsoft.com/office/powerpoint/2010/main" val="685622198"/>
      </p:ext>
    </p:extLst>
  </p:cSld>
  <p:clrMapOvr>
    <a:masterClrMapping/>
  </p:clrMapOvr>
  <p:transition spd="slow">
    <p:push di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38" y="297786"/>
            <a:ext cx="9529777"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zh-CN" b="1" dirty="0">
                <a:solidFill>
                  <a:srgbClr val="44546A"/>
                </a:solidFill>
                <a:latin typeface="微软雅黑" panose="020B0503020204020204" pitchFamily="34" charset="-122"/>
                <a:ea typeface="微软雅黑" panose="020B0503020204020204" pitchFamily="34" charset="-122"/>
              </a:rPr>
              <a:t>2025</a:t>
            </a:r>
            <a:r>
              <a:rPr lang="zh-CN" altLang="en-US" b="1" dirty="0">
                <a:solidFill>
                  <a:srgbClr val="44546A"/>
                </a:solidFill>
                <a:latin typeface="微软雅黑" panose="020B0503020204020204" pitchFamily="34" charset="-122"/>
                <a:ea typeface="微软雅黑" panose="020B0503020204020204" pitchFamily="34" charset="-122"/>
              </a:rPr>
              <a:t>年</a:t>
            </a:r>
            <a:r>
              <a:rPr lang="en-US" altLang="zh-CN" b="1" dirty="0">
                <a:solidFill>
                  <a:srgbClr val="44546A"/>
                </a:solidFill>
                <a:latin typeface="微软雅黑" panose="020B0503020204020204" pitchFamily="34" charset="-122"/>
                <a:ea typeface="微软雅黑" panose="020B0503020204020204" pitchFamily="34" charset="-122"/>
              </a:rPr>
              <a:t>04</a:t>
            </a:r>
            <a:r>
              <a:rPr lang="zh-CN" altLang="en-US" b="1" dirty="0">
                <a:solidFill>
                  <a:srgbClr val="44546A"/>
                </a:solidFill>
                <a:latin typeface="微软雅黑" panose="020B0503020204020204" pitchFamily="34" charset="-122"/>
                <a:ea typeface="微软雅黑" panose="020B0503020204020204" pitchFamily="34" charset="-122"/>
              </a:rPr>
              <a:t>月</a:t>
            </a:r>
            <a:r>
              <a:rPr lang="en-US" altLang="zh-CN" b="1" dirty="0">
                <a:solidFill>
                  <a:srgbClr val="44546A"/>
                </a:solidFill>
                <a:latin typeface="微软雅黑" panose="020B0503020204020204" pitchFamily="34" charset="-122"/>
                <a:ea typeface="微软雅黑" panose="020B0503020204020204" pitchFamily="34" charset="-122"/>
              </a:rPr>
              <a:t>13</a:t>
            </a:r>
            <a:r>
              <a:rPr lang="zh-CN" altLang="en-US" b="1" dirty="0">
                <a:solidFill>
                  <a:srgbClr val="44546A"/>
                </a:solidFill>
                <a:latin typeface="微软雅黑" panose="020B0503020204020204" pitchFamily="34" charset="-122"/>
                <a:ea typeface="微软雅黑" panose="020B0503020204020204" pitchFamily="34" charset="-122"/>
              </a:rPr>
              <a:t>日考试真题</a:t>
            </a:r>
          </a:p>
        </p:txBody>
      </p:sp>
      <p:sp>
        <p:nvSpPr>
          <p:cNvPr id="3" name="文本框 2"/>
          <p:cNvSpPr txBox="1"/>
          <p:nvPr/>
        </p:nvSpPr>
        <p:spPr>
          <a:xfrm>
            <a:off x="677407" y="762014"/>
            <a:ext cx="5864069" cy="581057"/>
          </a:xfrm>
          <a:prstGeom prst="rect">
            <a:avLst/>
          </a:prstGeom>
          <a:noFill/>
        </p:spPr>
        <p:txBody>
          <a:bodyPr wrap="square" rtlCol="0" anchor="t">
            <a:spAutoFit/>
          </a:bodyPr>
          <a:lstStyle/>
          <a:p>
            <a:pPr>
              <a:lnSpc>
                <a:spcPct val="150000"/>
              </a:lnSpc>
            </a:pPr>
            <a:r>
              <a:rPr lang="zh-CN" altLang="en-US" sz="2400" dirty="0">
                <a:solidFill>
                  <a:srgbClr val="44546A"/>
                </a:solidFill>
                <a:latin typeface="微软雅黑" panose="020B0503020204020204" pitchFamily="34" charset="-122"/>
                <a:ea typeface="微软雅黑" panose="020B0503020204020204" pitchFamily="34" charset="-122"/>
                <a:sym typeface="+mn-lt"/>
              </a:rPr>
              <a:t>       肿瘤预测机器学习算法代码如下：</a:t>
            </a:r>
            <a:endParaRPr lang="en-US" altLang="zh-CN" sz="2400" dirty="0">
              <a:solidFill>
                <a:srgbClr val="44546A"/>
              </a:solidFill>
              <a:latin typeface="微软雅黑" panose="020B0503020204020204" pitchFamily="34" charset="-122"/>
              <a:ea typeface="微软雅黑" panose="020B0503020204020204" pitchFamily="34" charset="-122"/>
              <a:sym typeface="+mn-lt"/>
            </a:endParaRPr>
          </a:p>
        </p:txBody>
      </p:sp>
      <p:sp>
        <p:nvSpPr>
          <p:cNvPr id="7" name="文本框 6">
            <a:extLst>
              <a:ext uri="{FF2B5EF4-FFF2-40B4-BE49-F238E27FC236}">
                <a16:creationId xmlns:a16="http://schemas.microsoft.com/office/drawing/2014/main" id="{7A3766DB-55B5-EC15-E221-C75D0D860CEE}"/>
              </a:ext>
            </a:extLst>
          </p:cNvPr>
          <p:cNvSpPr txBox="1"/>
          <p:nvPr/>
        </p:nvSpPr>
        <p:spPr>
          <a:xfrm>
            <a:off x="1487156" y="1282691"/>
            <a:ext cx="10704844" cy="5575309"/>
          </a:xfrm>
          <a:prstGeom prst="rect">
            <a:avLst/>
          </a:prstGeom>
          <a:noFill/>
        </p:spPr>
        <p:txBody>
          <a:bodyPr wrap="square" rtlCol="0">
            <a:spAutoFit/>
          </a:bodyPr>
          <a:lstStyle/>
          <a:p>
            <a:pPr>
              <a:lnSpc>
                <a:spcPct val="150000"/>
              </a:lnSpc>
            </a:pPr>
            <a:r>
              <a:rPr kumimoji="0" lang="zh-CN" altLang="zh-CN" sz="2000" b="1" i="0" u="none" strike="noStrike" cap="none" normalizeH="0" baseline="0" dirty="0">
                <a:ln>
                  <a:noFill/>
                </a:ln>
                <a:solidFill>
                  <a:srgbClr val="BCBEC4"/>
                </a:solidFill>
                <a:effectLst/>
                <a:latin typeface="Arial Unicode MS"/>
                <a:ea typeface="JetBrains Mono"/>
              </a:rPr>
              <a:t>x = df.drop(</a:t>
            </a:r>
            <a:r>
              <a:rPr kumimoji="0" lang="zh-CN" altLang="zh-CN" sz="2000" b="1" i="0" u="none" strike="noStrike" cap="none" normalizeH="0" baseline="0" dirty="0">
                <a:ln>
                  <a:noFill/>
                </a:ln>
                <a:solidFill>
                  <a:srgbClr val="AA4926"/>
                </a:solidFill>
                <a:effectLst/>
                <a:latin typeface="Arial Unicode MS"/>
                <a:ea typeface="JetBrains Mono"/>
              </a:rPr>
              <a:t>columns</a:t>
            </a:r>
            <a:r>
              <a:rPr kumimoji="0" lang="zh-CN" altLang="zh-CN" sz="2000" b="1" i="0" u="none" strike="noStrike" cap="none" normalizeH="0" baseline="0" dirty="0">
                <a:ln>
                  <a:noFill/>
                </a:ln>
                <a:solidFill>
                  <a:srgbClr val="BCBEC4"/>
                </a:solidFill>
                <a:effectLst/>
                <a:latin typeface="Arial Unicode MS"/>
                <a:ea typeface="JetBrains Mono"/>
              </a:rPr>
              <a:t>= [</a:t>
            </a:r>
            <a:r>
              <a:rPr kumimoji="0" lang="zh-CN" altLang="zh-CN" sz="2000" b="1" i="0" u="none" strike="noStrike" cap="none" normalizeH="0" baseline="0" dirty="0">
                <a:ln>
                  <a:noFill/>
                </a:ln>
                <a:solidFill>
                  <a:srgbClr val="6AAB73"/>
                </a:solidFill>
                <a:effectLst/>
                <a:latin typeface="Arial Unicode MS"/>
                <a:ea typeface="JetBrains Mono"/>
              </a:rPr>
              <a:t>'</a:t>
            </a:r>
            <a:r>
              <a:rPr kumimoji="0" lang="zh-CN" altLang="zh-CN" sz="2000" b="1" i="0" u="none" strike="noStrike" cap="none" normalizeH="0" baseline="0" dirty="0">
                <a:ln>
                  <a:noFill/>
                </a:ln>
                <a:solidFill>
                  <a:srgbClr val="6AAB73"/>
                </a:solidFill>
                <a:effectLst/>
                <a:latin typeface="宋体" panose="02010600030101010101" pitchFamily="2" charset="-122"/>
                <a:ea typeface="宋体" panose="02010600030101010101" pitchFamily="2" charset="-122"/>
              </a:rPr>
              <a:t>肿瘤性质</a:t>
            </a:r>
            <a:r>
              <a:rPr kumimoji="0" lang="zh-CN" altLang="zh-CN" sz="2000" b="1" i="0" u="none" strike="noStrike" cap="none" normalizeH="0" baseline="0" dirty="0">
                <a:ln>
                  <a:noFill/>
                </a:ln>
                <a:solidFill>
                  <a:srgbClr val="6AAB73"/>
                </a:solidFill>
                <a:effectLst/>
                <a:latin typeface="Arial Unicode MS"/>
                <a:ea typeface="JetBrains Mono"/>
              </a:rPr>
              <a:t>'</a:t>
            </a:r>
            <a:r>
              <a:rPr kumimoji="0" lang="zh-CN" altLang="zh-CN" sz="2000" b="1" i="0" u="none" strike="noStrike" cap="none" normalizeH="0" baseline="0" dirty="0">
                <a:ln>
                  <a:noFill/>
                </a:ln>
                <a:solidFill>
                  <a:srgbClr val="BCBEC4"/>
                </a:solidFill>
                <a:effectLst/>
                <a:latin typeface="Arial Unicode MS"/>
                <a:ea typeface="JetBrains Mono"/>
              </a:rPr>
              <a:t>]) </a:t>
            </a: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确定特征列</a:t>
            </a:r>
            <a:b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br>
            <a:r>
              <a:rPr kumimoji="0" lang="zh-CN" altLang="zh-CN" sz="2000" b="1" i="0" u="none" strike="noStrike" cap="none" normalizeH="0" baseline="0" dirty="0">
                <a:ln>
                  <a:noFill/>
                </a:ln>
                <a:solidFill>
                  <a:srgbClr val="BCBEC4"/>
                </a:solidFill>
                <a:effectLst/>
                <a:latin typeface="Arial Unicode MS"/>
                <a:ea typeface="JetBrains Mono"/>
              </a:rPr>
              <a:t>y = df[</a:t>
            </a:r>
            <a:r>
              <a:rPr kumimoji="0" lang="zh-CN" altLang="zh-CN" sz="2000" b="1" i="0" u="none" strike="noStrike" cap="none" normalizeH="0" baseline="0" dirty="0">
                <a:ln>
                  <a:noFill/>
                </a:ln>
                <a:solidFill>
                  <a:srgbClr val="6AAB73"/>
                </a:solidFill>
                <a:effectLst/>
                <a:latin typeface="Arial Unicode MS"/>
                <a:ea typeface="JetBrains Mono"/>
              </a:rPr>
              <a:t>'</a:t>
            </a:r>
            <a:r>
              <a:rPr kumimoji="0" lang="zh-CN" altLang="zh-CN" sz="2000" b="1" i="0" u="none" strike="noStrike" cap="none" normalizeH="0" baseline="0" dirty="0">
                <a:ln>
                  <a:noFill/>
                </a:ln>
                <a:solidFill>
                  <a:srgbClr val="6AAB73"/>
                </a:solidFill>
                <a:effectLst/>
                <a:latin typeface="宋体" panose="02010600030101010101" pitchFamily="2" charset="-122"/>
                <a:ea typeface="宋体" panose="02010600030101010101" pitchFamily="2" charset="-122"/>
              </a:rPr>
              <a:t>肿瘤性质</a:t>
            </a:r>
            <a:r>
              <a:rPr kumimoji="0" lang="zh-CN" altLang="zh-CN" sz="2000" b="1" i="0" u="none" strike="noStrike" cap="none" normalizeH="0" baseline="0" dirty="0">
                <a:ln>
                  <a:noFill/>
                </a:ln>
                <a:solidFill>
                  <a:srgbClr val="6AAB73"/>
                </a:solidFill>
                <a:effectLst/>
                <a:latin typeface="Arial Unicode MS"/>
                <a:ea typeface="JetBrains Mono"/>
              </a:rPr>
              <a:t>'</a:t>
            </a:r>
            <a:r>
              <a:rPr kumimoji="0" lang="zh-CN" altLang="zh-CN" sz="2000" b="1" i="0" u="none" strike="noStrike" cap="none" normalizeH="0" baseline="0" dirty="0">
                <a:ln>
                  <a:noFill/>
                </a:ln>
                <a:solidFill>
                  <a:srgbClr val="BCBEC4"/>
                </a:solidFill>
                <a:effectLst/>
                <a:latin typeface="Arial Unicode MS"/>
                <a:ea typeface="JetBrains Mono"/>
              </a:rPr>
              <a:t>]                 </a:t>
            </a:r>
            <a:r>
              <a:rPr kumimoji="0" lang="en-US" altLang="zh-CN" sz="2000" b="1" i="0" u="none" strike="noStrike" cap="none" normalizeH="0" baseline="0" dirty="0">
                <a:ln>
                  <a:noFill/>
                </a:ln>
                <a:solidFill>
                  <a:srgbClr val="BCBEC4"/>
                </a:solidFill>
                <a:effectLst/>
                <a:latin typeface="Arial Unicode MS"/>
                <a:ea typeface="JetBrains Mono"/>
              </a:rPr>
              <a:t>           </a:t>
            </a: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确定标签列</a:t>
            </a:r>
            <a:b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br>
            <a:r>
              <a:rPr kumimoji="0" lang="zh-CN" altLang="zh-CN" sz="2000" b="1" i="0" u="none" strike="noStrike" cap="none" normalizeH="0" baseline="0" dirty="0">
                <a:ln>
                  <a:noFill/>
                </a:ln>
                <a:solidFill>
                  <a:srgbClr val="CF8E6D"/>
                </a:solidFill>
                <a:effectLst/>
                <a:latin typeface="Arial Unicode MS"/>
                <a:ea typeface="JetBrains Mono"/>
              </a:rPr>
              <a:t>from </a:t>
            </a:r>
            <a:r>
              <a:rPr kumimoji="0" lang="zh-CN" altLang="zh-CN" sz="2000" b="1" i="0" u="none" strike="noStrike" cap="none" normalizeH="0" baseline="0" dirty="0">
                <a:ln>
                  <a:noFill/>
                </a:ln>
                <a:solidFill>
                  <a:srgbClr val="BCBEC4"/>
                </a:solidFill>
                <a:effectLst/>
                <a:latin typeface="Arial Unicode MS"/>
                <a:ea typeface="JetBrains Mono"/>
              </a:rPr>
              <a:t>sklearn.model_selection </a:t>
            </a:r>
            <a:r>
              <a:rPr kumimoji="0" lang="zh-CN" altLang="zh-CN" sz="2000" b="1" i="0" u="none" strike="noStrike" cap="none" normalizeH="0" baseline="0" dirty="0">
                <a:ln>
                  <a:noFill/>
                </a:ln>
                <a:solidFill>
                  <a:srgbClr val="CF8E6D"/>
                </a:solidFill>
                <a:effectLst/>
                <a:latin typeface="Arial Unicode MS"/>
                <a:ea typeface="JetBrains Mono"/>
              </a:rPr>
              <a:t>import </a:t>
            </a:r>
            <a:r>
              <a:rPr kumimoji="0" lang="zh-CN" altLang="zh-CN" sz="2000" b="1" i="0" u="none" strike="noStrike" cap="none" normalizeH="0" baseline="0" dirty="0">
                <a:ln>
                  <a:noFill/>
                </a:ln>
                <a:solidFill>
                  <a:srgbClr val="BCBEC4"/>
                </a:solidFill>
                <a:effectLst/>
                <a:latin typeface="Arial Unicode MS"/>
                <a:ea typeface="JetBrains Mono"/>
              </a:rPr>
              <a:t>train_test_split</a:t>
            </a:r>
            <a:br>
              <a:rPr kumimoji="0" lang="zh-CN" altLang="zh-CN" sz="2000" b="1" i="0" u="none" strike="noStrike" cap="none" normalizeH="0" baseline="0" dirty="0">
                <a:ln>
                  <a:noFill/>
                </a:ln>
                <a:solidFill>
                  <a:srgbClr val="BCBEC4"/>
                </a:solidFill>
                <a:effectLst/>
                <a:latin typeface="Arial Unicode MS"/>
                <a:ea typeface="JetBrains Mono"/>
              </a:rPr>
            </a:b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这个函数是用来划分训练集和测试集的</a:t>
            </a:r>
            <a:b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br>
            <a:r>
              <a:rPr kumimoji="0" lang="zh-CN" altLang="zh-CN" sz="2000" b="1" i="0" u="none" strike="noStrike" cap="none" normalizeH="0" baseline="0" dirty="0">
                <a:ln>
                  <a:noFill/>
                </a:ln>
                <a:solidFill>
                  <a:srgbClr val="BCBEC4"/>
                </a:solidFill>
                <a:effectLst/>
                <a:latin typeface="Arial Unicode MS"/>
                <a:ea typeface="JetBrains Mono"/>
              </a:rPr>
              <a:t>X_train,X_test,y_train,y_test = train_test_split(x,y,</a:t>
            </a:r>
            <a:r>
              <a:rPr kumimoji="0" lang="zh-CN" altLang="zh-CN" sz="2000" b="1" i="0" u="none" strike="noStrike" cap="none" normalizeH="0" baseline="0" dirty="0">
                <a:ln>
                  <a:noFill/>
                </a:ln>
                <a:solidFill>
                  <a:srgbClr val="AA4926"/>
                </a:solidFill>
                <a:effectLst/>
                <a:latin typeface="Arial Unicode MS"/>
                <a:ea typeface="JetBrains Mono"/>
              </a:rPr>
              <a:t>test_size</a:t>
            </a:r>
            <a:r>
              <a:rPr kumimoji="0" lang="zh-CN" altLang="zh-CN" sz="2000" b="1" i="0" u="none" strike="noStrike" cap="none" normalizeH="0" baseline="0" dirty="0">
                <a:ln>
                  <a:noFill/>
                </a:ln>
                <a:solidFill>
                  <a:srgbClr val="BCBEC4"/>
                </a:solidFill>
                <a:effectLst/>
                <a:latin typeface="Arial Unicode MS"/>
                <a:ea typeface="JetBrains Mono"/>
              </a:rPr>
              <a:t>= </a:t>
            </a:r>
            <a:r>
              <a:rPr kumimoji="0" lang="zh-CN" altLang="zh-CN" sz="2000" b="1" i="0" u="none" strike="noStrike" cap="none" normalizeH="0" baseline="0" dirty="0">
                <a:ln>
                  <a:noFill/>
                </a:ln>
                <a:solidFill>
                  <a:srgbClr val="2AACB8"/>
                </a:solidFill>
                <a:effectLst/>
                <a:latin typeface="Arial Unicode MS"/>
                <a:ea typeface="JetBrains Mono"/>
              </a:rPr>
              <a:t>0.33</a:t>
            </a:r>
            <a:r>
              <a:rPr kumimoji="0" lang="zh-CN" altLang="zh-CN" sz="2000" b="1" i="0" u="none" strike="noStrike" cap="none" normalizeH="0" baseline="0" dirty="0">
                <a:ln>
                  <a:noFill/>
                </a:ln>
                <a:solidFill>
                  <a:srgbClr val="BCBEC4"/>
                </a:solidFill>
                <a:effectLst/>
                <a:latin typeface="Arial Unicode MS"/>
                <a:ea typeface="JetBrains Mono"/>
              </a:rPr>
              <a:t>,</a:t>
            </a:r>
            <a:r>
              <a:rPr kumimoji="0" lang="zh-CN" altLang="zh-CN" sz="2000" b="1" i="0" u="none" strike="noStrike" cap="none" normalizeH="0" baseline="0" dirty="0">
                <a:ln>
                  <a:noFill/>
                </a:ln>
                <a:solidFill>
                  <a:srgbClr val="AA4926"/>
                </a:solidFill>
                <a:effectLst/>
                <a:latin typeface="Arial Unicode MS"/>
                <a:ea typeface="JetBrains Mono"/>
              </a:rPr>
              <a:t>random_state </a:t>
            </a:r>
            <a:r>
              <a:rPr kumimoji="0" lang="zh-CN" altLang="zh-CN" sz="2000" b="1" i="0" u="none" strike="noStrike" cap="none" normalizeH="0" baseline="0" dirty="0">
                <a:ln>
                  <a:noFill/>
                </a:ln>
                <a:solidFill>
                  <a:srgbClr val="BCBEC4"/>
                </a:solidFill>
                <a:effectLst/>
                <a:latin typeface="Arial Unicode MS"/>
                <a:ea typeface="JetBrains Mono"/>
              </a:rPr>
              <a:t>= </a:t>
            </a:r>
            <a:r>
              <a:rPr kumimoji="0" lang="zh-CN" altLang="zh-CN" sz="2000" b="1" i="0" u="none" strike="noStrike" cap="none" normalizeH="0" baseline="0" dirty="0">
                <a:ln>
                  <a:noFill/>
                </a:ln>
                <a:solidFill>
                  <a:srgbClr val="2AACB8"/>
                </a:solidFill>
                <a:effectLst/>
                <a:latin typeface="Arial Unicode MS"/>
                <a:ea typeface="JetBrains Mono"/>
              </a:rPr>
              <a:t>42</a:t>
            </a:r>
            <a:r>
              <a:rPr kumimoji="0" lang="zh-CN" altLang="zh-CN" sz="2000" b="1" i="0" u="none" strike="noStrike" cap="none" normalizeH="0" baseline="0" dirty="0">
                <a:ln>
                  <a:noFill/>
                </a:ln>
                <a:solidFill>
                  <a:srgbClr val="BCBEC4"/>
                </a:solidFill>
                <a:effectLst/>
                <a:latin typeface="Arial Unicode MS"/>
                <a:ea typeface="JetBrains Mono"/>
              </a:rPr>
              <a:t>)</a:t>
            </a:r>
            <a:br>
              <a:rPr kumimoji="0" lang="zh-CN" altLang="zh-CN" sz="2000" b="1" i="0" u="none" strike="noStrike" cap="none" normalizeH="0" baseline="0" dirty="0">
                <a:ln>
                  <a:noFill/>
                </a:ln>
                <a:solidFill>
                  <a:srgbClr val="BCBEC4"/>
                </a:solidFill>
                <a:effectLst/>
                <a:latin typeface="Arial Unicode MS"/>
                <a:ea typeface="JetBrains Mono"/>
              </a:rPr>
            </a:b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导入朴素贝叶斯模型，这里选用高斯分类器</a:t>
            </a:r>
            <a:endParaRPr kumimoji="0" lang="en-US" altLang="zh-CN" sz="2000" b="1" i="0" u="none" strike="noStrike" cap="none" normalizeH="0" baseline="0" dirty="0">
              <a:ln>
                <a:noFill/>
              </a:ln>
              <a:solidFill>
                <a:srgbClr val="BCBEC4"/>
              </a:solidFill>
              <a:effectLst/>
              <a:latin typeface="Arial Unicode MS"/>
              <a:ea typeface="JetBrains Mono"/>
            </a:endParaRPr>
          </a:p>
          <a:p>
            <a:pPr>
              <a:lnSpc>
                <a:spcPct val="150000"/>
              </a:lnSpc>
            </a:pPr>
            <a:r>
              <a:rPr kumimoji="0" lang="zh-CN" altLang="zh-CN" sz="2000" b="1" i="0" u="none" strike="noStrike" cap="none" normalizeH="0" baseline="0" dirty="0">
                <a:ln>
                  <a:noFill/>
                </a:ln>
                <a:solidFill>
                  <a:srgbClr val="CF8E6D"/>
                </a:solidFill>
                <a:effectLst/>
                <a:latin typeface="Arial Unicode MS"/>
                <a:ea typeface="JetBrains Mono"/>
              </a:rPr>
              <a:t>from </a:t>
            </a:r>
            <a:r>
              <a:rPr kumimoji="0" lang="zh-CN" altLang="zh-CN" sz="2000" b="1" i="0" u="none" strike="noStrike" cap="none" normalizeH="0" baseline="0" dirty="0">
                <a:ln>
                  <a:noFill/>
                </a:ln>
                <a:solidFill>
                  <a:srgbClr val="BCBEC4"/>
                </a:solidFill>
                <a:effectLst/>
                <a:latin typeface="Arial Unicode MS"/>
                <a:ea typeface="JetBrains Mono"/>
              </a:rPr>
              <a:t>sklearn.naive_bayes </a:t>
            </a:r>
            <a:r>
              <a:rPr kumimoji="0" lang="zh-CN" altLang="zh-CN" sz="2000" b="1" i="0" u="none" strike="noStrike" cap="none" normalizeH="0" baseline="0" dirty="0">
                <a:ln>
                  <a:noFill/>
                </a:ln>
                <a:solidFill>
                  <a:srgbClr val="CF8E6D"/>
                </a:solidFill>
                <a:effectLst/>
                <a:latin typeface="Arial Unicode MS"/>
                <a:ea typeface="JetBrains Mono"/>
              </a:rPr>
              <a:t>import </a:t>
            </a:r>
            <a:r>
              <a:rPr kumimoji="0" lang="zh-CN" altLang="zh-CN" sz="2000" b="1" i="0" u="none" strike="noStrike" cap="none" normalizeH="0" baseline="0" dirty="0">
                <a:ln>
                  <a:noFill/>
                </a:ln>
                <a:solidFill>
                  <a:srgbClr val="BCBEC4"/>
                </a:solidFill>
                <a:effectLst/>
                <a:latin typeface="Arial Unicode MS"/>
                <a:ea typeface="JetBrains Mono"/>
              </a:rPr>
              <a:t>GaussianNB</a:t>
            </a:r>
            <a:b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br>
            <a:r>
              <a:rPr kumimoji="0" lang="zh-CN" altLang="zh-CN" sz="2000" b="1" i="0" u="none" strike="noStrike" cap="none" normalizeH="0" baseline="0" dirty="0">
                <a:ln>
                  <a:noFill/>
                </a:ln>
                <a:solidFill>
                  <a:srgbClr val="BCBEC4"/>
                </a:solidFill>
                <a:effectLst/>
                <a:latin typeface="Arial Unicode MS"/>
                <a:ea typeface="JetBrains Mono"/>
              </a:rPr>
              <a:t>model = GaussianNB()</a:t>
            </a:r>
            <a:br>
              <a:rPr kumimoji="0" lang="zh-CN" altLang="zh-CN" sz="2000" b="1" i="0" u="none" strike="noStrike" cap="none" normalizeH="0" baseline="0" dirty="0">
                <a:ln>
                  <a:noFill/>
                </a:ln>
                <a:solidFill>
                  <a:srgbClr val="BCBEC4"/>
                </a:solidFill>
                <a:effectLst/>
                <a:latin typeface="Arial Unicode MS"/>
                <a:ea typeface="JetBrains Mono"/>
              </a:rPr>
            </a:br>
            <a:r>
              <a:rPr kumimoji="0" lang="zh-CN" altLang="zh-CN" sz="2000" b="1" i="0" u="none" strike="noStrike" cap="none" normalizeH="0" baseline="0" dirty="0">
                <a:ln>
                  <a:noFill/>
                </a:ln>
                <a:solidFill>
                  <a:srgbClr val="BCBEC4"/>
                </a:solidFill>
                <a:effectLst/>
                <a:latin typeface="Arial Unicode MS"/>
                <a:ea typeface="JetBrains Mono"/>
              </a:rPr>
              <a:t>model.fit(X_train,y_train)</a:t>
            </a: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调用</a:t>
            </a:r>
            <a:r>
              <a:rPr kumimoji="0" lang="zh-CN" altLang="zh-CN" sz="2000" b="1" i="0" u="none" strike="noStrike" cap="none" normalizeH="0" baseline="0" dirty="0">
                <a:ln>
                  <a:noFill/>
                </a:ln>
                <a:solidFill>
                  <a:srgbClr val="7A7E85"/>
                </a:solidFill>
                <a:effectLst/>
                <a:latin typeface="Arial Unicode MS"/>
                <a:ea typeface="JetBrains Mono"/>
              </a:rPr>
              <a:t>fit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方法自动完成模型训练</a:t>
            </a:r>
            <a:b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br>
            <a:r>
              <a:rPr kumimoji="0" lang="zh-CN" altLang="zh-CN" sz="2000" b="1" i="0" u="none" strike="noStrike" cap="none" normalizeH="0" baseline="0" dirty="0">
                <a:ln>
                  <a:noFill/>
                </a:ln>
                <a:solidFill>
                  <a:srgbClr val="BCBEC4"/>
                </a:solidFill>
                <a:effectLst/>
                <a:latin typeface="Arial Unicode MS"/>
                <a:ea typeface="JetBrains Mono"/>
              </a:rPr>
              <a:t>y_test_pred = model.predict(X_test) </a:t>
            </a: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对测试集进行预测</a:t>
            </a:r>
            <a:b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br>
            <a:r>
              <a:rPr kumimoji="0" lang="zh-CN" altLang="zh-CN" sz="2000" b="1" i="0" u="none" strike="noStrike" cap="none" normalizeH="0" baseline="0" dirty="0">
                <a:ln>
                  <a:noFill/>
                </a:ln>
                <a:solidFill>
                  <a:srgbClr val="8888C6"/>
                </a:solidFill>
                <a:effectLst/>
                <a:latin typeface="Arial Unicode MS"/>
                <a:ea typeface="JetBrains Mono"/>
              </a:rPr>
              <a:t>print</a:t>
            </a:r>
            <a:r>
              <a:rPr kumimoji="0" lang="zh-CN" altLang="zh-CN" sz="2000" b="1" i="0" u="none" strike="noStrike" cap="none" normalizeH="0" baseline="0" dirty="0">
                <a:ln>
                  <a:noFill/>
                </a:ln>
                <a:solidFill>
                  <a:srgbClr val="BCBEC4"/>
                </a:solidFill>
                <a:effectLst/>
                <a:latin typeface="Arial Unicode MS"/>
                <a:ea typeface="JetBrains Mono"/>
              </a:rPr>
              <a:t>(</a:t>
            </a:r>
            <a:r>
              <a:rPr kumimoji="0" lang="zh-CN" altLang="zh-CN" sz="2000" b="1" i="0" u="none" strike="noStrike" cap="none" normalizeH="0" baseline="0" dirty="0">
                <a:ln>
                  <a:noFill/>
                </a:ln>
                <a:solidFill>
                  <a:srgbClr val="6AAB73"/>
                </a:solidFill>
                <a:effectLst/>
                <a:latin typeface="Arial Unicode MS"/>
                <a:ea typeface="JetBrains Mono"/>
              </a:rPr>
              <a:t>"y_tset_pred:"</a:t>
            </a:r>
            <a:r>
              <a:rPr kumimoji="0" lang="zh-CN" altLang="zh-CN" sz="2000" b="1" i="0" u="none" strike="noStrike" cap="none" normalizeH="0" baseline="0" dirty="0">
                <a:ln>
                  <a:noFill/>
                </a:ln>
                <a:solidFill>
                  <a:srgbClr val="BCBEC4"/>
                </a:solidFill>
                <a:effectLst/>
                <a:latin typeface="Arial Unicode MS"/>
                <a:ea typeface="JetBrains Mono"/>
              </a:rPr>
              <a:t>,y_test_pred)</a:t>
            </a:r>
            <a:r>
              <a:rPr kumimoji="0" lang="zh-CN" altLang="zh-CN" sz="2000" b="1" i="0" u="none" strike="noStrike" cap="none" normalizeH="0" baseline="0" dirty="0">
                <a:ln>
                  <a:noFill/>
                </a:ln>
                <a:solidFill>
                  <a:srgbClr val="7A7E85"/>
                </a:solidFill>
                <a:effectLst/>
                <a:latin typeface="Arial Unicode MS"/>
                <a:ea typeface="JetBrains Mono"/>
              </a:rPr>
              <a:t>#</a:t>
            </a:r>
            <a:r>
              <a:rPr kumimoji="0" lang="zh-CN" altLang="zh-CN" sz="2000" b="1" i="0" u="none" strike="noStrike" cap="none" normalizeH="0" baseline="0" dirty="0">
                <a:ln>
                  <a:noFill/>
                </a:ln>
                <a:solidFill>
                  <a:srgbClr val="7A7E85"/>
                </a:solidFill>
                <a:effectLst/>
                <a:latin typeface="宋体" panose="02010600030101010101" pitchFamily="2" charset="-122"/>
                <a:ea typeface="宋体" panose="02010600030101010101" pitchFamily="2" charset="-122"/>
              </a:rPr>
              <a:t>输出预测值</a:t>
            </a:r>
            <a:endParaRPr kumimoji="0" lang="zh-CN" altLang="zh-CN" sz="2000" b="1" i="0" u="none" strike="noStrike" cap="none" normalizeH="0" baseline="0" dirty="0">
              <a:ln>
                <a:noFill/>
              </a:ln>
              <a:solidFill>
                <a:schemeClr val="tx1"/>
              </a:solidFill>
              <a:effectLst/>
              <a:latin typeface="Arial" panose="020B0604020202020204" pitchFamily="34" charset="0"/>
            </a:endParaRPr>
          </a:p>
          <a:p>
            <a:pPr>
              <a:lnSpc>
                <a:spcPct val="150000"/>
              </a:lnSpc>
            </a:pPr>
            <a:endParaRPr lang="zh-CN" altLang="en-US" sz="2000" dirty="0"/>
          </a:p>
        </p:txBody>
      </p:sp>
    </p:spTree>
    <p:extLst>
      <p:ext uri="{BB962C8B-B14F-4D97-AF65-F5344CB8AC3E}">
        <p14:creationId xmlns:p14="http://schemas.microsoft.com/office/powerpoint/2010/main" val="8206666"/>
      </p:ext>
    </p:extLst>
  </p:cSld>
  <p:clrMapOvr>
    <a:masterClrMapping/>
  </p:clrMapOvr>
  <p:transition spd="slow">
    <p:push di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0" y="449464"/>
            <a:ext cx="12192000" cy="830997"/>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800" dirty="0">
                <a:solidFill>
                  <a:srgbClr val="44546A"/>
                </a:solidFill>
              </a:rPr>
              <a:t>课程总结</a:t>
            </a:r>
          </a:p>
        </p:txBody>
      </p:sp>
      <p:sp>
        <p:nvSpPr>
          <p:cNvPr id="2" name="文本框 1"/>
          <p:cNvSpPr txBox="1"/>
          <p:nvPr/>
        </p:nvSpPr>
        <p:spPr>
          <a:xfrm>
            <a:off x="1674283" y="1727381"/>
            <a:ext cx="8843435" cy="523220"/>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2800" dirty="0">
                <a:solidFill>
                  <a:srgbClr val="44546A"/>
                </a:solidFill>
              </a:rPr>
              <a:t>人工智能</a:t>
            </a:r>
            <a:r>
              <a:rPr lang="en-US" altLang="zh-CN" sz="2800" dirty="0">
                <a:solidFill>
                  <a:srgbClr val="44546A"/>
                </a:solidFill>
              </a:rPr>
              <a:t>AI</a:t>
            </a:r>
            <a:r>
              <a:rPr lang="zh-CN" altLang="en-US" sz="2800" dirty="0">
                <a:solidFill>
                  <a:srgbClr val="44546A"/>
                </a:solidFill>
              </a:rPr>
              <a:t>训练师高级（三级）技能培训班</a:t>
            </a:r>
          </a:p>
        </p:txBody>
      </p:sp>
      <p:sp>
        <p:nvSpPr>
          <p:cNvPr id="3" name="文本框 2">
            <a:extLst>
              <a:ext uri="{FF2B5EF4-FFF2-40B4-BE49-F238E27FC236}">
                <a16:creationId xmlns:a16="http://schemas.microsoft.com/office/drawing/2014/main" id="{DE2878AA-C3F4-2AEB-CE5A-822F527DD310}"/>
              </a:ext>
            </a:extLst>
          </p:cNvPr>
          <p:cNvSpPr txBox="1"/>
          <p:nvPr/>
        </p:nvSpPr>
        <p:spPr>
          <a:xfrm>
            <a:off x="1217788" y="2483567"/>
            <a:ext cx="10618612" cy="219566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l">
              <a:lnSpc>
                <a:spcPct val="200000"/>
              </a:lnSpc>
            </a:pPr>
            <a:r>
              <a:rPr lang="zh-CN" altLang="en-US" sz="2400" dirty="0">
                <a:solidFill>
                  <a:srgbClr val="44546A"/>
                </a:solidFill>
              </a:rPr>
              <a:t>第一天：人工智能概述、</a:t>
            </a:r>
            <a:r>
              <a:rPr lang="en-US" altLang="zh-CN" sz="2400" dirty="0">
                <a:solidFill>
                  <a:srgbClr val="44546A"/>
                </a:solidFill>
              </a:rPr>
              <a:t>AIGC</a:t>
            </a:r>
            <a:r>
              <a:rPr lang="zh-CN" altLang="en-US" sz="2400" dirty="0">
                <a:solidFill>
                  <a:srgbClr val="44546A"/>
                </a:solidFill>
              </a:rPr>
              <a:t>题词法、数据标注工程</a:t>
            </a:r>
            <a:endParaRPr lang="en-US" altLang="zh-CN" sz="2400" dirty="0">
              <a:solidFill>
                <a:srgbClr val="44546A"/>
              </a:solidFill>
            </a:endParaRPr>
          </a:p>
          <a:p>
            <a:pPr algn="l">
              <a:lnSpc>
                <a:spcPct val="200000"/>
              </a:lnSpc>
            </a:pPr>
            <a:r>
              <a:rPr lang="zh-CN" altLang="en-US" sz="2400" dirty="0">
                <a:solidFill>
                  <a:srgbClr val="44546A"/>
                </a:solidFill>
              </a:rPr>
              <a:t>第二天：数据库操作、数据分析、</a:t>
            </a:r>
            <a:r>
              <a:rPr lang="en-US" altLang="zh-CN" sz="2400" dirty="0">
                <a:solidFill>
                  <a:srgbClr val="44546A"/>
                </a:solidFill>
              </a:rPr>
              <a:t>SQL</a:t>
            </a:r>
            <a:r>
              <a:rPr lang="zh-CN" altLang="en-US" sz="2400" dirty="0">
                <a:solidFill>
                  <a:srgbClr val="44546A"/>
                </a:solidFill>
              </a:rPr>
              <a:t>语法、智能系统设计等</a:t>
            </a:r>
            <a:endParaRPr lang="en-US" altLang="zh-CN" sz="2400" dirty="0">
              <a:solidFill>
                <a:srgbClr val="44546A"/>
              </a:solidFill>
            </a:endParaRPr>
          </a:p>
          <a:p>
            <a:pPr algn="l">
              <a:lnSpc>
                <a:spcPct val="200000"/>
              </a:lnSpc>
            </a:pPr>
            <a:r>
              <a:rPr lang="zh-CN" altLang="en-US" sz="2400" dirty="0">
                <a:solidFill>
                  <a:srgbClr val="44546A"/>
                </a:solidFill>
              </a:rPr>
              <a:t>第三天：</a:t>
            </a:r>
            <a:r>
              <a:rPr lang="en-US" altLang="zh-CN" sz="2400" dirty="0">
                <a:solidFill>
                  <a:srgbClr val="44546A"/>
                </a:solidFill>
              </a:rPr>
              <a:t>Python</a:t>
            </a:r>
            <a:r>
              <a:rPr lang="zh-CN" altLang="en-US" sz="2400" dirty="0">
                <a:solidFill>
                  <a:srgbClr val="44546A"/>
                </a:solidFill>
              </a:rPr>
              <a:t>基础、</a:t>
            </a:r>
            <a:r>
              <a:rPr lang="en-US" altLang="zh-CN" sz="2400" dirty="0">
                <a:solidFill>
                  <a:srgbClr val="44546A"/>
                </a:solidFill>
              </a:rPr>
              <a:t>AI</a:t>
            </a:r>
            <a:r>
              <a:rPr lang="zh-CN" altLang="en-US" sz="2400" dirty="0">
                <a:solidFill>
                  <a:srgbClr val="44546A"/>
                </a:solidFill>
              </a:rPr>
              <a:t>模拟训练、人机交互设计等</a:t>
            </a:r>
          </a:p>
        </p:txBody>
      </p:sp>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1123406" y="1492240"/>
            <a:ext cx="9945188" cy="3416320"/>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7200" b="0" dirty="0">
                <a:solidFill>
                  <a:srgbClr val="C00000"/>
                </a:solidFill>
                <a:latin typeface="华文行楷" panose="02010800040101010101" pitchFamily="2" charset="-122"/>
                <a:ea typeface="华文行楷" panose="02010800040101010101" pitchFamily="2" charset="-122"/>
              </a:rPr>
              <a:t>在 </a:t>
            </a:r>
            <a:r>
              <a:rPr lang="en-US" altLang="zh-CN" sz="7200" b="0" dirty="0">
                <a:solidFill>
                  <a:srgbClr val="C00000"/>
                </a:solidFill>
                <a:latin typeface="华文行楷" panose="02010800040101010101" pitchFamily="2" charset="-122"/>
                <a:ea typeface="华文行楷" panose="02010800040101010101" pitchFamily="2" charset="-122"/>
              </a:rPr>
              <a:t>AI </a:t>
            </a:r>
            <a:r>
              <a:rPr lang="zh-CN" altLang="en-US" sz="7200" b="0" dirty="0">
                <a:solidFill>
                  <a:srgbClr val="C00000"/>
                </a:solidFill>
                <a:latin typeface="华文行楷" panose="02010800040101010101" pitchFamily="2" charset="-122"/>
                <a:ea typeface="华文行楷" panose="02010800040101010101" pitchFamily="2" charset="-122"/>
              </a:rPr>
              <a:t>浪潮中破浪前行</a:t>
            </a:r>
            <a:endParaRPr lang="en-US" altLang="zh-CN" sz="7200" b="0" dirty="0">
              <a:solidFill>
                <a:srgbClr val="C00000"/>
              </a:solidFill>
              <a:latin typeface="华文行楷" panose="02010800040101010101" pitchFamily="2" charset="-122"/>
              <a:ea typeface="华文行楷" panose="02010800040101010101" pitchFamily="2" charset="-122"/>
            </a:endParaRPr>
          </a:p>
          <a:p>
            <a:r>
              <a:rPr lang="zh-CN" altLang="en-US" sz="7200" b="0" dirty="0">
                <a:solidFill>
                  <a:srgbClr val="C00000"/>
                </a:solidFill>
                <a:latin typeface="华文行楷" panose="02010800040101010101" pitchFamily="2" charset="-122"/>
                <a:ea typeface="华文行楷" panose="02010800040101010101" pitchFamily="2" charset="-122"/>
              </a:rPr>
              <a:t>不断超越自我</a:t>
            </a:r>
            <a:endParaRPr lang="en-US" altLang="zh-CN" sz="7200" b="0" dirty="0">
              <a:solidFill>
                <a:srgbClr val="C00000"/>
              </a:solidFill>
              <a:latin typeface="华文行楷" panose="02010800040101010101" pitchFamily="2" charset="-122"/>
              <a:ea typeface="华文行楷" panose="02010800040101010101" pitchFamily="2" charset="-122"/>
            </a:endParaRPr>
          </a:p>
          <a:p>
            <a:r>
              <a:rPr lang="zh-CN" altLang="en-US" sz="7200" b="0" dirty="0">
                <a:solidFill>
                  <a:srgbClr val="C00000"/>
                </a:solidFill>
                <a:latin typeface="华文行楷" panose="02010800040101010101" pitchFamily="2" charset="-122"/>
                <a:ea typeface="华文行楷" panose="02010800040101010101" pitchFamily="2" charset="-122"/>
              </a:rPr>
              <a:t>遇见更强大的自己 </a:t>
            </a:r>
          </a:p>
        </p:txBody>
      </p:sp>
    </p:spTree>
    <p:extLst>
      <p:ext uri="{BB962C8B-B14F-4D97-AF65-F5344CB8AC3E}">
        <p14:creationId xmlns:p14="http://schemas.microsoft.com/office/powerpoint/2010/main" val="269499952"/>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519385" y="2277639"/>
            <a:ext cx="3263445" cy="830997"/>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sz="4800" kern="0" dirty="0">
                <a:solidFill>
                  <a:schemeClr val="tx1"/>
                </a:solidFill>
                <a:effectLst/>
              </a:rPr>
              <a:t>感谢遇见</a:t>
            </a:r>
            <a:endParaRPr kumimoji="0" lang="zh-CN" altLang="zh-CN" sz="4800" i="0" u="none" strike="noStrike" kern="0" cap="none" spc="0" normalizeH="0" baseline="0" noProof="0" dirty="0">
              <a:ln>
                <a:noFill/>
              </a:ln>
              <a:solidFill>
                <a:schemeClr val="tx1"/>
              </a:solidFill>
              <a:effectLst/>
              <a:uLnTx/>
              <a:uFillTx/>
            </a:endParaRPr>
          </a:p>
        </p:txBody>
      </p:sp>
      <p:sp>
        <p:nvSpPr>
          <p:cNvPr id="14" name="文本框 13"/>
          <p:cNvSpPr txBox="1"/>
          <p:nvPr/>
        </p:nvSpPr>
        <p:spPr>
          <a:xfrm>
            <a:off x="4519386" y="2997671"/>
            <a:ext cx="3727680" cy="523220"/>
          </a:xfrm>
          <a:prstGeom prst="rect">
            <a:avLst/>
          </a:prstGeom>
          <a:noFill/>
        </p:spPr>
        <p:txBody>
          <a:bodyPr wrap="square" rtlCol="0">
            <a:spAutoFit/>
          </a:bodyPr>
          <a:lstStyle/>
          <a:p>
            <a:r>
              <a:rPr lang="en-US" altLang="zh-CN" sz="2800" dirty="0">
                <a:solidFill>
                  <a:srgbClr val="44546A"/>
                </a:solidFill>
                <a:latin typeface="微软雅黑" panose="020B0503020204020204" pitchFamily="34" charset="-122"/>
                <a:ea typeface="微软雅黑 Light" panose="020B0502040204020203" pitchFamily="34" charset="-122"/>
              </a:rPr>
              <a:t>Thank you.</a:t>
            </a:r>
          </a:p>
        </p:txBody>
      </p:sp>
      <p:sp>
        <p:nvSpPr>
          <p:cNvPr id="15" name="圆角矩形 14"/>
          <p:cNvSpPr/>
          <p:nvPr/>
        </p:nvSpPr>
        <p:spPr>
          <a:xfrm>
            <a:off x="4624161" y="3503703"/>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2" name="PA_椭圆 15"/>
          <p:cNvSpPr>
            <a:spLocks noChangeAspect="1"/>
          </p:cNvSpPr>
          <p:nvPr>
            <p:custDataLst>
              <p:tags r:id="rId1"/>
            </p:custDataLst>
          </p:nvPr>
        </p:nvSpPr>
        <p:spPr>
          <a:xfrm>
            <a:off x="871786" y="963007"/>
            <a:ext cx="3484314" cy="3484314"/>
          </a:xfrm>
          <a:prstGeom prst="ellipse">
            <a:avLst/>
          </a:prstGeom>
          <a:gradFill flip="none" rotWithShape="1">
            <a:gsLst>
              <a:gs pos="0">
                <a:srgbClr val="03E790"/>
              </a:gs>
              <a:gs pos="100000">
                <a:srgbClr val="0070C0"/>
              </a:gs>
            </a:gsLst>
            <a:lin ang="2700000" scaled="1"/>
            <a:tileRect/>
          </a:gradFill>
          <a:ln>
            <a:noFill/>
          </a:ln>
          <a:effectLst>
            <a:innerShdw blurRad="1905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flipH="1">
            <a:off x="1127819" y="2080239"/>
            <a:ext cx="1666745" cy="1666751"/>
          </a:xfrm>
          <a:prstGeom prst="ellipse">
            <a:avLst/>
          </a:prstGeom>
          <a:solidFill>
            <a:srgbClr val="EFF1F5"/>
          </a:solidFill>
          <a:ln w="25400" cap="flat" cmpd="sng" algn="ctr">
            <a:noFill/>
            <a:prstDash val="solid"/>
            <a:miter lim="800000"/>
          </a:ln>
          <a:effectLst>
            <a:outerShdw blurRad="254000" dist="63500" dir="5400000" algn="t" rotWithShape="0">
              <a:prstClr val="black">
                <a:alpha val="30000"/>
              </a:prstClr>
            </a:outerShdw>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rgbClr val="000000">
                  <a:lumMod val="65000"/>
                  <a:lumOff val="35000"/>
                </a:srgbClr>
              </a:solidFill>
              <a:effectLst/>
              <a:uLnTx/>
              <a:uFillTx/>
              <a:latin typeface="Century Gothic" panose="020B0502020202020204" pitchFamily="34" charset="0"/>
              <a:ea typeface="方正正纤黑简体"/>
            </a:endParaRPr>
          </a:p>
        </p:txBody>
      </p:sp>
      <p:sp>
        <p:nvSpPr>
          <p:cNvPr id="24" name="文本框 23"/>
          <p:cNvSpPr txBox="1"/>
          <p:nvPr/>
        </p:nvSpPr>
        <p:spPr>
          <a:xfrm>
            <a:off x="712356" y="2423919"/>
            <a:ext cx="2603999" cy="923330"/>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5400" dirty="0">
                <a:solidFill>
                  <a:srgbClr val="44546A"/>
                </a:solidFill>
              </a:rPr>
              <a:t>结束</a:t>
            </a:r>
          </a:p>
        </p:txBody>
      </p:sp>
      <p:pic>
        <p:nvPicPr>
          <p:cNvPr id="26" name="图片 25"/>
          <p:cNvPicPr>
            <a:picLocks noChangeAspect="1"/>
          </p:cNvPicPr>
          <p:nvPr/>
        </p:nvPicPr>
        <p:blipFill>
          <a:blip r:embed="rId4"/>
          <a:stretch>
            <a:fillRect/>
          </a:stretch>
        </p:blipFill>
        <p:spPr>
          <a:xfrm>
            <a:off x="0" y="4787029"/>
            <a:ext cx="2794564" cy="20709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2" presetClass="entr" presetSubtype="2" decel="100000" fill="hold" grpId="1" nodeType="withEffect">
                                  <p:stCondLst>
                                    <p:cond delay="0"/>
                                  </p:stCondLst>
                                  <p:childTnLst>
                                    <p:set>
                                      <p:cBhvr>
                                        <p:cTn id="9" dur="1" fill="hold">
                                          <p:stCondLst>
                                            <p:cond delay="0"/>
                                          </p:stCondLst>
                                        </p:cTn>
                                        <p:tgtEl>
                                          <p:spTgt spid="13"/>
                                        </p:tgtEl>
                                        <p:attrNameLst>
                                          <p:attrName>style.visibility</p:attrName>
                                        </p:attrNameLst>
                                      </p:cBhvr>
                                      <p:to>
                                        <p:strVal val="visible"/>
                                      </p:to>
                                    </p:set>
                                    <p:anim calcmode="lin" valueType="num">
                                      <p:cBhvr additive="base">
                                        <p:cTn id="10" dur="2000" fill="hold"/>
                                        <p:tgtEl>
                                          <p:spTgt spid="13"/>
                                        </p:tgtEl>
                                        <p:attrNameLst>
                                          <p:attrName>ppt_x</p:attrName>
                                        </p:attrNameLst>
                                      </p:cBhvr>
                                      <p:tavLst>
                                        <p:tav tm="0">
                                          <p:val>
                                            <p:strVal val="1+#ppt_w/2"/>
                                          </p:val>
                                        </p:tav>
                                        <p:tav tm="100000">
                                          <p:val>
                                            <p:strVal val="#ppt_x"/>
                                          </p:val>
                                        </p:tav>
                                      </p:tavLst>
                                    </p:anim>
                                    <p:anim calcmode="lin" valueType="num">
                                      <p:cBhvr additive="base">
                                        <p:cTn id="11" dur="2000" fill="hold"/>
                                        <p:tgtEl>
                                          <p:spTgt spid="13"/>
                                        </p:tgtEl>
                                        <p:attrNameLst>
                                          <p:attrName>ppt_y</p:attrName>
                                        </p:attrNameLst>
                                      </p:cBhvr>
                                      <p:tavLst>
                                        <p:tav tm="0">
                                          <p:val>
                                            <p:strVal val="#ppt_y"/>
                                          </p:val>
                                        </p:tav>
                                        <p:tav tm="100000">
                                          <p:val>
                                            <p:strVal val="#ppt_y"/>
                                          </p:val>
                                        </p:tav>
                                      </p:tavLst>
                                    </p:anim>
                                  </p:childTnLst>
                                </p:cTn>
                              </p:par>
                              <p:par>
                                <p:cTn id="12" presetID="22" presetClass="entr" presetSubtype="2"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20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000"/>
                                        <p:tgtEl>
                                          <p:spTgt spid="14"/>
                                        </p:tgtEl>
                                      </p:cBhvr>
                                    </p:animEffect>
                                  </p:childTnLst>
                                </p:cTn>
                              </p:par>
                              <p:par>
                                <p:cTn id="18" presetID="2" presetClass="entr" presetSubtype="2" decel="100000" fill="hold" grpId="1"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2000" fill="hold"/>
                                        <p:tgtEl>
                                          <p:spTgt spid="14"/>
                                        </p:tgtEl>
                                        <p:attrNameLst>
                                          <p:attrName>ppt_x</p:attrName>
                                        </p:attrNameLst>
                                      </p:cBhvr>
                                      <p:tavLst>
                                        <p:tav tm="0">
                                          <p:val>
                                            <p:strVal val="1+#ppt_w/2"/>
                                          </p:val>
                                        </p:tav>
                                        <p:tav tm="100000">
                                          <p:val>
                                            <p:strVal val="#ppt_x"/>
                                          </p:val>
                                        </p:tav>
                                      </p:tavLst>
                                    </p:anim>
                                    <p:anim calcmode="lin" valueType="num">
                                      <p:cBhvr additive="base">
                                        <p:cTn id="21" dur="2000" fill="hold"/>
                                        <p:tgtEl>
                                          <p:spTgt spid="14"/>
                                        </p:tgtEl>
                                        <p:attrNameLst>
                                          <p:attrName>ppt_y</p:attrName>
                                        </p:attrNameLst>
                                      </p:cBhvr>
                                      <p:tavLst>
                                        <p:tav tm="0">
                                          <p:val>
                                            <p:strVal val="#ppt_y"/>
                                          </p:val>
                                        </p:tav>
                                        <p:tav tm="100000">
                                          <p:val>
                                            <p:strVal val="#ppt_y"/>
                                          </p:val>
                                        </p:tav>
                                      </p:tavLst>
                                    </p:anim>
                                  </p:childTnLst>
                                </p:cTn>
                              </p:par>
                              <p:par>
                                <p:cTn id="22" presetID="64" presetClass="path" presetSubtype="0" accel="50000" decel="50000" fill="hold" grpId="0" nodeType="withEffect">
                                  <p:stCondLst>
                                    <p:cond delay="0"/>
                                  </p:stCondLst>
                                  <p:childTnLst>
                                    <p:animMotion origin="layout" path="M -3.75E-6 7.40741E-7 L -3.75E-6 -0.06551 " pathEditMode="relative" rAng="0" ptsTypes="AA">
                                      <p:cBhvr>
                                        <p:cTn id="23" dur="2000" fill="hold"/>
                                        <p:tgtEl>
                                          <p:spTgt spid="22"/>
                                        </p:tgtEl>
                                        <p:attrNameLst>
                                          <p:attrName>ppt_x</p:attrName>
                                          <p:attrName>ppt_y</p:attrName>
                                        </p:attrNameLst>
                                      </p:cBhvr>
                                      <p:rCtr x="0" y="-3287"/>
                                    </p:animMotion>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200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bldLvl="0" animBg="1"/>
      <p:bldP spid="14" grpId="0"/>
      <p:bldP spid="14" grpId="1"/>
      <p:bldP spid="15" grpId="0" bldLvl="0" animBg="1"/>
      <p:bldP spid="22" grpId="0" bldLvl="0" animBg="1"/>
      <p:bldP spid="23" grpId="0" bldLvl="0" animBg="1"/>
      <p:bldP spid="24"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Y1MTNjOWFiMTdkMjIzMjhkY2YxYjdkYjI5YTBjZTgifQ=="/>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0069B5"/>
      </a:accent1>
      <a:accent2>
        <a:srgbClr val="22E6B2"/>
      </a:accent2>
      <a:accent3>
        <a:srgbClr val="098FC1"/>
      </a:accent3>
      <a:accent4>
        <a:srgbClr val="4AC1D6"/>
      </a:accent4>
      <a:accent5>
        <a:srgbClr val="797979"/>
      </a:accent5>
      <a:accent6>
        <a:srgbClr val="9F9F9F"/>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215</TotalTime>
  <Words>5769</Words>
  <Application>Microsoft Office PowerPoint</Application>
  <PresentationFormat>宽屏</PresentationFormat>
  <Paragraphs>620</Paragraphs>
  <Slides>85</Slides>
  <Notes>84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85</vt:i4>
      </vt:variant>
    </vt:vector>
  </HeadingPairs>
  <TitlesOfParts>
    <vt:vector size="100" baseType="lpstr">
      <vt:lpstr>-apple-system</vt:lpstr>
      <vt:lpstr>Arial Unicode MS</vt:lpstr>
      <vt:lpstr>等线</vt:lpstr>
      <vt:lpstr>华文行楷</vt:lpstr>
      <vt:lpstr>宋体</vt:lpstr>
      <vt:lpstr>微软雅黑</vt:lpstr>
      <vt:lpstr>Arial</vt:lpstr>
      <vt:lpstr>Calibri</vt:lpstr>
      <vt:lpstr>Century Gothic</vt:lpstr>
      <vt:lpstr>Consolas</vt:lpstr>
      <vt:lpstr>Montserrat ExtraBold</vt:lpstr>
      <vt:lpstr>Segoe UI Light</vt:lpstr>
      <vt:lpstr>Source Sans Pro</vt:lpstr>
      <vt:lpstr>Wingdings</vt:lpstr>
      <vt:lpstr>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家涌 黄</cp:lastModifiedBy>
  <cp:revision>2937</cp:revision>
  <cp:lastPrinted>2019-02-21T16:00:00Z</cp:lastPrinted>
  <dcterms:created xsi:type="dcterms:W3CDTF">2019-02-21T16:00:00Z</dcterms:created>
  <dcterms:modified xsi:type="dcterms:W3CDTF">2025-04-17T07:40:14Z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2052-12.1.0.17827</vt:lpwstr>
  </property>
  <property fmtid="{D5CDD505-2E9C-101B-9397-08002B2CF9AE}" pid="4" name="ICV">
    <vt:lpwstr>F1187959AD6745DBBA89A04EA347ECD7</vt:lpwstr>
  </property>
</Properties>
</file>