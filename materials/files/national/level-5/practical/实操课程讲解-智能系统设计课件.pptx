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tags/tag8.xml" ContentType="application/vnd.openxmlformats-officedocument.presentationml.tags+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0"/>
  </p:notesMasterIdLst>
  <p:sldIdLst>
    <p:sldId id="858" r:id="rId2"/>
    <p:sldId id="707" r:id="rId3"/>
    <p:sldId id="706" r:id="rId4"/>
    <p:sldId id="904" r:id="rId5"/>
    <p:sldId id="905" r:id="rId6"/>
    <p:sldId id="1039" r:id="rId7"/>
    <p:sldId id="910" r:id="rId8"/>
    <p:sldId id="907" r:id="rId9"/>
    <p:sldId id="911" r:id="rId10"/>
    <p:sldId id="908" r:id="rId11"/>
    <p:sldId id="909" r:id="rId12"/>
    <p:sldId id="912" r:id="rId13"/>
    <p:sldId id="919" r:id="rId14"/>
    <p:sldId id="913" r:id="rId15"/>
    <p:sldId id="914" r:id="rId16"/>
    <p:sldId id="917" r:id="rId17"/>
    <p:sldId id="918" r:id="rId18"/>
    <p:sldId id="920" r:id="rId19"/>
    <p:sldId id="921" r:id="rId20"/>
    <p:sldId id="922" r:id="rId21"/>
    <p:sldId id="923" r:id="rId22"/>
    <p:sldId id="924" r:id="rId23"/>
    <p:sldId id="925" r:id="rId24"/>
    <p:sldId id="926" r:id="rId25"/>
    <p:sldId id="927" r:id="rId26"/>
    <p:sldId id="930" r:id="rId27"/>
    <p:sldId id="932" r:id="rId28"/>
    <p:sldId id="933" r:id="rId29"/>
    <p:sldId id="934" r:id="rId30"/>
    <p:sldId id="935" r:id="rId31"/>
    <p:sldId id="941" r:id="rId32"/>
    <p:sldId id="985" r:id="rId33"/>
    <p:sldId id="902" r:id="rId34"/>
    <p:sldId id="903" r:id="rId35"/>
    <p:sldId id="1036" r:id="rId36"/>
    <p:sldId id="1037" r:id="rId37"/>
    <p:sldId id="1038" r:id="rId38"/>
    <p:sldId id="1051" r:id="rId39"/>
    <p:sldId id="1049" r:id="rId40"/>
    <p:sldId id="1035" r:id="rId41"/>
    <p:sldId id="1050" r:id="rId42"/>
    <p:sldId id="986" r:id="rId43"/>
    <p:sldId id="987" r:id="rId44"/>
    <p:sldId id="988" r:id="rId45"/>
    <p:sldId id="989" r:id="rId46"/>
    <p:sldId id="990" r:id="rId47"/>
    <p:sldId id="991" r:id="rId48"/>
    <p:sldId id="1029" r:id="rId49"/>
    <p:sldId id="992" r:id="rId50"/>
    <p:sldId id="993" r:id="rId51"/>
    <p:sldId id="994" r:id="rId52"/>
    <p:sldId id="995" r:id="rId53"/>
    <p:sldId id="996" r:id="rId54"/>
    <p:sldId id="997" r:id="rId55"/>
    <p:sldId id="998" r:id="rId56"/>
    <p:sldId id="999" r:id="rId57"/>
    <p:sldId id="1001" r:id="rId58"/>
    <p:sldId id="1030" r:id="rId59"/>
    <p:sldId id="1002" r:id="rId60"/>
    <p:sldId id="1003" r:id="rId61"/>
    <p:sldId id="1004" r:id="rId62"/>
    <p:sldId id="1005" r:id="rId63"/>
    <p:sldId id="1006" r:id="rId64"/>
    <p:sldId id="1007" r:id="rId65"/>
    <p:sldId id="1009" r:id="rId66"/>
    <p:sldId id="1010" r:id="rId67"/>
    <p:sldId id="1011" r:id="rId68"/>
    <p:sldId id="1012" r:id="rId69"/>
    <p:sldId id="1013" r:id="rId70"/>
    <p:sldId id="1014" r:id="rId71"/>
    <p:sldId id="1015" r:id="rId72"/>
    <p:sldId id="1016" r:id="rId73"/>
    <p:sldId id="1032" r:id="rId74"/>
    <p:sldId id="1028" r:id="rId75"/>
    <p:sldId id="1025" r:id="rId76"/>
    <p:sldId id="897" r:id="rId77"/>
    <p:sldId id="1040" r:id="rId78"/>
    <p:sldId id="1042" r:id="rId79"/>
    <p:sldId id="1041" r:id="rId80"/>
    <p:sldId id="1043" r:id="rId81"/>
    <p:sldId id="1033" r:id="rId82"/>
    <p:sldId id="1034" r:id="rId83"/>
    <p:sldId id="1045" r:id="rId84"/>
    <p:sldId id="1044" r:id="rId85"/>
    <p:sldId id="1046" r:id="rId86"/>
    <p:sldId id="1047" r:id="rId87"/>
    <p:sldId id="1048" r:id="rId88"/>
    <p:sldId id="700" r:id="rId89"/>
  </p:sldIdLst>
  <p:sldSz cx="12192000" cy="6858000"/>
  <p:notesSz cx="6858000" cy="9144000"/>
  <p:custDataLst>
    <p:tags r:id="rId9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wan" initials="R"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1D2F"/>
    <a:srgbClr val="1D7FC6"/>
    <a:srgbClr val="FFC000"/>
    <a:srgbClr val="69A35B"/>
    <a:srgbClr val="FFFF66"/>
    <a:srgbClr val="9BBB59"/>
    <a:srgbClr val="CAE3E7"/>
    <a:srgbClr val="FE0000"/>
    <a:srgbClr val="CAE3A7"/>
    <a:srgbClr val="3AEC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2340" autoAdjust="0"/>
  </p:normalViewPr>
  <p:slideViewPr>
    <p:cSldViewPr snapToGrid="0">
      <p:cViewPr varScale="1">
        <p:scale>
          <a:sx n="59" d="100"/>
          <a:sy n="59" d="100"/>
        </p:scale>
        <p:origin x="1229" y="53"/>
      </p:cViewPr>
      <p:guideLst>
        <p:guide orient="horz" pos="2160"/>
        <p:guide pos="3840"/>
      </p:guideLst>
    </p:cSldViewPr>
  </p:slideViewPr>
  <p:notesTextViewPr>
    <p:cViewPr>
      <p:scale>
        <a:sx n="125" d="100"/>
        <a:sy n="125" d="100"/>
      </p:scale>
      <p:origin x="0" y="-1747"/>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tags" Target="tags/tag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ommentAuthors" Target="commentAuthor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2025-04-10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extLst>
      <p:ext uri="{BB962C8B-B14F-4D97-AF65-F5344CB8AC3E}">
        <p14:creationId xmlns:p14="http://schemas.microsoft.com/office/powerpoint/2010/main" val="3943333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2</a:t>
            </a:fld>
            <a:endParaRPr lang="zh-CN" altLang="en-US" dirty="0"/>
          </a:p>
        </p:txBody>
      </p:sp>
    </p:spTree>
    <p:extLst>
      <p:ext uri="{BB962C8B-B14F-4D97-AF65-F5344CB8AC3E}">
        <p14:creationId xmlns:p14="http://schemas.microsoft.com/office/powerpoint/2010/main" val="27472265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3</a:t>
            </a:fld>
            <a:endParaRPr lang="zh-CN" altLang="en-US" dirty="0"/>
          </a:p>
        </p:txBody>
      </p:sp>
    </p:spTree>
    <p:extLst>
      <p:ext uri="{BB962C8B-B14F-4D97-AF65-F5344CB8AC3E}">
        <p14:creationId xmlns:p14="http://schemas.microsoft.com/office/powerpoint/2010/main" val="596150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4</a:t>
            </a:fld>
            <a:endParaRPr lang="zh-CN" altLang="en-US" dirty="0"/>
          </a:p>
        </p:txBody>
      </p:sp>
    </p:spTree>
    <p:extLst>
      <p:ext uri="{BB962C8B-B14F-4D97-AF65-F5344CB8AC3E}">
        <p14:creationId xmlns:p14="http://schemas.microsoft.com/office/powerpoint/2010/main" val="1679824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5</a:t>
            </a:fld>
            <a:endParaRPr lang="zh-CN" altLang="en-US" dirty="0"/>
          </a:p>
        </p:txBody>
      </p:sp>
    </p:spTree>
    <p:extLst>
      <p:ext uri="{BB962C8B-B14F-4D97-AF65-F5344CB8AC3E}">
        <p14:creationId xmlns:p14="http://schemas.microsoft.com/office/powerpoint/2010/main" val="3644339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6</a:t>
            </a:fld>
            <a:endParaRPr lang="zh-CN" altLang="en-US" dirty="0"/>
          </a:p>
        </p:txBody>
      </p:sp>
    </p:spTree>
    <p:extLst>
      <p:ext uri="{BB962C8B-B14F-4D97-AF65-F5344CB8AC3E}">
        <p14:creationId xmlns:p14="http://schemas.microsoft.com/office/powerpoint/2010/main" val="2327169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7</a:t>
            </a:fld>
            <a:endParaRPr lang="zh-CN" altLang="en-US" dirty="0"/>
          </a:p>
        </p:txBody>
      </p:sp>
    </p:spTree>
    <p:extLst>
      <p:ext uri="{BB962C8B-B14F-4D97-AF65-F5344CB8AC3E}">
        <p14:creationId xmlns:p14="http://schemas.microsoft.com/office/powerpoint/2010/main" val="2846663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8</a:t>
            </a:fld>
            <a:endParaRPr lang="zh-CN" altLang="en-US" dirty="0"/>
          </a:p>
        </p:txBody>
      </p:sp>
    </p:spTree>
    <p:extLst>
      <p:ext uri="{BB962C8B-B14F-4D97-AF65-F5344CB8AC3E}">
        <p14:creationId xmlns:p14="http://schemas.microsoft.com/office/powerpoint/2010/main" val="1921944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9</a:t>
            </a:fld>
            <a:endParaRPr lang="zh-CN" altLang="en-US" dirty="0"/>
          </a:p>
        </p:txBody>
      </p:sp>
    </p:spTree>
    <p:extLst>
      <p:ext uri="{BB962C8B-B14F-4D97-AF65-F5344CB8AC3E}">
        <p14:creationId xmlns:p14="http://schemas.microsoft.com/office/powerpoint/2010/main" val="1414498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10</a:t>
            </a:fld>
            <a:endParaRPr lang="zh-CN" altLang="en-US" dirty="0"/>
          </a:p>
        </p:txBody>
      </p:sp>
    </p:spTree>
    <p:extLst>
      <p:ext uri="{BB962C8B-B14F-4D97-AF65-F5344CB8AC3E}">
        <p14:creationId xmlns:p14="http://schemas.microsoft.com/office/powerpoint/2010/main" val="20178523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11</a:t>
            </a:fld>
            <a:endParaRPr lang="zh-CN" altLang="en-US" dirty="0"/>
          </a:p>
        </p:txBody>
      </p:sp>
    </p:spTree>
    <p:extLst>
      <p:ext uri="{BB962C8B-B14F-4D97-AF65-F5344CB8AC3E}">
        <p14:creationId xmlns:p14="http://schemas.microsoft.com/office/powerpoint/2010/main" val="26845807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12</a:t>
            </a:fld>
            <a:endParaRPr lang="zh-CN" altLang="en-US" dirty="0"/>
          </a:p>
        </p:txBody>
      </p:sp>
    </p:spTree>
    <p:extLst>
      <p:ext uri="{BB962C8B-B14F-4D97-AF65-F5344CB8AC3E}">
        <p14:creationId xmlns:p14="http://schemas.microsoft.com/office/powerpoint/2010/main" val="11374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13</a:t>
            </a:fld>
            <a:endParaRPr lang="zh-CN" altLang="en-US" dirty="0"/>
          </a:p>
        </p:txBody>
      </p:sp>
    </p:spTree>
    <p:extLst>
      <p:ext uri="{BB962C8B-B14F-4D97-AF65-F5344CB8AC3E}">
        <p14:creationId xmlns:p14="http://schemas.microsoft.com/office/powerpoint/2010/main" val="2611409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14</a:t>
            </a:fld>
            <a:endParaRPr lang="zh-CN" altLang="en-US" dirty="0"/>
          </a:p>
        </p:txBody>
      </p:sp>
    </p:spTree>
    <p:extLst>
      <p:ext uri="{BB962C8B-B14F-4D97-AF65-F5344CB8AC3E}">
        <p14:creationId xmlns:p14="http://schemas.microsoft.com/office/powerpoint/2010/main" val="4171618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15</a:t>
            </a:fld>
            <a:endParaRPr lang="zh-CN" altLang="en-US" dirty="0"/>
          </a:p>
        </p:txBody>
      </p:sp>
    </p:spTree>
    <p:extLst>
      <p:ext uri="{BB962C8B-B14F-4D97-AF65-F5344CB8AC3E}">
        <p14:creationId xmlns:p14="http://schemas.microsoft.com/office/powerpoint/2010/main" val="26886788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16</a:t>
            </a:fld>
            <a:endParaRPr lang="zh-CN" altLang="en-US" dirty="0"/>
          </a:p>
        </p:txBody>
      </p:sp>
    </p:spTree>
    <p:extLst>
      <p:ext uri="{BB962C8B-B14F-4D97-AF65-F5344CB8AC3E}">
        <p14:creationId xmlns:p14="http://schemas.microsoft.com/office/powerpoint/2010/main" val="40294325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17</a:t>
            </a:fld>
            <a:endParaRPr lang="zh-CN" altLang="en-US" dirty="0"/>
          </a:p>
        </p:txBody>
      </p:sp>
    </p:spTree>
    <p:extLst>
      <p:ext uri="{BB962C8B-B14F-4D97-AF65-F5344CB8AC3E}">
        <p14:creationId xmlns:p14="http://schemas.microsoft.com/office/powerpoint/2010/main" val="4806345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18</a:t>
            </a:fld>
            <a:endParaRPr lang="zh-CN" altLang="en-US" dirty="0"/>
          </a:p>
        </p:txBody>
      </p:sp>
    </p:spTree>
    <p:extLst>
      <p:ext uri="{BB962C8B-B14F-4D97-AF65-F5344CB8AC3E}">
        <p14:creationId xmlns:p14="http://schemas.microsoft.com/office/powerpoint/2010/main" val="21201626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19</a:t>
            </a:fld>
            <a:endParaRPr lang="zh-CN" altLang="en-US" dirty="0"/>
          </a:p>
        </p:txBody>
      </p:sp>
    </p:spTree>
    <p:extLst>
      <p:ext uri="{BB962C8B-B14F-4D97-AF65-F5344CB8AC3E}">
        <p14:creationId xmlns:p14="http://schemas.microsoft.com/office/powerpoint/2010/main" val="1368069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20</a:t>
            </a:fld>
            <a:endParaRPr lang="zh-CN" altLang="en-US" dirty="0"/>
          </a:p>
        </p:txBody>
      </p:sp>
    </p:spTree>
    <p:extLst>
      <p:ext uri="{BB962C8B-B14F-4D97-AF65-F5344CB8AC3E}">
        <p14:creationId xmlns:p14="http://schemas.microsoft.com/office/powerpoint/2010/main" val="30289893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21</a:t>
            </a:fld>
            <a:endParaRPr lang="zh-CN" altLang="en-US" dirty="0"/>
          </a:p>
        </p:txBody>
      </p:sp>
    </p:spTree>
    <p:extLst>
      <p:ext uri="{BB962C8B-B14F-4D97-AF65-F5344CB8AC3E}">
        <p14:creationId xmlns:p14="http://schemas.microsoft.com/office/powerpoint/2010/main" val="36583177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22</a:t>
            </a:fld>
            <a:endParaRPr lang="zh-CN" altLang="en-US" dirty="0"/>
          </a:p>
        </p:txBody>
      </p:sp>
    </p:spTree>
    <p:extLst>
      <p:ext uri="{BB962C8B-B14F-4D97-AF65-F5344CB8AC3E}">
        <p14:creationId xmlns:p14="http://schemas.microsoft.com/office/powerpoint/2010/main" val="14756085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23</a:t>
            </a:fld>
            <a:endParaRPr lang="zh-CN" altLang="en-US" dirty="0"/>
          </a:p>
        </p:txBody>
      </p:sp>
    </p:spTree>
    <p:extLst>
      <p:ext uri="{BB962C8B-B14F-4D97-AF65-F5344CB8AC3E}">
        <p14:creationId xmlns:p14="http://schemas.microsoft.com/office/powerpoint/2010/main" val="41260674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24</a:t>
            </a:fld>
            <a:endParaRPr lang="zh-CN" altLang="en-US" dirty="0"/>
          </a:p>
        </p:txBody>
      </p:sp>
    </p:spTree>
    <p:extLst>
      <p:ext uri="{BB962C8B-B14F-4D97-AF65-F5344CB8AC3E}">
        <p14:creationId xmlns:p14="http://schemas.microsoft.com/office/powerpoint/2010/main" val="4553351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25</a:t>
            </a:fld>
            <a:endParaRPr lang="zh-CN" altLang="en-US" dirty="0"/>
          </a:p>
        </p:txBody>
      </p:sp>
    </p:spTree>
    <p:extLst>
      <p:ext uri="{BB962C8B-B14F-4D97-AF65-F5344CB8AC3E}">
        <p14:creationId xmlns:p14="http://schemas.microsoft.com/office/powerpoint/2010/main" val="2213776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26</a:t>
            </a:fld>
            <a:endParaRPr lang="zh-CN" altLang="en-US" dirty="0"/>
          </a:p>
        </p:txBody>
      </p:sp>
    </p:spTree>
    <p:extLst>
      <p:ext uri="{BB962C8B-B14F-4D97-AF65-F5344CB8AC3E}">
        <p14:creationId xmlns:p14="http://schemas.microsoft.com/office/powerpoint/2010/main" val="27977039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27</a:t>
            </a:fld>
            <a:endParaRPr lang="zh-CN" altLang="en-US" dirty="0"/>
          </a:p>
        </p:txBody>
      </p:sp>
    </p:spTree>
    <p:extLst>
      <p:ext uri="{BB962C8B-B14F-4D97-AF65-F5344CB8AC3E}">
        <p14:creationId xmlns:p14="http://schemas.microsoft.com/office/powerpoint/2010/main" val="1462513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28</a:t>
            </a:fld>
            <a:endParaRPr lang="zh-CN" altLang="en-US" dirty="0"/>
          </a:p>
        </p:txBody>
      </p:sp>
    </p:spTree>
    <p:extLst>
      <p:ext uri="{BB962C8B-B14F-4D97-AF65-F5344CB8AC3E}">
        <p14:creationId xmlns:p14="http://schemas.microsoft.com/office/powerpoint/2010/main" val="41857247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29</a:t>
            </a:fld>
            <a:endParaRPr lang="zh-CN" altLang="en-US" dirty="0"/>
          </a:p>
        </p:txBody>
      </p:sp>
    </p:spTree>
    <p:extLst>
      <p:ext uri="{BB962C8B-B14F-4D97-AF65-F5344CB8AC3E}">
        <p14:creationId xmlns:p14="http://schemas.microsoft.com/office/powerpoint/2010/main" val="19493567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30</a:t>
            </a:fld>
            <a:endParaRPr lang="zh-CN" altLang="en-US" dirty="0"/>
          </a:p>
        </p:txBody>
      </p:sp>
    </p:spTree>
    <p:extLst>
      <p:ext uri="{BB962C8B-B14F-4D97-AF65-F5344CB8AC3E}">
        <p14:creationId xmlns:p14="http://schemas.microsoft.com/office/powerpoint/2010/main" val="6483746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31</a:t>
            </a:fld>
            <a:endParaRPr lang="zh-CN" altLang="en-US" dirty="0"/>
          </a:p>
        </p:txBody>
      </p:sp>
    </p:spTree>
    <p:extLst>
      <p:ext uri="{BB962C8B-B14F-4D97-AF65-F5344CB8AC3E}">
        <p14:creationId xmlns:p14="http://schemas.microsoft.com/office/powerpoint/2010/main" val="12173726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32</a:t>
            </a:fld>
            <a:endParaRPr lang="zh-CN" altLang="en-US" dirty="0"/>
          </a:p>
        </p:txBody>
      </p:sp>
    </p:spTree>
    <p:extLst>
      <p:ext uri="{BB962C8B-B14F-4D97-AF65-F5344CB8AC3E}">
        <p14:creationId xmlns:p14="http://schemas.microsoft.com/office/powerpoint/2010/main" val="39108727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33</a:t>
            </a:fld>
            <a:endParaRPr lang="zh-CN" altLang="en-US" dirty="0"/>
          </a:p>
        </p:txBody>
      </p:sp>
    </p:spTree>
    <p:extLst>
      <p:ext uri="{BB962C8B-B14F-4D97-AF65-F5344CB8AC3E}">
        <p14:creationId xmlns:p14="http://schemas.microsoft.com/office/powerpoint/2010/main" val="6694874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34</a:t>
            </a:fld>
            <a:endParaRPr lang="zh-CN" altLang="en-US" dirty="0"/>
          </a:p>
        </p:txBody>
      </p:sp>
    </p:spTree>
    <p:extLst>
      <p:ext uri="{BB962C8B-B14F-4D97-AF65-F5344CB8AC3E}">
        <p14:creationId xmlns:p14="http://schemas.microsoft.com/office/powerpoint/2010/main" val="30569794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35</a:t>
            </a:fld>
            <a:endParaRPr lang="zh-CN" altLang="en-US" dirty="0"/>
          </a:p>
        </p:txBody>
      </p:sp>
    </p:spTree>
    <p:extLst>
      <p:ext uri="{BB962C8B-B14F-4D97-AF65-F5344CB8AC3E}">
        <p14:creationId xmlns:p14="http://schemas.microsoft.com/office/powerpoint/2010/main" val="30911445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CREATE TABLE goods (</a:t>
            </a:r>
          </a:p>
          <a:p>
            <a:r>
              <a:rPr lang="en-US" altLang="zh-CN" dirty="0"/>
              <a:t>    id INT PRIMARY KEY AUTO_INCREMENT COMMENT '</a:t>
            </a:r>
            <a:r>
              <a:rPr lang="zh-CN" altLang="en-US" dirty="0"/>
              <a:t>商品编号</a:t>
            </a:r>
            <a:r>
              <a:rPr lang="en-US" altLang="zh-CN" dirty="0"/>
              <a:t>',</a:t>
            </a:r>
          </a:p>
          <a:p>
            <a:r>
              <a:rPr lang="en-US" altLang="zh-CN" dirty="0"/>
              <a:t>    type VARCHAR(30) NOT NULL COMMENT '</a:t>
            </a:r>
            <a:r>
              <a:rPr lang="zh-CN" altLang="en-US" dirty="0"/>
              <a:t>商品类别</a:t>
            </a:r>
            <a:r>
              <a:rPr lang="en-US" altLang="zh-CN" dirty="0"/>
              <a:t>',</a:t>
            </a:r>
          </a:p>
          <a:p>
            <a:r>
              <a:rPr lang="en-US" altLang="zh-CN" dirty="0"/>
              <a:t>    name VARCHAR(30) UNIQUE COMMENT '</a:t>
            </a:r>
            <a:r>
              <a:rPr lang="zh-CN" altLang="en-US" dirty="0"/>
              <a:t>商品名称</a:t>
            </a:r>
            <a:r>
              <a:rPr lang="en-US" altLang="zh-CN" dirty="0"/>
              <a:t>',</a:t>
            </a:r>
          </a:p>
          <a:p>
            <a:r>
              <a:rPr lang="en-US" altLang="zh-CN" dirty="0"/>
              <a:t>    price DECIMAL(7, 2) COMMENT '</a:t>
            </a:r>
            <a:r>
              <a:rPr lang="zh-CN" altLang="en-US" dirty="0"/>
              <a:t>商品价格</a:t>
            </a:r>
            <a:r>
              <a:rPr lang="en-US" altLang="zh-CN" dirty="0"/>
              <a:t>',</a:t>
            </a:r>
          </a:p>
          <a:p>
            <a:r>
              <a:rPr lang="en-US" altLang="zh-CN" dirty="0"/>
              <a:t>    num INT DEFAULT 0 COMMENT '</a:t>
            </a:r>
            <a:r>
              <a:rPr lang="zh-CN" altLang="en-US" dirty="0"/>
              <a:t>商品库存</a:t>
            </a:r>
            <a:r>
              <a:rPr lang="en-US" altLang="zh-CN" dirty="0"/>
              <a:t>',</a:t>
            </a:r>
          </a:p>
          <a:p>
            <a:r>
              <a:rPr lang="en-US" altLang="zh-CN" dirty="0"/>
              <a:t>    </a:t>
            </a:r>
            <a:r>
              <a:rPr lang="en-US" altLang="zh-CN" dirty="0" err="1"/>
              <a:t>add_time</a:t>
            </a:r>
            <a:r>
              <a:rPr lang="en-US" altLang="zh-CN" dirty="0"/>
              <a:t> DATETIME COMMENT '</a:t>
            </a:r>
            <a:r>
              <a:rPr lang="zh-CN" altLang="en-US" dirty="0"/>
              <a:t>添加时间</a:t>
            </a:r>
            <a:r>
              <a:rPr lang="en-US" altLang="zh-CN" dirty="0"/>
              <a:t>'</a:t>
            </a:r>
          </a:p>
          <a:p>
            <a:r>
              <a:rPr lang="en-US" altLang="zh-CN" dirty="0"/>
              <a:t>);</a:t>
            </a:r>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36</a:t>
            </a:fld>
            <a:endParaRPr lang="zh-CN" altLang="en-US" dirty="0"/>
          </a:p>
        </p:txBody>
      </p:sp>
    </p:spTree>
    <p:extLst>
      <p:ext uri="{BB962C8B-B14F-4D97-AF65-F5344CB8AC3E}">
        <p14:creationId xmlns:p14="http://schemas.microsoft.com/office/powerpoint/2010/main" val="41091351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37</a:t>
            </a:fld>
            <a:endParaRPr lang="zh-CN" altLang="en-US" dirty="0"/>
          </a:p>
        </p:txBody>
      </p:sp>
    </p:spTree>
    <p:extLst>
      <p:ext uri="{BB962C8B-B14F-4D97-AF65-F5344CB8AC3E}">
        <p14:creationId xmlns:p14="http://schemas.microsoft.com/office/powerpoint/2010/main" val="25688734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38</a:t>
            </a:fld>
            <a:endParaRPr lang="zh-CN" altLang="en-US" dirty="0"/>
          </a:p>
        </p:txBody>
      </p:sp>
    </p:spTree>
    <p:extLst>
      <p:ext uri="{BB962C8B-B14F-4D97-AF65-F5344CB8AC3E}">
        <p14:creationId xmlns:p14="http://schemas.microsoft.com/office/powerpoint/2010/main" val="42638873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39</a:t>
            </a:fld>
            <a:endParaRPr lang="zh-CN" altLang="en-US" dirty="0"/>
          </a:p>
        </p:txBody>
      </p:sp>
    </p:spTree>
    <p:extLst>
      <p:ext uri="{BB962C8B-B14F-4D97-AF65-F5344CB8AC3E}">
        <p14:creationId xmlns:p14="http://schemas.microsoft.com/office/powerpoint/2010/main" val="25066451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INSERT INTO goods(id, type, name, price, num, </a:t>
            </a:r>
            <a:r>
              <a:rPr lang="en-US" altLang="zh-CN" dirty="0" err="1"/>
              <a:t>add_time</a:t>
            </a:r>
            <a:r>
              <a:rPr lang="en-US" altLang="zh-CN" dirty="0"/>
              <a:t>)</a:t>
            </a:r>
          </a:p>
          <a:p>
            <a:r>
              <a:rPr lang="en-US" altLang="zh-CN" dirty="0"/>
              <a:t>VALUES(1,'Books','Journey to the West',50.4,20,'2018-01-01 13:40:40'),</a:t>
            </a:r>
          </a:p>
          <a:p>
            <a:r>
              <a:rPr lang="en-US" altLang="zh-CN" dirty="0"/>
              <a:t>      (2,'Sugars','Milk Candy',7.5,200,'2018-02-02 13:40:40'),</a:t>
            </a:r>
          </a:p>
          <a:p>
            <a:r>
              <a:rPr lang="en-US" altLang="zh-CN" dirty="0"/>
              <a:t>      (3,'Sugars','Fruit Candy',2.5,100,NULL),</a:t>
            </a:r>
          </a:p>
          <a:p>
            <a:r>
              <a:rPr lang="en-US" altLang="zh-CN" dirty="0"/>
              <a:t>      (4,'Clothing','Casual Suit',800,NULL,'2018-04-04 13:40:40'),</a:t>
            </a:r>
          </a:p>
          <a:p>
            <a:r>
              <a:rPr lang="en-US" altLang="zh-CN" dirty="0"/>
              <a:t>      (5,'Beverages','Juice',3,70,'2018-05-05 13:40:40');</a:t>
            </a:r>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40</a:t>
            </a:fld>
            <a:endParaRPr lang="zh-CN" altLang="en-US" dirty="0"/>
          </a:p>
        </p:txBody>
      </p:sp>
    </p:spTree>
    <p:extLst>
      <p:ext uri="{BB962C8B-B14F-4D97-AF65-F5344CB8AC3E}">
        <p14:creationId xmlns:p14="http://schemas.microsoft.com/office/powerpoint/2010/main" val="25198456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41</a:t>
            </a:fld>
            <a:endParaRPr lang="zh-CN" altLang="en-US" dirty="0"/>
          </a:p>
        </p:txBody>
      </p:sp>
    </p:spTree>
    <p:extLst>
      <p:ext uri="{BB962C8B-B14F-4D97-AF65-F5344CB8AC3E}">
        <p14:creationId xmlns:p14="http://schemas.microsoft.com/office/powerpoint/2010/main" val="19086710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solidFill>
                  <a:srgbClr val="A151D2"/>
                </a:solidFill>
                <a:effectLst/>
                <a:latin typeface="Consolas" panose="020B0609020204030204" pitchFamily="49" charset="0"/>
              </a:rPr>
              <a:t>CREATE</a:t>
            </a:r>
            <a:r>
              <a:rPr lang="en-US" altLang="zh-CN" b="0" dirty="0">
                <a:solidFill>
                  <a:srgbClr val="383838"/>
                </a:solidFill>
                <a:effectLst/>
                <a:latin typeface="Consolas" panose="020B0609020204030204" pitchFamily="49" charset="0"/>
              </a:rPr>
              <a:t> </a:t>
            </a:r>
            <a:r>
              <a:rPr lang="en-US" altLang="zh-CN" b="0" dirty="0">
                <a:solidFill>
                  <a:srgbClr val="A151D2"/>
                </a:solidFill>
                <a:effectLst/>
                <a:latin typeface="Consolas" panose="020B0609020204030204" pitchFamily="49" charset="0"/>
              </a:rPr>
              <a:t>DATABASE</a:t>
            </a:r>
            <a:r>
              <a:rPr lang="en-US" altLang="zh-CN" b="0" dirty="0">
                <a:solidFill>
                  <a:srgbClr val="383838"/>
                </a:solidFill>
                <a:effectLst/>
                <a:latin typeface="Consolas" panose="020B0609020204030204" pitchFamily="49" charset="0"/>
              </a:rPr>
              <a:t> </a:t>
            </a:r>
            <a:r>
              <a:rPr lang="en-US" altLang="zh-CN" b="0" dirty="0">
                <a:solidFill>
                  <a:srgbClr val="2795EE"/>
                </a:solidFill>
                <a:effectLst/>
                <a:latin typeface="Consolas" panose="020B0609020204030204" pitchFamily="49" charset="0"/>
              </a:rPr>
              <a:t>test</a:t>
            </a:r>
            <a:r>
              <a:rPr lang="en-US" altLang="zh-CN" b="0" dirty="0">
                <a:solidFill>
                  <a:srgbClr val="6C71C4"/>
                </a:solidFill>
                <a:effectLst/>
                <a:latin typeface="Consolas" panose="020B0609020204030204" pitchFamily="49" charset="0"/>
              </a:rPr>
              <a:t>;</a:t>
            </a:r>
            <a:endParaRPr lang="en-US" altLang="zh-CN" b="0" dirty="0">
              <a:solidFill>
                <a:srgbClr val="383838"/>
              </a:solidFill>
              <a:effectLst/>
              <a:latin typeface="Consolas" panose="020B0609020204030204" pitchFamily="49" charset="0"/>
            </a:endParaRPr>
          </a:p>
          <a:p>
            <a:r>
              <a:rPr lang="en-US" altLang="zh-CN" b="0" dirty="0">
                <a:solidFill>
                  <a:srgbClr val="A151D2"/>
                </a:solidFill>
                <a:effectLst/>
                <a:latin typeface="Consolas" panose="020B0609020204030204" pitchFamily="49" charset="0"/>
              </a:rPr>
              <a:t>use</a:t>
            </a:r>
            <a:r>
              <a:rPr lang="en-US" altLang="zh-CN" b="0" dirty="0">
                <a:solidFill>
                  <a:srgbClr val="383838"/>
                </a:solidFill>
                <a:effectLst/>
                <a:latin typeface="Consolas" panose="020B0609020204030204" pitchFamily="49" charset="0"/>
              </a:rPr>
              <a:t> </a:t>
            </a:r>
            <a:r>
              <a:rPr lang="en-US" altLang="zh-CN" b="0" dirty="0">
                <a:solidFill>
                  <a:srgbClr val="2795EE"/>
                </a:solidFill>
                <a:effectLst/>
                <a:latin typeface="Consolas" panose="020B0609020204030204" pitchFamily="49" charset="0"/>
              </a:rPr>
              <a:t>test</a:t>
            </a:r>
            <a:r>
              <a:rPr lang="en-US" altLang="zh-CN" b="0" dirty="0">
                <a:solidFill>
                  <a:srgbClr val="6C71C4"/>
                </a:solidFill>
                <a:effectLst/>
                <a:latin typeface="Consolas" panose="020B0609020204030204" pitchFamily="49" charset="0"/>
              </a:rPr>
              <a:t>;</a:t>
            </a:r>
            <a:endParaRPr lang="en-US" altLang="zh-CN" b="0" dirty="0">
              <a:solidFill>
                <a:srgbClr val="383838"/>
              </a:solidFill>
              <a:effectLst/>
              <a:latin typeface="Consolas" panose="020B0609020204030204" pitchFamily="49" charset="0"/>
            </a:endParaRPr>
          </a:p>
          <a:p>
            <a:r>
              <a:rPr lang="en-US" altLang="zh-CN" b="0" dirty="0">
                <a:solidFill>
                  <a:srgbClr val="A151D2"/>
                </a:solidFill>
                <a:effectLst/>
                <a:latin typeface="Consolas" panose="020B0609020204030204" pitchFamily="49" charset="0"/>
              </a:rPr>
              <a:t>CREATE</a:t>
            </a:r>
            <a:r>
              <a:rPr lang="en-US" altLang="zh-CN" b="0" dirty="0">
                <a:solidFill>
                  <a:srgbClr val="383838"/>
                </a:solidFill>
                <a:effectLst/>
                <a:latin typeface="Consolas" panose="020B0609020204030204" pitchFamily="49" charset="0"/>
              </a:rPr>
              <a:t> </a:t>
            </a:r>
            <a:r>
              <a:rPr lang="en-US" altLang="zh-CN" b="0" dirty="0">
                <a:solidFill>
                  <a:srgbClr val="A151D2"/>
                </a:solidFill>
                <a:effectLst/>
                <a:latin typeface="Consolas" panose="020B0609020204030204" pitchFamily="49" charset="0"/>
              </a:rPr>
              <a:t>TABLE</a:t>
            </a:r>
            <a:r>
              <a:rPr lang="en-US" altLang="zh-CN" b="0" dirty="0">
                <a:solidFill>
                  <a:srgbClr val="383838"/>
                </a:solidFill>
                <a:effectLst/>
                <a:latin typeface="Consolas" panose="020B0609020204030204" pitchFamily="49" charset="0"/>
              </a:rPr>
              <a:t> </a:t>
            </a:r>
            <a:r>
              <a:rPr lang="en-US" altLang="zh-CN" b="0" dirty="0">
                <a:solidFill>
                  <a:srgbClr val="2795EE"/>
                </a:solidFill>
                <a:effectLst/>
                <a:latin typeface="Consolas" panose="020B0609020204030204" pitchFamily="49" charset="0"/>
              </a:rPr>
              <a:t>goods</a:t>
            </a:r>
            <a:r>
              <a:rPr lang="en-US" altLang="zh-CN" b="0" dirty="0">
                <a:solidFill>
                  <a:srgbClr val="383838"/>
                </a:solidFill>
                <a:effectLst/>
                <a:latin typeface="Consolas" panose="020B0609020204030204" pitchFamily="49" charset="0"/>
              </a:rPr>
              <a:t> </a:t>
            </a:r>
            <a:r>
              <a:rPr lang="en-US" altLang="zh-CN" b="0" dirty="0">
                <a:solidFill>
                  <a:srgbClr val="6C71C4"/>
                </a:solidFill>
                <a:effectLst/>
                <a:latin typeface="Consolas" panose="020B0609020204030204" pitchFamily="49" charset="0"/>
              </a:rPr>
              <a:t>(</a:t>
            </a:r>
            <a:endParaRPr lang="en-US" altLang="zh-CN" b="0" dirty="0">
              <a:solidFill>
                <a:srgbClr val="383838"/>
              </a:solidFill>
              <a:effectLst/>
              <a:latin typeface="Consolas" panose="020B0609020204030204" pitchFamily="49" charset="0"/>
            </a:endParaRPr>
          </a:p>
          <a:p>
            <a:r>
              <a:rPr lang="en-US" altLang="zh-CN" b="0" dirty="0">
                <a:solidFill>
                  <a:srgbClr val="2795EE"/>
                </a:solidFill>
                <a:effectLst/>
                <a:latin typeface="Consolas" panose="020B0609020204030204" pitchFamily="49" charset="0"/>
              </a:rPr>
              <a:t>id</a:t>
            </a:r>
            <a:r>
              <a:rPr lang="en-US" altLang="zh-CN" b="0" dirty="0">
                <a:solidFill>
                  <a:srgbClr val="383838"/>
                </a:solidFill>
                <a:effectLst/>
                <a:latin typeface="Consolas" panose="020B0609020204030204" pitchFamily="49" charset="0"/>
              </a:rPr>
              <a:t> </a:t>
            </a:r>
            <a:r>
              <a:rPr lang="en-US" altLang="zh-CN" b="0" dirty="0">
                <a:solidFill>
                  <a:srgbClr val="A151D2"/>
                </a:solidFill>
                <a:effectLst/>
                <a:latin typeface="Consolas" panose="020B0609020204030204" pitchFamily="49" charset="0"/>
              </a:rPr>
              <a:t>INT</a:t>
            </a:r>
            <a:r>
              <a:rPr lang="en-US" altLang="zh-CN" b="0" dirty="0">
                <a:solidFill>
                  <a:srgbClr val="383838"/>
                </a:solidFill>
                <a:effectLst/>
                <a:latin typeface="Consolas" panose="020B0609020204030204" pitchFamily="49" charset="0"/>
              </a:rPr>
              <a:t> </a:t>
            </a:r>
            <a:r>
              <a:rPr lang="en-US" altLang="zh-CN" b="0" dirty="0">
                <a:solidFill>
                  <a:srgbClr val="A151D2"/>
                </a:solidFill>
                <a:effectLst/>
                <a:latin typeface="Consolas" panose="020B0609020204030204" pitchFamily="49" charset="0"/>
              </a:rPr>
              <a:t>PRIMARY</a:t>
            </a:r>
            <a:r>
              <a:rPr lang="en-US" altLang="zh-CN" b="0" dirty="0">
                <a:solidFill>
                  <a:srgbClr val="383838"/>
                </a:solidFill>
                <a:effectLst/>
                <a:latin typeface="Consolas" panose="020B0609020204030204" pitchFamily="49" charset="0"/>
              </a:rPr>
              <a:t> </a:t>
            </a:r>
            <a:r>
              <a:rPr lang="en-US" altLang="zh-CN" b="0" dirty="0">
                <a:solidFill>
                  <a:srgbClr val="A151D2"/>
                </a:solidFill>
                <a:effectLst/>
                <a:latin typeface="Consolas" panose="020B0609020204030204" pitchFamily="49" charset="0"/>
              </a:rPr>
              <a:t>KEY</a:t>
            </a:r>
            <a:r>
              <a:rPr lang="en-US" altLang="zh-CN" b="0" dirty="0">
                <a:solidFill>
                  <a:srgbClr val="383838"/>
                </a:solidFill>
                <a:effectLst/>
                <a:latin typeface="Consolas" panose="020B0609020204030204" pitchFamily="49" charset="0"/>
              </a:rPr>
              <a:t> </a:t>
            </a:r>
            <a:r>
              <a:rPr lang="en-US" altLang="zh-CN" b="0" dirty="0">
                <a:solidFill>
                  <a:srgbClr val="2795EE"/>
                </a:solidFill>
                <a:effectLst/>
                <a:latin typeface="Consolas" panose="020B0609020204030204" pitchFamily="49" charset="0"/>
              </a:rPr>
              <a:t>AUTO_INCREMENT</a:t>
            </a:r>
            <a:r>
              <a:rPr lang="en-US" altLang="zh-CN" b="0" dirty="0">
                <a:solidFill>
                  <a:srgbClr val="383838"/>
                </a:solidFill>
                <a:effectLst/>
                <a:latin typeface="Consolas" panose="020B0609020204030204" pitchFamily="49" charset="0"/>
              </a:rPr>
              <a:t> </a:t>
            </a:r>
            <a:r>
              <a:rPr lang="en-US" altLang="zh-CN" b="0" dirty="0">
                <a:solidFill>
                  <a:srgbClr val="2795EE"/>
                </a:solidFill>
                <a:effectLst/>
                <a:latin typeface="Consolas" panose="020B0609020204030204" pitchFamily="49" charset="0"/>
              </a:rPr>
              <a:t>COMMENT</a:t>
            </a:r>
            <a:r>
              <a:rPr lang="en-US" altLang="zh-CN" b="0" dirty="0">
                <a:solidFill>
                  <a:srgbClr val="383838"/>
                </a:solidFill>
                <a:effectLst/>
                <a:latin typeface="Consolas" panose="020B0609020204030204" pitchFamily="49" charset="0"/>
              </a:rPr>
              <a:t> </a:t>
            </a:r>
            <a:r>
              <a:rPr lang="en-US" altLang="zh-CN" b="0" dirty="0">
                <a:solidFill>
                  <a:srgbClr val="249D7F"/>
                </a:solidFill>
                <a:effectLst/>
                <a:latin typeface="Consolas" panose="020B0609020204030204" pitchFamily="49" charset="0"/>
              </a:rPr>
              <a:t>'</a:t>
            </a:r>
            <a:r>
              <a:rPr lang="zh-CN" altLang="en-US" b="0" dirty="0">
                <a:solidFill>
                  <a:srgbClr val="249D7F"/>
                </a:solidFill>
                <a:effectLst/>
                <a:latin typeface="Consolas" panose="020B0609020204030204" pitchFamily="49" charset="0"/>
              </a:rPr>
              <a:t>商品编号</a:t>
            </a:r>
            <a:r>
              <a:rPr lang="en-US" altLang="zh-CN" b="0" dirty="0">
                <a:solidFill>
                  <a:srgbClr val="249D7F"/>
                </a:solidFill>
                <a:effectLst/>
                <a:latin typeface="Consolas" panose="020B0609020204030204" pitchFamily="49" charset="0"/>
              </a:rPr>
              <a:t>'</a:t>
            </a:r>
            <a:r>
              <a:rPr lang="en-US" altLang="zh-CN" b="0" dirty="0">
                <a:solidFill>
                  <a:srgbClr val="6C71C4"/>
                </a:solidFill>
                <a:effectLst/>
                <a:latin typeface="Consolas" panose="020B0609020204030204" pitchFamily="49" charset="0"/>
              </a:rPr>
              <a:t>,</a:t>
            </a:r>
            <a:endParaRPr lang="zh-CN" altLang="en-US" b="0" dirty="0">
              <a:solidFill>
                <a:srgbClr val="383838"/>
              </a:solidFill>
              <a:effectLst/>
              <a:latin typeface="Consolas" panose="020B0609020204030204" pitchFamily="49" charset="0"/>
            </a:endParaRPr>
          </a:p>
          <a:p>
            <a:r>
              <a:rPr lang="en-US" altLang="zh-CN" b="0" dirty="0">
                <a:solidFill>
                  <a:srgbClr val="A151D2"/>
                </a:solidFill>
                <a:effectLst/>
                <a:latin typeface="Consolas" panose="020B0609020204030204" pitchFamily="49" charset="0"/>
              </a:rPr>
              <a:t>type</a:t>
            </a:r>
            <a:r>
              <a:rPr lang="en-US" altLang="zh-CN" b="0" dirty="0">
                <a:solidFill>
                  <a:srgbClr val="383838"/>
                </a:solidFill>
                <a:effectLst/>
                <a:latin typeface="Consolas" panose="020B0609020204030204" pitchFamily="49" charset="0"/>
              </a:rPr>
              <a:t> </a:t>
            </a:r>
            <a:r>
              <a:rPr lang="en-US" altLang="zh-CN" b="0" dirty="0">
                <a:solidFill>
                  <a:srgbClr val="A151D2"/>
                </a:solidFill>
                <a:effectLst/>
                <a:latin typeface="Consolas" panose="020B0609020204030204" pitchFamily="49" charset="0"/>
              </a:rPr>
              <a:t>VARCHAR</a:t>
            </a:r>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30</a:t>
            </a:r>
            <a:r>
              <a:rPr lang="en-US" altLang="zh-CN" b="0" dirty="0">
                <a:solidFill>
                  <a:srgbClr val="6C71C4"/>
                </a:solidFill>
                <a:effectLst/>
                <a:latin typeface="Consolas" panose="020B0609020204030204" pitchFamily="49" charset="0"/>
              </a:rPr>
              <a:t>)</a:t>
            </a:r>
            <a:r>
              <a:rPr lang="en-US" altLang="zh-CN" b="0" dirty="0">
                <a:solidFill>
                  <a:srgbClr val="383838"/>
                </a:solidFill>
                <a:effectLst/>
                <a:latin typeface="Consolas" panose="020B0609020204030204" pitchFamily="49" charset="0"/>
              </a:rPr>
              <a:t> </a:t>
            </a:r>
            <a:r>
              <a:rPr lang="en-US" altLang="zh-CN" b="0" dirty="0">
                <a:solidFill>
                  <a:srgbClr val="778899"/>
                </a:solidFill>
                <a:effectLst/>
                <a:latin typeface="Consolas" panose="020B0609020204030204" pitchFamily="49" charset="0"/>
              </a:rPr>
              <a:t>NOT</a:t>
            </a:r>
            <a:r>
              <a:rPr lang="en-US" altLang="zh-CN" b="0" dirty="0">
                <a:solidFill>
                  <a:srgbClr val="383838"/>
                </a:solidFill>
                <a:effectLst/>
                <a:latin typeface="Consolas" panose="020B0609020204030204" pitchFamily="49" charset="0"/>
              </a:rPr>
              <a:t> </a:t>
            </a:r>
            <a:r>
              <a:rPr lang="en-US" altLang="zh-CN" b="0" dirty="0">
                <a:solidFill>
                  <a:srgbClr val="778899"/>
                </a:solidFill>
                <a:effectLst/>
                <a:latin typeface="Consolas" panose="020B0609020204030204" pitchFamily="49" charset="0"/>
              </a:rPr>
              <a:t>NULL</a:t>
            </a:r>
            <a:r>
              <a:rPr lang="en-US" altLang="zh-CN" b="0" dirty="0">
                <a:solidFill>
                  <a:srgbClr val="383838"/>
                </a:solidFill>
                <a:effectLst/>
                <a:latin typeface="Consolas" panose="020B0609020204030204" pitchFamily="49" charset="0"/>
              </a:rPr>
              <a:t> </a:t>
            </a:r>
            <a:r>
              <a:rPr lang="en-US" altLang="zh-CN" b="0" dirty="0">
                <a:solidFill>
                  <a:srgbClr val="2795EE"/>
                </a:solidFill>
                <a:effectLst/>
                <a:latin typeface="Consolas" panose="020B0609020204030204" pitchFamily="49" charset="0"/>
              </a:rPr>
              <a:t>COMMENT</a:t>
            </a:r>
            <a:r>
              <a:rPr lang="en-US" altLang="zh-CN" b="0" dirty="0">
                <a:solidFill>
                  <a:srgbClr val="383838"/>
                </a:solidFill>
                <a:effectLst/>
                <a:latin typeface="Consolas" panose="020B0609020204030204" pitchFamily="49" charset="0"/>
              </a:rPr>
              <a:t> </a:t>
            </a:r>
            <a:r>
              <a:rPr lang="en-US" altLang="zh-CN" b="0" dirty="0">
                <a:solidFill>
                  <a:srgbClr val="249D7F"/>
                </a:solidFill>
                <a:effectLst/>
                <a:latin typeface="Consolas" panose="020B0609020204030204" pitchFamily="49" charset="0"/>
              </a:rPr>
              <a:t>'</a:t>
            </a:r>
            <a:r>
              <a:rPr lang="zh-CN" altLang="en-US" b="0" dirty="0">
                <a:solidFill>
                  <a:srgbClr val="249D7F"/>
                </a:solidFill>
                <a:effectLst/>
                <a:latin typeface="Consolas" panose="020B0609020204030204" pitchFamily="49" charset="0"/>
              </a:rPr>
              <a:t>商品类别</a:t>
            </a:r>
            <a:r>
              <a:rPr lang="en-US" altLang="zh-CN" b="0" dirty="0">
                <a:solidFill>
                  <a:srgbClr val="249D7F"/>
                </a:solidFill>
                <a:effectLst/>
                <a:latin typeface="Consolas" panose="020B0609020204030204" pitchFamily="49" charset="0"/>
              </a:rPr>
              <a:t>'</a:t>
            </a:r>
            <a:r>
              <a:rPr lang="en-US" altLang="zh-CN" b="0" dirty="0">
                <a:solidFill>
                  <a:srgbClr val="6C71C4"/>
                </a:solidFill>
                <a:effectLst/>
                <a:latin typeface="Consolas" panose="020B0609020204030204" pitchFamily="49" charset="0"/>
              </a:rPr>
              <a:t>,</a:t>
            </a:r>
            <a:endParaRPr lang="zh-CN" altLang="en-US" b="0" dirty="0">
              <a:solidFill>
                <a:srgbClr val="383838"/>
              </a:solidFill>
              <a:effectLst/>
              <a:latin typeface="Consolas" panose="020B0609020204030204" pitchFamily="49" charset="0"/>
            </a:endParaRPr>
          </a:p>
          <a:p>
            <a:r>
              <a:rPr lang="en-US" altLang="zh-CN" b="0" dirty="0">
                <a:solidFill>
                  <a:srgbClr val="A151D2"/>
                </a:solidFill>
                <a:effectLst/>
                <a:latin typeface="Consolas" panose="020B0609020204030204" pitchFamily="49" charset="0"/>
              </a:rPr>
              <a:t>name</a:t>
            </a:r>
            <a:r>
              <a:rPr lang="en-US" altLang="zh-CN" b="0" dirty="0">
                <a:solidFill>
                  <a:srgbClr val="383838"/>
                </a:solidFill>
                <a:effectLst/>
                <a:latin typeface="Consolas" panose="020B0609020204030204" pitchFamily="49" charset="0"/>
              </a:rPr>
              <a:t> </a:t>
            </a:r>
            <a:r>
              <a:rPr lang="en-US" altLang="zh-CN" b="0" dirty="0">
                <a:solidFill>
                  <a:srgbClr val="A151D2"/>
                </a:solidFill>
                <a:effectLst/>
                <a:latin typeface="Consolas" panose="020B0609020204030204" pitchFamily="49" charset="0"/>
              </a:rPr>
              <a:t>VARCHAR</a:t>
            </a:r>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30</a:t>
            </a:r>
            <a:r>
              <a:rPr lang="en-US" altLang="zh-CN" b="0" dirty="0">
                <a:solidFill>
                  <a:srgbClr val="6C71C4"/>
                </a:solidFill>
                <a:effectLst/>
                <a:latin typeface="Consolas" panose="020B0609020204030204" pitchFamily="49" charset="0"/>
              </a:rPr>
              <a:t>)</a:t>
            </a:r>
            <a:r>
              <a:rPr lang="en-US" altLang="zh-CN" b="0" dirty="0">
                <a:solidFill>
                  <a:srgbClr val="383838"/>
                </a:solidFill>
                <a:effectLst/>
                <a:latin typeface="Consolas" panose="020B0609020204030204" pitchFamily="49" charset="0"/>
              </a:rPr>
              <a:t> </a:t>
            </a:r>
            <a:r>
              <a:rPr lang="en-US" altLang="zh-CN" b="0" dirty="0">
                <a:solidFill>
                  <a:srgbClr val="A151D2"/>
                </a:solidFill>
                <a:effectLst/>
                <a:latin typeface="Consolas" panose="020B0609020204030204" pitchFamily="49" charset="0"/>
              </a:rPr>
              <a:t>UNIQUE</a:t>
            </a:r>
            <a:r>
              <a:rPr lang="en-US" altLang="zh-CN" b="0" dirty="0">
                <a:solidFill>
                  <a:srgbClr val="383838"/>
                </a:solidFill>
                <a:effectLst/>
                <a:latin typeface="Consolas" panose="020B0609020204030204" pitchFamily="49" charset="0"/>
              </a:rPr>
              <a:t> </a:t>
            </a:r>
            <a:r>
              <a:rPr lang="en-US" altLang="zh-CN" b="0" dirty="0">
                <a:solidFill>
                  <a:srgbClr val="2795EE"/>
                </a:solidFill>
                <a:effectLst/>
                <a:latin typeface="Consolas" panose="020B0609020204030204" pitchFamily="49" charset="0"/>
              </a:rPr>
              <a:t>COMMENT</a:t>
            </a:r>
            <a:r>
              <a:rPr lang="en-US" altLang="zh-CN" b="0" dirty="0">
                <a:solidFill>
                  <a:srgbClr val="383838"/>
                </a:solidFill>
                <a:effectLst/>
                <a:latin typeface="Consolas" panose="020B0609020204030204" pitchFamily="49" charset="0"/>
              </a:rPr>
              <a:t> </a:t>
            </a:r>
            <a:r>
              <a:rPr lang="en-US" altLang="zh-CN" b="0" dirty="0">
                <a:solidFill>
                  <a:srgbClr val="249D7F"/>
                </a:solidFill>
                <a:effectLst/>
                <a:latin typeface="Consolas" panose="020B0609020204030204" pitchFamily="49" charset="0"/>
              </a:rPr>
              <a:t>'</a:t>
            </a:r>
            <a:r>
              <a:rPr lang="zh-CN" altLang="en-US" b="0" dirty="0">
                <a:solidFill>
                  <a:srgbClr val="249D7F"/>
                </a:solidFill>
                <a:effectLst/>
                <a:latin typeface="Consolas" panose="020B0609020204030204" pitchFamily="49" charset="0"/>
              </a:rPr>
              <a:t>商品名称</a:t>
            </a:r>
            <a:r>
              <a:rPr lang="en-US" altLang="zh-CN" b="0" dirty="0">
                <a:solidFill>
                  <a:srgbClr val="249D7F"/>
                </a:solidFill>
                <a:effectLst/>
                <a:latin typeface="Consolas" panose="020B0609020204030204" pitchFamily="49" charset="0"/>
              </a:rPr>
              <a:t>'</a:t>
            </a:r>
            <a:r>
              <a:rPr lang="en-US" altLang="zh-CN" b="0" dirty="0">
                <a:solidFill>
                  <a:srgbClr val="6C71C4"/>
                </a:solidFill>
                <a:effectLst/>
                <a:latin typeface="Consolas" panose="020B0609020204030204" pitchFamily="49" charset="0"/>
              </a:rPr>
              <a:t>,</a:t>
            </a:r>
            <a:endParaRPr lang="zh-CN" altLang="en-US" b="0" dirty="0">
              <a:solidFill>
                <a:srgbClr val="383838"/>
              </a:solidFill>
              <a:effectLst/>
              <a:latin typeface="Consolas" panose="020B0609020204030204" pitchFamily="49" charset="0"/>
            </a:endParaRPr>
          </a:p>
          <a:p>
            <a:r>
              <a:rPr lang="en-US" altLang="zh-CN" b="0" dirty="0">
                <a:solidFill>
                  <a:srgbClr val="2795EE"/>
                </a:solidFill>
                <a:effectLst/>
                <a:latin typeface="Consolas" panose="020B0609020204030204" pitchFamily="49" charset="0"/>
              </a:rPr>
              <a:t>price</a:t>
            </a:r>
            <a:r>
              <a:rPr lang="en-US" altLang="zh-CN" b="0" dirty="0">
                <a:solidFill>
                  <a:srgbClr val="383838"/>
                </a:solidFill>
                <a:effectLst/>
                <a:latin typeface="Consolas" panose="020B0609020204030204" pitchFamily="49" charset="0"/>
              </a:rPr>
              <a:t> </a:t>
            </a:r>
            <a:r>
              <a:rPr lang="en-US" altLang="zh-CN" b="0" dirty="0">
                <a:solidFill>
                  <a:srgbClr val="A151D2"/>
                </a:solidFill>
                <a:effectLst/>
                <a:latin typeface="Consolas" panose="020B0609020204030204" pitchFamily="49" charset="0"/>
              </a:rPr>
              <a:t>DECIMAL</a:t>
            </a:r>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7</a:t>
            </a:r>
            <a:r>
              <a:rPr lang="en-US" altLang="zh-CN" b="0" dirty="0">
                <a:solidFill>
                  <a:srgbClr val="6C71C4"/>
                </a:solidFill>
                <a:effectLst/>
                <a:latin typeface="Consolas" panose="020B0609020204030204" pitchFamily="49" charset="0"/>
              </a:rPr>
              <a:t>,</a:t>
            </a:r>
            <a:r>
              <a:rPr lang="en-US" altLang="zh-CN" b="0" dirty="0">
                <a:solidFill>
                  <a:srgbClr val="383838"/>
                </a:solidFill>
                <a:effectLst/>
                <a:latin typeface="Consolas" panose="020B0609020204030204" pitchFamily="49" charset="0"/>
              </a:rPr>
              <a:t> </a:t>
            </a:r>
            <a:r>
              <a:rPr lang="en-US" altLang="zh-CN" b="0" dirty="0">
                <a:solidFill>
                  <a:srgbClr val="FF8645"/>
                </a:solidFill>
                <a:effectLst/>
                <a:latin typeface="Consolas" panose="020B0609020204030204" pitchFamily="49" charset="0"/>
              </a:rPr>
              <a:t>2</a:t>
            </a:r>
            <a:r>
              <a:rPr lang="en-US" altLang="zh-CN" b="0" dirty="0">
                <a:solidFill>
                  <a:srgbClr val="6C71C4"/>
                </a:solidFill>
                <a:effectLst/>
                <a:latin typeface="Consolas" panose="020B0609020204030204" pitchFamily="49" charset="0"/>
              </a:rPr>
              <a:t>)</a:t>
            </a:r>
            <a:r>
              <a:rPr lang="en-US" altLang="zh-CN" b="0" dirty="0">
                <a:solidFill>
                  <a:srgbClr val="383838"/>
                </a:solidFill>
                <a:effectLst/>
                <a:latin typeface="Consolas" panose="020B0609020204030204" pitchFamily="49" charset="0"/>
              </a:rPr>
              <a:t> </a:t>
            </a:r>
            <a:r>
              <a:rPr lang="en-US" altLang="zh-CN" b="0" dirty="0">
                <a:solidFill>
                  <a:srgbClr val="2795EE"/>
                </a:solidFill>
                <a:effectLst/>
                <a:latin typeface="Consolas" panose="020B0609020204030204" pitchFamily="49" charset="0"/>
              </a:rPr>
              <a:t>COMMENT</a:t>
            </a:r>
            <a:r>
              <a:rPr lang="en-US" altLang="zh-CN" b="0" dirty="0">
                <a:solidFill>
                  <a:srgbClr val="383838"/>
                </a:solidFill>
                <a:effectLst/>
                <a:latin typeface="Consolas" panose="020B0609020204030204" pitchFamily="49" charset="0"/>
              </a:rPr>
              <a:t> </a:t>
            </a:r>
            <a:r>
              <a:rPr lang="en-US" altLang="zh-CN" b="0" dirty="0">
                <a:solidFill>
                  <a:srgbClr val="249D7F"/>
                </a:solidFill>
                <a:effectLst/>
                <a:latin typeface="Consolas" panose="020B0609020204030204" pitchFamily="49" charset="0"/>
              </a:rPr>
              <a:t>'</a:t>
            </a:r>
            <a:r>
              <a:rPr lang="zh-CN" altLang="en-US" b="0" dirty="0">
                <a:solidFill>
                  <a:srgbClr val="249D7F"/>
                </a:solidFill>
                <a:effectLst/>
                <a:latin typeface="Consolas" panose="020B0609020204030204" pitchFamily="49" charset="0"/>
              </a:rPr>
              <a:t>商品价格</a:t>
            </a:r>
            <a:r>
              <a:rPr lang="en-US" altLang="zh-CN" b="0" dirty="0">
                <a:solidFill>
                  <a:srgbClr val="249D7F"/>
                </a:solidFill>
                <a:effectLst/>
                <a:latin typeface="Consolas" panose="020B0609020204030204" pitchFamily="49" charset="0"/>
              </a:rPr>
              <a:t>'</a:t>
            </a:r>
            <a:r>
              <a:rPr lang="en-US" altLang="zh-CN" b="0" dirty="0">
                <a:solidFill>
                  <a:srgbClr val="6C71C4"/>
                </a:solidFill>
                <a:effectLst/>
                <a:latin typeface="Consolas" panose="020B0609020204030204" pitchFamily="49" charset="0"/>
              </a:rPr>
              <a:t>,</a:t>
            </a:r>
            <a:endParaRPr lang="zh-CN" altLang="en-US" b="0" dirty="0">
              <a:solidFill>
                <a:srgbClr val="383838"/>
              </a:solidFill>
              <a:effectLst/>
              <a:latin typeface="Consolas" panose="020B0609020204030204" pitchFamily="49" charset="0"/>
            </a:endParaRPr>
          </a:p>
          <a:p>
            <a:r>
              <a:rPr lang="en-US" altLang="zh-CN" b="0" dirty="0">
                <a:solidFill>
                  <a:srgbClr val="2795EE"/>
                </a:solidFill>
                <a:effectLst/>
                <a:latin typeface="Consolas" panose="020B0609020204030204" pitchFamily="49" charset="0"/>
              </a:rPr>
              <a:t>num</a:t>
            </a:r>
            <a:r>
              <a:rPr lang="en-US" altLang="zh-CN" b="0" dirty="0">
                <a:solidFill>
                  <a:srgbClr val="383838"/>
                </a:solidFill>
                <a:effectLst/>
                <a:latin typeface="Consolas" panose="020B0609020204030204" pitchFamily="49" charset="0"/>
              </a:rPr>
              <a:t> </a:t>
            </a:r>
            <a:r>
              <a:rPr lang="en-US" altLang="zh-CN" b="0" dirty="0">
                <a:solidFill>
                  <a:srgbClr val="A151D2"/>
                </a:solidFill>
                <a:effectLst/>
                <a:latin typeface="Consolas" panose="020B0609020204030204" pitchFamily="49" charset="0"/>
              </a:rPr>
              <a:t>INT</a:t>
            </a:r>
            <a:r>
              <a:rPr lang="en-US" altLang="zh-CN" b="0" dirty="0">
                <a:solidFill>
                  <a:srgbClr val="383838"/>
                </a:solidFill>
                <a:effectLst/>
                <a:latin typeface="Consolas" panose="020B0609020204030204" pitchFamily="49" charset="0"/>
              </a:rPr>
              <a:t> </a:t>
            </a:r>
            <a:r>
              <a:rPr lang="en-US" altLang="zh-CN" b="0" dirty="0">
                <a:solidFill>
                  <a:srgbClr val="A151D2"/>
                </a:solidFill>
                <a:effectLst/>
                <a:latin typeface="Consolas" panose="020B0609020204030204" pitchFamily="49" charset="0"/>
              </a:rPr>
              <a:t>DEFAULT</a:t>
            </a:r>
            <a:r>
              <a:rPr lang="en-US" altLang="zh-CN" b="0" dirty="0">
                <a:solidFill>
                  <a:srgbClr val="383838"/>
                </a:solidFill>
                <a:effectLst/>
                <a:latin typeface="Consolas" panose="020B0609020204030204" pitchFamily="49" charset="0"/>
              </a:rPr>
              <a:t> </a:t>
            </a:r>
            <a:r>
              <a:rPr lang="en-US" altLang="zh-CN" b="0" dirty="0">
                <a:solidFill>
                  <a:srgbClr val="FF8645"/>
                </a:solidFill>
                <a:effectLst/>
                <a:latin typeface="Consolas" panose="020B0609020204030204" pitchFamily="49" charset="0"/>
              </a:rPr>
              <a:t>0</a:t>
            </a:r>
            <a:r>
              <a:rPr lang="en-US" altLang="zh-CN" b="0" dirty="0">
                <a:solidFill>
                  <a:srgbClr val="383838"/>
                </a:solidFill>
                <a:effectLst/>
                <a:latin typeface="Consolas" panose="020B0609020204030204" pitchFamily="49" charset="0"/>
              </a:rPr>
              <a:t> </a:t>
            </a:r>
            <a:r>
              <a:rPr lang="en-US" altLang="zh-CN" b="0" dirty="0">
                <a:solidFill>
                  <a:srgbClr val="2795EE"/>
                </a:solidFill>
                <a:effectLst/>
                <a:latin typeface="Consolas" panose="020B0609020204030204" pitchFamily="49" charset="0"/>
              </a:rPr>
              <a:t>COMMENT</a:t>
            </a:r>
            <a:r>
              <a:rPr lang="en-US" altLang="zh-CN" b="0" dirty="0">
                <a:solidFill>
                  <a:srgbClr val="383838"/>
                </a:solidFill>
                <a:effectLst/>
                <a:latin typeface="Consolas" panose="020B0609020204030204" pitchFamily="49" charset="0"/>
              </a:rPr>
              <a:t> </a:t>
            </a:r>
            <a:r>
              <a:rPr lang="en-US" altLang="zh-CN" b="0" dirty="0">
                <a:solidFill>
                  <a:srgbClr val="249D7F"/>
                </a:solidFill>
                <a:effectLst/>
                <a:latin typeface="Consolas" panose="020B0609020204030204" pitchFamily="49" charset="0"/>
              </a:rPr>
              <a:t>'</a:t>
            </a:r>
            <a:r>
              <a:rPr lang="zh-CN" altLang="en-US" b="0" dirty="0">
                <a:solidFill>
                  <a:srgbClr val="249D7F"/>
                </a:solidFill>
                <a:effectLst/>
                <a:latin typeface="Consolas" panose="020B0609020204030204" pitchFamily="49" charset="0"/>
              </a:rPr>
              <a:t>商品库存</a:t>
            </a:r>
            <a:r>
              <a:rPr lang="en-US" altLang="zh-CN" b="0" dirty="0">
                <a:solidFill>
                  <a:srgbClr val="249D7F"/>
                </a:solidFill>
                <a:effectLst/>
                <a:latin typeface="Consolas" panose="020B0609020204030204" pitchFamily="49" charset="0"/>
              </a:rPr>
              <a:t>'</a:t>
            </a:r>
            <a:r>
              <a:rPr lang="en-US" altLang="zh-CN" b="0" dirty="0">
                <a:solidFill>
                  <a:srgbClr val="6C71C4"/>
                </a:solidFill>
                <a:effectLst/>
                <a:latin typeface="Consolas" panose="020B0609020204030204" pitchFamily="49" charset="0"/>
              </a:rPr>
              <a:t>,</a:t>
            </a:r>
            <a:endParaRPr lang="zh-CN" altLang="en-US" b="0" dirty="0">
              <a:solidFill>
                <a:srgbClr val="383838"/>
              </a:solidFill>
              <a:effectLst/>
              <a:latin typeface="Consolas" panose="020B0609020204030204" pitchFamily="49" charset="0"/>
            </a:endParaRPr>
          </a:p>
          <a:p>
            <a:r>
              <a:rPr lang="en-US" altLang="zh-CN" b="0" dirty="0" err="1">
                <a:solidFill>
                  <a:srgbClr val="2795EE"/>
                </a:solidFill>
                <a:effectLst/>
                <a:latin typeface="Consolas" panose="020B0609020204030204" pitchFamily="49" charset="0"/>
              </a:rPr>
              <a:t>add_time</a:t>
            </a:r>
            <a:r>
              <a:rPr lang="en-US" altLang="zh-CN" b="0" dirty="0">
                <a:solidFill>
                  <a:srgbClr val="383838"/>
                </a:solidFill>
                <a:effectLst/>
                <a:latin typeface="Consolas" panose="020B0609020204030204" pitchFamily="49" charset="0"/>
              </a:rPr>
              <a:t> </a:t>
            </a:r>
            <a:r>
              <a:rPr lang="en-US" altLang="zh-CN" b="0" dirty="0">
                <a:solidFill>
                  <a:srgbClr val="A151D2"/>
                </a:solidFill>
                <a:effectLst/>
                <a:latin typeface="Consolas" panose="020B0609020204030204" pitchFamily="49" charset="0"/>
              </a:rPr>
              <a:t>DATETIME</a:t>
            </a:r>
            <a:r>
              <a:rPr lang="en-US" altLang="zh-CN" b="0" dirty="0">
                <a:solidFill>
                  <a:srgbClr val="383838"/>
                </a:solidFill>
                <a:effectLst/>
                <a:latin typeface="Consolas" panose="020B0609020204030204" pitchFamily="49" charset="0"/>
              </a:rPr>
              <a:t> </a:t>
            </a:r>
            <a:r>
              <a:rPr lang="en-US" altLang="zh-CN" b="0" dirty="0">
                <a:solidFill>
                  <a:srgbClr val="2795EE"/>
                </a:solidFill>
                <a:effectLst/>
                <a:latin typeface="Consolas" panose="020B0609020204030204" pitchFamily="49" charset="0"/>
              </a:rPr>
              <a:t>COMMENT</a:t>
            </a:r>
            <a:r>
              <a:rPr lang="en-US" altLang="zh-CN" b="0" dirty="0">
                <a:solidFill>
                  <a:srgbClr val="383838"/>
                </a:solidFill>
                <a:effectLst/>
                <a:latin typeface="Consolas" panose="020B0609020204030204" pitchFamily="49" charset="0"/>
              </a:rPr>
              <a:t> </a:t>
            </a:r>
            <a:r>
              <a:rPr lang="en-US" altLang="zh-CN" b="0" dirty="0">
                <a:solidFill>
                  <a:srgbClr val="249D7F"/>
                </a:solidFill>
                <a:effectLst/>
                <a:latin typeface="Consolas" panose="020B0609020204030204" pitchFamily="49" charset="0"/>
              </a:rPr>
              <a:t>'</a:t>
            </a:r>
            <a:r>
              <a:rPr lang="zh-CN" altLang="en-US" b="0" dirty="0">
                <a:solidFill>
                  <a:srgbClr val="249D7F"/>
                </a:solidFill>
                <a:effectLst/>
                <a:latin typeface="Consolas" panose="020B0609020204030204" pitchFamily="49" charset="0"/>
              </a:rPr>
              <a:t>添加时间</a:t>
            </a:r>
            <a:r>
              <a:rPr lang="en-US" altLang="zh-CN" b="0" dirty="0">
                <a:solidFill>
                  <a:srgbClr val="249D7F"/>
                </a:solidFill>
                <a:effectLst/>
                <a:latin typeface="Consolas" panose="020B0609020204030204" pitchFamily="49" charset="0"/>
              </a:rPr>
              <a:t>'</a:t>
            </a:r>
            <a:endParaRPr lang="zh-CN" altLang="en-US" b="0" dirty="0">
              <a:solidFill>
                <a:srgbClr val="383838"/>
              </a:solidFill>
              <a:effectLst/>
              <a:latin typeface="Consolas" panose="020B0609020204030204" pitchFamily="49" charset="0"/>
            </a:endParaRPr>
          </a:p>
          <a:p>
            <a:r>
              <a:rPr lang="en-US" altLang="zh-CN" b="0" dirty="0">
                <a:solidFill>
                  <a:srgbClr val="6C71C4"/>
                </a:solidFill>
                <a:effectLst/>
                <a:latin typeface="Consolas" panose="020B0609020204030204" pitchFamily="49" charset="0"/>
              </a:rPr>
              <a:t>);</a:t>
            </a:r>
            <a:endParaRPr lang="zh-CN" altLang="en-US" b="0" dirty="0">
              <a:solidFill>
                <a:srgbClr val="383838"/>
              </a:solidFill>
              <a:effectLst/>
              <a:latin typeface="Consolas" panose="020B0609020204030204" pitchFamily="49" charset="0"/>
            </a:endParaRPr>
          </a:p>
          <a:p>
            <a:br>
              <a:rPr lang="zh-CN" altLang="en-US" b="0" dirty="0">
                <a:solidFill>
                  <a:srgbClr val="383838"/>
                </a:solidFill>
                <a:effectLst/>
                <a:latin typeface="Consolas" panose="020B0609020204030204" pitchFamily="49" charset="0"/>
              </a:rPr>
            </a:br>
            <a:r>
              <a:rPr lang="en-US" altLang="zh-CN" b="0" dirty="0">
                <a:solidFill>
                  <a:srgbClr val="A151D2"/>
                </a:solidFill>
                <a:effectLst/>
                <a:latin typeface="Consolas" panose="020B0609020204030204" pitchFamily="49" charset="0"/>
              </a:rPr>
              <a:t>INSERT</a:t>
            </a:r>
            <a:r>
              <a:rPr lang="en-US" altLang="zh-CN" b="0" dirty="0">
                <a:solidFill>
                  <a:srgbClr val="383838"/>
                </a:solidFill>
                <a:effectLst/>
                <a:latin typeface="Consolas" panose="020B0609020204030204" pitchFamily="49" charset="0"/>
              </a:rPr>
              <a:t> </a:t>
            </a:r>
            <a:r>
              <a:rPr lang="en-US" altLang="zh-CN" b="0" dirty="0">
                <a:solidFill>
                  <a:srgbClr val="A151D2"/>
                </a:solidFill>
                <a:effectLst/>
                <a:latin typeface="Consolas" panose="020B0609020204030204" pitchFamily="49" charset="0"/>
              </a:rPr>
              <a:t>INTO</a:t>
            </a:r>
            <a:r>
              <a:rPr lang="en-US" altLang="zh-CN" b="0" dirty="0">
                <a:solidFill>
                  <a:srgbClr val="383838"/>
                </a:solidFill>
                <a:effectLst/>
                <a:latin typeface="Consolas" panose="020B0609020204030204" pitchFamily="49" charset="0"/>
              </a:rPr>
              <a:t> </a:t>
            </a:r>
            <a:r>
              <a:rPr lang="en-US" altLang="zh-CN" b="0" dirty="0">
                <a:solidFill>
                  <a:srgbClr val="2795EE"/>
                </a:solidFill>
                <a:effectLst/>
                <a:latin typeface="Consolas" panose="020B0609020204030204" pitchFamily="49" charset="0"/>
              </a:rPr>
              <a:t>goods</a:t>
            </a:r>
            <a:r>
              <a:rPr lang="en-US" altLang="zh-CN" b="0" dirty="0">
                <a:solidFill>
                  <a:srgbClr val="6C71C4"/>
                </a:solidFill>
                <a:effectLst/>
                <a:latin typeface="Consolas" panose="020B0609020204030204" pitchFamily="49" charset="0"/>
              </a:rPr>
              <a:t>(</a:t>
            </a:r>
            <a:r>
              <a:rPr lang="en-US" altLang="zh-CN" b="0" dirty="0">
                <a:solidFill>
                  <a:srgbClr val="2795EE"/>
                </a:solidFill>
                <a:effectLst/>
                <a:latin typeface="Consolas" panose="020B0609020204030204" pitchFamily="49" charset="0"/>
              </a:rPr>
              <a:t>id</a:t>
            </a:r>
            <a:r>
              <a:rPr lang="en-US" altLang="zh-CN" b="0" dirty="0">
                <a:solidFill>
                  <a:srgbClr val="6C71C4"/>
                </a:solidFill>
                <a:effectLst/>
                <a:latin typeface="Consolas" panose="020B0609020204030204" pitchFamily="49" charset="0"/>
              </a:rPr>
              <a:t>,</a:t>
            </a:r>
            <a:r>
              <a:rPr lang="en-US" altLang="zh-CN" b="0" dirty="0">
                <a:solidFill>
                  <a:srgbClr val="383838"/>
                </a:solidFill>
                <a:effectLst/>
                <a:latin typeface="Consolas" panose="020B0609020204030204" pitchFamily="49" charset="0"/>
              </a:rPr>
              <a:t> </a:t>
            </a:r>
            <a:r>
              <a:rPr lang="en-US" altLang="zh-CN" b="0" dirty="0">
                <a:solidFill>
                  <a:srgbClr val="A151D2"/>
                </a:solidFill>
                <a:effectLst/>
                <a:latin typeface="Consolas" panose="020B0609020204030204" pitchFamily="49" charset="0"/>
              </a:rPr>
              <a:t>type</a:t>
            </a:r>
            <a:r>
              <a:rPr lang="en-US" altLang="zh-CN" b="0" dirty="0">
                <a:solidFill>
                  <a:srgbClr val="6C71C4"/>
                </a:solidFill>
                <a:effectLst/>
                <a:latin typeface="Consolas" panose="020B0609020204030204" pitchFamily="49" charset="0"/>
              </a:rPr>
              <a:t>,</a:t>
            </a:r>
            <a:r>
              <a:rPr lang="en-US" altLang="zh-CN" b="0" dirty="0">
                <a:solidFill>
                  <a:srgbClr val="383838"/>
                </a:solidFill>
                <a:effectLst/>
                <a:latin typeface="Consolas" panose="020B0609020204030204" pitchFamily="49" charset="0"/>
              </a:rPr>
              <a:t> </a:t>
            </a:r>
            <a:r>
              <a:rPr lang="en-US" altLang="zh-CN" b="0" dirty="0">
                <a:solidFill>
                  <a:srgbClr val="A151D2"/>
                </a:solidFill>
                <a:effectLst/>
                <a:latin typeface="Consolas" panose="020B0609020204030204" pitchFamily="49" charset="0"/>
              </a:rPr>
              <a:t>name</a:t>
            </a:r>
            <a:r>
              <a:rPr lang="en-US" altLang="zh-CN" b="0" dirty="0">
                <a:solidFill>
                  <a:srgbClr val="6C71C4"/>
                </a:solidFill>
                <a:effectLst/>
                <a:latin typeface="Consolas" panose="020B0609020204030204" pitchFamily="49" charset="0"/>
              </a:rPr>
              <a:t>,</a:t>
            </a:r>
            <a:r>
              <a:rPr lang="en-US" altLang="zh-CN" b="0" dirty="0">
                <a:solidFill>
                  <a:srgbClr val="383838"/>
                </a:solidFill>
                <a:effectLst/>
                <a:latin typeface="Consolas" panose="020B0609020204030204" pitchFamily="49" charset="0"/>
              </a:rPr>
              <a:t> </a:t>
            </a:r>
            <a:r>
              <a:rPr lang="en-US" altLang="zh-CN" b="0" dirty="0">
                <a:solidFill>
                  <a:srgbClr val="2795EE"/>
                </a:solidFill>
                <a:effectLst/>
                <a:latin typeface="Consolas" panose="020B0609020204030204" pitchFamily="49" charset="0"/>
              </a:rPr>
              <a:t>price</a:t>
            </a:r>
            <a:r>
              <a:rPr lang="en-US" altLang="zh-CN" b="0" dirty="0">
                <a:solidFill>
                  <a:srgbClr val="6C71C4"/>
                </a:solidFill>
                <a:effectLst/>
                <a:latin typeface="Consolas" panose="020B0609020204030204" pitchFamily="49" charset="0"/>
              </a:rPr>
              <a:t>,</a:t>
            </a:r>
            <a:r>
              <a:rPr lang="en-US" altLang="zh-CN" b="0" dirty="0">
                <a:solidFill>
                  <a:srgbClr val="383838"/>
                </a:solidFill>
                <a:effectLst/>
                <a:latin typeface="Consolas" panose="020B0609020204030204" pitchFamily="49" charset="0"/>
              </a:rPr>
              <a:t> </a:t>
            </a:r>
            <a:r>
              <a:rPr lang="en-US" altLang="zh-CN" b="0" dirty="0">
                <a:solidFill>
                  <a:srgbClr val="2795EE"/>
                </a:solidFill>
                <a:effectLst/>
                <a:latin typeface="Consolas" panose="020B0609020204030204" pitchFamily="49" charset="0"/>
              </a:rPr>
              <a:t>num</a:t>
            </a:r>
            <a:r>
              <a:rPr lang="en-US" altLang="zh-CN" b="0" dirty="0">
                <a:solidFill>
                  <a:srgbClr val="6C71C4"/>
                </a:solidFill>
                <a:effectLst/>
                <a:latin typeface="Consolas" panose="020B0609020204030204" pitchFamily="49" charset="0"/>
              </a:rPr>
              <a:t>,</a:t>
            </a:r>
            <a:r>
              <a:rPr lang="en-US" altLang="zh-CN" b="0" dirty="0">
                <a:solidFill>
                  <a:srgbClr val="383838"/>
                </a:solidFill>
                <a:effectLst/>
                <a:latin typeface="Consolas" panose="020B0609020204030204" pitchFamily="49" charset="0"/>
              </a:rPr>
              <a:t> </a:t>
            </a:r>
            <a:r>
              <a:rPr lang="en-US" altLang="zh-CN" b="0" dirty="0" err="1">
                <a:solidFill>
                  <a:srgbClr val="2795EE"/>
                </a:solidFill>
                <a:effectLst/>
                <a:latin typeface="Consolas" panose="020B0609020204030204" pitchFamily="49" charset="0"/>
              </a:rPr>
              <a:t>add_time</a:t>
            </a:r>
            <a:r>
              <a:rPr lang="en-US" altLang="zh-CN" b="0" dirty="0">
                <a:solidFill>
                  <a:srgbClr val="6C71C4"/>
                </a:solidFill>
                <a:effectLst/>
                <a:latin typeface="Consolas" panose="020B0609020204030204" pitchFamily="49" charset="0"/>
              </a:rPr>
              <a:t>)</a:t>
            </a:r>
            <a:endParaRPr lang="en-US" altLang="zh-CN" b="0" dirty="0">
              <a:solidFill>
                <a:srgbClr val="383838"/>
              </a:solidFill>
              <a:effectLst/>
              <a:latin typeface="Consolas" panose="020B0609020204030204" pitchFamily="49" charset="0"/>
            </a:endParaRPr>
          </a:p>
          <a:p>
            <a:r>
              <a:rPr lang="en-US" altLang="zh-CN" b="0" dirty="0">
                <a:solidFill>
                  <a:srgbClr val="A151D2"/>
                </a:solidFill>
                <a:effectLst/>
                <a:latin typeface="Consolas" panose="020B0609020204030204" pitchFamily="49" charset="0"/>
              </a:rPr>
              <a:t>VALUES</a:t>
            </a:r>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1</a:t>
            </a:r>
            <a:r>
              <a:rPr lang="en-US" altLang="zh-CN" b="0" dirty="0">
                <a:solidFill>
                  <a:srgbClr val="6C71C4"/>
                </a:solidFill>
                <a:effectLst/>
                <a:latin typeface="Consolas" panose="020B0609020204030204" pitchFamily="49" charset="0"/>
              </a:rPr>
              <a:t>,</a:t>
            </a:r>
            <a:r>
              <a:rPr lang="en-US" altLang="zh-CN" b="0" dirty="0">
                <a:solidFill>
                  <a:srgbClr val="249D7F"/>
                </a:solidFill>
                <a:effectLst/>
                <a:latin typeface="Consolas" panose="020B0609020204030204" pitchFamily="49" charset="0"/>
              </a:rPr>
              <a:t>'</a:t>
            </a:r>
            <a:r>
              <a:rPr lang="zh-CN" altLang="en-US" b="0" dirty="0">
                <a:solidFill>
                  <a:srgbClr val="249D7F"/>
                </a:solidFill>
                <a:effectLst/>
                <a:latin typeface="Consolas" panose="020B0609020204030204" pitchFamily="49" charset="0"/>
              </a:rPr>
              <a:t>书本</a:t>
            </a:r>
            <a:r>
              <a:rPr lang="en-US" altLang="zh-CN" b="0" dirty="0">
                <a:solidFill>
                  <a:srgbClr val="249D7F"/>
                </a:solidFill>
                <a:effectLst/>
                <a:latin typeface="Consolas" panose="020B0609020204030204" pitchFamily="49" charset="0"/>
              </a:rPr>
              <a:t>'</a:t>
            </a:r>
            <a:r>
              <a:rPr lang="en-US" altLang="zh-CN" b="0" dirty="0">
                <a:solidFill>
                  <a:srgbClr val="6C71C4"/>
                </a:solidFill>
                <a:effectLst/>
                <a:latin typeface="Consolas" panose="020B0609020204030204" pitchFamily="49" charset="0"/>
              </a:rPr>
              <a:t>,</a:t>
            </a:r>
            <a:r>
              <a:rPr lang="en-US" altLang="zh-CN" b="0" dirty="0">
                <a:solidFill>
                  <a:srgbClr val="249D7F"/>
                </a:solidFill>
                <a:effectLst/>
                <a:latin typeface="Consolas" panose="020B0609020204030204" pitchFamily="49" charset="0"/>
              </a:rPr>
              <a:t>'</a:t>
            </a:r>
            <a:r>
              <a:rPr lang="zh-CN" altLang="en-US" b="0" dirty="0">
                <a:solidFill>
                  <a:srgbClr val="249D7F"/>
                </a:solidFill>
                <a:effectLst/>
                <a:latin typeface="Consolas" panose="020B0609020204030204" pitchFamily="49" charset="0"/>
              </a:rPr>
              <a:t>西游记</a:t>
            </a:r>
            <a:r>
              <a:rPr lang="en-US" altLang="zh-CN" b="0" dirty="0">
                <a:solidFill>
                  <a:srgbClr val="249D7F"/>
                </a:solidFill>
                <a:effectLst/>
                <a:latin typeface="Consolas" panose="020B0609020204030204" pitchFamily="49" charset="0"/>
              </a:rPr>
              <a:t>'</a:t>
            </a:r>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50.4</a:t>
            </a:r>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20</a:t>
            </a:r>
            <a:r>
              <a:rPr lang="en-US" altLang="zh-CN" b="0" dirty="0">
                <a:solidFill>
                  <a:srgbClr val="6C71C4"/>
                </a:solidFill>
                <a:effectLst/>
                <a:latin typeface="Consolas" panose="020B0609020204030204" pitchFamily="49" charset="0"/>
              </a:rPr>
              <a:t>,</a:t>
            </a:r>
            <a:r>
              <a:rPr lang="en-US" altLang="zh-CN" b="0" dirty="0">
                <a:solidFill>
                  <a:srgbClr val="249D7F"/>
                </a:solidFill>
                <a:effectLst/>
                <a:latin typeface="Consolas" panose="020B0609020204030204" pitchFamily="49" charset="0"/>
              </a:rPr>
              <a:t>'2018-01-01 13:40:40'</a:t>
            </a:r>
            <a:r>
              <a:rPr lang="en-US" altLang="zh-CN" b="0" dirty="0">
                <a:solidFill>
                  <a:srgbClr val="6C71C4"/>
                </a:solidFill>
                <a:effectLst/>
                <a:latin typeface="Consolas" panose="020B0609020204030204" pitchFamily="49" charset="0"/>
              </a:rPr>
              <a:t>),</a:t>
            </a:r>
            <a:endParaRPr lang="zh-CN" altLang="en-US" b="0" dirty="0">
              <a:solidFill>
                <a:srgbClr val="383838"/>
              </a:solidFill>
              <a:effectLst/>
              <a:latin typeface="Consolas" panose="020B0609020204030204" pitchFamily="49" charset="0"/>
            </a:endParaRPr>
          </a:p>
          <a:p>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2</a:t>
            </a:r>
            <a:r>
              <a:rPr lang="en-US" altLang="zh-CN" b="0" dirty="0">
                <a:solidFill>
                  <a:srgbClr val="6C71C4"/>
                </a:solidFill>
                <a:effectLst/>
                <a:latin typeface="Consolas" panose="020B0609020204030204" pitchFamily="49" charset="0"/>
              </a:rPr>
              <a:t>,</a:t>
            </a:r>
            <a:r>
              <a:rPr lang="en-US" altLang="zh-CN" b="0" dirty="0">
                <a:solidFill>
                  <a:srgbClr val="249D7F"/>
                </a:solidFill>
                <a:effectLst/>
                <a:latin typeface="Consolas" panose="020B0609020204030204" pitchFamily="49" charset="0"/>
              </a:rPr>
              <a:t>'</a:t>
            </a:r>
            <a:r>
              <a:rPr lang="zh-CN" altLang="en-US" b="0" dirty="0">
                <a:solidFill>
                  <a:srgbClr val="249D7F"/>
                </a:solidFill>
                <a:effectLst/>
                <a:latin typeface="Consolas" panose="020B0609020204030204" pitchFamily="49" charset="0"/>
              </a:rPr>
              <a:t>糖果</a:t>
            </a:r>
            <a:r>
              <a:rPr lang="en-US" altLang="zh-CN" b="0" dirty="0">
                <a:solidFill>
                  <a:srgbClr val="249D7F"/>
                </a:solidFill>
                <a:effectLst/>
                <a:latin typeface="Consolas" panose="020B0609020204030204" pitchFamily="49" charset="0"/>
              </a:rPr>
              <a:t>'</a:t>
            </a:r>
            <a:r>
              <a:rPr lang="en-US" altLang="zh-CN" b="0" dirty="0">
                <a:solidFill>
                  <a:srgbClr val="6C71C4"/>
                </a:solidFill>
                <a:effectLst/>
                <a:latin typeface="Consolas" panose="020B0609020204030204" pitchFamily="49" charset="0"/>
              </a:rPr>
              <a:t>,</a:t>
            </a:r>
            <a:r>
              <a:rPr lang="en-US" altLang="zh-CN" b="0" dirty="0">
                <a:solidFill>
                  <a:srgbClr val="249D7F"/>
                </a:solidFill>
                <a:effectLst/>
                <a:latin typeface="Consolas" panose="020B0609020204030204" pitchFamily="49" charset="0"/>
              </a:rPr>
              <a:t>'</a:t>
            </a:r>
            <a:r>
              <a:rPr lang="zh-CN" altLang="en-US" b="0" dirty="0">
                <a:solidFill>
                  <a:srgbClr val="249D7F"/>
                </a:solidFill>
                <a:effectLst/>
                <a:latin typeface="Consolas" panose="020B0609020204030204" pitchFamily="49" charset="0"/>
              </a:rPr>
              <a:t>牛奶糖</a:t>
            </a:r>
            <a:r>
              <a:rPr lang="en-US" altLang="zh-CN" b="0" dirty="0">
                <a:solidFill>
                  <a:srgbClr val="249D7F"/>
                </a:solidFill>
                <a:effectLst/>
                <a:latin typeface="Consolas" panose="020B0609020204030204" pitchFamily="49" charset="0"/>
              </a:rPr>
              <a:t>'</a:t>
            </a:r>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7.5</a:t>
            </a:r>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200</a:t>
            </a:r>
            <a:r>
              <a:rPr lang="en-US" altLang="zh-CN" b="0" dirty="0">
                <a:solidFill>
                  <a:srgbClr val="6C71C4"/>
                </a:solidFill>
                <a:effectLst/>
                <a:latin typeface="Consolas" panose="020B0609020204030204" pitchFamily="49" charset="0"/>
              </a:rPr>
              <a:t>,</a:t>
            </a:r>
            <a:r>
              <a:rPr lang="en-US" altLang="zh-CN" b="0" dirty="0">
                <a:solidFill>
                  <a:srgbClr val="249D7F"/>
                </a:solidFill>
                <a:effectLst/>
                <a:latin typeface="Consolas" panose="020B0609020204030204" pitchFamily="49" charset="0"/>
              </a:rPr>
              <a:t>'2018-02-02 13:40:40'</a:t>
            </a:r>
            <a:r>
              <a:rPr lang="en-US" altLang="zh-CN" b="0" dirty="0">
                <a:solidFill>
                  <a:srgbClr val="6C71C4"/>
                </a:solidFill>
                <a:effectLst/>
                <a:latin typeface="Consolas" panose="020B0609020204030204" pitchFamily="49" charset="0"/>
              </a:rPr>
              <a:t>),</a:t>
            </a:r>
            <a:endParaRPr lang="zh-CN" altLang="en-US" b="0" dirty="0">
              <a:solidFill>
                <a:srgbClr val="383838"/>
              </a:solidFill>
              <a:effectLst/>
              <a:latin typeface="Consolas" panose="020B0609020204030204" pitchFamily="49" charset="0"/>
            </a:endParaRPr>
          </a:p>
          <a:p>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3</a:t>
            </a:r>
            <a:r>
              <a:rPr lang="en-US" altLang="zh-CN" b="0" dirty="0">
                <a:solidFill>
                  <a:srgbClr val="6C71C4"/>
                </a:solidFill>
                <a:effectLst/>
                <a:latin typeface="Consolas" panose="020B0609020204030204" pitchFamily="49" charset="0"/>
              </a:rPr>
              <a:t>,</a:t>
            </a:r>
            <a:r>
              <a:rPr lang="en-US" altLang="zh-CN" b="0" dirty="0">
                <a:solidFill>
                  <a:srgbClr val="249D7F"/>
                </a:solidFill>
                <a:effectLst/>
                <a:latin typeface="Consolas" panose="020B0609020204030204" pitchFamily="49" charset="0"/>
              </a:rPr>
              <a:t>'</a:t>
            </a:r>
            <a:r>
              <a:rPr lang="zh-CN" altLang="en-US" b="0" dirty="0">
                <a:solidFill>
                  <a:srgbClr val="249D7F"/>
                </a:solidFill>
                <a:effectLst/>
                <a:latin typeface="Consolas" panose="020B0609020204030204" pitchFamily="49" charset="0"/>
              </a:rPr>
              <a:t>糖果</a:t>
            </a:r>
            <a:r>
              <a:rPr lang="en-US" altLang="zh-CN" b="0" dirty="0">
                <a:solidFill>
                  <a:srgbClr val="249D7F"/>
                </a:solidFill>
                <a:effectLst/>
                <a:latin typeface="Consolas" panose="020B0609020204030204" pitchFamily="49" charset="0"/>
              </a:rPr>
              <a:t>'</a:t>
            </a:r>
            <a:r>
              <a:rPr lang="en-US" altLang="zh-CN" b="0" dirty="0">
                <a:solidFill>
                  <a:srgbClr val="6C71C4"/>
                </a:solidFill>
                <a:effectLst/>
                <a:latin typeface="Consolas" panose="020B0609020204030204" pitchFamily="49" charset="0"/>
              </a:rPr>
              <a:t>,</a:t>
            </a:r>
            <a:r>
              <a:rPr lang="en-US" altLang="zh-CN" b="0" dirty="0">
                <a:solidFill>
                  <a:srgbClr val="249D7F"/>
                </a:solidFill>
                <a:effectLst/>
                <a:latin typeface="Consolas" panose="020B0609020204030204" pitchFamily="49" charset="0"/>
              </a:rPr>
              <a:t>'</a:t>
            </a:r>
            <a:r>
              <a:rPr lang="zh-CN" altLang="en-US" b="0" dirty="0">
                <a:solidFill>
                  <a:srgbClr val="249D7F"/>
                </a:solidFill>
                <a:effectLst/>
                <a:latin typeface="Consolas" panose="020B0609020204030204" pitchFamily="49" charset="0"/>
              </a:rPr>
              <a:t>水果糖</a:t>
            </a:r>
            <a:r>
              <a:rPr lang="en-US" altLang="zh-CN" b="0" dirty="0">
                <a:solidFill>
                  <a:srgbClr val="249D7F"/>
                </a:solidFill>
                <a:effectLst/>
                <a:latin typeface="Consolas" panose="020B0609020204030204" pitchFamily="49" charset="0"/>
              </a:rPr>
              <a:t>'</a:t>
            </a:r>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2.5</a:t>
            </a:r>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100</a:t>
            </a:r>
            <a:r>
              <a:rPr lang="en-US" altLang="zh-CN" b="0" dirty="0">
                <a:solidFill>
                  <a:srgbClr val="6C71C4"/>
                </a:solidFill>
                <a:effectLst/>
                <a:latin typeface="Consolas" panose="020B0609020204030204" pitchFamily="49" charset="0"/>
              </a:rPr>
              <a:t>,</a:t>
            </a:r>
            <a:r>
              <a:rPr lang="en-US" altLang="zh-CN" b="0" dirty="0">
                <a:solidFill>
                  <a:srgbClr val="778899"/>
                </a:solidFill>
                <a:effectLst/>
                <a:latin typeface="Consolas" panose="020B0609020204030204" pitchFamily="49" charset="0"/>
              </a:rPr>
              <a:t>NULL</a:t>
            </a:r>
            <a:r>
              <a:rPr lang="en-US" altLang="zh-CN" b="0" dirty="0">
                <a:solidFill>
                  <a:srgbClr val="6C71C4"/>
                </a:solidFill>
                <a:effectLst/>
                <a:latin typeface="Consolas" panose="020B0609020204030204" pitchFamily="49" charset="0"/>
              </a:rPr>
              <a:t>),</a:t>
            </a:r>
            <a:endParaRPr lang="en-US" altLang="zh-CN" b="0" dirty="0">
              <a:solidFill>
                <a:srgbClr val="383838"/>
              </a:solidFill>
              <a:effectLst/>
              <a:latin typeface="Consolas" panose="020B0609020204030204" pitchFamily="49" charset="0"/>
            </a:endParaRPr>
          </a:p>
          <a:p>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4</a:t>
            </a:r>
            <a:r>
              <a:rPr lang="en-US" altLang="zh-CN" b="0" dirty="0">
                <a:solidFill>
                  <a:srgbClr val="6C71C4"/>
                </a:solidFill>
                <a:effectLst/>
                <a:latin typeface="Consolas" panose="020B0609020204030204" pitchFamily="49" charset="0"/>
              </a:rPr>
              <a:t>,</a:t>
            </a:r>
            <a:r>
              <a:rPr lang="en-US" altLang="zh-CN" b="0" dirty="0">
                <a:solidFill>
                  <a:srgbClr val="249D7F"/>
                </a:solidFill>
                <a:effectLst/>
                <a:latin typeface="Consolas" panose="020B0609020204030204" pitchFamily="49" charset="0"/>
              </a:rPr>
              <a:t>'</a:t>
            </a:r>
            <a:r>
              <a:rPr lang="zh-CN" altLang="en-US" b="0" dirty="0">
                <a:solidFill>
                  <a:srgbClr val="249D7F"/>
                </a:solidFill>
                <a:effectLst/>
                <a:latin typeface="Consolas" panose="020B0609020204030204" pitchFamily="49" charset="0"/>
              </a:rPr>
              <a:t>衣服</a:t>
            </a:r>
            <a:r>
              <a:rPr lang="en-US" altLang="zh-CN" b="0" dirty="0">
                <a:solidFill>
                  <a:srgbClr val="249D7F"/>
                </a:solidFill>
                <a:effectLst/>
                <a:latin typeface="Consolas" panose="020B0609020204030204" pitchFamily="49" charset="0"/>
              </a:rPr>
              <a:t>'</a:t>
            </a:r>
            <a:r>
              <a:rPr lang="en-US" altLang="zh-CN" b="0" dirty="0">
                <a:solidFill>
                  <a:srgbClr val="6C71C4"/>
                </a:solidFill>
                <a:effectLst/>
                <a:latin typeface="Consolas" panose="020B0609020204030204" pitchFamily="49" charset="0"/>
              </a:rPr>
              <a:t>,</a:t>
            </a:r>
            <a:r>
              <a:rPr lang="en-US" altLang="zh-CN" b="0" dirty="0">
                <a:solidFill>
                  <a:srgbClr val="249D7F"/>
                </a:solidFill>
                <a:effectLst/>
                <a:latin typeface="Consolas" panose="020B0609020204030204" pitchFamily="49" charset="0"/>
              </a:rPr>
              <a:t>'</a:t>
            </a:r>
            <a:r>
              <a:rPr lang="zh-CN" altLang="en-US" b="0" dirty="0">
                <a:solidFill>
                  <a:srgbClr val="249D7F"/>
                </a:solidFill>
                <a:effectLst/>
                <a:latin typeface="Consolas" panose="020B0609020204030204" pitchFamily="49" charset="0"/>
              </a:rPr>
              <a:t>连衣裙</a:t>
            </a:r>
            <a:r>
              <a:rPr lang="en-US" altLang="zh-CN" b="0" dirty="0">
                <a:solidFill>
                  <a:srgbClr val="249D7F"/>
                </a:solidFill>
                <a:effectLst/>
                <a:latin typeface="Consolas" panose="020B0609020204030204" pitchFamily="49" charset="0"/>
              </a:rPr>
              <a:t>'</a:t>
            </a:r>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800</a:t>
            </a:r>
            <a:r>
              <a:rPr lang="en-US" altLang="zh-CN" b="0" dirty="0">
                <a:solidFill>
                  <a:srgbClr val="6C71C4"/>
                </a:solidFill>
                <a:effectLst/>
                <a:latin typeface="Consolas" panose="020B0609020204030204" pitchFamily="49" charset="0"/>
              </a:rPr>
              <a:t>,</a:t>
            </a:r>
            <a:r>
              <a:rPr lang="en-US" altLang="zh-CN" b="0" dirty="0">
                <a:solidFill>
                  <a:srgbClr val="778899"/>
                </a:solidFill>
                <a:effectLst/>
                <a:latin typeface="Consolas" panose="020B0609020204030204" pitchFamily="49" charset="0"/>
              </a:rPr>
              <a:t>NULL</a:t>
            </a:r>
            <a:r>
              <a:rPr lang="en-US" altLang="zh-CN" b="0" dirty="0">
                <a:solidFill>
                  <a:srgbClr val="6C71C4"/>
                </a:solidFill>
                <a:effectLst/>
                <a:latin typeface="Consolas" panose="020B0609020204030204" pitchFamily="49" charset="0"/>
              </a:rPr>
              <a:t>,</a:t>
            </a:r>
            <a:r>
              <a:rPr lang="en-US" altLang="zh-CN" b="0" dirty="0">
                <a:solidFill>
                  <a:srgbClr val="249D7F"/>
                </a:solidFill>
                <a:effectLst/>
                <a:latin typeface="Consolas" panose="020B0609020204030204" pitchFamily="49" charset="0"/>
              </a:rPr>
              <a:t>'2018-04-04 13:40:40'</a:t>
            </a:r>
            <a:r>
              <a:rPr lang="en-US" altLang="zh-CN" b="0" dirty="0">
                <a:solidFill>
                  <a:srgbClr val="6C71C4"/>
                </a:solidFill>
                <a:effectLst/>
                <a:latin typeface="Consolas" panose="020B0609020204030204" pitchFamily="49" charset="0"/>
              </a:rPr>
              <a:t>),</a:t>
            </a:r>
            <a:endParaRPr lang="en-US" altLang="zh-CN" b="0" dirty="0">
              <a:solidFill>
                <a:srgbClr val="383838"/>
              </a:solidFill>
              <a:effectLst/>
              <a:latin typeface="Consolas" panose="020B0609020204030204" pitchFamily="49" charset="0"/>
            </a:endParaRPr>
          </a:p>
          <a:p>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5</a:t>
            </a:r>
            <a:r>
              <a:rPr lang="en-US" altLang="zh-CN" b="0" dirty="0">
                <a:solidFill>
                  <a:srgbClr val="6C71C4"/>
                </a:solidFill>
                <a:effectLst/>
                <a:latin typeface="Consolas" panose="020B0609020204030204" pitchFamily="49" charset="0"/>
              </a:rPr>
              <a:t>,</a:t>
            </a:r>
            <a:r>
              <a:rPr lang="en-US" altLang="zh-CN" b="0" dirty="0">
                <a:solidFill>
                  <a:srgbClr val="249D7F"/>
                </a:solidFill>
                <a:effectLst/>
                <a:latin typeface="Consolas" panose="020B0609020204030204" pitchFamily="49" charset="0"/>
              </a:rPr>
              <a:t>'</a:t>
            </a:r>
            <a:r>
              <a:rPr lang="zh-CN" altLang="en-US" b="0" dirty="0">
                <a:solidFill>
                  <a:srgbClr val="249D7F"/>
                </a:solidFill>
                <a:effectLst/>
                <a:latin typeface="Consolas" panose="020B0609020204030204" pitchFamily="49" charset="0"/>
              </a:rPr>
              <a:t>饮品</a:t>
            </a:r>
            <a:r>
              <a:rPr lang="en-US" altLang="zh-CN" b="0" dirty="0">
                <a:solidFill>
                  <a:srgbClr val="249D7F"/>
                </a:solidFill>
                <a:effectLst/>
                <a:latin typeface="Consolas" panose="020B0609020204030204" pitchFamily="49" charset="0"/>
              </a:rPr>
              <a:t>'</a:t>
            </a:r>
            <a:r>
              <a:rPr lang="en-US" altLang="zh-CN" b="0" dirty="0">
                <a:solidFill>
                  <a:srgbClr val="6C71C4"/>
                </a:solidFill>
                <a:effectLst/>
                <a:latin typeface="Consolas" panose="020B0609020204030204" pitchFamily="49" charset="0"/>
              </a:rPr>
              <a:t>,</a:t>
            </a:r>
            <a:r>
              <a:rPr lang="en-US" altLang="zh-CN" b="0" dirty="0">
                <a:solidFill>
                  <a:srgbClr val="249D7F"/>
                </a:solidFill>
                <a:effectLst/>
                <a:latin typeface="Consolas" panose="020B0609020204030204" pitchFamily="49" charset="0"/>
              </a:rPr>
              <a:t>'</a:t>
            </a:r>
            <a:r>
              <a:rPr lang="zh-CN" altLang="en-US" b="0" dirty="0">
                <a:solidFill>
                  <a:srgbClr val="249D7F"/>
                </a:solidFill>
                <a:effectLst/>
                <a:latin typeface="Consolas" panose="020B0609020204030204" pitchFamily="49" charset="0"/>
              </a:rPr>
              <a:t>可乐</a:t>
            </a:r>
            <a:r>
              <a:rPr lang="en-US" altLang="zh-CN" b="0" dirty="0">
                <a:solidFill>
                  <a:srgbClr val="249D7F"/>
                </a:solidFill>
                <a:effectLst/>
                <a:latin typeface="Consolas" panose="020B0609020204030204" pitchFamily="49" charset="0"/>
              </a:rPr>
              <a:t>'</a:t>
            </a:r>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3</a:t>
            </a:r>
            <a:r>
              <a:rPr lang="en-US" altLang="zh-CN" b="0" dirty="0">
                <a:solidFill>
                  <a:srgbClr val="6C71C4"/>
                </a:solidFill>
                <a:effectLst/>
                <a:latin typeface="Consolas" panose="020B0609020204030204" pitchFamily="49" charset="0"/>
              </a:rPr>
              <a:t>,</a:t>
            </a:r>
            <a:r>
              <a:rPr lang="en-US" altLang="zh-CN" b="0" dirty="0">
                <a:solidFill>
                  <a:srgbClr val="FF8645"/>
                </a:solidFill>
                <a:effectLst/>
                <a:latin typeface="Consolas" panose="020B0609020204030204" pitchFamily="49" charset="0"/>
              </a:rPr>
              <a:t>70</a:t>
            </a:r>
            <a:r>
              <a:rPr lang="en-US" altLang="zh-CN" b="0" dirty="0">
                <a:solidFill>
                  <a:srgbClr val="6C71C4"/>
                </a:solidFill>
                <a:effectLst/>
                <a:latin typeface="Consolas" panose="020B0609020204030204" pitchFamily="49" charset="0"/>
              </a:rPr>
              <a:t>,</a:t>
            </a:r>
            <a:r>
              <a:rPr lang="en-US" altLang="zh-CN" b="0" dirty="0">
                <a:solidFill>
                  <a:srgbClr val="249D7F"/>
                </a:solidFill>
                <a:effectLst/>
                <a:latin typeface="Consolas" panose="020B0609020204030204" pitchFamily="49" charset="0"/>
              </a:rPr>
              <a:t>'2018-05-05 13:40:40'</a:t>
            </a:r>
            <a:r>
              <a:rPr lang="en-US" altLang="zh-CN" b="0" dirty="0">
                <a:solidFill>
                  <a:srgbClr val="6C71C4"/>
                </a:solidFill>
                <a:effectLst/>
                <a:latin typeface="Consolas" panose="020B0609020204030204" pitchFamily="49" charset="0"/>
              </a:rPr>
              <a:t>);</a:t>
            </a:r>
            <a:endParaRPr lang="zh-CN" altLang="en-US" b="0" dirty="0">
              <a:solidFill>
                <a:srgbClr val="383838"/>
              </a:solidFill>
              <a:effectLst/>
              <a:latin typeface="Consolas" panose="020B0609020204030204" pitchFamily="49" charset="0"/>
            </a:endParaRPr>
          </a:p>
          <a:p>
            <a:r>
              <a:rPr lang="en-US" altLang="zh-CN" b="0" dirty="0">
                <a:solidFill>
                  <a:srgbClr val="A151D2"/>
                </a:solidFill>
                <a:effectLst/>
                <a:latin typeface="Consolas" panose="020B0609020204030204" pitchFamily="49" charset="0"/>
              </a:rPr>
              <a:t>SELECT</a:t>
            </a:r>
            <a:r>
              <a:rPr lang="en-US" altLang="zh-CN" b="0" dirty="0">
                <a:solidFill>
                  <a:srgbClr val="383838"/>
                </a:solidFill>
                <a:effectLst/>
                <a:latin typeface="Consolas" panose="020B0609020204030204" pitchFamily="49" charset="0"/>
              </a:rPr>
              <a:t> </a:t>
            </a:r>
            <a:r>
              <a:rPr lang="en-US" altLang="zh-CN" b="0" dirty="0">
                <a:solidFill>
                  <a:srgbClr val="778899"/>
                </a:solidFill>
                <a:effectLst/>
                <a:latin typeface="Consolas" panose="020B0609020204030204" pitchFamily="49" charset="0"/>
              </a:rPr>
              <a:t>*</a:t>
            </a:r>
            <a:r>
              <a:rPr lang="en-US" altLang="zh-CN" b="0" dirty="0">
                <a:solidFill>
                  <a:srgbClr val="383838"/>
                </a:solidFill>
                <a:effectLst/>
                <a:latin typeface="Consolas" panose="020B0609020204030204" pitchFamily="49" charset="0"/>
              </a:rPr>
              <a:t> </a:t>
            </a:r>
            <a:r>
              <a:rPr lang="en-US" altLang="zh-CN" b="0" dirty="0">
                <a:solidFill>
                  <a:srgbClr val="A151D2"/>
                </a:solidFill>
                <a:effectLst/>
                <a:latin typeface="Consolas" panose="020B0609020204030204" pitchFamily="49" charset="0"/>
              </a:rPr>
              <a:t>FROM</a:t>
            </a:r>
            <a:r>
              <a:rPr lang="en-US" altLang="zh-CN" b="0" dirty="0">
                <a:solidFill>
                  <a:srgbClr val="383838"/>
                </a:solidFill>
                <a:effectLst/>
                <a:latin typeface="Consolas" panose="020B0609020204030204" pitchFamily="49" charset="0"/>
              </a:rPr>
              <a:t> </a:t>
            </a:r>
            <a:r>
              <a:rPr lang="en-US" altLang="zh-CN" b="0" dirty="0">
                <a:solidFill>
                  <a:srgbClr val="2795EE"/>
                </a:solidFill>
                <a:effectLst/>
                <a:latin typeface="Consolas" panose="020B0609020204030204" pitchFamily="49" charset="0"/>
              </a:rPr>
              <a:t>goods</a:t>
            </a:r>
            <a:r>
              <a:rPr lang="en-US" altLang="zh-CN" b="0" dirty="0">
                <a:solidFill>
                  <a:srgbClr val="6C71C4"/>
                </a:solidFill>
                <a:effectLst/>
                <a:latin typeface="Consolas" panose="020B0609020204030204" pitchFamily="49" charset="0"/>
              </a:rPr>
              <a:t>;</a:t>
            </a:r>
            <a:endParaRPr lang="en-US" altLang="zh-CN" b="0" dirty="0">
              <a:solidFill>
                <a:srgbClr val="383838"/>
              </a:solidFill>
              <a:effectLst/>
              <a:latin typeface="Consolas" panose="020B0609020204030204" pitchFamily="49" charset="0"/>
            </a:endParaRPr>
          </a:p>
          <a:p>
            <a:br>
              <a:rPr lang="en-US" altLang="zh-CN" b="0">
                <a:solidFill>
                  <a:srgbClr val="383838"/>
                </a:solidFill>
                <a:effectLst/>
                <a:latin typeface="Consolas" panose="020B0609020204030204" pitchFamily="49" charset="0"/>
              </a:rPr>
            </a:br>
            <a:endParaRPr lang="en-US" altLang="zh-CN" b="0">
              <a:solidFill>
                <a:srgbClr val="383838"/>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42</a:t>
            </a:fld>
            <a:endParaRPr lang="zh-CN" altLang="en-US" dirty="0"/>
          </a:p>
        </p:txBody>
      </p:sp>
    </p:spTree>
    <p:extLst>
      <p:ext uri="{BB962C8B-B14F-4D97-AF65-F5344CB8AC3E}">
        <p14:creationId xmlns:p14="http://schemas.microsoft.com/office/powerpoint/2010/main" val="113962222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43</a:t>
            </a:fld>
            <a:endParaRPr lang="zh-CN" altLang="en-US" dirty="0"/>
          </a:p>
        </p:txBody>
      </p:sp>
    </p:spTree>
    <p:extLst>
      <p:ext uri="{BB962C8B-B14F-4D97-AF65-F5344CB8AC3E}">
        <p14:creationId xmlns:p14="http://schemas.microsoft.com/office/powerpoint/2010/main" val="38441415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44</a:t>
            </a:fld>
            <a:endParaRPr lang="zh-CN" altLang="en-US" dirty="0"/>
          </a:p>
        </p:txBody>
      </p:sp>
    </p:spTree>
    <p:extLst>
      <p:ext uri="{BB962C8B-B14F-4D97-AF65-F5344CB8AC3E}">
        <p14:creationId xmlns:p14="http://schemas.microsoft.com/office/powerpoint/2010/main" val="18739239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45</a:t>
            </a:fld>
            <a:endParaRPr lang="zh-CN" altLang="en-US" dirty="0"/>
          </a:p>
        </p:txBody>
      </p:sp>
    </p:spTree>
    <p:extLst>
      <p:ext uri="{BB962C8B-B14F-4D97-AF65-F5344CB8AC3E}">
        <p14:creationId xmlns:p14="http://schemas.microsoft.com/office/powerpoint/2010/main" val="31377824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46</a:t>
            </a:fld>
            <a:endParaRPr lang="zh-CN" altLang="en-US" dirty="0"/>
          </a:p>
        </p:txBody>
      </p:sp>
    </p:spTree>
    <p:extLst>
      <p:ext uri="{BB962C8B-B14F-4D97-AF65-F5344CB8AC3E}">
        <p14:creationId xmlns:p14="http://schemas.microsoft.com/office/powerpoint/2010/main" val="28524114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47</a:t>
            </a:fld>
            <a:endParaRPr lang="zh-CN" altLang="en-US" dirty="0"/>
          </a:p>
        </p:txBody>
      </p:sp>
    </p:spTree>
    <p:extLst>
      <p:ext uri="{BB962C8B-B14F-4D97-AF65-F5344CB8AC3E}">
        <p14:creationId xmlns:p14="http://schemas.microsoft.com/office/powerpoint/2010/main" val="16523027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48</a:t>
            </a:fld>
            <a:endParaRPr lang="zh-CN" altLang="en-US" dirty="0"/>
          </a:p>
        </p:txBody>
      </p:sp>
    </p:spTree>
    <p:extLst>
      <p:ext uri="{BB962C8B-B14F-4D97-AF65-F5344CB8AC3E}">
        <p14:creationId xmlns:p14="http://schemas.microsoft.com/office/powerpoint/2010/main" val="21866844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49</a:t>
            </a:fld>
            <a:endParaRPr lang="zh-CN" altLang="en-US" dirty="0"/>
          </a:p>
        </p:txBody>
      </p:sp>
    </p:spTree>
    <p:extLst>
      <p:ext uri="{BB962C8B-B14F-4D97-AF65-F5344CB8AC3E}">
        <p14:creationId xmlns:p14="http://schemas.microsoft.com/office/powerpoint/2010/main" val="9759093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50</a:t>
            </a:fld>
            <a:endParaRPr lang="zh-CN" altLang="en-US" dirty="0"/>
          </a:p>
        </p:txBody>
      </p:sp>
    </p:spTree>
    <p:extLst>
      <p:ext uri="{BB962C8B-B14F-4D97-AF65-F5344CB8AC3E}">
        <p14:creationId xmlns:p14="http://schemas.microsoft.com/office/powerpoint/2010/main" val="25743321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51</a:t>
            </a:fld>
            <a:endParaRPr lang="zh-CN" altLang="en-US" dirty="0"/>
          </a:p>
        </p:txBody>
      </p:sp>
    </p:spTree>
    <p:extLst>
      <p:ext uri="{BB962C8B-B14F-4D97-AF65-F5344CB8AC3E}">
        <p14:creationId xmlns:p14="http://schemas.microsoft.com/office/powerpoint/2010/main" val="48482491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52</a:t>
            </a:fld>
            <a:endParaRPr lang="zh-CN" altLang="en-US" dirty="0"/>
          </a:p>
        </p:txBody>
      </p:sp>
    </p:spTree>
    <p:extLst>
      <p:ext uri="{BB962C8B-B14F-4D97-AF65-F5344CB8AC3E}">
        <p14:creationId xmlns:p14="http://schemas.microsoft.com/office/powerpoint/2010/main" val="321192384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53</a:t>
            </a:fld>
            <a:endParaRPr lang="zh-CN" altLang="en-US" dirty="0"/>
          </a:p>
        </p:txBody>
      </p:sp>
    </p:spTree>
    <p:extLst>
      <p:ext uri="{BB962C8B-B14F-4D97-AF65-F5344CB8AC3E}">
        <p14:creationId xmlns:p14="http://schemas.microsoft.com/office/powerpoint/2010/main" val="38768199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54</a:t>
            </a:fld>
            <a:endParaRPr lang="zh-CN" altLang="en-US" dirty="0"/>
          </a:p>
        </p:txBody>
      </p:sp>
    </p:spTree>
    <p:extLst>
      <p:ext uri="{BB962C8B-B14F-4D97-AF65-F5344CB8AC3E}">
        <p14:creationId xmlns:p14="http://schemas.microsoft.com/office/powerpoint/2010/main" val="290300012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55</a:t>
            </a:fld>
            <a:endParaRPr lang="zh-CN" altLang="en-US" dirty="0"/>
          </a:p>
        </p:txBody>
      </p:sp>
    </p:spTree>
    <p:extLst>
      <p:ext uri="{BB962C8B-B14F-4D97-AF65-F5344CB8AC3E}">
        <p14:creationId xmlns:p14="http://schemas.microsoft.com/office/powerpoint/2010/main" val="357600106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56</a:t>
            </a:fld>
            <a:endParaRPr lang="zh-CN" altLang="en-US" dirty="0"/>
          </a:p>
        </p:txBody>
      </p:sp>
    </p:spTree>
    <p:extLst>
      <p:ext uri="{BB962C8B-B14F-4D97-AF65-F5344CB8AC3E}">
        <p14:creationId xmlns:p14="http://schemas.microsoft.com/office/powerpoint/2010/main" val="26035765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57</a:t>
            </a:fld>
            <a:endParaRPr lang="zh-CN" altLang="en-US" dirty="0"/>
          </a:p>
        </p:txBody>
      </p:sp>
    </p:spTree>
    <p:extLst>
      <p:ext uri="{BB962C8B-B14F-4D97-AF65-F5344CB8AC3E}">
        <p14:creationId xmlns:p14="http://schemas.microsoft.com/office/powerpoint/2010/main" val="374090862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58</a:t>
            </a:fld>
            <a:endParaRPr lang="zh-CN" altLang="en-US" dirty="0"/>
          </a:p>
        </p:txBody>
      </p:sp>
    </p:spTree>
    <p:extLst>
      <p:ext uri="{BB962C8B-B14F-4D97-AF65-F5344CB8AC3E}">
        <p14:creationId xmlns:p14="http://schemas.microsoft.com/office/powerpoint/2010/main" val="15676206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59</a:t>
            </a:fld>
            <a:endParaRPr lang="zh-CN" altLang="en-US" dirty="0"/>
          </a:p>
        </p:txBody>
      </p:sp>
    </p:spTree>
    <p:extLst>
      <p:ext uri="{BB962C8B-B14F-4D97-AF65-F5344CB8AC3E}">
        <p14:creationId xmlns:p14="http://schemas.microsoft.com/office/powerpoint/2010/main" val="259823166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60</a:t>
            </a:fld>
            <a:endParaRPr lang="zh-CN" altLang="en-US" dirty="0"/>
          </a:p>
        </p:txBody>
      </p:sp>
    </p:spTree>
    <p:extLst>
      <p:ext uri="{BB962C8B-B14F-4D97-AF65-F5344CB8AC3E}">
        <p14:creationId xmlns:p14="http://schemas.microsoft.com/office/powerpoint/2010/main" val="279396057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61</a:t>
            </a:fld>
            <a:endParaRPr lang="zh-CN" altLang="en-US" dirty="0"/>
          </a:p>
        </p:txBody>
      </p:sp>
    </p:spTree>
    <p:extLst>
      <p:ext uri="{BB962C8B-B14F-4D97-AF65-F5344CB8AC3E}">
        <p14:creationId xmlns:p14="http://schemas.microsoft.com/office/powerpoint/2010/main" val="339074160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62</a:t>
            </a:fld>
            <a:endParaRPr lang="zh-CN" altLang="en-US" dirty="0"/>
          </a:p>
        </p:txBody>
      </p:sp>
    </p:spTree>
    <p:extLst>
      <p:ext uri="{BB962C8B-B14F-4D97-AF65-F5344CB8AC3E}">
        <p14:creationId xmlns:p14="http://schemas.microsoft.com/office/powerpoint/2010/main" val="241128110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63</a:t>
            </a:fld>
            <a:endParaRPr lang="zh-CN" altLang="en-US" dirty="0"/>
          </a:p>
        </p:txBody>
      </p:sp>
    </p:spTree>
    <p:extLst>
      <p:ext uri="{BB962C8B-B14F-4D97-AF65-F5344CB8AC3E}">
        <p14:creationId xmlns:p14="http://schemas.microsoft.com/office/powerpoint/2010/main" val="35154285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64</a:t>
            </a:fld>
            <a:endParaRPr lang="zh-CN" altLang="en-US" dirty="0"/>
          </a:p>
        </p:txBody>
      </p:sp>
    </p:spTree>
    <p:extLst>
      <p:ext uri="{BB962C8B-B14F-4D97-AF65-F5344CB8AC3E}">
        <p14:creationId xmlns:p14="http://schemas.microsoft.com/office/powerpoint/2010/main" val="109823454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65</a:t>
            </a:fld>
            <a:endParaRPr lang="zh-CN" altLang="en-US" dirty="0"/>
          </a:p>
        </p:txBody>
      </p:sp>
    </p:spTree>
    <p:extLst>
      <p:ext uri="{BB962C8B-B14F-4D97-AF65-F5344CB8AC3E}">
        <p14:creationId xmlns:p14="http://schemas.microsoft.com/office/powerpoint/2010/main" val="371625988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66</a:t>
            </a:fld>
            <a:endParaRPr lang="zh-CN" altLang="en-US" dirty="0"/>
          </a:p>
        </p:txBody>
      </p:sp>
    </p:spTree>
    <p:extLst>
      <p:ext uri="{BB962C8B-B14F-4D97-AF65-F5344CB8AC3E}">
        <p14:creationId xmlns:p14="http://schemas.microsoft.com/office/powerpoint/2010/main" val="111471062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67</a:t>
            </a:fld>
            <a:endParaRPr lang="zh-CN" altLang="en-US" dirty="0"/>
          </a:p>
        </p:txBody>
      </p:sp>
    </p:spTree>
    <p:extLst>
      <p:ext uri="{BB962C8B-B14F-4D97-AF65-F5344CB8AC3E}">
        <p14:creationId xmlns:p14="http://schemas.microsoft.com/office/powerpoint/2010/main" val="109170502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68</a:t>
            </a:fld>
            <a:endParaRPr lang="zh-CN" altLang="en-US" dirty="0"/>
          </a:p>
        </p:txBody>
      </p:sp>
    </p:spTree>
    <p:extLst>
      <p:ext uri="{BB962C8B-B14F-4D97-AF65-F5344CB8AC3E}">
        <p14:creationId xmlns:p14="http://schemas.microsoft.com/office/powerpoint/2010/main" val="157183318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69</a:t>
            </a:fld>
            <a:endParaRPr lang="zh-CN" altLang="en-US" dirty="0"/>
          </a:p>
        </p:txBody>
      </p:sp>
    </p:spTree>
    <p:extLst>
      <p:ext uri="{BB962C8B-B14F-4D97-AF65-F5344CB8AC3E}">
        <p14:creationId xmlns:p14="http://schemas.microsoft.com/office/powerpoint/2010/main" val="200393531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70</a:t>
            </a:fld>
            <a:endParaRPr lang="zh-CN" altLang="en-US" dirty="0"/>
          </a:p>
        </p:txBody>
      </p:sp>
    </p:spTree>
    <p:extLst>
      <p:ext uri="{BB962C8B-B14F-4D97-AF65-F5344CB8AC3E}">
        <p14:creationId xmlns:p14="http://schemas.microsoft.com/office/powerpoint/2010/main" val="336419359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71</a:t>
            </a:fld>
            <a:endParaRPr lang="zh-CN" altLang="en-US" dirty="0"/>
          </a:p>
        </p:txBody>
      </p:sp>
    </p:spTree>
    <p:extLst>
      <p:ext uri="{BB962C8B-B14F-4D97-AF65-F5344CB8AC3E}">
        <p14:creationId xmlns:p14="http://schemas.microsoft.com/office/powerpoint/2010/main" val="4884323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72</a:t>
            </a:fld>
            <a:endParaRPr lang="zh-CN" altLang="en-US" dirty="0"/>
          </a:p>
        </p:txBody>
      </p:sp>
    </p:spTree>
    <p:extLst>
      <p:ext uri="{BB962C8B-B14F-4D97-AF65-F5344CB8AC3E}">
        <p14:creationId xmlns:p14="http://schemas.microsoft.com/office/powerpoint/2010/main" val="223594513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73</a:t>
            </a:fld>
            <a:endParaRPr lang="zh-CN" altLang="en-US" dirty="0"/>
          </a:p>
        </p:txBody>
      </p:sp>
    </p:spTree>
    <p:extLst>
      <p:ext uri="{BB962C8B-B14F-4D97-AF65-F5344CB8AC3E}">
        <p14:creationId xmlns:p14="http://schemas.microsoft.com/office/powerpoint/2010/main" val="37114975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74</a:t>
            </a:fld>
            <a:endParaRPr lang="zh-CN" altLang="en-US" dirty="0"/>
          </a:p>
        </p:txBody>
      </p:sp>
    </p:spTree>
    <p:extLst>
      <p:ext uri="{BB962C8B-B14F-4D97-AF65-F5344CB8AC3E}">
        <p14:creationId xmlns:p14="http://schemas.microsoft.com/office/powerpoint/2010/main" val="192720117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75</a:t>
            </a:fld>
            <a:endParaRPr lang="zh-CN" altLang="en-US" dirty="0"/>
          </a:p>
        </p:txBody>
      </p:sp>
    </p:spTree>
    <p:extLst>
      <p:ext uri="{BB962C8B-B14F-4D97-AF65-F5344CB8AC3E}">
        <p14:creationId xmlns:p14="http://schemas.microsoft.com/office/powerpoint/2010/main" val="347904078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76</a:t>
            </a:fld>
            <a:endParaRPr lang="zh-CN" altLang="en-US" dirty="0"/>
          </a:p>
        </p:txBody>
      </p:sp>
    </p:spTree>
    <p:extLst>
      <p:ext uri="{BB962C8B-B14F-4D97-AF65-F5344CB8AC3E}">
        <p14:creationId xmlns:p14="http://schemas.microsoft.com/office/powerpoint/2010/main" val="286886375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SELECT </a:t>
            </a:r>
            <a:r>
              <a:rPr lang="en-US" altLang="zh-CN" dirty="0" err="1"/>
              <a:t>stu.xh</a:t>
            </a:r>
            <a:r>
              <a:rPr lang="en-US" altLang="zh-CN" dirty="0"/>
              <a:t> FROM student as </a:t>
            </a:r>
            <a:r>
              <a:rPr lang="en-US" altLang="zh-CN" dirty="0" err="1"/>
              <a:t>stu</a:t>
            </a:r>
            <a:r>
              <a:rPr lang="en-US" altLang="zh-CN" dirty="0"/>
              <a:t>;</a:t>
            </a:r>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77</a:t>
            </a:fld>
            <a:endParaRPr lang="zh-CN" altLang="en-US" dirty="0"/>
          </a:p>
        </p:txBody>
      </p:sp>
    </p:spTree>
    <p:extLst>
      <p:ext uri="{BB962C8B-B14F-4D97-AF65-F5344CB8AC3E}">
        <p14:creationId xmlns:p14="http://schemas.microsoft.com/office/powerpoint/2010/main" val="363591388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78</a:t>
            </a:fld>
            <a:endParaRPr lang="zh-CN" altLang="en-US" dirty="0"/>
          </a:p>
        </p:txBody>
      </p:sp>
    </p:spTree>
    <p:extLst>
      <p:ext uri="{BB962C8B-B14F-4D97-AF65-F5344CB8AC3E}">
        <p14:creationId xmlns:p14="http://schemas.microsoft.com/office/powerpoint/2010/main" val="276002842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79</a:t>
            </a:fld>
            <a:endParaRPr lang="zh-CN" altLang="en-US" dirty="0"/>
          </a:p>
        </p:txBody>
      </p:sp>
    </p:spTree>
    <p:extLst>
      <p:ext uri="{BB962C8B-B14F-4D97-AF65-F5344CB8AC3E}">
        <p14:creationId xmlns:p14="http://schemas.microsoft.com/office/powerpoint/2010/main" val="201223660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80</a:t>
            </a:fld>
            <a:endParaRPr lang="zh-CN" altLang="en-US" dirty="0"/>
          </a:p>
        </p:txBody>
      </p:sp>
    </p:spTree>
    <p:extLst>
      <p:ext uri="{BB962C8B-B14F-4D97-AF65-F5344CB8AC3E}">
        <p14:creationId xmlns:p14="http://schemas.microsoft.com/office/powerpoint/2010/main" val="285326876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81</a:t>
            </a:fld>
            <a:endParaRPr lang="zh-CN" altLang="en-US" dirty="0"/>
          </a:p>
        </p:txBody>
      </p:sp>
    </p:spTree>
    <p:extLst>
      <p:ext uri="{BB962C8B-B14F-4D97-AF65-F5344CB8AC3E}">
        <p14:creationId xmlns:p14="http://schemas.microsoft.com/office/powerpoint/2010/main" val="21745267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82</a:t>
            </a:fld>
            <a:endParaRPr lang="zh-CN" altLang="en-US" dirty="0"/>
          </a:p>
        </p:txBody>
      </p:sp>
    </p:spTree>
    <p:extLst>
      <p:ext uri="{BB962C8B-B14F-4D97-AF65-F5344CB8AC3E}">
        <p14:creationId xmlns:p14="http://schemas.microsoft.com/office/powerpoint/2010/main" val="372549390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83</a:t>
            </a:fld>
            <a:endParaRPr lang="zh-CN" altLang="en-US" dirty="0"/>
          </a:p>
        </p:txBody>
      </p:sp>
    </p:spTree>
    <p:extLst>
      <p:ext uri="{BB962C8B-B14F-4D97-AF65-F5344CB8AC3E}">
        <p14:creationId xmlns:p14="http://schemas.microsoft.com/office/powerpoint/2010/main" val="113098188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84</a:t>
            </a:fld>
            <a:endParaRPr lang="zh-CN" altLang="en-US" dirty="0"/>
          </a:p>
        </p:txBody>
      </p:sp>
    </p:spTree>
    <p:extLst>
      <p:ext uri="{BB962C8B-B14F-4D97-AF65-F5344CB8AC3E}">
        <p14:creationId xmlns:p14="http://schemas.microsoft.com/office/powerpoint/2010/main" val="64577507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85</a:t>
            </a:fld>
            <a:endParaRPr lang="zh-CN" altLang="en-US" dirty="0"/>
          </a:p>
        </p:txBody>
      </p:sp>
    </p:spTree>
    <p:extLst>
      <p:ext uri="{BB962C8B-B14F-4D97-AF65-F5344CB8AC3E}">
        <p14:creationId xmlns:p14="http://schemas.microsoft.com/office/powerpoint/2010/main" val="59327621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86</a:t>
            </a:fld>
            <a:endParaRPr lang="zh-CN" altLang="en-US" dirty="0"/>
          </a:p>
        </p:txBody>
      </p:sp>
    </p:spTree>
    <p:extLst>
      <p:ext uri="{BB962C8B-B14F-4D97-AF65-F5344CB8AC3E}">
        <p14:creationId xmlns:p14="http://schemas.microsoft.com/office/powerpoint/2010/main" val="67821114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0C7B0B4-F1B6-49A4-9B43-085A30E4E140}" type="slidenum">
              <a:rPr lang="zh-CN" altLang="en-US" smtClean="0"/>
              <a:t>87</a:t>
            </a:fld>
            <a:endParaRPr lang="zh-CN" altLang="en-US" dirty="0"/>
          </a:p>
        </p:txBody>
      </p:sp>
    </p:spTree>
    <p:extLst>
      <p:ext uri="{BB962C8B-B14F-4D97-AF65-F5344CB8AC3E}">
        <p14:creationId xmlns:p14="http://schemas.microsoft.com/office/powerpoint/2010/main" val="405234117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0C7B0B4-F1B6-49A4-9B43-085A30E4E140}" type="slidenum">
              <a:rPr lang="zh-CN" altLang="en-US" smtClean="0"/>
              <a:t>88</a:t>
            </a:fld>
            <a:endParaRPr lang="zh-CN" altLang="en-US"/>
          </a:p>
        </p:txBody>
      </p:sp>
    </p:spTree>
    <p:extLst>
      <p:ext uri="{BB962C8B-B14F-4D97-AF65-F5344CB8AC3E}">
        <p14:creationId xmlns:p14="http://schemas.microsoft.com/office/powerpoint/2010/main" val="3520859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7" name="圆角矩形 6"/>
          <p:cNvSpPr/>
          <p:nvPr userDrawn="1"/>
        </p:nvSpPr>
        <p:spPr>
          <a:xfrm>
            <a:off x="-617534" y="347148"/>
            <a:ext cx="1705253" cy="332335"/>
          </a:xfrm>
          <a:prstGeom prst="roundRect">
            <a:avLst>
              <a:gd name="adj" fmla="val 50000"/>
            </a:avLst>
          </a:prstGeom>
          <a:gradFill>
            <a:gsLst>
              <a:gs pos="52000">
                <a:srgbClr val="03E790"/>
              </a:gs>
              <a:gs pos="100000">
                <a:srgbClr val="0070C0"/>
              </a:gs>
              <a:gs pos="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245658" y="155789"/>
            <a:ext cx="10850563" cy="616372"/>
          </a:xfrm>
        </p:spPr>
        <p:txBody>
          <a:bodyPr/>
          <a:lstStyle/>
          <a:p>
            <a:r>
              <a:rPr lang="zh-CN" altLang="en-US" dirty="0"/>
              <a:t>单击此处编辑母版标题样式</a:t>
            </a:r>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4_标题幻灯片">
    <p:spTree>
      <p:nvGrpSpPr>
        <p:cNvPr id="1" name=""/>
        <p:cNvGrpSpPr/>
        <p:nvPr/>
      </p:nvGrpSpPr>
      <p:grpSpPr>
        <a:xfrm>
          <a:off x="0" y="0"/>
          <a:ext cx="0" cy="0"/>
          <a:chOff x="0" y="0"/>
          <a:chExt cx="0" cy="0"/>
        </a:xfrm>
      </p:grpSpPr>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7" name="圆角矩形 6"/>
          <p:cNvSpPr/>
          <p:nvPr userDrawn="1"/>
        </p:nvSpPr>
        <p:spPr>
          <a:xfrm>
            <a:off x="-617534" y="357943"/>
            <a:ext cx="1705253" cy="332335"/>
          </a:xfrm>
          <a:prstGeom prst="roundRect">
            <a:avLst>
              <a:gd name="adj" fmla="val 50000"/>
            </a:avLst>
          </a:prstGeom>
          <a:gradFill>
            <a:gsLst>
              <a:gs pos="52000">
                <a:srgbClr val="03E790"/>
              </a:gs>
              <a:gs pos="100000">
                <a:srgbClr val="0070C0"/>
              </a:gs>
              <a:gs pos="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540095" y="0"/>
            <a:ext cx="3651905" cy="3015448"/>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71633"/>
            <a:ext cx="1743607" cy="1286367"/>
          </a:xfrm>
          <a:prstGeom prst="rect">
            <a:avLst/>
          </a:prstGeom>
        </p:spPr>
      </p:pic>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sp>
        <p:nvSpPr>
          <p:cNvPr id="3" name="矩形 1"/>
          <p:cNvSpPr/>
          <p:nvPr userDrawn="1"/>
        </p:nvSpPr>
        <p:spPr>
          <a:xfrm>
            <a:off x="0" y="290285"/>
            <a:ext cx="1364343" cy="435429"/>
          </a:xfrm>
          <a:custGeom>
            <a:avLst/>
            <a:gdLst>
              <a:gd name="connsiteX0" fmla="*/ 0 w 1364343"/>
              <a:gd name="connsiteY0" fmla="*/ 0 h 435429"/>
              <a:gd name="connsiteX1" fmla="*/ 1364343 w 1364343"/>
              <a:gd name="connsiteY1" fmla="*/ 0 h 435429"/>
              <a:gd name="connsiteX2" fmla="*/ 1364343 w 1364343"/>
              <a:gd name="connsiteY2" fmla="*/ 435429 h 435429"/>
              <a:gd name="connsiteX3" fmla="*/ 0 w 1364343"/>
              <a:gd name="connsiteY3" fmla="*/ 435429 h 435429"/>
              <a:gd name="connsiteX4" fmla="*/ 0 w 1364343"/>
              <a:gd name="connsiteY4" fmla="*/ 0 h 435429"/>
              <a:gd name="connsiteX0-1" fmla="*/ 0 w 1364343"/>
              <a:gd name="connsiteY0-2" fmla="*/ 0 h 435429"/>
              <a:gd name="connsiteX1-3" fmla="*/ 1364343 w 1364343"/>
              <a:gd name="connsiteY1-4" fmla="*/ 0 h 435429"/>
              <a:gd name="connsiteX2-5" fmla="*/ 1190171 w 1364343"/>
              <a:gd name="connsiteY2-6" fmla="*/ 435429 h 435429"/>
              <a:gd name="connsiteX3-7" fmla="*/ 0 w 1364343"/>
              <a:gd name="connsiteY3-8" fmla="*/ 435429 h 435429"/>
              <a:gd name="connsiteX4-9" fmla="*/ 0 w 1364343"/>
              <a:gd name="connsiteY4-10" fmla="*/ 0 h 43542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64343" h="435429">
                <a:moveTo>
                  <a:pt x="0" y="0"/>
                </a:moveTo>
                <a:lnTo>
                  <a:pt x="1364343" y="0"/>
                </a:lnTo>
                <a:lnTo>
                  <a:pt x="1190171" y="435429"/>
                </a:lnTo>
                <a:lnTo>
                  <a:pt x="0" y="435429"/>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平行四边形 3"/>
          <p:cNvSpPr/>
          <p:nvPr userDrawn="1"/>
        </p:nvSpPr>
        <p:spPr>
          <a:xfrm>
            <a:off x="1242276" y="291873"/>
            <a:ext cx="447335" cy="433841"/>
          </a:xfrm>
          <a:prstGeom prst="parallelogram">
            <a:avLst>
              <a:gd name="adj" fmla="val 40109"/>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文本框 4"/>
          <p:cNvSpPr txBox="1"/>
          <p:nvPr userDrawn="1"/>
        </p:nvSpPr>
        <p:spPr>
          <a:xfrm>
            <a:off x="68728" y="323333"/>
            <a:ext cx="868680" cy="299085"/>
          </a:xfrm>
          <a:prstGeom prst="rect">
            <a:avLst/>
          </a:prstGeom>
          <a:noFill/>
          <a:extLst>
            <a:ext uri="{909E8E84-426E-40DD-AFC4-6F175D3DCCD1}">
              <a14:hiddenFill xmlns:a14="http://schemas.microsoft.com/office/drawing/2010/main">
                <a:solidFill>
                  <a:schemeClr val="accent2"/>
                </a:solidFill>
              </a14:hiddenFill>
            </a:ext>
          </a:extLst>
        </p:spPr>
        <p:txBody>
          <a:bodyPr wrap="none" rtlCol="0">
            <a:spAutoFit/>
          </a:bodyPr>
          <a:lstStyle/>
          <a:p>
            <a:r>
              <a:rPr lang="zh-CN" altLang="en-US" sz="1350" dirty="0">
                <a:solidFill>
                  <a:schemeClr val="bg1"/>
                </a:solidFill>
                <a:latin typeface="微软雅黑" panose="020B0503020204020204" pitchFamily="34" charset="-122"/>
                <a:ea typeface="微软雅黑" panose="020B0503020204020204" pitchFamily="34" charset="-122"/>
              </a:rPr>
              <a:t>开发框架</a:t>
            </a:r>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userDrawn="1">
  <p:cSld name="标题幻灯片">
    <p:spTree>
      <p:nvGrpSpPr>
        <p:cNvPr id="1" name=""/>
        <p:cNvGrpSpPr/>
        <p:nvPr/>
      </p:nvGrpSpPr>
      <p:grpSpPr>
        <a:xfrm>
          <a:off x="0" y="0"/>
          <a:ext cx="0" cy="0"/>
          <a:chOff x="0" y="0"/>
          <a:chExt cx="0" cy="0"/>
        </a:xfrm>
      </p:grpSpPr>
      <p:sp>
        <p:nvSpPr>
          <p:cNvPr id="9" name="矩形 8"/>
          <p:cNvSpPr/>
          <p:nvPr userDrawn="1"/>
        </p:nvSpPr>
        <p:spPr>
          <a:xfrm flipH="1">
            <a:off x="-3" y="1825874"/>
            <a:ext cx="8768221" cy="5032126"/>
          </a:xfrm>
          <a:prstGeom prst="rect">
            <a:avLst/>
          </a:prstGeom>
          <a:blipFill>
            <a:blip r:embed="rId2"/>
            <a:srcRect/>
            <a:stretch>
              <a:fillRect l="-3368" t="8787" b="-199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01" name="副标题 2"/>
          <p:cNvSpPr>
            <a:spLocks noGrp="1"/>
          </p:cNvSpPr>
          <p:nvPr userDrawn="1">
            <p:ph type="subTitle" idx="1"/>
          </p:nvPr>
        </p:nvSpPr>
        <p:spPr>
          <a:xfrm>
            <a:off x="669926" y="4358808"/>
            <a:ext cx="10850563" cy="428813"/>
          </a:xfrm>
        </p:spPr>
        <p:txBody>
          <a:bodyPr anchor="ctr" anchorCtr="0">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802" name="标题 1"/>
          <p:cNvSpPr>
            <a:spLocks noGrp="1"/>
          </p:cNvSpPr>
          <p:nvPr userDrawn="1">
            <p:ph type="ctrTitle"/>
          </p:nvPr>
        </p:nvSpPr>
        <p:spPr>
          <a:xfrm>
            <a:off x="669926" y="1448424"/>
            <a:ext cx="10850563" cy="2893513"/>
          </a:xfrm>
        </p:spPr>
        <p:txBody>
          <a:bodyPr anchor="b" anchorCtr="0">
            <a:normAutofit/>
          </a:bodyPr>
          <a:lstStyle>
            <a:lvl1pPr algn="ctr">
              <a:defRPr sz="4000">
                <a:solidFill>
                  <a:schemeClr val="bg1"/>
                </a:solidFill>
              </a:defRPr>
            </a:lvl1pPr>
          </a:lstStyle>
          <a:p>
            <a:r>
              <a:rPr lang="en-US" dirty="0"/>
              <a:t>Click to edit Master title style</a:t>
            </a:r>
            <a:endParaRPr lang="zh-CN" altLang="en-US" dirty="0"/>
          </a:p>
        </p:txBody>
      </p:sp>
      <p:sp>
        <p:nvSpPr>
          <p:cNvPr id="12" name="文本占位符 13"/>
          <p:cNvSpPr>
            <a:spLocks noGrp="1"/>
          </p:cNvSpPr>
          <p:nvPr userDrawn="1">
            <p:ph type="body" sz="quarter" idx="10" hasCustomPrompt="1"/>
          </p:nvPr>
        </p:nvSpPr>
        <p:spPr>
          <a:xfrm>
            <a:off x="3251201" y="5215181"/>
            <a:ext cx="7546235" cy="319794"/>
          </a:xfrm>
        </p:spPr>
        <p:txBody>
          <a:bodyPr vert="horz" anchor="ctr">
            <a:noAutofit/>
          </a:bodyPr>
          <a:lstStyle>
            <a:lvl1pPr marL="0" indent="0" algn="r">
              <a:buNone/>
              <a:defRPr sz="15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3251201" y="5511452"/>
            <a:ext cx="7546235" cy="319794"/>
          </a:xfrm>
        </p:spPr>
        <p:txBody>
          <a:bodyPr vert="horz" anchor="ctr">
            <a:noAutofit/>
          </a:bodyPr>
          <a:lstStyle>
            <a:lvl1pPr marL="0" indent="0" algn="r">
              <a:buNone/>
              <a:defRPr sz="15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Tree>
  </p:cSld>
  <p:clrMapOvr>
    <a:overrideClrMapping bg1="lt1" tx1="dk1" bg2="lt2" tx2="dk2" accent1="accent1" accent2="accent2" accent3="accent3" accent4="accent4" accent5="accent5" accent6="accent6" hlink="hlink" folHlink="folHlink"/>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userDrawn="1">
  <p:cSld name="节标题">
    <p:spTree>
      <p:nvGrpSpPr>
        <p:cNvPr id="1" name=""/>
        <p:cNvGrpSpPr/>
        <p:nvPr/>
      </p:nvGrpSpPr>
      <p:grpSpPr>
        <a:xfrm>
          <a:off x="0" y="0"/>
          <a:ext cx="0" cy="0"/>
          <a:chOff x="0" y="0"/>
          <a:chExt cx="0" cy="0"/>
        </a:xfrm>
      </p:grpSpPr>
      <p:sp>
        <p:nvSpPr>
          <p:cNvPr id="20" name="标题 1"/>
          <p:cNvSpPr>
            <a:spLocks noGrp="1"/>
          </p:cNvSpPr>
          <p:nvPr userDrawn="1">
            <p:ph type="title"/>
          </p:nvPr>
        </p:nvSpPr>
        <p:spPr>
          <a:xfrm>
            <a:off x="7290148" y="2729371"/>
            <a:ext cx="4230340" cy="895350"/>
          </a:xfrm>
        </p:spPr>
        <p:txBody>
          <a:bodyPr anchor="b">
            <a:normAutofit/>
          </a:bodyPr>
          <a:lstStyle>
            <a:lvl1pPr algn="l">
              <a:defRPr sz="2400" b="1">
                <a:solidFill>
                  <a:schemeClr val="tx2"/>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7291264" y="3624721"/>
            <a:ext cx="4230340" cy="1015623"/>
          </a:xfrm>
        </p:spPr>
        <p:txBody>
          <a:bodyPr anchor="t">
            <a:normAutofit/>
          </a:bodyPr>
          <a:lstStyle>
            <a:lvl1pPr marL="0" indent="0" algn="l">
              <a:lnSpc>
                <a:spcPct val="100000"/>
              </a:lnSpc>
              <a:buNone/>
              <a:defRPr sz="11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6489D9C7-5DC6-4263-87FF-7C99F6FB63C3}" type="datetime1">
              <a:rPr lang="zh-CN" altLang="en-US" smtClean="0"/>
              <a:t>2025-04-10</a:t>
            </a:fld>
            <a:endParaRPr lang="zh-CN" altLang="en-US"/>
          </a:p>
        </p:txBody>
      </p:sp>
      <p:sp>
        <p:nvSpPr>
          <p:cNvPr id="4" name="页脚占位符 3"/>
          <p:cNvSpPr>
            <a:spLocks noGrp="1"/>
          </p:cNvSpPr>
          <p:nvPr>
            <p:ph type="ftr" sz="quarter" idx="11"/>
          </p:nvPr>
        </p:nvSpPr>
        <p:spPr/>
        <p:txBody>
          <a:bodyPr/>
          <a:lstStyle/>
          <a:p>
            <a:r>
              <a:rPr lang="en-US" altLang="zh-CN" dirty="0"/>
              <a:t>www.islide.cc</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t>‹#›</a:t>
            </a:fld>
            <a:endParaRPr lang="zh-CN" altLang="en-US"/>
          </a:p>
        </p:txBody>
      </p:sp>
      <p:sp>
        <p:nvSpPr>
          <p:cNvPr id="6" name="标题 5"/>
          <p:cNvSpPr>
            <a:spLocks noGrp="1"/>
          </p:cNvSpPr>
          <p:nvPr>
            <p:ph type="title"/>
          </p:nvPr>
        </p:nvSpPr>
        <p:spPr/>
        <p:txBody>
          <a:bodyPr/>
          <a:lstStyle>
            <a:lvl1pPr>
              <a:defRPr/>
            </a:lvl1pPr>
          </a:lstStyle>
          <a:p>
            <a:r>
              <a:rPr lang="en-US" altLang="zh-CN" dirty="0"/>
              <a:t>Click to edit Master title style</a:t>
            </a:r>
            <a:endParaRPr lang="zh-CN" altLang="en-US" dirty="0"/>
          </a:p>
        </p:txBody>
      </p:sp>
      <p:sp>
        <p:nvSpPr>
          <p:cNvPr id="8" name="内容占位符 7"/>
          <p:cNvSpPr>
            <a:spLocks noGrp="1"/>
          </p:cNvSpPr>
          <p:nvPr>
            <p:ph sz="quarter" idx="13"/>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6489D9C7-5DC6-4263-87FF-7C99F6FB63C3}" type="datetime1">
              <a:rPr lang="zh-CN" altLang="en-US" smtClean="0"/>
              <a:t>2025-04-10</a:t>
            </a:fld>
            <a:endParaRPr lang="zh-CN" altLang="en-US"/>
          </a:p>
        </p:txBody>
      </p:sp>
      <p:sp>
        <p:nvSpPr>
          <p:cNvPr id="4" name="Footer Placeholder 3"/>
          <p:cNvSpPr>
            <a:spLocks noGrp="1"/>
          </p:cNvSpPr>
          <p:nvPr>
            <p:ph type="ftr" sz="quarter" idx="11"/>
          </p:nvPr>
        </p:nvSpPr>
        <p:spPr/>
        <p:txBody>
          <a:bodyPr/>
          <a:lstStyle/>
          <a:p>
            <a:r>
              <a:rPr lang="en-US" altLang="zh-CN" dirty="0"/>
              <a:t>www.islide.cc</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t>‹#›</a:t>
            </a:fld>
            <a:endParaRPr lang="zh-CN" altLang="en-US"/>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userDrawn="1">
  <p:cSld name="1_节标题">
    <p:spTree>
      <p:nvGrpSpPr>
        <p:cNvPr id="1" name=""/>
        <p:cNvGrpSpPr/>
        <p:nvPr/>
      </p:nvGrpSpPr>
      <p:grpSpPr>
        <a:xfrm>
          <a:off x="0" y="0"/>
          <a:ext cx="0" cy="0"/>
          <a:chOff x="0" y="0"/>
          <a:chExt cx="0" cy="0"/>
        </a:xfrm>
      </p:grpSpPr>
      <p:pic>
        <p:nvPicPr>
          <p:cNvPr id="38" name="图片 37"/>
          <p:cNvPicPr>
            <a:picLocks noChangeAspect="1"/>
          </p:cNvPicPr>
          <p:nvPr userDrawn="1"/>
        </p:nvPicPr>
        <p:blipFill rotWithShape="1">
          <a:blip r:embed="rId2">
            <a:extLst>
              <a:ext uri="{28A0092B-C50C-407E-A947-70E740481C1C}">
                <a14:useLocalDpi xmlns:a14="http://schemas.microsoft.com/office/drawing/2010/main" val="0"/>
              </a:ext>
            </a:extLst>
          </a:blip>
          <a:srcRect l="36773" t="23485" r="36813" b="35171"/>
          <a:stretch>
            <a:fillRect/>
          </a:stretch>
        </p:blipFill>
        <p:spPr>
          <a:xfrm>
            <a:off x="7403252" y="1265236"/>
            <a:ext cx="3752278" cy="3303666"/>
          </a:xfrm>
          <a:prstGeom prst="rect">
            <a:avLst/>
          </a:prstGeom>
        </p:spPr>
      </p:pic>
      <p:sp>
        <p:nvSpPr>
          <p:cNvPr id="7" name="Freeform 7"/>
          <p:cNvSpPr/>
          <p:nvPr userDrawn="1"/>
        </p:nvSpPr>
        <p:spPr bwMode="auto">
          <a:xfrm>
            <a:off x="7367153" y="1276349"/>
            <a:ext cx="3787775" cy="3271838"/>
          </a:xfrm>
          <a:custGeom>
            <a:avLst/>
            <a:gdLst>
              <a:gd name="T0" fmla="*/ 0 w 2386"/>
              <a:gd name="T1" fmla="*/ 2057 h 2061"/>
              <a:gd name="T2" fmla="*/ 1190 w 2386"/>
              <a:gd name="T3" fmla="*/ 0 h 2061"/>
              <a:gd name="T4" fmla="*/ 2386 w 2386"/>
              <a:gd name="T5" fmla="*/ 2061 h 2061"/>
              <a:gd name="T6" fmla="*/ 0 w 2386"/>
              <a:gd name="T7" fmla="*/ 2057 h 2061"/>
            </a:gdLst>
            <a:ahLst/>
            <a:cxnLst>
              <a:cxn ang="0">
                <a:pos x="T0" y="T1"/>
              </a:cxn>
              <a:cxn ang="0">
                <a:pos x="T2" y="T3"/>
              </a:cxn>
              <a:cxn ang="0">
                <a:pos x="T4" y="T5"/>
              </a:cxn>
              <a:cxn ang="0">
                <a:pos x="T6" y="T7"/>
              </a:cxn>
            </a:cxnLst>
            <a:rect l="0" t="0" r="r" b="b"/>
            <a:pathLst>
              <a:path w="2386" h="2061">
                <a:moveTo>
                  <a:pt x="0" y="2057"/>
                </a:moveTo>
                <a:lnTo>
                  <a:pt x="1190" y="0"/>
                </a:lnTo>
                <a:lnTo>
                  <a:pt x="2386" y="2061"/>
                </a:lnTo>
                <a:lnTo>
                  <a:pt x="0" y="2057"/>
                </a:lnTo>
                <a:close/>
              </a:path>
            </a:pathLst>
          </a:custGeom>
          <a:solidFill>
            <a:schemeClr val="accent1">
              <a:alpha val="60000"/>
            </a:schemeClr>
          </a:solidFill>
          <a:ln>
            <a:noFill/>
          </a:ln>
        </p:spPr>
        <p:txBody>
          <a:bodyPr vert="horz" wrap="square" lIns="91440" tIns="45720" rIns="91440" bIns="45720" numCol="1" anchor="t" anchorCtr="0" compatLnSpc="1"/>
          <a:lstStyle/>
          <a:p>
            <a:endParaRPr lang="zh-CN" altLang="en-US"/>
          </a:p>
        </p:txBody>
      </p:sp>
      <p:sp>
        <p:nvSpPr>
          <p:cNvPr id="5" name="Freeform 5"/>
          <p:cNvSpPr/>
          <p:nvPr userDrawn="1"/>
        </p:nvSpPr>
        <p:spPr bwMode="auto">
          <a:xfrm>
            <a:off x="7338786" y="4534126"/>
            <a:ext cx="3800475" cy="2312988"/>
          </a:xfrm>
          <a:custGeom>
            <a:avLst/>
            <a:gdLst>
              <a:gd name="T0" fmla="*/ 1197 w 2394"/>
              <a:gd name="T1" fmla="*/ 1457 h 1457"/>
              <a:gd name="T2" fmla="*/ 2394 w 2394"/>
              <a:gd name="T3" fmla="*/ 0 h 1457"/>
              <a:gd name="T4" fmla="*/ 0 w 2394"/>
              <a:gd name="T5" fmla="*/ 0 h 1457"/>
              <a:gd name="T6" fmla="*/ 1197 w 2394"/>
              <a:gd name="T7" fmla="*/ 1457 h 1457"/>
            </a:gdLst>
            <a:ahLst/>
            <a:cxnLst>
              <a:cxn ang="0">
                <a:pos x="T0" y="T1"/>
              </a:cxn>
              <a:cxn ang="0">
                <a:pos x="T2" y="T3"/>
              </a:cxn>
              <a:cxn ang="0">
                <a:pos x="T4" y="T5"/>
              </a:cxn>
              <a:cxn ang="0">
                <a:pos x="T6" y="T7"/>
              </a:cxn>
            </a:cxnLst>
            <a:rect l="0" t="0" r="r" b="b"/>
            <a:pathLst>
              <a:path w="2394" h="1457">
                <a:moveTo>
                  <a:pt x="1197" y="1457"/>
                </a:moveTo>
                <a:lnTo>
                  <a:pt x="2394" y="0"/>
                </a:lnTo>
                <a:lnTo>
                  <a:pt x="0" y="0"/>
                </a:lnTo>
                <a:lnTo>
                  <a:pt x="1197" y="1457"/>
                </a:lnTo>
                <a:close/>
              </a:path>
            </a:pathLst>
          </a:custGeom>
          <a:solidFill>
            <a:schemeClr val="accent3"/>
          </a:solidFill>
          <a:ln>
            <a:noFill/>
          </a:ln>
        </p:spPr>
        <p:txBody>
          <a:bodyPr vert="horz" wrap="square" lIns="91440" tIns="45720" rIns="91440" bIns="45720" numCol="1" anchor="t" anchorCtr="0" compatLnSpc="1"/>
          <a:lstStyle/>
          <a:p>
            <a:endParaRPr lang="zh-CN" altLang="en-US"/>
          </a:p>
        </p:txBody>
      </p:sp>
      <p:sp>
        <p:nvSpPr>
          <p:cNvPr id="6" name="Freeform 6"/>
          <p:cNvSpPr/>
          <p:nvPr userDrawn="1"/>
        </p:nvSpPr>
        <p:spPr bwMode="auto">
          <a:xfrm>
            <a:off x="7338786" y="4534126"/>
            <a:ext cx="3800475" cy="2312988"/>
          </a:xfrm>
          <a:custGeom>
            <a:avLst/>
            <a:gdLst>
              <a:gd name="T0" fmla="*/ 1197 w 2394"/>
              <a:gd name="T1" fmla="*/ 1457 h 1457"/>
              <a:gd name="T2" fmla="*/ 2394 w 2394"/>
              <a:gd name="T3" fmla="*/ 0 h 1457"/>
              <a:gd name="T4" fmla="*/ 0 w 2394"/>
              <a:gd name="T5" fmla="*/ 0 h 1457"/>
              <a:gd name="T6" fmla="*/ 1197 w 2394"/>
              <a:gd name="T7" fmla="*/ 1457 h 1457"/>
            </a:gdLst>
            <a:ahLst/>
            <a:cxnLst>
              <a:cxn ang="0">
                <a:pos x="T0" y="T1"/>
              </a:cxn>
              <a:cxn ang="0">
                <a:pos x="T2" y="T3"/>
              </a:cxn>
              <a:cxn ang="0">
                <a:pos x="T4" y="T5"/>
              </a:cxn>
              <a:cxn ang="0">
                <a:pos x="T6" y="T7"/>
              </a:cxn>
            </a:cxnLst>
            <a:rect l="0" t="0" r="r" b="b"/>
            <a:pathLst>
              <a:path w="2394" h="1457">
                <a:moveTo>
                  <a:pt x="1197" y="1457"/>
                </a:moveTo>
                <a:lnTo>
                  <a:pt x="2394" y="0"/>
                </a:lnTo>
                <a:lnTo>
                  <a:pt x="0" y="0"/>
                </a:lnTo>
                <a:lnTo>
                  <a:pt x="1197" y="14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8"/>
          <p:cNvSpPr>
            <a:spLocks noEditPoints="1"/>
          </p:cNvSpPr>
          <p:nvPr userDrawn="1"/>
        </p:nvSpPr>
        <p:spPr bwMode="auto">
          <a:xfrm>
            <a:off x="7368269" y="1269999"/>
            <a:ext cx="3797300" cy="3281363"/>
          </a:xfrm>
          <a:custGeom>
            <a:avLst/>
            <a:gdLst>
              <a:gd name="T0" fmla="*/ 1193 w 2392"/>
              <a:gd name="T1" fmla="*/ 8 h 2067"/>
              <a:gd name="T2" fmla="*/ 2385 w 2392"/>
              <a:gd name="T3" fmla="*/ 2063 h 2067"/>
              <a:gd name="T4" fmla="*/ 7 w 2392"/>
              <a:gd name="T5" fmla="*/ 2059 h 2067"/>
              <a:gd name="T6" fmla="*/ 1193 w 2392"/>
              <a:gd name="T7" fmla="*/ 8 h 2067"/>
              <a:gd name="T8" fmla="*/ 1193 w 2392"/>
              <a:gd name="T9" fmla="*/ 0 h 2067"/>
              <a:gd name="T10" fmla="*/ 0 w 2392"/>
              <a:gd name="T11" fmla="*/ 2063 h 2067"/>
              <a:gd name="T12" fmla="*/ 2392 w 2392"/>
              <a:gd name="T13" fmla="*/ 2067 h 2067"/>
              <a:gd name="T14" fmla="*/ 1193 w 2392"/>
              <a:gd name="T15" fmla="*/ 0 h 20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92" h="2067">
                <a:moveTo>
                  <a:pt x="1193" y="8"/>
                </a:moveTo>
                <a:lnTo>
                  <a:pt x="2385" y="2063"/>
                </a:lnTo>
                <a:lnTo>
                  <a:pt x="7" y="2059"/>
                </a:lnTo>
                <a:lnTo>
                  <a:pt x="1193" y="8"/>
                </a:lnTo>
                <a:close/>
                <a:moveTo>
                  <a:pt x="1193" y="0"/>
                </a:moveTo>
                <a:lnTo>
                  <a:pt x="0" y="2063"/>
                </a:lnTo>
                <a:lnTo>
                  <a:pt x="2392" y="2067"/>
                </a:lnTo>
                <a:lnTo>
                  <a:pt x="119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9"/>
          <p:cNvSpPr>
            <a:spLocks noEditPoints="1"/>
          </p:cNvSpPr>
          <p:nvPr userDrawn="1"/>
        </p:nvSpPr>
        <p:spPr bwMode="auto">
          <a:xfrm>
            <a:off x="7368269" y="1269999"/>
            <a:ext cx="3797300" cy="3281363"/>
          </a:xfrm>
          <a:custGeom>
            <a:avLst/>
            <a:gdLst>
              <a:gd name="T0" fmla="*/ 1193 w 2392"/>
              <a:gd name="T1" fmla="*/ 8 h 2067"/>
              <a:gd name="T2" fmla="*/ 2385 w 2392"/>
              <a:gd name="T3" fmla="*/ 2063 h 2067"/>
              <a:gd name="T4" fmla="*/ 7 w 2392"/>
              <a:gd name="T5" fmla="*/ 2059 h 2067"/>
              <a:gd name="T6" fmla="*/ 1193 w 2392"/>
              <a:gd name="T7" fmla="*/ 8 h 2067"/>
              <a:gd name="T8" fmla="*/ 1193 w 2392"/>
              <a:gd name="T9" fmla="*/ 0 h 2067"/>
              <a:gd name="T10" fmla="*/ 0 w 2392"/>
              <a:gd name="T11" fmla="*/ 2063 h 2067"/>
              <a:gd name="T12" fmla="*/ 2392 w 2392"/>
              <a:gd name="T13" fmla="*/ 2067 h 2067"/>
              <a:gd name="T14" fmla="*/ 1193 w 2392"/>
              <a:gd name="T15" fmla="*/ 0 h 20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92" h="2067">
                <a:moveTo>
                  <a:pt x="1193" y="8"/>
                </a:moveTo>
                <a:lnTo>
                  <a:pt x="2385" y="2063"/>
                </a:lnTo>
                <a:lnTo>
                  <a:pt x="7" y="2059"/>
                </a:lnTo>
                <a:lnTo>
                  <a:pt x="1193" y="8"/>
                </a:lnTo>
                <a:moveTo>
                  <a:pt x="1193" y="0"/>
                </a:moveTo>
                <a:lnTo>
                  <a:pt x="0" y="2063"/>
                </a:lnTo>
                <a:lnTo>
                  <a:pt x="2392" y="2067"/>
                </a:lnTo>
                <a:lnTo>
                  <a:pt x="119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10"/>
          <p:cNvSpPr/>
          <p:nvPr userDrawn="1"/>
        </p:nvSpPr>
        <p:spPr bwMode="auto">
          <a:xfrm>
            <a:off x="9262609" y="1280885"/>
            <a:ext cx="2930525" cy="3275013"/>
          </a:xfrm>
          <a:custGeom>
            <a:avLst/>
            <a:gdLst>
              <a:gd name="T0" fmla="*/ 1846 w 1846"/>
              <a:gd name="T1" fmla="*/ 304 h 2063"/>
              <a:gd name="T2" fmla="*/ 1190 w 1846"/>
              <a:gd name="T3" fmla="*/ 2063 h 2063"/>
              <a:gd name="T4" fmla="*/ 0 w 1846"/>
              <a:gd name="T5" fmla="*/ 0 h 2063"/>
              <a:gd name="T6" fmla="*/ 1846 w 1846"/>
              <a:gd name="T7" fmla="*/ 304 h 2063"/>
            </a:gdLst>
            <a:ahLst/>
            <a:cxnLst>
              <a:cxn ang="0">
                <a:pos x="T0" y="T1"/>
              </a:cxn>
              <a:cxn ang="0">
                <a:pos x="T2" y="T3"/>
              </a:cxn>
              <a:cxn ang="0">
                <a:pos x="T4" y="T5"/>
              </a:cxn>
              <a:cxn ang="0">
                <a:pos x="T6" y="T7"/>
              </a:cxn>
            </a:cxnLst>
            <a:rect l="0" t="0" r="r" b="b"/>
            <a:pathLst>
              <a:path w="1846" h="2063">
                <a:moveTo>
                  <a:pt x="1846" y="304"/>
                </a:moveTo>
                <a:lnTo>
                  <a:pt x="1190" y="2063"/>
                </a:lnTo>
                <a:lnTo>
                  <a:pt x="0" y="0"/>
                </a:lnTo>
                <a:lnTo>
                  <a:pt x="1846" y="304"/>
                </a:lnTo>
                <a:close/>
              </a:path>
            </a:pathLst>
          </a:custGeom>
          <a:solidFill>
            <a:schemeClr val="accent2">
              <a:alpha val="80000"/>
            </a:schemeClr>
          </a:solidFill>
          <a:ln>
            <a:noFill/>
          </a:ln>
        </p:spPr>
        <p:txBody>
          <a:bodyPr vert="horz" wrap="square" lIns="91440" tIns="45720" rIns="91440" bIns="45720" numCol="1" anchor="t" anchorCtr="0" compatLnSpc="1"/>
          <a:lstStyle/>
          <a:p>
            <a:endParaRPr lang="zh-CN" altLang="en-US"/>
          </a:p>
        </p:txBody>
      </p:sp>
      <p:sp>
        <p:nvSpPr>
          <p:cNvPr id="11" name="Freeform 11"/>
          <p:cNvSpPr/>
          <p:nvPr userDrawn="1"/>
        </p:nvSpPr>
        <p:spPr bwMode="auto">
          <a:xfrm>
            <a:off x="9256032" y="32885"/>
            <a:ext cx="2967038" cy="1744663"/>
          </a:xfrm>
          <a:custGeom>
            <a:avLst/>
            <a:gdLst>
              <a:gd name="T0" fmla="*/ 0 w 1869"/>
              <a:gd name="T1" fmla="*/ 0 h 1099"/>
              <a:gd name="T2" fmla="*/ 0 w 1869"/>
              <a:gd name="T3" fmla="*/ 792 h 1099"/>
              <a:gd name="T4" fmla="*/ 1869 w 1869"/>
              <a:gd name="T5" fmla="*/ 1099 h 1099"/>
              <a:gd name="T6" fmla="*/ 0 w 1869"/>
              <a:gd name="T7" fmla="*/ 0 h 1099"/>
            </a:gdLst>
            <a:ahLst/>
            <a:cxnLst>
              <a:cxn ang="0">
                <a:pos x="T0" y="T1"/>
              </a:cxn>
              <a:cxn ang="0">
                <a:pos x="T2" y="T3"/>
              </a:cxn>
              <a:cxn ang="0">
                <a:pos x="T4" y="T5"/>
              </a:cxn>
              <a:cxn ang="0">
                <a:pos x="T6" y="T7"/>
              </a:cxn>
            </a:cxnLst>
            <a:rect l="0" t="0" r="r" b="b"/>
            <a:pathLst>
              <a:path w="1869" h="1099">
                <a:moveTo>
                  <a:pt x="0" y="0"/>
                </a:moveTo>
                <a:lnTo>
                  <a:pt x="0" y="792"/>
                </a:lnTo>
                <a:lnTo>
                  <a:pt x="1869" y="1099"/>
                </a:lnTo>
                <a:lnTo>
                  <a:pt x="0" y="0"/>
                </a:lnTo>
                <a:close/>
              </a:path>
            </a:pathLst>
          </a:cu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12" name="Freeform 12"/>
          <p:cNvSpPr/>
          <p:nvPr userDrawn="1"/>
        </p:nvSpPr>
        <p:spPr bwMode="auto">
          <a:xfrm>
            <a:off x="9235848" y="-10887"/>
            <a:ext cx="2967038" cy="1744663"/>
          </a:xfrm>
          <a:custGeom>
            <a:avLst/>
            <a:gdLst>
              <a:gd name="T0" fmla="*/ 0 w 1869"/>
              <a:gd name="T1" fmla="*/ 0 h 1099"/>
              <a:gd name="T2" fmla="*/ 0 w 1869"/>
              <a:gd name="T3" fmla="*/ 792 h 1099"/>
              <a:gd name="T4" fmla="*/ 1869 w 1869"/>
              <a:gd name="T5" fmla="*/ 1099 h 1099"/>
              <a:gd name="T6" fmla="*/ 0 w 1869"/>
              <a:gd name="T7" fmla="*/ 0 h 1099"/>
            </a:gdLst>
            <a:ahLst/>
            <a:cxnLst>
              <a:cxn ang="0">
                <a:pos x="T0" y="T1"/>
              </a:cxn>
              <a:cxn ang="0">
                <a:pos x="T2" y="T3"/>
              </a:cxn>
              <a:cxn ang="0">
                <a:pos x="T4" y="T5"/>
              </a:cxn>
              <a:cxn ang="0">
                <a:pos x="T6" y="T7"/>
              </a:cxn>
            </a:cxnLst>
            <a:rect l="0" t="0" r="r" b="b"/>
            <a:pathLst>
              <a:path w="1869" h="1099">
                <a:moveTo>
                  <a:pt x="0" y="0"/>
                </a:moveTo>
                <a:lnTo>
                  <a:pt x="0" y="792"/>
                </a:lnTo>
                <a:lnTo>
                  <a:pt x="1869" y="1099"/>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3"/>
          <p:cNvSpPr/>
          <p:nvPr userDrawn="1"/>
        </p:nvSpPr>
        <p:spPr bwMode="auto">
          <a:xfrm>
            <a:off x="6279697" y="4534126"/>
            <a:ext cx="2967038" cy="2312988"/>
          </a:xfrm>
          <a:custGeom>
            <a:avLst/>
            <a:gdLst>
              <a:gd name="T0" fmla="*/ 665 w 1869"/>
              <a:gd name="T1" fmla="*/ 0 h 1457"/>
              <a:gd name="T2" fmla="*/ 0 w 1869"/>
              <a:gd name="T3" fmla="*/ 383 h 1457"/>
              <a:gd name="T4" fmla="*/ 1869 w 1869"/>
              <a:gd name="T5" fmla="*/ 1457 h 1457"/>
              <a:gd name="T6" fmla="*/ 665 w 1869"/>
              <a:gd name="T7" fmla="*/ 0 h 1457"/>
            </a:gdLst>
            <a:ahLst/>
            <a:cxnLst>
              <a:cxn ang="0">
                <a:pos x="T0" y="T1"/>
              </a:cxn>
              <a:cxn ang="0">
                <a:pos x="T2" y="T3"/>
              </a:cxn>
              <a:cxn ang="0">
                <a:pos x="T4" y="T5"/>
              </a:cxn>
              <a:cxn ang="0">
                <a:pos x="T6" y="T7"/>
              </a:cxn>
            </a:cxnLst>
            <a:rect l="0" t="0" r="r" b="b"/>
            <a:pathLst>
              <a:path w="1869" h="1457">
                <a:moveTo>
                  <a:pt x="665" y="0"/>
                </a:moveTo>
                <a:lnTo>
                  <a:pt x="0" y="383"/>
                </a:lnTo>
                <a:lnTo>
                  <a:pt x="1869" y="1457"/>
                </a:lnTo>
                <a:lnTo>
                  <a:pt x="665" y="0"/>
                </a:lnTo>
                <a:close/>
              </a:path>
            </a:pathLst>
          </a:custGeom>
          <a:solidFill>
            <a:schemeClr val="accent2">
              <a:alpha val="80000"/>
            </a:schemeClr>
          </a:solidFill>
          <a:ln>
            <a:noFill/>
          </a:ln>
        </p:spPr>
        <p:txBody>
          <a:bodyPr vert="horz" wrap="square" lIns="91440" tIns="45720" rIns="91440" bIns="45720" numCol="1" anchor="t" anchorCtr="0" compatLnSpc="1"/>
          <a:lstStyle/>
          <a:p>
            <a:endParaRPr lang="zh-CN" altLang="en-US"/>
          </a:p>
        </p:txBody>
      </p:sp>
      <p:sp>
        <p:nvSpPr>
          <p:cNvPr id="14" name="Freeform 14"/>
          <p:cNvSpPr/>
          <p:nvPr userDrawn="1"/>
        </p:nvSpPr>
        <p:spPr bwMode="auto">
          <a:xfrm>
            <a:off x="6268811" y="4534126"/>
            <a:ext cx="2967038" cy="2312988"/>
          </a:xfrm>
          <a:custGeom>
            <a:avLst/>
            <a:gdLst>
              <a:gd name="T0" fmla="*/ 665 w 1869"/>
              <a:gd name="T1" fmla="*/ 0 h 1457"/>
              <a:gd name="T2" fmla="*/ 0 w 1869"/>
              <a:gd name="T3" fmla="*/ 383 h 1457"/>
              <a:gd name="T4" fmla="*/ 1869 w 1869"/>
              <a:gd name="T5" fmla="*/ 1457 h 1457"/>
              <a:gd name="T6" fmla="*/ 665 w 1869"/>
              <a:gd name="T7" fmla="*/ 0 h 1457"/>
            </a:gdLst>
            <a:ahLst/>
            <a:cxnLst>
              <a:cxn ang="0">
                <a:pos x="T0" y="T1"/>
              </a:cxn>
              <a:cxn ang="0">
                <a:pos x="T2" y="T3"/>
              </a:cxn>
              <a:cxn ang="0">
                <a:pos x="T4" y="T5"/>
              </a:cxn>
              <a:cxn ang="0">
                <a:pos x="T6" y="T7"/>
              </a:cxn>
            </a:cxnLst>
            <a:rect l="0" t="0" r="r" b="b"/>
            <a:pathLst>
              <a:path w="1869" h="1457">
                <a:moveTo>
                  <a:pt x="665" y="0"/>
                </a:moveTo>
                <a:lnTo>
                  <a:pt x="0" y="383"/>
                </a:lnTo>
                <a:lnTo>
                  <a:pt x="1869" y="1457"/>
                </a:lnTo>
                <a:lnTo>
                  <a:pt x="66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5"/>
          <p:cNvSpPr/>
          <p:nvPr userDrawn="1"/>
        </p:nvSpPr>
        <p:spPr bwMode="auto">
          <a:xfrm>
            <a:off x="9237662" y="4538888"/>
            <a:ext cx="2947988" cy="2297113"/>
          </a:xfrm>
          <a:custGeom>
            <a:avLst/>
            <a:gdLst>
              <a:gd name="T0" fmla="*/ 1195 w 1857"/>
              <a:gd name="T1" fmla="*/ 0 h 1447"/>
              <a:gd name="T2" fmla="*/ 1857 w 1857"/>
              <a:gd name="T3" fmla="*/ 380 h 1447"/>
              <a:gd name="T4" fmla="*/ 0 w 1857"/>
              <a:gd name="T5" fmla="*/ 1447 h 1447"/>
              <a:gd name="T6" fmla="*/ 1195 w 1857"/>
              <a:gd name="T7" fmla="*/ 0 h 1447"/>
            </a:gdLst>
            <a:ahLst/>
            <a:cxnLst>
              <a:cxn ang="0">
                <a:pos x="T0" y="T1"/>
              </a:cxn>
              <a:cxn ang="0">
                <a:pos x="T2" y="T3"/>
              </a:cxn>
              <a:cxn ang="0">
                <a:pos x="T4" y="T5"/>
              </a:cxn>
              <a:cxn ang="0">
                <a:pos x="T6" y="T7"/>
              </a:cxn>
            </a:cxnLst>
            <a:rect l="0" t="0" r="r" b="b"/>
            <a:pathLst>
              <a:path w="1857" h="1447">
                <a:moveTo>
                  <a:pt x="1195" y="0"/>
                </a:moveTo>
                <a:lnTo>
                  <a:pt x="1857" y="380"/>
                </a:lnTo>
                <a:lnTo>
                  <a:pt x="0" y="1447"/>
                </a:lnTo>
                <a:lnTo>
                  <a:pt x="1195" y="0"/>
                </a:lnTo>
                <a:close/>
              </a:path>
            </a:pathLst>
          </a:custGeom>
          <a:solidFill>
            <a:schemeClr val="accent4">
              <a:alpha val="70000"/>
            </a:schemeClr>
          </a:solidFill>
          <a:ln>
            <a:noFill/>
          </a:ln>
        </p:spPr>
        <p:txBody>
          <a:bodyPr vert="horz" wrap="square" lIns="91440" tIns="45720" rIns="91440" bIns="45720" numCol="1" anchor="t" anchorCtr="0" compatLnSpc="1"/>
          <a:lstStyle/>
          <a:p>
            <a:endParaRPr lang="zh-CN" altLang="en-US"/>
          </a:p>
        </p:txBody>
      </p:sp>
      <p:sp>
        <p:nvSpPr>
          <p:cNvPr id="16" name="Freeform 16"/>
          <p:cNvSpPr>
            <a:spLocks noEditPoints="1"/>
          </p:cNvSpPr>
          <p:nvPr userDrawn="1"/>
        </p:nvSpPr>
        <p:spPr bwMode="auto">
          <a:xfrm>
            <a:off x="9235848" y="4534126"/>
            <a:ext cx="2967038" cy="2312988"/>
          </a:xfrm>
          <a:custGeom>
            <a:avLst/>
            <a:gdLst>
              <a:gd name="T0" fmla="*/ 1204 w 1869"/>
              <a:gd name="T1" fmla="*/ 5 h 1457"/>
              <a:gd name="T2" fmla="*/ 1861 w 1869"/>
              <a:gd name="T3" fmla="*/ 383 h 1457"/>
              <a:gd name="T4" fmla="*/ 17 w 1869"/>
              <a:gd name="T5" fmla="*/ 1443 h 1457"/>
              <a:gd name="T6" fmla="*/ 1204 w 1869"/>
              <a:gd name="T7" fmla="*/ 5 h 1457"/>
              <a:gd name="T8" fmla="*/ 1203 w 1869"/>
              <a:gd name="T9" fmla="*/ 0 h 1457"/>
              <a:gd name="T10" fmla="*/ 0 w 1869"/>
              <a:gd name="T11" fmla="*/ 1457 h 1457"/>
              <a:gd name="T12" fmla="*/ 1869 w 1869"/>
              <a:gd name="T13" fmla="*/ 383 h 1457"/>
              <a:gd name="T14" fmla="*/ 1203 w 1869"/>
              <a:gd name="T15" fmla="*/ 0 h 14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69" h="1457">
                <a:moveTo>
                  <a:pt x="1204" y="5"/>
                </a:moveTo>
                <a:lnTo>
                  <a:pt x="1861" y="383"/>
                </a:lnTo>
                <a:lnTo>
                  <a:pt x="17" y="1443"/>
                </a:lnTo>
                <a:lnTo>
                  <a:pt x="1204" y="5"/>
                </a:lnTo>
                <a:close/>
                <a:moveTo>
                  <a:pt x="1203" y="0"/>
                </a:moveTo>
                <a:lnTo>
                  <a:pt x="0" y="1457"/>
                </a:lnTo>
                <a:lnTo>
                  <a:pt x="1869" y="383"/>
                </a:lnTo>
                <a:lnTo>
                  <a:pt x="120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7"/>
          <p:cNvSpPr>
            <a:spLocks noEditPoints="1"/>
          </p:cNvSpPr>
          <p:nvPr userDrawn="1"/>
        </p:nvSpPr>
        <p:spPr bwMode="auto">
          <a:xfrm>
            <a:off x="9235848" y="4534126"/>
            <a:ext cx="2967038" cy="2312988"/>
          </a:xfrm>
          <a:custGeom>
            <a:avLst/>
            <a:gdLst>
              <a:gd name="T0" fmla="*/ 1204 w 1869"/>
              <a:gd name="T1" fmla="*/ 5 h 1457"/>
              <a:gd name="T2" fmla="*/ 1861 w 1869"/>
              <a:gd name="T3" fmla="*/ 383 h 1457"/>
              <a:gd name="T4" fmla="*/ 17 w 1869"/>
              <a:gd name="T5" fmla="*/ 1443 h 1457"/>
              <a:gd name="T6" fmla="*/ 1204 w 1869"/>
              <a:gd name="T7" fmla="*/ 5 h 1457"/>
              <a:gd name="T8" fmla="*/ 1203 w 1869"/>
              <a:gd name="T9" fmla="*/ 0 h 1457"/>
              <a:gd name="T10" fmla="*/ 0 w 1869"/>
              <a:gd name="T11" fmla="*/ 1457 h 1457"/>
              <a:gd name="T12" fmla="*/ 1869 w 1869"/>
              <a:gd name="T13" fmla="*/ 383 h 1457"/>
              <a:gd name="T14" fmla="*/ 1203 w 1869"/>
              <a:gd name="T15" fmla="*/ 0 h 14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69" h="1457">
                <a:moveTo>
                  <a:pt x="1204" y="5"/>
                </a:moveTo>
                <a:lnTo>
                  <a:pt x="1861" y="383"/>
                </a:lnTo>
                <a:lnTo>
                  <a:pt x="17" y="1443"/>
                </a:lnTo>
                <a:lnTo>
                  <a:pt x="1204" y="5"/>
                </a:lnTo>
                <a:moveTo>
                  <a:pt x="1203" y="0"/>
                </a:moveTo>
                <a:lnTo>
                  <a:pt x="0" y="1457"/>
                </a:lnTo>
                <a:lnTo>
                  <a:pt x="1869" y="383"/>
                </a:lnTo>
                <a:lnTo>
                  <a:pt x="120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8"/>
          <p:cNvSpPr/>
          <p:nvPr userDrawn="1"/>
        </p:nvSpPr>
        <p:spPr bwMode="auto">
          <a:xfrm>
            <a:off x="11137900" y="1762124"/>
            <a:ext cx="1050925" cy="3386138"/>
          </a:xfrm>
          <a:custGeom>
            <a:avLst/>
            <a:gdLst>
              <a:gd name="T0" fmla="*/ 0 w 662"/>
              <a:gd name="T1" fmla="*/ 1752 h 2133"/>
              <a:gd name="T2" fmla="*/ 662 w 662"/>
              <a:gd name="T3" fmla="*/ 0 h 2133"/>
              <a:gd name="T4" fmla="*/ 662 w 662"/>
              <a:gd name="T5" fmla="*/ 2133 h 2133"/>
              <a:gd name="T6" fmla="*/ 0 w 662"/>
              <a:gd name="T7" fmla="*/ 1752 h 2133"/>
            </a:gdLst>
            <a:ahLst/>
            <a:cxnLst>
              <a:cxn ang="0">
                <a:pos x="T0" y="T1"/>
              </a:cxn>
              <a:cxn ang="0">
                <a:pos x="T2" y="T3"/>
              </a:cxn>
              <a:cxn ang="0">
                <a:pos x="T4" y="T5"/>
              </a:cxn>
              <a:cxn ang="0">
                <a:pos x="T6" y="T7"/>
              </a:cxn>
            </a:cxnLst>
            <a:rect l="0" t="0" r="r" b="b"/>
            <a:pathLst>
              <a:path w="662" h="2133">
                <a:moveTo>
                  <a:pt x="0" y="1752"/>
                </a:moveTo>
                <a:lnTo>
                  <a:pt x="662" y="0"/>
                </a:lnTo>
                <a:lnTo>
                  <a:pt x="662" y="2133"/>
                </a:lnTo>
                <a:lnTo>
                  <a:pt x="0" y="1752"/>
                </a:lnTo>
                <a:close/>
              </a:path>
            </a:pathLst>
          </a:custGeom>
          <a:solidFill>
            <a:schemeClr val="accent3"/>
          </a:solidFill>
          <a:ln>
            <a:noFill/>
          </a:ln>
        </p:spPr>
        <p:txBody>
          <a:bodyPr vert="horz" wrap="square" lIns="91440" tIns="45720" rIns="91440" bIns="45720" numCol="1" anchor="t" anchorCtr="0" compatLnSpc="1"/>
          <a:lstStyle/>
          <a:p>
            <a:endParaRPr lang="zh-CN" altLang="en-US"/>
          </a:p>
        </p:txBody>
      </p:sp>
      <p:sp>
        <p:nvSpPr>
          <p:cNvPr id="19" name="Freeform 19"/>
          <p:cNvSpPr>
            <a:spLocks noEditPoints="1"/>
          </p:cNvSpPr>
          <p:nvPr userDrawn="1"/>
        </p:nvSpPr>
        <p:spPr bwMode="auto">
          <a:xfrm>
            <a:off x="11145611" y="1733776"/>
            <a:ext cx="1057275" cy="3408363"/>
          </a:xfrm>
          <a:custGeom>
            <a:avLst/>
            <a:gdLst>
              <a:gd name="T0" fmla="*/ 662 w 666"/>
              <a:gd name="T1" fmla="*/ 22 h 2147"/>
              <a:gd name="T2" fmla="*/ 662 w 666"/>
              <a:gd name="T3" fmla="*/ 2140 h 2147"/>
              <a:gd name="T4" fmla="*/ 5 w 666"/>
              <a:gd name="T5" fmla="*/ 1762 h 2147"/>
              <a:gd name="T6" fmla="*/ 662 w 666"/>
              <a:gd name="T7" fmla="*/ 22 h 2147"/>
              <a:gd name="T8" fmla="*/ 666 w 666"/>
              <a:gd name="T9" fmla="*/ 0 h 2147"/>
              <a:gd name="T10" fmla="*/ 0 w 666"/>
              <a:gd name="T11" fmla="*/ 1764 h 2147"/>
              <a:gd name="T12" fmla="*/ 666 w 666"/>
              <a:gd name="T13" fmla="*/ 2147 h 2147"/>
              <a:gd name="T14" fmla="*/ 666 w 666"/>
              <a:gd name="T15" fmla="*/ 0 h 21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6" h="2147">
                <a:moveTo>
                  <a:pt x="662" y="22"/>
                </a:moveTo>
                <a:lnTo>
                  <a:pt x="662" y="2140"/>
                </a:lnTo>
                <a:lnTo>
                  <a:pt x="5" y="1762"/>
                </a:lnTo>
                <a:lnTo>
                  <a:pt x="662" y="22"/>
                </a:lnTo>
                <a:close/>
                <a:moveTo>
                  <a:pt x="666" y="0"/>
                </a:moveTo>
                <a:lnTo>
                  <a:pt x="0" y="1764"/>
                </a:lnTo>
                <a:lnTo>
                  <a:pt x="666" y="2147"/>
                </a:lnTo>
                <a:lnTo>
                  <a:pt x="66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20"/>
          <p:cNvSpPr>
            <a:spLocks noEditPoints="1"/>
          </p:cNvSpPr>
          <p:nvPr userDrawn="1"/>
        </p:nvSpPr>
        <p:spPr bwMode="auto">
          <a:xfrm>
            <a:off x="11145611" y="1733776"/>
            <a:ext cx="1057275" cy="3408363"/>
          </a:xfrm>
          <a:custGeom>
            <a:avLst/>
            <a:gdLst>
              <a:gd name="T0" fmla="*/ 662 w 666"/>
              <a:gd name="T1" fmla="*/ 22 h 2147"/>
              <a:gd name="T2" fmla="*/ 662 w 666"/>
              <a:gd name="T3" fmla="*/ 2140 h 2147"/>
              <a:gd name="T4" fmla="*/ 5 w 666"/>
              <a:gd name="T5" fmla="*/ 1762 h 2147"/>
              <a:gd name="T6" fmla="*/ 662 w 666"/>
              <a:gd name="T7" fmla="*/ 22 h 2147"/>
              <a:gd name="T8" fmla="*/ 666 w 666"/>
              <a:gd name="T9" fmla="*/ 0 h 2147"/>
              <a:gd name="T10" fmla="*/ 0 w 666"/>
              <a:gd name="T11" fmla="*/ 1764 h 2147"/>
              <a:gd name="T12" fmla="*/ 666 w 666"/>
              <a:gd name="T13" fmla="*/ 2147 h 2147"/>
              <a:gd name="T14" fmla="*/ 666 w 666"/>
              <a:gd name="T15" fmla="*/ 0 h 21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6" h="2147">
                <a:moveTo>
                  <a:pt x="662" y="22"/>
                </a:moveTo>
                <a:lnTo>
                  <a:pt x="662" y="2140"/>
                </a:lnTo>
                <a:lnTo>
                  <a:pt x="5" y="1762"/>
                </a:lnTo>
                <a:lnTo>
                  <a:pt x="662" y="22"/>
                </a:lnTo>
                <a:moveTo>
                  <a:pt x="666" y="0"/>
                </a:moveTo>
                <a:lnTo>
                  <a:pt x="0" y="1764"/>
                </a:lnTo>
                <a:lnTo>
                  <a:pt x="666" y="2147"/>
                </a:lnTo>
                <a:lnTo>
                  <a:pt x="66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45"/>
          <p:cNvSpPr/>
          <p:nvPr userDrawn="1"/>
        </p:nvSpPr>
        <p:spPr bwMode="auto">
          <a:xfrm>
            <a:off x="3420436" y="912127"/>
            <a:ext cx="2207157" cy="2465713"/>
          </a:xfrm>
          <a:custGeom>
            <a:avLst/>
            <a:gdLst>
              <a:gd name="T0" fmla="*/ 0 w 1289"/>
              <a:gd name="T1" fmla="*/ 0 h 1440"/>
              <a:gd name="T2" fmla="*/ 831 w 1289"/>
              <a:gd name="T3" fmla="*/ 1440 h 1440"/>
              <a:gd name="T4" fmla="*/ 1289 w 1289"/>
              <a:gd name="T5" fmla="*/ 212 h 1440"/>
              <a:gd name="T6" fmla="*/ 0 w 1289"/>
              <a:gd name="T7" fmla="*/ 0 h 1440"/>
            </a:gdLst>
            <a:ahLst/>
            <a:cxnLst>
              <a:cxn ang="0">
                <a:pos x="T0" y="T1"/>
              </a:cxn>
              <a:cxn ang="0">
                <a:pos x="T2" y="T3"/>
              </a:cxn>
              <a:cxn ang="0">
                <a:pos x="T4" y="T5"/>
              </a:cxn>
              <a:cxn ang="0">
                <a:pos x="T6" y="T7"/>
              </a:cxn>
            </a:cxnLst>
            <a:rect l="0" t="0" r="r" b="b"/>
            <a:pathLst>
              <a:path w="1289" h="1440">
                <a:moveTo>
                  <a:pt x="0" y="0"/>
                </a:moveTo>
                <a:lnTo>
                  <a:pt x="831" y="1440"/>
                </a:lnTo>
                <a:lnTo>
                  <a:pt x="1289" y="21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5"/>
          <p:cNvSpPr/>
          <p:nvPr userDrawn="1"/>
        </p:nvSpPr>
        <p:spPr bwMode="auto">
          <a:xfrm>
            <a:off x="252" y="5148237"/>
            <a:ext cx="9272085" cy="1709763"/>
          </a:xfrm>
          <a:custGeom>
            <a:avLst/>
            <a:gdLst>
              <a:gd name="T0" fmla="*/ 5212 w 7679"/>
              <a:gd name="T1" fmla="*/ 0 h 1416"/>
              <a:gd name="T2" fmla="*/ 0 w 7679"/>
              <a:gd name="T3" fmla="*/ 1416 h 1416"/>
              <a:gd name="T4" fmla="*/ 7679 w 7679"/>
              <a:gd name="T5" fmla="*/ 1416 h 1416"/>
              <a:gd name="T6" fmla="*/ 5212 w 7679"/>
              <a:gd name="T7" fmla="*/ 0 h 1416"/>
            </a:gdLst>
            <a:ahLst/>
            <a:cxnLst>
              <a:cxn ang="0">
                <a:pos x="T0" y="T1"/>
              </a:cxn>
              <a:cxn ang="0">
                <a:pos x="T2" y="T3"/>
              </a:cxn>
              <a:cxn ang="0">
                <a:pos x="T4" y="T5"/>
              </a:cxn>
              <a:cxn ang="0">
                <a:pos x="T6" y="T7"/>
              </a:cxn>
            </a:cxnLst>
            <a:rect l="0" t="0" r="r" b="b"/>
            <a:pathLst>
              <a:path w="7679" h="1416">
                <a:moveTo>
                  <a:pt x="5212" y="0"/>
                </a:moveTo>
                <a:lnTo>
                  <a:pt x="0" y="1416"/>
                </a:lnTo>
                <a:lnTo>
                  <a:pt x="7679" y="1416"/>
                </a:lnTo>
                <a:lnTo>
                  <a:pt x="5212" y="0"/>
                </a:ln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20" name="标题 1"/>
          <p:cNvSpPr>
            <a:spLocks noGrp="1"/>
          </p:cNvSpPr>
          <p:nvPr userDrawn="1">
            <p:ph type="title"/>
          </p:nvPr>
        </p:nvSpPr>
        <p:spPr>
          <a:xfrm>
            <a:off x="2145938" y="2859877"/>
            <a:ext cx="5419185" cy="895350"/>
          </a:xfrm>
        </p:spPr>
        <p:txBody>
          <a:bodyPr anchor="b">
            <a:normAutofit/>
          </a:bodyPr>
          <a:lstStyle>
            <a:lvl1pPr algn="l">
              <a:defRPr sz="2400" b="1">
                <a:solidFill>
                  <a:schemeClr val="tx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2147054" y="3755227"/>
            <a:ext cx="5419185" cy="1015623"/>
          </a:xfrm>
        </p:spPr>
        <p:txBody>
          <a:bodyPr anchor="t">
            <a:normAutofit/>
          </a:bodyPr>
          <a:lstStyle>
            <a:lvl1pPr marL="0" indent="0" algn="l">
              <a:lnSpc>
                <a:spcPct val="100000"/>
              </a:lnSpc>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27" name="Picture Placeholder 7"/>
          <p:cNvSpPr>
            <a:spLocks noGrp="1"/>
          </p:cNvSpPr>
          <p:nvPr>
            <p:ph type="pic" sz="quarter" idx="10" hasCustomPrompt="1"/>
          </p:nvPr>
        </p:nvSpPr>
        <p:spPr>
          <a:xfrm>
            <a:off x="0" y="0"/>
            <a:ext cx="12192000" cy="6858000"/>
          </a:xfrm>
          <a:prstGeom prst="rect">
            <a:avLst/>
          </a:prstGeom>
          <a:solidFill>
            <a:schemeClr val="bg1">
              <a:lumMod val="95000"/>
              <a:alpha val="70000"/>
            </a:schemeClr>
          </a:solidFill>
          <a:ln w="19050">
            <a:noFill/>
          </a:ln>
        </p:spPr>
        <p:txBody>
          <a:bodyPr lIns="0" tIns="91440" rIns="0" bIns="1463040" anchor="b"/>
          <a:lstStyle>
            <a:lvl1pPr algn="ctr" rtl="0">
              <a:buNone/>
              <a:defRPr sz="1865">
                <a:solidFill>
                  <a:schemeClr val="tx1">
                    <a:lumMod val="75000"/>
                    <a:lumOff val="25000"/>
                  </a:schemeClr>
                </a:solidFill>
              </a:defRPr>
            </a:lvl1pPr>
          </a:lstStyle>
          <a:p>
            <a:r>
              <a:rPr lang="en-US" dirty="0"/>
              <a:t>Image Holder</a:t>
            </a:r>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3353" cy="6858000"/>
          </a:xfrm>
          <a:prstGeom prst="rect">
            <a:avLst/>
          </a:prstGeom>
        </p:spPr>
      </p:pic>
    </p:spTree>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7_Full Image">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727200" y="1710265"/>
            <a:ext cx="2607733" cy="4610100"/>
          </a:xfrm>
          <a:custGeom>
            <a:avLst/>
            <a:gdLst>
              <a:gd name="connsiteX0" fmla="*/ 0 w 1857947"/>
              <a:gd name="connsiteY0" fmla="*/ 0 h 3333750"/>
              <a:gd name="connsiteX1" fmla="*/ 1857947 w 1857947"/>
              <a:gd name="connsiteY1" fmla="*/ 0 h 3333750"/>
              <a:gd name="connsiteX2" fmla="*/ 1857947 w 1857947"/>
              <a:gd name="connsiteY2" fmla="*/ 3333750 h 3333750"/>
              <a:gd name="connsiteX3" fmla="*/ 0 w 1857947"/>
              <a:gd name="connsiteY3" fmla="*/ 3333750 h 3333750"/>
              <a:gd name="connsiteX4" fmla="*/ 0 w 1857947"/>
              <a:gd name="connsiteY4" fmla="*/ 0 h 3333750"/>
              <a:gd name="connsiteX0-1" fmla="*/ 19050 w 1857947"/>
              <a:gd name="connsiteY0-2" fmla="*/ 0 h 3384550"/>
              <a:gd name="connsiteX1-3" fmla="*/ 1857947 w 1857947"/>
              <a:gd name="connsiteY1-4" fmla="*/ 50800 h 3384550"/>
              <a:gd name="connsiteX2-5" fmla="*/ 1857947 w 1857947"/>
              <a:gd name="connsiteY2-6" fmla="*/ 3384550 h 3384550"/>
              <a:gd name="connsiteX3-7" fmla="*/ 0 w 1857947"/>
              <a:gd name="connsiteY3-8" fmla="*/ 3384550 h 3384550"/>
              <a:gd name="connsiteX4-9" fmla="*/ 19050 w 1857947"/>
              <a:gd name="connsiteY4-10" fmla="*/ 0 h 3384550"/>
              <a:gd name="connsiteX0-11" fmla="*/ 57150 w 1857947"/>
              <a:gd name="connsiteY0-12" fmla="*/ 0 h 3384550"/>
              <a:gd name="connsiteX1-13" fmla="*/ 1857947 w 1857947"/>
              <a:gd name="connsiteY1-14" fmla="*/ 50800 h 3384550"/>
              <a:gd name="connsiteX2-15" fmla="*/ 1857947 w 1857947"/>
              <a:gd name="connsiteY2-16" fmla="*/ 3384550 h 3384550"/>
              <a:gd name="connsiteX3-17" fmla="*/ 0 w 1857947"/>
              <a:gd name="connsiteY3-18" fmla="*/ 3384550 h 3384550"/>
              <a:gd name="connsiteX4-19" fmla="*/ 57150 w 1857947"/>
              <a:gd name="connsiteY4-20" fmla="*/ 0 h 3384550"/>
              <a:gd name="connsiteX0-21" fmla="*/ 101600 w 1857947"/>
              <a:gd name="connsiteY0-22" fmla="*/ 0 h 3390900"/>
              <a:gd name="connsiteX1-23" fmla="*/ 1857947 w 1857947"/>
              <a:gd name="connsiteY1-24" fmla="*/ 57150 h 3390900"/>
              <a:gd name="connsiteX2-25" fmla="*/ 1857947 w 1857947"/>
              <a:gd name="connsiteY2-26" fmla="*/ 3390900 h 3390900"/>
              <a:gd name="connsiteX3-27" fmla="*/ 0 w 1857947"/>
              <a:gd name="connsiteY3-28" fmla="*/ 3390900 h 3390900"/>
              <a:gd name="connsiteX4-29" fmla="*/ 101600 w 1857947"/>
              <a:gd name="connsiteY4-30" fmla="*/ 0 h 3390900"/>
              <a:gd name="connsiteX0-31" fmla="*/ 95250 w 1857947"/>
              <a:gd name="connsiteY0-32" fmla="*/ 0 h 3422650"/>
              <a:gd name="connsiteX1-33" fmla="*/ 1857947 w 1857947"/>
              <a:gd name="connsiteY1-34" fmla="*/ 88900 h 3422650"/>
              <a:gd name="connsiteX2-35" fmla="*/ 1857947 w 1857947"/>
              <a:gd name="connsiteY2-36" fmla="*/ 3422650 h 3422650"/>
              <a:gd name="connsiteX3-37" fmla="*/ 0 w 1857947"/>
              <a:gd name="connsiteY3-38" fmla="*/ 3422650 h 3422650"/>
              <a:gd name="connsiteX4-39" fmla="*/ 95250 w 1857947"/>
              <a:gd name="connsiteY4-40" fmla="*/ 0 h 3422650"/>
              <a:gd name="connsiteX0-41" fmla="*/ 63500 w 1857947"/>
              <a:gd name="connsiteY0-42" fmla="*/ 0 h 3422650"/>
              <a:gd name="connsiteX1-43" fmla="*/ 1857947 w 1857947"/>
              <a:gd name="connsiteY1-44" fmla="*/ 88900 h 3422650"/>
              <a:gd name="connsiteX2-45" fmla="*/ 1857947 w 1857947"/>
              <a:gd name="connsiteY2-46" fmla="*/ 3422650 h 3422650"/>
              <a:gd name="connsiteX3-47" fmla="*/ 0 w 1857947"/>
              <a:gd name="connsiteY3-48" fmla="*/ 3422650 h 3422650"/>
              <a:gd name="connsiteX4-49" fmla="*/ 63500 w 1857947"/>
              <a:gd name="connsiteY4-50" fmla="*/ 0 h 3422650"/>
              <a:gd name="connsiteX0-51" fmla="*/ 63500 w 1857947"/>
              <a:gd name="connsiteY0-52" fmla="*/ 0 h 3435350"/>
              <a:gd name="connsiteX1-53" fmla="*/ 1857947 w 1857947"/>
              <a:gd name="connsiteY1-54" fmla="*/ 101600 h 3435350"/>
              <a:gd name="connsiteX2-55" fmla="*/ 1857947 w 1857947"/>
              <a:gd name="connsiteY2-56" fmla="*/ 3435350 h 3435350"/>
              <a:gd name="connsiteX3-57" fmla="*/ 0 w 1857947"/>
              <a:gd name="connsiteY3-58" fmla="*/ 3435350 h 3435350"/>
              <a:gd name="connsiteX4-59" fmla="*/ 63500 w 1857947"/>
              <a:gd name="connsiteY4-60" fmla="*/ 0 h 3435350"/>
              <a:gd name="connsiteX0-61" fmla="*/ 38100 w 1857947"/>
              <a:gd name="connsiteY0-62" fmla="*/ 0 h 3435350"/>
              <a:gd name="connsiteX1-63" fmla="*/ 1857947 w 1857947"/>
              <a:gd name="connsiteY1-64" fmla="*/ 101600 h 3435350"/>
              <a:gd name="connsiteX2-65" fmla="*/ 1857947 w 1857947"/>
              <a:gd name="connsiteY2-66" fmla="*/ 3435350 h 3435350"/>
              <a:gd name="connsiteX3-67" fmla="*/ 0 w 1857947"/>
              <a:gd name="connsiteY3-68" fmla="*/ 3435350 h 3435350"/>
              <a:gd name="connsiteX4-69" fmla="*/ 38100 w 1857947"/>
              <a:gd name="connsiteY4-70" fmla="*/ 0 h 3435350"/>
              <a:gd name="connsiteX0-71" fmla="*/ 44450 w 1857947"/>
              <a:gd name="connsiteY0-72" fmla="*/ 0 h 3454400"/>
              <a:gd name="connsiteX1-73" fmla="*/ 1857947 w 1857947"/>
              <a:gd name="connsiteY1-74" fmla="*/ 120650 h 3454400"/>
              <a:gd name="connsiteX2-75" fmla="*/ 1857947 w 1857947"/>
              <a:gd name="connsiteY2-76" fmla="*/ 3454400 h 3454400"/>
              <a:gd name="connsiteX3-77" fmla="*/ 0 w 1857947"/>
              <a:gd name="connsiteY3-78" fmla="*/ 3454400 h 3454400"/>
              <a:gd name="connsiteX4-79" fmla="*/ 44450 w 1857947"/>
              <a:gd name="connsiteY4-80" fmla="*/ 0 h 3454400"/>
              <a:gd name="connsiteX0-81" fmla="*/ 44450 w 1857947"/>
              <a:gd name="connsiteY0-82" fmla="*/ 0 h 3454400"/>
              <a:gd name="connsiteX1-83" fmla="*/ 1794447 w 1857947"/>
              <a:gd name="connsiteY1-84" fmla="*/ 152400 h 3454400"/>
              <a:gd name="connsiteX2-85" fmla="*/ 1857947 w 1857947"/>
              <a:gd name="connsiteY2-86" fmla="*/ 3454400 h 3454400"/>
              <a:gd name="connsiteX3-87" fmla="*/ 0 w 1857947"/>
              <a:gd name="connsiteY3-88" fmla="*/ 3454400 h 3454400"/>
              <a:gd name="connsiteX4-89" fmla="*/ 44450 w 1857947"/>
              <a:gd name="connsiteY4-90" fmla="*/ 0 h 3454400"/>
              <a:gd name="connsiteX0-91" fmla="*/ 44450 w 1857947"/>
              <a:gd name="connsiteY0-92" fmla="*/ 0 h 3454400"/>
              <a:gd name="connsiteX1-93" fmla="*/ 1724597 w 1857947"/>
              <a:gd name="connsiteY1-94" fmla="*/ 152400 h 3454400"/>
              <a:gd name="connsiteX2-95" fmla="*/ 1857947 w 1857947"/>
              <a:gd name="connsiteY2-96" fmla="*/ 3454400 h 3454400"/>
              <a:gd name="connsiteX3-97" fmla="*/ 0 w 1857947"/>
              <a:gd name="connsiteY3-98" fmla="*/ 3454400 h 3454400"/>
              <a:gd name="connsiteX4-99" fmla="*/ 44450 w 1857947"/>
              <a:gd name="connsiteY4-100" fmla="*/ 0 h 3454400"/>
              <a:gd name="connsiteX0-101" fmla="*/ 44450 w 1857947"/>
              <a:gd name="connsiteY0-102" fmla="*/ 0 h 3454400"/>
              <a:gd name="connsiteX1-103" fmla="*/ 1692847 w 1857947"/>
              <a:gd name="connsiteY1-104" fmla="*/ 127000 h 3454400"/>
              <a:gd name="connsiteX2-105" fmla="*/ 1857947 w 1857947"/>
              <a:gd name="connsiteY2-106" fmla="*/ 3454400 h 3454400"/>
              <a:gd name="connsiteX3-107" fmla="*/ 0 w 1857947"/>
              <a:gd name="connsiteY3-108" fmla="*/ 3454400 h 3454400"/>
              <a:gd name="connsiteX4-109" fmla="*/ 44450 w 1857947"/>
              <a:gd name="connsiteY4-110" fmla="*/ 0 h 3454400"/>
              <a:gd name="connsiteX0-111" fmla="*/ 165100 w 1978597"/>
              <a:gd name="connsiteY0-112" fmla="*/ 0 h 3473450"/>
              <a:gd name="connsiteX1-113" fmla="*/ 1813497 w 1978597"/>
              <a:gd name="connsiteY1-114" fmla="*/ 127000 h 3473450"/>
              <a:gd name="connsiteX2-115" fmla="*/ 1978597 w 1978597"/>
              <a:gd name="connsiteY2-116" fmla="*/ 3454400 h 3473450"/>
              <a:gd name="connsiteX3-117" fmla="*/ 0 w 1978597"/>
              <a:gd name="connsiteY3-118" fmla="*/ 3473450 h 3473450"/>
              <a:gd name="connsiteX4-119" fmla="*/ 165100 w 1978597"/>
              <a:gd name="connsiteY4-120" fmla="*/ 0 h 3473450"/>
              <a:gd name="connsiteX0-121" fmla="*/ 209550 w 2023047"/>
              <a:gd name="connsiteY0-122" fmla="*/ 0 h 3479800"/>
              <a:gd name="connsiteX1-123" fmla="*/ 1857947 w 2023047"/>
              <a:gd name="connsiteY1-124" fmla="*/ 127000 h 3479800"/>
              <a:gd name="connsiteX2-125" fmla="*/ 2023047 w 2023047"/>
              <a:gd name="connsiteY2-126" fmla="*/ 3454400 h 3479800"/>
              <a:gd name="connsiteX3-127" fmla="*/ 0 w 2023047"/>
              <a:gd name="connsiteY3-128" fmla="*/ 3479800 h 3479800"/>
              <a:gd name="connsiteX4-129" fmla="*/ 209550 w 2023047"/>
              <a:gd name="connsiteY4-130" fmla="*/ 0 h 3479800"/>
              <a:gd name="connsiteX0-131" fmla="*/ 209550 w 1908747"/>
              <a:gd name="connsiteY0-132" fmla="*/ 0 h 3479800"/>
              <a:gd name="connsiteX1-133" fmla="*/ 1857947 w 1908747"/>
              <a:gd name="connsiteY1-134" fmla="*/ 127000 h 3479800"/>
              <a:gd name="connsiteX2-135" fmla="*/ 1908747 w 1908747"/>
              <a:gd name="connsiteY2-136" fmla="*/ 3448050 h 3479800"/>
              <a:gd name="connsiteX3-137" fmla="*/ 0 w 1908747"/>
              <a:gd name="connsiteY3-138" fmla="*/ 3479800 h 3479800"/>
              <a:gd name="connsiteX4-139" fmla="*/ 209550 w 1908747"/>
              <a:gd name="connsiteY4-140" fmla="*/ 0 h 3479800"/>
              <a:gd name="connsiteX0-141" fmla="*/ 209550 w 1915067"/>
              <a:gd name="connsiteY0-142" fmla="*/ 0 h 3479800"/>
              <a:gd name="connsiteX1-143" fmla="*/ 1857947 w 1915067"/>
              <a:gd name="connsiteY1-144" fmla="*/ 127000 h 3479800"/>
              <a:gd name="connsiteX2-145" fmla="*/ 1915067 w 1915067"/>
              <a:gd name="connsiteY2-146" fmla="*/ 3428609 h 3479800"/>
              <a:gd name="connsiteX3-147" fmla="*/ 0 w 1915067"/>
              <a:gd name="connsiteY3-148" fmla="*/ 3479800 h 3479800"/>
              <a:gd name="connsiteX4-149" fmla="*/ 209550 w 1915067"/>
              <a:gd name="connsiteY4-150" fmla="*/ 0 h 3479800"/>
              <a:gd name="connsiteX0-151" fmla="*/ 209550 w 1921387"/>
              <a:gd name="connsiteY0-152" fmla="*/ 0 h 3479800"/>
              <a:gd name="connsiteX1-153" fmla="*/ 1857947 w 1921387"/>
              <a:gd name="connsiteY1-154" fmla="*/ 127000 h 3479800"/>
              <a:gd name="connsiteX2-155" fmla="*/ 1921387 w 1921387"/>
              <a:gd name="connsiteY2-156" fmla="*/ 3402689 h 3479800"/>
              <a:gd name="connsiteX3-157" fmla="*/ 0 w 1921387"/>
              <a:gd name="connsiteY3-158" fmla="*/ 3479800 h 3479800"/>
              <a:gd name="connsiteX4-159" fmla="*/ 209550 w 1921387"/>
              <a:gd name="connsiteY4-160" fmla="*/ 0 h 3479800"/>
              <a:gd name="connsiteX0-161" fmla="*/ 209550 w 1940348"/>
              <a:gd name="connsiteY0-162" fmla="*/ 0 h 3479800"/>
              <a:gd name="connsiteX1-163" fmla="*/ 1857947 w 1940348"/>
              <a:gd name="connsiteY1-164" fmla="*/ 127000 h 3479800"/>
              <a:gd name="connsiteX2-165" fmla="*/ 1940348 w 1940348"/>
              <a:gd name="connsiteY2-166" fmla="*/ 3402689 h 3479800"/>
              <a:gd name="connsiteX3-167" fmla="*/ 0 w 1940348"/>
              <a:gd name="connsiteY3-168" fmla="*/ 3479800 h 3479800"/>
              <a:gd name="connsiteX4-169" fmla="*/ 209550 w 1940348"/>
              <a:gd name="connsiteY4-170" fmla="*/ 0 h 3479800"/>
              <a:gd name="connsiteX0-171" fmla="*/ 209550 w 1940348"/>
              <a:gd name="connsiteY0-172" fmla="*/ 0 h 3479800"/>
              <a:gd name="connsiteX1-173" fmla="*/ 1857947 w 1940348"/>
              <a:gd name="connsiteY1-174" fmla="*/ 127000 h 3479800"/>
              <a:gd name="connsiteX2-175" fmla="*/ 1940348 w 1940348"/>
              <a:gd name="connsiteY2-176" fmla="*/ 3402689 h 3479800"/>
              <a:gd name="connsiteX3-177" fmla="*/ 0 w 1940348"/>
              <a:gd name="connsiteY3-178" fmla="*/ 3479800 h 3479800"/>
              <a:gd name="connsiteX4-179" fmla="*/ 209550 w 1940348"/>
              <a:gd name="connsiteY4-180" fmla="*/ 0 h 3479800"/>
              <a:gd name="connsiteX0-181" fmla="*/ 209550 w 1940348"/>
              <a:gd name="connsiteY0-182" fmla="*/ 0 h 3479800"/>
              <a:gd name="connsiteX1-183" fmla="*/ 1857947 w 1940348"/>
              <a:gd name="connsiteY1-184" fmla="*/ 127000 h 3479800"/>
              <a:gd name="connsiteX2-185" fmla="*/ 1940348 w 1940348"/>
              <a:gd name="connsiteY2-186" fmla="*/ 3402689 h 3479800"/>
              <a:gd name="connsiteX3-187" fmla="*/ 0 w 1940348"/>
              <a:gd name="connsiteY3-188" fmla="*/ 3479800 h 3479800"/>
              <a:gd name="connsiteX4-189" fmla="*/ 209550 w 1940348"/>
              <a:gd name="connsiteY4-190" fmla="*/ 0 h 3479800"/>
              <a:gd name="connsiteX0-191" fmla="*/ 209550 w 1940348"/>
              <a:gd name="connsiteY0-192" fmla="*/ 0 h 3479800"/>
              <a:gd name="connsiteX1-193" fmla="*/ 1876909 w 1940348"/>
              <a:gd name="connsiteY1-194" fmla="*/ 127000 h 3479800"/>
              <a:gd name="connsiteX2-195" fmla="*/ 1940348 w 1940348"/>
              <a:gd name="connsiteY2-196" fmla="*/ 3402689 h 3479800"/>
              <a:gd name="connsiteX3-197" fmla="*/ 0 w 1940348"/>
              <a:gd name="connsiteY3-198" fmla="*/ 3479800 h 3479800"/>
              <a:gd name="connsiteX4-199" fmla="*/ 209550 w 1940348"/>
              <a:gd name="connsiteY4-200" fmla="*/ 0 h 3479800"/>
              <a:gd name="connsiteX0-201" fmla="*/ 209550 w 1940348"/>
              <a:gd name="connsiteY0-202" fmla="*/ 0 h 3454260"/>
              <a:gd name="connsiteX1-203" fmla="*/ 1876909 w 1940348"/>
              <a:gd name="connsiteY1-204" fmla="*/ 101460 h 3454260"/>
              <a:gd name="connsiteX2-205" fmla="*/ 1940348 w 1940348"/>
              <a:gd name="connsiteY2-206" fmla="*/ 3377149 h 3454260"/>
              <a:gd name="connsiteX3-207" fmla="*/ 0 w 1940348"/>
              <a:gd name="connsiteY3-208" fmla="*/ 3454260 h 3454260"/>
              <a:gd name="connsiteX4-209" fmla="*/ 209550 w 1940348"/>
              <a:gd name="connsiteY4-210" fmla="*/ 0 h 3454260"/>
              <a:gd name="connsiteX0-211" fmla="*/ 215870 w 1940348"/>
              <a:gd name="connsiteY0-212" fmla="*/ 0 h 3467030"/>
              <a:gd name="connsiteX1-213" fmla="*/ 1876909 w 1940348"/>
              <a:gd name="connsiteY1-214" fmla="*/ 114230 h 3467030"/>
              <a:gd name="connsiteX2-215" fmla="*/ 1940348 w 1940348"/>
              <a:gd name="connsiteY2-216" fmla="*/ 3389919 h 3467030"/>
              <a:gd name="connsiteX3-217" fmla="*/ 0 w 1940348"/>
              <a:gd name="connsiteY3-218" fmla="*/ 3467030 h 3467030"/>
              <a:gd name="connsiteX4-219" fmla="*/ 215870 w 1940348"/>
              <a:gd name="connsiteY4-220" fmla="*/ 0 h 3467030"/>
              <a:gd name="connsiteX0-221" fmla="*/ 203230 w 1940348"/>
              <a:gd name="connsiteY0-222" fmla="*/ 0 h 3467030"/>
              <a:gd name="connsiteX1-223" fmla="*/ 1876909 w 1940348"/>
              <a:gd name="connsiteY1-224" fmla="*/ 114230 h 3467030"/>
              <a:gd name="connsiteX2-225" fmla="*/ 1940348 w 1940348"/>
              <a:gd name="connsiteY2-226" fmla="*/ 3389919 h 3467030"/>
              <a:gd name="connsiteX3-227" fmla="*/ 0 w 1940348"/>
              <a:gd name="connsiteY3-228" fmla="*/ 3467030 h 3467030"/>
              <a:gd name="connsiteX4-229" fmla="*/ 203230 w 1940348"/>
              <a:gd name="connsiteY4-230" fmla="*/ 0 h 3467030"/>
              <a:gd name="connsiteX0-231" fmla="*/ 203230 w 1940348"/>
              <a:gd name="connsiteY0-232" fmla="*/ 0 h 3467030"/>
              <a:gd name="connsiteX1-233" fmla="*/ 1883229 w 1940348"/>
              <a:gd name="connsiteY1-234" fmla="*/ 107845 h 3467030"/>
              <a:gd name="connsiteX2-235" fmla="*/ 1940348 w 1940348"/>
              <a:gd name="connsiteY2-236" fmla="*/ 3389919 h 3467030"/>
              <a:gd name="connsiteX3-237" fmla="*/ 0 w 1940348"/>
              <a:gd name="connsiteY3-238" fmla="*/ 3467030 h 3467030"/>
              <a:gd name="connsiteX4-239" fmla="*/ 203230 w 1940348"/>
              <a:gd name="connsiteY4-240" fmla="*/ 0 h 3467030"/>
              <a:gd name="connsiteX0-241" fmla="*/ 203230 w 1940348"/>
              <a:gd name="connsiteY0-242" fmla="*/ 0 h 3467030"/>
              <a:gd name="connsiteX1-243" fmla="*/ 1873748 w 1940348"/>
              <a:gd name="connsiteY1-244" fmla="*/ 114230 h 3467030"/>
              <a:gd name="connsiteX2-245" fmla="*/ 1940348 w 1940348"/>
              <a:gd name="connsiteY2-246" fmla="*/ 3389919 h 3467030"/>
              <a:gd name="connsiteX3-247" fmla="*/ 0 w 1940348"/>
              <a:gd name="connsiteY3-248" fmla="*/ 3467030 h 3467030"/>
              <a:gd name="connsiteX4-249" fmla="*/ 203230 w 1940348"/>
              <a:gd name="connsiteY4-250" fmla="*/ 0 h 3467030"/>
              <a:gd name="connsiteX0-251" fmla="*/ 203230 w 1940348"/>
              <a:gd name="connsiteY0-252" fmla="*/ 0 h 3467030"/>
              <a:gd name="connsiteX1-253" fmla="*/ 1867428 w 1940348"/>
              <a:gd name="connsiteY1-254" fmla="*/ 117423 h 3467030"/>
              <a:gd name="connsiteX2-255" fmla="*/ 1940348 w 1940348"/>
              <a:gd name="connsiteY2-256" fmla="*/ 3389919 h 3467030"/>
              <a:gd name="connsiteX3-257" fmla="*/ 0 w 1940348"/>
              <a:gd name="connsiteY3-258" fmla="*/ 3467030 h 3467030"/>
              <a:gd name="connsiteX4-259" fmla="*/ 203230 w 1940348"/>
              <a:gd name="connsiteY4-260" fmla="*/ 0 h 3467030"/>
              <a:gd name="connsiteX0-261" fmla="*/ 203230 w 1940348"/>
              <a:gd name="connsiteY0-262" fmla="*/ 0 h 3467030"/>
              <a:gd name="connsiteX1-263" fmla="*/ 1876909 w 1940348"/>
              <a:gd name="connsiteY1-264" fmla="*/ 117423 h 3467030"/>
              <a:gd name="connsiteX2-265" fmla="*/ 1940348 w 1940348"/>
              <a:gd name="connsiteY2-266" fmla="*/ 3389919 h 3467030"/>
              <a:gd name="connsiteX3-267" fmla="*/ 0 w 1940348"/>
              <a:gd name="connsiteY3-268" fmla="*/ 3467030 h 3467030"/>
              <a:gd name="connsiteX4-269" fmla="*/ 203230 w 1940348"/>
              <a:gd name="connsiteY4-270" fmla="*/ 0 h 3467030"/>
              <a:gd name="connsiteX0-271" fmla="*/ 203230 w 1940348"/>
              <a:gd name="connsiteY0-272" fmla="*/ 0 h 3467030"/>
              <a:gd name="connsiteX1-273" fmla="*/ 1876909 w 1940348"/>
              <a:gd name="connsiteY1-274" fmla="*/ 127000 h 3467030"/>
              <a:gd name="connsiteX2-275" fmla="*/ 1940348 w 1940348"/>
              <a:gd name="connsiteY2-276" fmla="*/ 3389919 h 3467030"/>
              <a:gd name="connsiteX3-277" fmla="*/ 0 w 1940348"/>
              <a:gd name="connsiteY3-278" fmla="*/ 3467030 h 3467030"/>
              <a:gd name="connsiteX4-279" fmla="*/ 203230 w 1940348"/>
              <a:gd name="connsiteY4-280" fmla="*/ 0 h 3467030"/>
              <a:gd name="connsiteX0-281" fmla="*/ 203230 w 1940348"/>
              <a:gd name="connsiteY0-282" fmla="*/ 0 h 3467030"/>
              <a:gd name="connsiteX1-283" fmla="*/ 1876909 w 1940348"/>
              <a:gd name="connsiteY1-284" fmla="*/ 136578 h 3467030"/>
              <a:gd name="connsiteX2-285" fmla="*/ 1940348 w 1940348"/>
              <a:gd name="connsiteY2-286" fmla="*/ 3389919 h 3467030"/>
              <a:gd name="connsiteX3-287" fmla="*/ 0 w 1940348"/>
              <a:gd name="connsiteY3-288" fmla="*/ 3467030 h 3467030"/>
              <a:gd name="connsiteX4-289" fmla="*/ 203230 w 1940348"/>
              <a:gd name="connsiteY4-290" fmla="*/ 0 h 3467030"/>
              <a:gd name="connsiteX0-291" fmla="*/ 203230 w 1940348"/>
              <a:gd name="connsiteY0-292" fmla="*/ 0 h 3467030"/>
              <a:gd name="connsiteX1-293" fmla="*/ 1876909 w 1940348"/>
              <a:gd name="connsiteY1-294" fmla="*/ 130193 h 3467030"/>
              <a:gd name="connsiteX2-295" fmla="*/ 1940348 w 1940348"/>
              <a:gd name="connsiteY2-296" fmla="*/ 3389919 h 3467030"/>
              <a:gd name="connsiteX3-297" fmla="*/ 0 w 1940348"/>
              <a:gd name="connsiteY3-298" fmla="*/ 3467030 h 3467030"/>
              <a:gd name="connsiteX4-299" fmla="*/ 203230 w 1940348"/>
              <a:gd name="connsiteY4-300" fmla="*/ 0 h 3467030"/>
              <a:gd name="connsiteX0-301" fmla="*/ 203230 w 1940348"/>
              <a:gd name="connsiteY0-302" fmla="*/ 0 h 3467030"/>
              <a:gd name="connsiteX1-303" fmla="*/ 1876909 w 1940348"/>
              <a:gd name="connsiteY1-304" fmla="*/ 127000 h 3467030"/>
              <a:gd name="connsiteX2-305" fmla="*/ 1940348 w 1940348"/>
              <a:gd name="connsiteY2-306" fmla="*/ 3389919 h 3467030"/>
              <a:gd name="connsiteX3-307" fmla="*/ 0 w 1940348"/>
              <a:gd name="connsiteY3-308" fmla="*/ 3467030 h 3467030"/>
              <a:gd name="connsiteX4-309" fmla="*/ 203230 w 1940348"/>
              <a:gd name="connsiteY4-310" fmla="*/ 0 h 3467030"/>
              <a:gd name="connsiteX0-311" fmla="*/ 203230 w 1943508"/>
              <a:gd name="connsiteY0-312" fmla="*/ 0 h 3467030"/>
              <a:gd name="connsiteX1-313" fmla="*/ 1876909 w 1943508"/>
              <a:gd name="connsiteY1-314" fmla="*/ 127000 h 3467030"/>
              <a:gd name="connsiteX2-315" fmla="*/ 1943508 w 1943508"/>
              <a:gd name="connsiteY2-316" fmla="*/ 3393111 h 3467030"/>
              <a:gd name="connsiteX3-317" fmla="*/ 0 w 1943508"/>
              <a:gd name="connsiteY3-318" fmla="*/ 3467030 h 3467030"/>
              <a:gd name="connsiteX4-319" fmla="*/ 203230 w 1943508"/>
              <a:gd name="connsiteY4-320" fmla="*/ 0 h 3467030"/>
              <a:gd name="connsiteX0-321" fmla="*/ 203230 w 1943508"/>
              <a:gd name="connsiteY0-322" fmla="*/ 0 h 3467030"/>
              <a:gd name="connsiteX1-323" fmla="*/ 1876909 w 1943508"/>
              <a:gd name="connsiteY1-324" fmla="*/ 127000 h 3467030"/>
              <a:gd name="connsiteX2-325" fmla="*/ 1943508 w 1943508"/>
              <a:gd name="connsiteY2-326" fmla="*/ 3402689 h 3467030"/>
              <a:gd name="connsiteX3-327" fmla="*/ 0 w 1943508"/>
              <a:gd name="connsiteY3-328" fmla="*/ 3467030 h 3467030"/>
              <a:gd name="connsiteX4-329" fmla="*/ 203230 w 1943508"/>
              <a:gd name="connsiteY4-330" fmla="*/ 0 h 3467030"/>
              <a:gd name="connsiteX0-331" fmla="*/ 203230 w 1943508"/>
              <a:gd name="connsiteY0-332" fmla="*/ 0 h 3476607"/>
              <a:gd name="connsiteX1-333" fmla="*/ 1876909 w 1943508"/>
              <a:gd name="connsiteY1-334" fmla="*/ 127000 h 3476607"/>
              <a:gd name="connsiteX2-335" fmla="*/ 1943508 w 1943508"/>
              <a:gd name="connsiteY2-336" fmla="*/ 3402689 h 3476607"/>
              <a:gd name="connsiteX3-337" fmla="*/ 0 w 1943508"/>
              <a:gd name="connsiteY3-338" fmla="*/ 3476607 h 3476607"/>
              <a:gd name="connsiteX4-339" fmla="*/ 203230 w 1943508"/>
              <a:gd name="connsiteY4-340" fmla="*/ 0 h 3476607"/>
              <a:gd name="connsiteX0-341" fmla="*/ 196910 w 1937188"/>
              <a:gd name="connsiteY0-342" fmla="*/ 0 h 3476607"/>
              <a:gd name="connsiteX1-343" fmla="*/ 1870589 w 1937188"/>
              <a:gd name="connsiteY1-344" fmla="*/ 127000 h 3476607"/>
              <a:gd name="connsiteX2-345" fmla="*/ 1937188 w 1937188"/>
              <a:gd name="connsiteY2-346" fmla="*/ 3402689 h 3476607"/>
              <a:gd name="connsiteX3-347" fmla="*/ 0 w 1937188"/>
              <a:gd name="connsiteY3-348" fmla="*/ 3476607 h 3476607"/>
              <a:gd name="connsiteX4-349" fmla="*/ 196910 w 1937188"/>
              <a:gd name="connsiteY4-350" fmla="*/ 0 h 3476607"/>
              <a:gd name="connsiteX0-351" fmla="*/ 196910 w 1937188"/>
              <a:gd name="connsiteY0-352" fmla="*/ 0 h 3473415"/>
              <a:gd name="connsiteX1-353" fmla="*/ 1870589 w 1937188"/>
              <a:gd name="connsiteY1-354" fmla="*/ 127000 h 3473415"/>
              <a:gd name="connsiteX2-355" fmla="*/ 1937188 w 1937188"/>
              <a:gd name="connsiteY2-356" fmla="*/ 3402689 h 3473415"/>
              <a:gd name="connsiteX3-357" fmla="*/ 0 w 1937188"/>
              <a:gd name="connsiteY3-358" fmla="*/ 3473415 h 3473415"/>
              <a:gd name="connsiteX4-359" fmla="*/ 196910 w 1937188"/>
              <a:gd name="connsiteY4-360" fmla="*/ 0 h 3473415"/>
              <a:gd name="connsiteX0-361" fmla="*/ 203230 w 1943508"/>
              <a:gd name="connsiteY0-362" fmla="*/ 0 h 3470223"/>
              <a:gd name="connsiteX1-363" fmla="*/ 1876909 w 1943508"/>
              <a:gd name="connsiteY1-364" fmla="*/ 127000 h 3470223"/>
              <a:gd name="connsiteX2-365" fmla="*/ 1943508 w 1943508"/>
              <a:gd name="connsiteY2-366" fmla="*/ 3402689 h 3470223"/>
              <a:gd name="connsiteX3-367" fmla="*/ 0 w 1943508"/>
              <a:gd name="connsiteY3-368" fmla="*/ 3470223 h 3470223"/>
              <a:gd name="connsiteX4-369" fmla="*/ 203230 w 1943508"/>
              <a:gd name="connsiteY4-370" fmla="*/ 0 h 3470223"/>
              <a:gd name="connsiteX0-371" fmla="*/ 206390 w 1946668"/>
              <a:gd name="connsiteY0-372" fmla="*/ 0 h 3476608"/>
              <a:gd name="connsiteX1-373" fmla="*/ 1880069 w 1946668"/>
              <a:gd name="connsiteY1-374" fmla="*/ 127000 h 3476608"/>
              <a:gd name="connsiteX2-375" fmla="*/ 1946668 w 1946668"/>
              <a:gd name="connsiteY2-376" fmla="*/ 3402689 h 3476608"/>
              <a:gd name="connsiteX3-377" fmla="*/ 0 w 1946668"/>
              <a:gd name="connsiteY3-378" fmla="*/ 3476608 h 3476608"/>
              <a:gd name="connsiteX4-379" fmla="*/ 206390 w 1946668"/>
              <a:gd name="connsiteY4-380" fmla="*/ 0 h 3476608"/>
              <a:gd name="connsiteX0-381" fmla="*/ 206390 w 1946668"/>
              <a:gd name="connsiteY0-382" fmla="*/ 0 h 3476608"/>
              <a:gd name="connsiteX1-383" fmla="*/ 1886390 w 1946668"/>
              <a:gd name="connsiteY1-384" fmla="*/ 130193 h 3476608"/>
              <a:gd name="connsiteX2-385" fmla="*/ 1946668 w 1946668"/>
              <a:gd name="connsiteY2-386" fmla="*/ 3402689 h 3476608"/>
              <a:gd name="connsiteX3-387" fmla="*/ 0 w 1946668"/>
              <a:gd name="connsiteY3-388" fmla="*/ 3476608 h 3476608"/>
              <a:gd name="connsiteX4-389" fmla="*/ 206390 w 1946668"/>
              <a:gd name="connsiteY4-390" fmla="*/ 0 h 3476608"/>
              <a:gd name="connsiteX0-391" fmla="*/ 206390 w 1946668"/>
              <a:gd name="connsiteY0-392" fmla="*/ 0 h 3476608"/>
              <a:gd name="connsiteX1-393" fmla="*/ 1886390 w 1946668"/>
              <a:gd name="connsiteY1-394" fmla="*/ 127000 h 3476608"/>
              <a:gd name="connsiteX2-395" fmla="*/ 1946668 w 1946668"/>
              <a:gd name="connsiteY2-396" fmla="*/ 3402689 h 3476608"/>
              <a:gd name="connsiteX3-397" fmla="*/ 0 w 1946668"/>
              <a:gd name="connsiteY3-398" fmla="*/ 3476608 h 3476608"/>
              <a:gd name="connsiteX4-399" fmla="*/ 206390 w 1946668"/>
              <a:gd name="connsiteY4-400" fmla="*/ 0 h 3476608"/>
              <a:gd name="connsiteX0-401" fmla="*/ 206390 w 1946668"/>
              <a:gd name="connsiteY0-402" fmla="*/ 0 h 3476608"/>
              <a:gd name="connsiteX1-403" fmla="*/ 1886390 w 1946668"/>
              <a:gd name="connsiteY1-404" fmla="*/ 123808 h 3476608"/>
              <a:gd name="connsiteX2-405" fmla="*/ 1946668 w 1946668"/>
              <a:gd name="connsiteY2-406" fmla="*/ 3402689 h 3476608"/>
              <a:gd name="connsiteX3-407" fmla="*/ 0 w 1946668"/>
              <a:gd name="connsiteY3-408" fmla="*/ 3476608 h 3476608"/>
              <a:gd name="connsiteX4-409" fmla="*/ 206390 w 1946668"/>
              <a:gd name="connsiteY4-410" fmla="*/ 0 h 347660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946668" h="3476608">
                <a:moveTo>
                  <a:pt x="206390" y="0"/>
                </a:moveTo>
                <a:lnTo>
                  <a:pt x="1886390" y="123808"/>
                </a:lnTo>
                <a:lnTo>
                  <a:pt x="1946668" y="3402689"/>
                </a:lnTo>
                <a:lnTo>
                  <a:pt x="0" y="3476608"/>
                </a:lnTo>
                <a:lnTo>
                  <a:pt x="206390" y="0"/>
                </a:lnTo>
                <a:close/>
              </a:path>
            </a:pathLst>
          </a:custGeom>
          <a:solidFill>
            <a:schemeClr val="bg1">
              <a:lumMod val="85000"/>
              <a:alpha val="70000"/>
            </a:schemeClr>
          </a:solidFill>
          <a:scene3d>
            <a:camera prst="isometricTopUp">
              <a:rot lat="19376154" lon="19949108" rev="2727759"/>
            </a:camera>
            <a:lightRig rig="threePt" dir="t"/>
          </a:scene3d>
          <a:sp3d/>
        </p:spPr>
        <p:txBody>
          <a:bodyPr/>
          <a:lstStyle>
            <a:lvl1pPr>
              <a:defRPr sz="1200"/>
            </a:lvl1pPr>
          </a:lstStyle>
          <a:p>
            <a:endParaRPr lang="en-US" dirty="0"/>
          </a:p>
        </p:txBody>
      </p:sp>
    </p:spTree>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6_Full Image">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rot="1245434">
            <a:off x="2080911" y="1885031"/>
            <a:ext cx="1977327" cy="3512731"/>
          </a:xfrm>
          <a:custGeom>
            <a:avLst/>
            <a:gdLst>
              <a:gd name="connsiteX0" fmla="*/ 0 w 1481378"/>
              <a:gd name="connsiteY0" fmla="*/ 0 h 2618657"/>
              <a:gd name="connsiteX1" fmla="*/ 1481378 w 1481378"/>
              <a:gd name="connsiteY1" fmla="*/ 0 h 2618657"/>
              <a:gd name="connsiteX2" fmla="*/ 1481378 w 1481378"/>
              <a:gd name="connsiteY2" fmla="*/ 2618657 h 2618657"/>
              <a:gd name="connsiteX3" fmla="*/ 0 w 1481378"/>
              <a:gd name="connsiteY3" fmla="*/ 2618657 h 2618657"/>
              <a:gd name="connsiteX4" fmla="*/ 0 w 1481378"/>
              <a:gd name="connsiteY4" fmla="*/ 0 h 2618657"/>
              <a:gd name="connsiteX0-1" fmla="*/ 0 w 1481378"/>
              <a:gd name="connsiteY0-2" fmla="*/ 0 h 2631478"/>
              <a:gd name="connsiteX1-3" fmla="*/ 1481378 w 1481378"/>
              <a:gd name="connsiteY1-4" fmla="*/ 0 h 2631478"/>
              <a:gd name="connsiteX2-5" fmla="*/ 1481143 w 1481378"/>
              <a:gd name="connsiteY2-6" fmla="*/ 2631478 h 2631478"/>
              <a:gd name="connsiteX3-7" fmla="*/ 0 w 1481378"/>
              <a:gd name="connsiteY3-8" fmla="*/ 2618657 h 2631478"/>
              <a:gd name="connsiteX4-9" fmla="*/ 0 w 1481378"/>
              <a:gd name="connsiteY4-10" fmla="*/ 0 h 2631478"/>
              <a:gd name="connsiteX0-11" fmla="*/ 1617 w 1482995"/>
              <a:gd name="connsiteY0-12" fmla="*/ 0 h 2634548"/>
              <a:gd name="connsiteX1-13" fmla="*/ 1482995 w 1482995"/>
              <a:gd name="connsiteY1-14" fmla="*/ 0 h 2634548"/>
              <a:gd name="connsiteX2-15" fmla="*/ 1482760 w 1482995"/>
              <a:gd name="connsiteY2-16" fmla="*/ 2631478 h 2634548"/>
              <a:gd name="connsiteX3-17" fmla="*/ 0 w 1482995"/>
              <a:gd name="connsiteY3-18" fmla="*/ 2634548 h 2634548"/>
              <a:gd name="connsiteX4-19" fmla="*/ 1617 w 1482995"/>
              <a:gd name="connsiteY4-20" fmla="*/ 0 h 26345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2995" h="2634548">
                <a:moveTo>
                  <a:pt x="1617" y="0"/>
                </a:moveTo>
                <a:lnTo>
                  <a:pt x="1482995" y="0"/>
                </a:lnTo>
                <a:cubicBezTo>
                  <a:pt x="1482917" y="877159"/>
                  <a:pt x="1482838" y="1754319"/>
                  <a:pt x="1482760" y="2631478"/>
                </a:cubicBezTo>
                <a:lnTo>
                  <a:pt x="0" y="2634548"/>
                </a:lnTo>
                <a:lnTo>
                  <a:pt x="1617" y="0"/>
                </a:lnTo>
                <a:close/>
              </a:path>
            </a:pathLst>
          </a:custGeom>
          <a:solidFill>
            <a:schemeClr val="bg1">
              <a:lumMod val="95000"/>
              <a:alpha val="70000"/>
            </a:schemeClr>
          </a:solidFill>
        </p:spPr>
        <p:txBody>
          <a:bodyPr/>
          <a:lstStyle>
            <a:lvl1pPr>
              <a:defRPr sz="1335"/>
            </a:lvl1pPr>
          </a:lstStyle>
          <a:p>
            <a:endParaRPr lang="en-US" dirty="0"/>
          </a:p>
        </p:txBody>
      </p:sp>
    </p:spTree>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7_Full Image">
    <p:spTree>
      <p:nvGrpSpPr>
        <p:cNvPr id="1" name=""/>
        <p:cNvGrpSpPr/>
        <p:nvPr/>
      </p:nvGrpSpPr>
      <p:grpSpPr>
        <a:xfrm>
          <a:off x="0" y="0"/>
          <a:ext cx="0" cy="0"/>
          <a:chOff x="0" y="0"/>
          <a:chExt cx="0" cy="0"/>
        </a:xfrm>
      </p:grpSpPr>
      <p:sp>
        <p:nvSpPr>
          <p:cNvPr id="2" name="Picture Placeholder 5"/>
          <p:cNvSpPr>
            <a:spLocks noGrp="1"/>
          </p:cNvSpPr>
          <p:nvPr>
            <p:ph type="pic" sz="quarter" idx="10"/>
          </p:nvPr>
        </p:nvSpPr>
        <p:spPr>
          <a:xfrm>
            <a:off x="4908347" y="2717800"/>
            <a:ext cx="2336800" cy="2336800"/>
          </a:xfrm>
          <a:custGeom>
            <a:avLst/>
            <a:gdLst>
              <a:gd name="connsiteX0" fmla="*/ 876300 w 1752600"/>
              <a:gd name="connsiteY0" fmla="*/ 0 h 1752600"/>
              <a:gd name="connsiteX1" fmla="*/ 1752600 w 1752600"/>
              <a:gd name="connsiteY1" fmla="*/ 876300 h 1752600"/>
              <a:gd name="connsiteX2" fmla="*/ 876300 w 1752600"/>
              <a:gd name="connsiteY2" fmla="*/ 1752600 h 1752600"/>
              <a:gd name="connsiteX3" fmla="*/ 0 w 1752600"/>
              <a:gd name="connsiteY3" fmla="*/ 876300 h 1752600"/>
              <a:gd name="connsiteX4" fmla="*/ 876300 w 1752600"/>
              <a:gd name="connsiteY4" fmla="*/ 0 h 175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2600" h="1752600">
                <a:moveTo>
                  <a:pt x="876300" y="0"/>
                </a:moveTo>
                <a:cubicBezTo>
                  <a:pt x="1360267" y="0"/>
                  <a:pt x="1752600" y="392333"/>
                  <a:pt x="1752600" y="876300"/>
                </a:cubicBezTo>
                <a:cubicBezTo>
                  <a:pt x="1752600" y="1360267"/>
                  <a:pt x="1360267" y="1752600"/>
                  <a:pt x="876300" y="1752600"/>
                </a:cubicBezTo>
                <a:cubicBezTo>
                  <a:pt x="392333" y="1752600"/>
                  <a:pt x="0" y="1360267"/>
                  <a:pt x="0" y="876300"/>
                </a:cubicBezTo>
                <a:cubicBezTo>
                  <a:pt x="0" y="392333"/>
                  <a:pt x="392333" y="0"/>
                  <a:pt x="876300" y="0"/>
                </a:cubicBezTo>
                <a:close/>
              </a:path>
            </a:pathLst>
          </a:custGeom>
          <a:solidFill>
            <a:schemeClr val="bg1">
              <a:lumMod val="95000"/>
              <a:alpha val="70000"/>
            </a:schemeClr>
          </a:solidFill>
        </p:spPr>
        <p:txBody>
          <a:bodyPr wrap="square">
            <a:noAutofit/>
          </a:bodyPr>
          <a:lstStyle>
            <a:lvl1pPr>
              <a:defRPr sz="1865"/>
            </a:lvl1pPr>
          </a:lstStyle>
          <a:p>
            <a:endParaRPr lang="en-US" dirty="0"/>
          </a:p>
        </p:txBody>
      </p:sp>
      <p:sp>
        <p:nvSpPr>
          <p:cNvPr id="3" name="Picture Placeholder 6"/>
          <p:cNvSpPr>
            <a:spLocks noGrp="1"/>
          </p:cNvSpPr>
          <p:nvPr>
            <p:ph type="pic" sz="quarter" idx="11"/>
          </p:nvPr>
        </p:nvSpPr>
        <p:spPr>
          <a:xfrm>
            <a:off x="7421341" y="2616200"/>
            <a:ext cx="2032000" cy="2032000"/>
          </a:xfrm>
          <a:custGeom>
            <a:avLst/>
            <a:gdLst>
              <a:gd name="connsiteX0" fmla="*/ 876300 w 1752600"/>
              <a:gd name="connsiteY0" fmla="*/ 0 h 1752600"/>
              <a:gd name="connsiteX1" fmla="*/ 1752600 w 1752600"/>
              <a:gd name="connsiteY1" fmla="*/ 876300 h 1752600"/>
              <a:gd name="connsiteX2" fmla="*/ 876300 w 1752600"/>
              <a:gd name="connsiteY2" fmla="*/ 1752600 h 1752600"/>
              <a:gd name="connsiteX3" fmla="*/ 0 w 1752600"/>
              <a:gd name="connsiteY3" fmla="*/ 876300 h 1752600"/>
              <a:gd name="connsiteX4" fmla="*/ 876300 w 1752600"/>
              <a:gd name="connsiteY4" fmla="*/ 0 h 175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2600" h="1752600">
                <a:moveTo>
                  <a:pt x="876300" y="0"/>
                </a:moveTo>
                <a:cubicBezTo>
                  <a:pt x="1360267" y="0"/>
                  <a:pt x="1752600" y="392333"/>
                  <a:pt x="1752600" y="876300"/>
                </a:cubicBezTo>
                <a:cubicBezTo>
                  <a:pt x="1752600" y="1360267"/>
                  <a:pt x="1360267" y="1752600"/>
                  <a:pt x="876300" y="1752600"/>
                </a:cubicBezTo>
                <a:cubicBezTo>
                  <a:pt x="392333" y="1752600"/>
                  <a:pt x="0" y="1360267"/>
                  <a:pt x="0" y="876300"/>
                </a:cubicBezTo>
                <a:cubicBezTo>
                  <a:pt x="0" y="392333"/>
                  <a:pt x="392333" y="0"/>
                  <a:pt x="876300" y="0"/>
                </a:cubicBezTo>
                <a:close/>
              </a:path>
            </a:pathLst>
          </a:custGeom>
          <a:solidFill>
            <a:schemeClr val="bg1">
              <a:lumMod val="95000"/>
              <a:alpha val="70000"/>
            </a:schemeClr>
          </a:solidFill>
        </p:spPr>
        <p:txBody>
          <a:bodyPr wrap="square">
            <a:noAutofit/>
          </a:bodyPr>
          <a:lstStyle>
            <a:lvl1pPr>
              <a:defRPr sz="1865"/>
            </a:lvl1pPr>
          </a:lstStyle>
          <a:p>
            <a:endParaRPr lang="en-US" dirty="0"/>
          </a:p>
        </p:txBody>
      </p:sp>
      <p:sp>
        <p:nvSpPr>
          <p:cNvPr id="4" name="Picture Placeholder 7"/>
          <p:cNvSpPr>
            <a:spLocks noGrp="1"/>
          </p:cNvSpPr>
          <p:nvPr>
            <p:ph type="pic" sz="quarter" idx="12"/>
          </p:nvPr>
        </p:nvSpPr>
        <p:spPr>
          <a:xfrm>
            <a:off x="2700152" y="2616200"/>
            <a:ext cx="2032000" cy="2032000"/>
          </a:xfrm>
          <a:custGeom>
            <a:avLst/>
            <a:gdLst>
              <a:gd name="connsiteX0" fmla="*/ 876300 w 1752600"/>
              <a:gd name="connsiteY0" fmla="*/ 0 h 1752600"/>
              <a:gd name="connsiteX1" fmla="*/ 1752600 w 1752600"/>
              <a:gd name="connsiteY1" fmla="*/ 876300 h 1752600"/>
              <a:gd name="connsiteX2" fmla="*/ 876300 w 1752600"/>
              <a:gd name="connsiteY2" fmla="*/ 1752600 h 1752600"/>
              <a:gd name="connsiteX3" fmla="*/ 0 w 1752600"/>
              <a:gd name="connsiteY3" fmla="*/ 876300 h 1752600"/>
              <a:gd name="connsiteX4" fmla="*/ 876300 w 1752600"/>
              <a:gd name="connsiteY4" fmla="*/ 0 h 175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2600" h="1752600">
                <a:moveTo>
                  <a:pt x="876300" y="0"/>
                </a:moveTo>
                <a:cubicBezTo>
                  <a:pt x="1360267" y="0"/>
                  <a:pt x="1752600" y="392333"/>
                  <a:pt x="1752600" y="876300"/>
                </a:cubicBezTo>
                <a:cubicBezTo>
                  <a:pt x="1752600" y="1360267"/>
                  <a:pt x="1360267" y="1752600"/>
                  <a:pt x="876300" y="1752600"/>
                </a:cubicBezTo>
                <a:cubicBezTo>
                  <a:pt x="392333" y="1752600"/>
                  <a:pt x="0" y="1360267"/>
                  <a:pt x="0" y="876300"/>
                </a:cubicBezTo>
                <a:cubicBezTo>
                  <a:pt x="0" y="392333"/>
                  <a:pt x="392333" y="0"/>
                  <a:pt x="876300" y="0"/>
                </a:cubicBezTo>
                <a:close/>
              </a:path>
            </a:pathLst>
          </a:custGeom>
          <a:solidFill>
            <a:schemeClr val="bg1">
              <a:lumMod val="95000"/>
              <a:alpha val="70000"/>
            </a:schemeClr>
          </a:solidFill>
        </p:spPr>
        <p:txBody>
          <a:bodyPr wrap="square">
            <a:noAutofit/>
          </a:bodyPr>
          <a:lstStyle>
            <a:lvl1pPr>
              <a:defRPr sz="1865"/>
            </a:lvl1pPr>
          </a:lstStyle>
          <a:p>
            <a:endParaRPr lang="en-US" dirty="0"/>
          </a:p>
        </p:txBody>
      </p:sp>
      <p:sp>
        <p:nvSpPr>
          <p:cNvPr id="5" name="Picture Placeholder 8"/>
          <p:cNvSpPr>
            <a:spLocks noGrp="1"/>
          </p:cNvSpPr>
          <p:nvPr>
            <p:ph type="pic" sz="quarter" idx="13"/>
          </p:nvPr>
        </p:nvSpPr>
        <p:spPr>
          <a:xfrm>
            <a:off x="9629539" y="2454176"/>
            <a:ext cx="1727200" cy="1727200"/>
          </a:xfrm>
          <a:custGeom>
            <a:avLst/>
            <a:gdLst>
              <a:gd name="connsiteX0" fmla="*/ 876300 w 1752600"/>
              <a:gd name="connsiteY0" fmla="*/ 0 h 1752600"/>
              <a:gd name="connsiteX1" fmla="*/ 1752600 w 1752600"/>
              <a:gd name="connsiteY1" fmla="*/ 876300 h 1752600"/>
              <a:gd name="connsiteX2" fmla="*/ 876300 w 1752600"/>
              <a:gd name="connsiteY2" fmla="*/ 1752600 h 1752600"/>
              <a:gd name="connsiteX3" fmla="*/ 0 w 1752600"/>
              <a:gd name="connsiteY3" fmla="*/ 876300 h 1752600"/>
              <a:gd name="connsiteX4" fmla="*/ 876300 w 1752600"/>
              <a:gd name="connsiteY4" fmla="*/ 0 h 175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2600" h="1752600">
                <a:moveTo>
                  <a:pt x="876300" y="0"/>
                </a:moveTo>
                <a:cubicBezTo>
                  <a:pt x="1360267" y="0"/>
                  <a:pt x="1752600" y="392333"/>
                  <a:pt x="1752600" y="876300"/>
                </a:cubicBezTo>
                <a:cubicBezTo>
                  <a:pt x="1752600" y="1360267"/>
                  <a:pt x="1360267" y="1752600"/>
                  <a:pt x="876300" y="1752600"/>
                </a:cubicBezTo>
                <a:cubicBezTo>
                  <a:pt x="392333" y="1752600"/>
                  <a:pt x="0" y="1360267"/>
                  <a:pt x="0" y="876300"/>
                </a:cubicBezTo>
                <a:cubicBezTo>
                  <a:pt x="0" y="392333"/>
                  <a:pt x="392333" y="0"/>
                  <a:pt x="876300" y="0"/>
                </a:cubicBezTo>
                <a:close/>
              </a:path>
            </a:pathLst>
          </a:custGeom>
          <a:solidFill>
            <a:schemeClr val="bg1">
              <a:lumMod val="95000"/>
              <a:alpha val="70000"/>
            </a:schemeClr>
          </a:solidFill>
        </p:spPr>
        <p:txBody>
          <a:bodyPr wrap="square">
            <a:noAutofit/>
          </a:bodyPr>
          <a:lstStyle>
            <a:lvl1pPr>
              <a:defRPr sz="1865"/>
            </a:lvl1pPr>
          </a:lstStyle>
          <a:p>
            <a:endParaRPr lang="en-US" dirty="0"/>
          </a:p>
        </p:txBody>
      </p:sp>
      <p:sp>
        <p:nvSpPr>
          <p:cNvPr id="6" name="Picture Placeholder 9"/>
          <p:cNvSpPr>
            <a:spLocks noGrp="1"/>
          </p:cNvSpPr>
          <p:nvPr>
            <p:ph type="pic" sz="quarter" idx="14"/>
          </p:nvPr>
        </p:nvSpPr>
        <p:spPr>
          <a:xfrm>
            <a:off x="796757" y="2454176"/>
            <a:ext cx="1727200" cy="1727200"/>
          </a:xfrm>
          <a:custGeom>
            <a:avLst/>
            <a:gdLst>
              <a:gd name="connsiteX0" fmla="*/ 876300 w 1752600"/>
              <a:gd name="connsiteY0" fmla="*/ 0 h 1752600"/>
              <a:gd name="connsiteX1" fmla="*/ 1752600 w 1752600"/>
              <a:gd name="connsiteY1" fmla="*/ 876300 h 1752600"/>
              <a:gd name="connsiteX2" fmla="*/ 876300 w 1752600"/>
              <a:gd name="connsiteY2" fmla="*/ 1752600 h 1752600"/>
              <a:gd name="connsiteX3" fmla="*/ 0 w 1752600"/>
              <a:gd name="connsiteY3" fmla="*/ 876300 h 1752600"/>
              <a:gd name="connsiteX4" fmla="*/ 876300 w 1752600"/>
              <a:gd name="connsiteY4" fmla="*/ 0 h 1752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2600" h="1752600">
                <a:moveTo>
                  <a:pt x="876300" y="0"/>
                </a:moveTo>
                <a:cubicBezTo>
                  <a:pt x="1360267" y="0"/>
                  <a:pt x="1752600" y="392333"/>
                  <a:pt x="1752600" y="876300"/>
                </a:cubicBezTo>
                <a:cubicBezTo>
                  <a:pt x="1752600" y="1360267"/>
                  <a:pt x="1360267" y="1752600"/>
                  <a:pt x="876300" y="1752600"/>
                </a:cubicBezTo>
                <a:cubicBezTo>
                  <a:pt x="392333" y="1752600"/>
                  <a:pt x="0" y="1360267"/>
                  <a:pt x="0" y="876300"/>
                </a:cubicBezTo>
                <a:cubicBezTo>
                  <a:pt x="0" y="392333"/>
                  <a:pt x="392333" y="0"/>
                  <a:pt x="876300" y="0"/>
                </a:cubicBezTo>
                <a:close/>
              </a:path>
            </a:pathLst>
          </a:custGeom>
          <a:solidFill>
            <a:schemeClr val="bg1">
              <a:lumMod val="95000"/>
              <a:alpha val="70000"/>
            </a:schemeClr>
          </a:solidFill>
        </p:spPr>
        <p:txBody>
          <a:bodyPr wrap="square">
            <a:noAutofit/>
          </a:bodyPr>
          <a:lstStyle>
            <a:lvl1pPr rtl="0">
              <a:defRPr sz="1865"/>
            </a:lvl1pPr>
          </a:lstStyle>
          <a:p>
            <a:endParaRPr lang="en-US" dirty="0"/>
          </a:p>
        </p:txBody>
      </p:sp>
    </p:spTree>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Full Imag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5583723" y="0"/>
            <a:ext cx="6608279" cy="6858000"/>
          </a:xfrm>
          <a:custGeom>
            <a:avLst/>
            <a:gdLst>
              <a:gd name="connsiteX0" fmla="*/ 2868359 w 4956209"/>
              <a:gd name="connsiteY0" fmla="*/ 0 h 5143500"/>
              <a:gd name="connsiteX1" fmla="*/ 4956209 w 4956209"/>
              <a:gd name="connsiteY1" fmla="*/ 0 h 5143500"/>
              <a:gd name="connsiteX2" fmla="*/ 4956209 w 4956209"/>
              <a:gd name="connsiteY2" fmla="*/ 5143500 h 5143500"/>
              <a:gd name="connsiteX3" fmla="*/ 0 w 4956209"/>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4956209" h="5143500">
                <a:moveTo>
                  <a:pt x="2868359" y="0"/>
                </a:moveTo>
                <a:lnTo>
                  <a:pt x="4956209" y="0"/>
                </a:lnTo>
                <a:lnTo>
                  <a:pt x="4956209" y="5143500"/>
                </a:lnTo>
                <a:lnTo>
                  <a:pt x="0" y="5143500"/>
                </a:lnTo>
                <a:close/>
              </a:path>
            </a:pathLst>
          </a:custGeom>
          <a:solidFill>
            <a:schemeClr val="bg1">
              <a:lumMod val="95000"/>
              <a:alpha val="70000"/>
            </a:schemeClr>
          </a:solidFill>
          <a:effectLst>
            <a:outerShdw blurRad="381000" dist="241300" dir="10800000" sx="96000" sy="96000" algn="r" rotWithShape="0">
              <a:prstClr val="black">
                <a:alpha val="30000"/>
              </a:prstClr>
            </a:outerShdw>
          </a:effectLst>
        </p:spPr>
        <p:txBody>
          <a:bodyPr wrap="square">
            <a:noAutofit/>
          </a:bodyPr>
          <a:lstStyle>
            <a:lvl1pPr>
              <a:defRPr sz="1400"/>
            </a:lvl1pPr>
          </a:lstStyle>
          <a:p>
            <a:endParaRPr lang="en-US" dirty="0"/>
          </a:p>
        </p:txBody>
      </p:sp>
    </p:spTree>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9_Blank">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2_Full Imag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3231853" y="838200"/>
            <a:ext cx="8299747" cy="5181600"/>
          </a:xfrm>
          <a:custGeom>
            <a:avLst/>
            <a:gdLst>
              <a:gd name="connsiteX0" fmla="*/ 0 w 6224810"/>
              <a:gd name="connsiteY0" fmla="*/ 0 h 3886200"/>
              <a:gd name="connsiteX1" fmla="*/ 6224810 w 6224810"/>
              <a:gd name="connsiteY1" fmla="*/ 0 h 3886200"/>
              <a:gd name="connsiteX2" fmla="*/ 6224810 w 6224810"/>
              <a:gd name="connsiteY2" fmla="*/ 3886200 h 3886200"/>
              <a:gd name="connsiteX3" fmla="*/ 0 w 6224810"/>
              <a:gd name="connsiteY3" fmla="*/ 3886200 h 3886200"/>
            </a:gdLst>
            <a:ahLst/>
            <a:cxnLst>
              <a:cxn ang="0">
                <a:pos x="connsiteX0" y="connsiteY0"/>
              </a:cxn>
              <a:cxn ang="0">
                <a:pos x="connsiteX1" y="connsiteY1"/>
              </a:cxn>
              <a:cxn ang="0">
                <a:pos x="connsiteX2" y="connsiteY2"/>
              </a:cxn>
              <a:cxn ang="0">
                <a:pos x="connsiteX3" y="connsiteY3"/>
              </a:cxn>
            </a:cxnLst>
            <a:rect l="l" t="t" r="r" b="b"/>
            <a:pathLst>
              <a:path w="6224810" h="3886200">
                <a:moveTo>
                  <a:pt x="0" y="0"/>
                </a:moveTo>
                <a:lnTo>
                  <a:pt x="6224810" y="0"/>
                </a:lnTo>
                <a:lnTo>
                  <a:pt x="6224810" y="3886200"/>
                </a:lnTo>
                <a:lnTo>
                  <a:pt x="0" y="3886200"/>
                </a:lnTo>
                <a:close/>
              </a:path>
            </a:pathLst>
          </a:custGeom>
          <a:solidFill>
            <a:schemeClr val="bg1">
              <a:lumMod val="95000"/>
              <a:alpha val="70000"/>
            </a:schemeClr>
          </a:solidFill>
        </p:spPr>
        <p:txBody>
          <a:bodyPr wrap="square">
            <a:noAutofit/>
          </a:bodyPr>
          <a:lstStyle>
            <a:lvl1pPr>
              <a:defRPr sz="1400"/>
            </a:lvl1pPr>
          </a:lstStyle>
          <a:p>
            <a:endParaRPr lang="en-US" dirty="0"/>
          </a:p>
        </p:txBody>
      </p:sp>
      <p:sp>
        <p:nvSpPr>
          <p:cNvPr id="3" name="Slide Number Placeholder 4"/>
          <p:cNvSpPr>
            <a:spLocks noGrp="1"/>
          </p:cNvSpPr>
          <p:nvPr>
            <p:ph type="sldNum" sz="quarter" idx="12"/>
          </p:nvPr>
        </p:nvSpPr>
        <p:spPr>
          <a:xfrm>
            <a:off x="11299275" y="6257799"/>
            <a:ext cx="633983" cy="366183"/>
          </a:xfrm>
          <a:prstGeom prst="rect">
            <a:avLst/>
          </a:prstGeom>
        </p:spPr>
        <p:txBody>
          <a:bodyPr anchor="ctr"/>
          <a:lstStyle>
            <a:lvl1pPr algn="l">
              <a:defRPr sz="1865" b="1">
                <a:solidFill>
                  <a:schemeClr val="bg1">
                    <a:lumMod val="50000"/>
                  </a:schemeClr>
                </a:solidFill>
                <a:latin typeface="Montserrat ExtraBold" panose="00000900000000000000" pitchFamily="50" charset="0"/>
              </a:defRPr>
            </a:lvl1pPr>
          </a:lstStyle>
          <a:p>
            <a:fld id="{C136B7D2-B98C-44FD-8D04-7EC62A564975}" type="slidenum">
              <a:rPr lang="en-US" smtClean="0"/>
              <a:t>‹#›</a:t>
            </a:fld>
            <a:endParaRPr lang="en-US" dirty="0"/>
          </a:p>
        </p:txBody>
      </p:sp>
      <p:sp>
        <p:nvSpPr>
          <p:cNvPr id="4" name="TextBox 3"/>
          <p:cNvSpPr txBox="1"/>
          <p:nvPr userDrawn="1"/>
        </p:nvSpPr>
        <p:spPr>
          <a:xfrm>
            <a:off x="10786533" y="6276743"/>
            <a:ext cx="812800" cy="297180"/>
          </a:xfrm>
          <a:prstGeom prst="rect">
            <a:avLst/>
          </a:prstGeom>
          <a:noFill/>
        </p:spPr>
        <p:txBody>
          <a:bodyPr wrap="square" rtlCol="0">
            <a:spAutoFit/>
          </a:bodyPr>
          <a:lstStyle/>
          <a:p>
            <a:r>
              <a:rPr lang="en-US" sz="1335" dirty="0">
                <a:solidFill>
                  <a:schemeClr val="bg1">
                    <a:lumMod val="50000"/>
                  </a:schemeClr>
                </a:solidFill>
                <a:latin typeface="+mj-lt"/>
              </a:rPr>
              <a:t>Page</a:t>
            </a:r>
          </a:p>
        </p:txBody>
      </p:sp>
    </p:spTree>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矩形 1"/>
          <p:cNvSpPr/>
          <p:nvPr userDrawn="1"/>
        </p:nvSpPr>
        <p:spPr>
          <a:xfrm>
            <a:off x="0" y="5219700"/>
            <a:ext cx="12196445" cy="1659890"/>
          </a:xfrm>
          <a:prstGeom prst="rect">
            <a:avLst/>
          </a:prstGeom>
          <a:gradFill flip="none" rotWithShape="1">
            <a:gsLst>
              <a:gs pos="0">
                <a:srgbClr val="03E790"/>
              </a:gs>
              <a:gs pos="100000">
                <a:srgbClr val="0070C0"/>
              </a:gs>
            </a:gsLst>
            <a:lin ang="2700000" scaled="1"/>
            <a:tileRect/>
          </a:gradFill>
          <a:ln>
            <a:noFill/>
          </a:ln>
          <a:effectLst>
            <a:innerShdw blurRad="1905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sym typeface="+mn-lt"/>
            </a:endParaRPr>
          </a:p>
        </p:txBody>
      </p:sp>
    </p:spTree>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0_Title Slide">
    <p:spTree>
      <p:nvGrpSpPr>
        <p:cNvPr id="1" name=""/>
        <p:cNvGrpSpPr/>
        <p:nvPr/>
      </p:nvGrpSpPr>
      <p:grpSpPr>
        <a:xfrm>
          <a:off x="0" y="0"/>
          <a:ext cx="0" cy="0"/>
          <a:chOff x="0" y="0"/>
          <a:chExt cx="0" cy="0"/>
        </a:xfrm>
      </p:grpSpPr>
      <p:sp>
        <p:nvSpPr>
          <p:cNvPr id="5" name="Rectangle 6"/>
          <p:cNvSpPr/>
          <p:nvPr userDrawn="1"/>
        </p:nvSpPr>
        <p:spPr>
          <a:xfrm>
            <a:off x="0" y="0"/>
            <a:ext cx="12192000" cy="6858000"/>
          </a:xfrm>
          <a:prstGeom prst="rect">
            <a:avLst/>
          </a:prstGeom>
          <a:gradFill>
            <a:gsLst>
              <a:gs pos="0">
                <a:srgbClr val="016FB4">
                  <a:alpha val="46000"/>
                </a:srgbClr>
              </a:gs>
              <a:gs pos="100000">
                <a:srgbClr val="20E0B2">
                  <a:alpha val="1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ransition spd="slow">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25B9D36-478D-478F-8E68-48FF34B8CEA6}" type="datetimeFigureOut">
              <a:rPr lang="zh-CN" altLang="en-US" smtClean="0"/>
              <a:t>2025-04-10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187FD9-E28F-4BAD-8D32-12EFCCCC62E1}" type="slidenum">
              <a:rPr lang="zh-CN" altLang="en-US" smtClean="0"/>
              <a:t>‹#›</a:t>
            </a:fld>
            <a:endParaRPr lang="zh-CN" altLang="en-US"/>
          </a:p>
        </p:txBody>
      </p:sp>
    </p:spTree>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tx1">
              <a:alpha val="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Picture Placeholder 2"/>
          <p:cNvSpPr>
            <a:spLocks noGrp="1"/>
          </p:cNvSpPr>
          <p:nvPr>
            <p:ph type="pic" sz="quarter" idx="10" hasCustomPrompt="1"/>
          </p:nvPr>
        </p:nvSpPr>
        <p:spPr>
          <a:xfrm>
            <a:off x="7835592" y="581722"/>
            <a:ext cx="3739375" cy="1828800"/>
          </a:xfrm>
          <a:custGeom>
            <a:avLst/>
            <a:gdLst>
              <a:gd name="connsiteX0" fmla="*/ 0 w 3526221"/>
              <a:gd name="connsiteY0" fmla="*/ 47392 h 4946526"/>
              <a:gd name="connsiteX1" fmla="*/ 47392 w 3526221"/>
              <a:gd name="connsiteY1" fmla="*/ 0 h 4946526"/>
              <a:gd name="connsiteX2" fmla="*/ 3478829 w 3526221"/>
              <a:gd name="connsiteY2" fmla="*/ 0 h 4946526"/>
              <a:gd name="connsiteX3" fmla="*/ 3526221 w 3526221"/>
              <a:gd name="connsiteY3" fmla="*/ 47392 h 4946526"/>
              <a:gd name="connsiteX4" fmla="*/ 3526221 w 3526221"/>
              <a:gd name="connsiteY4" fmla="*/ 4899134 h 4946526"/>
              <a:gd name="connsiteX5" fmla="*/ 3478829 w 3526221"/>
              <a:gd name="connsiteY5" fmla="*/ 4946526 h 4946526"/>
              <a:gd name="connsiteX6" fmla="*/ 47392 w 3526221"/>
              <a:gd name="connsiteY6" fmla="*/ 4946526 h 4946526"/>
              <a:gd name="connsiteX7" fmla="*/ 0 w 3526221"/>
              <a:gd name="connsiteY7" fmla="*/ 4899134 h 4946526"/>
              <a:gd name="connsiteX8" fmla="*/ 0 w 3526221"/>
              <a:gd name="connsiteY8" fmla="*/ 47392 h 4946526"/>
              <a:gd name="connsiteX0-1" fmla="*/ 0 w 3749408"/>
              <a:gd name="connsiteY0-2" fmla="*/ 47392 h 4946526"/>
              <a:gd name="connsiteX1-3" fmla="*/ 47392 w 3749408"/>
              <a:gd name="connsiteY1-4" fmla="*/ 0 h 4946526"/>
              <a:gd name="connsiteX2-5" fmla="*/ 3478829 w 3749408"/>
              <a:gd name="connsiteY2-6" fmla="*/ 0 h 4946526"/>
              <a:gd name="connsiteX3-7" fmla="*/ 3526221 w 3749408"/>
              <a:gd name="connsiteY3-8" fmla="*/ 4899134 h 4946526"/>
              <a:gd name="connsiteX4-9" fmla="*/ 3478829 w 3749408"/>
              <a:gd name="connsiteY4-10" fmla="*/ 4946526 h 4946526"/>
              <a:gd name="connsiteX5-11" fmla="*/ 47392 w 3749408"/>
              <a:gd name="connsiteY5-12" fmla="*/ 4946526 h 4946526"/>
              <a:gd name="connsiteX6-13" fmla="*/ 0 w 3749408"/>
              <a:gd name="connsiteY6-14" fmla="*/ 4899134 h 4946526"/>
              <a:gd name="connsiteX7-15" fmla="*/ 0 w 3749408"/>
              <a:gd name="connsiteY7-16" fmla="*/ 47392 h 4946526"/>
              <a:gd name="connsiteX0-17" fmla="*/ 0 w 3907758"/>
              <a:gd name="connsiteY0-18" fmla="*/ 47392 h 4946526"/>
              <a:gd name="connsiteX1-19" fmla="*/ 47392 w 3907758"/>
              <a:gd name="connsiteY1-20" fmla="*/ 0 h 4946526"/>
              <a:gd name="connsiteX2-21" fmla="*/ 3478829 w 3907758"/>
              <a:gd name="connsiteY2-22" fmla="*/ 0 h 4946526"/>
              <a:gd name="connsiteX3-23" fmla="*/ 3478829 w 3907758"/>
              <a:gd name="connsiteY3-24" fmla="*/ 4946526 h 4946526"/>
              <a:gd name="connsiteX4-25" fmla="*/ 47392 w 3907758"/>
              <a:gd name="connsiteY4-26" fmla="*/ 4946526 h 4946526"/>
              <a:gd name="connsiteX5-27" fmla="*/ 0 w 3907758"/>
              <a:gd name="connsiteY5-28" fmla="*/ 4899134 h 4946526"/>
              <a:gd name="connsiteX6-29" fmla="*/ 0 w 3907758"/>
              <a:gd name="connsiteY6-30" fmla="*/ 47392 h 4946526"/>
              <a:gd name="connsiteX0-31" fmla="*/ 0 w 3478829"/>
              <a:gd name="connsiteY0-32" fmla="*/ 47392 h 4946526"/>
              <a:gd name="connsiteX1-33" fmla="*/ 47392 w 3478829"/>
              <a:gd name="connsiteY1-34" fmla="*/ 0 h 4946526"/>
              <a:gd name="connsiteX2-35" fmla="*/ 3478829 w 3478829"/>
              <a:gd name="connsiteY2-36" fmla="*/ 0 h 4946526"/>
              <a:gd name="connsiteX3-37" fmla="*/ 3478829 w 3478829"/>
              <a:gd name="connsiteY3-38" fmla="*/ 4946526 h 4946526"/>
              <a:gd name="connsiteX4-39" fmla="*/ 47392 w 3478829"/>
              <a:gd name="connsiteY4-40" fmla="*/ 4946526 h 4946526"/>
              <a:gd name="connsiteX5-41" fmla="*/ 0 w 3478829"/>
              <a:gd name="connsiteY5-42" fmla="*/ 4899134 h 4946526"/>
              <a:gd name="connsiteX6-43" fmla="*/ 0 w 3478829"/>
              <a:gd name="connsiteY6-44" fmla="*/ 47392 h 49465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3478829" h="4946526">
                <a:moveTo>
                  <a:pt x="0" y="47392"/>
                </a:moveTo>
                <a:cubicBezTo>
                  <a:pt x="0" y="21218"/>
                  <a:pt x="21218" y="0"/>
                  <a:pt x="47392" y="0"/>
                </a:cubicBezTo>
                <a:lnTo>
                  <a:pt x="3478829" y="0"/>
                </a:lnTo>
                <a:lnTo>
                  <a:pt x="3478829" y="4946526"/>
                </a:lnTo>
                <a:lnTo>
                  <a:pt x="47392" y="4946526"/>
                </a:lnTo>
                <a:cubicBezTo>
                  <a:pt x="21218" y="4946526"/>
                  <a:pt x="0" y="4925308"/>
                  <a:pt x="0" y="4899134"/>
                </a:cubicBezTo>
                <a:lnTo>
                  <a:pt x="0" y="47392"/>
                </a:lnTo>
                <a:close/>
              </a:path>
            </a:pathLst>
          </a:custGeom>
          <a:pattFill prst="pct5">
            <a:fgClr>
              <a:schemeClr val="tx1"/>
            </a:fgClr>
            <a:bgClr>
              <a:schemeClr val="bg1">
                <a:lumMod val="85000"/>
              </a:schemeClr>
            </a:bgClr>
          </a:pattFill>
        </p:spPr>
        <p:txBody>
          <a:bodyPr anchor="ctr"/>
          <a:lstStyle>
            <a:lvl1pPr marL="0" indent="0" algn="ctr">
              <a:buNone/>
              <a:defRPr sz="1600" b="0" i="0">
                <a:latin typeface="Source Sans Pro" panose="020B0503030403020204" charset="0"/>
                <a:ea typeface="Source Sans Pro" panose="020B0503030403020204" charset="0"/>
                <a:cs typeface="Source Sans Pro" panose="020B0503030403020204" charset="0"/>
              </a:defRPr>
            </a:lvl1pPr>
          </a:lstStyle>
          <a:p>
            <a:r>
              <a:rPr lang="en-US" dirty="0"/>
              <a:t>Drag &amp; Drop Image</a:t>
            </a:r>
          </a:p>
        </p:txBody>
      </p:sp>
      <p:sp>
        <p:nvSpPr>
          <p:cNvPr id="10" name="Picture Placeholder 2"/>
          <p:cNvSpPr>
            <a:spLocks noGrp="1"/>
          </p:cNvSpPr>
          <p:nvPr>
            <p:ph type="pic" sz="quarter" idx="11" hasCustomPrompt="1"/>
          </p:nvPr>
        </p:nvSpPr>
        <p:spPr>
          <a:xfrm>
            <a:off x="3954967" y="2514600"/>
            <a:ext cx="5687123" cy="1828800"/>
          </a:xfrm>
          <a:custGeom>
            <a:avLst/>
            <a:gdLst>
              <a:gd name="connsiteX0" fmla="*/ 0 w 3526221"/>
              <a:gd name="connsiteY0" fmla="*/ 47392 h 4946526"/>
              <a:gd name="connsiteX1" fmla="*/ 47392 w 3526221"/>
              <a:gd name="connsiteY1" fmla="*/ 0 h 4946526"/>
              <a:gd name="connsiteX2" fmla="*/ 3478829 w 3526221"/>
              <a:gd name="connsiteY2" fmla="*/ 0 h 4946526"/>
              <a:gd name="connsiteX3" fmla="*/ 3526221 w 3526221"/>
              <a:gd name="connsiteY3" fmla="*/ 47392 h 4946526"/>
              <a:gd name="connsiteX4" fmla="*/ 3526221 w 3526221"/>
              <a:gd name="connsiteY4" fmla="*/ 4899134 h 4946526"/>
              <a:gd name="connsiteX5" fmla="*/ 3478829 w 3526221"/>
              <a:gd name="connsiteY5" fmla="*/ 4946526 h 4946526"/>
              <a:gd name="connsiteX6" fmla="*/ 47392 w 3526221"/>
              <a:gd name="connsiteY6" fmla="*/ 4946526 h 4946526"/>
              <a:gd name="connsiteX7" fmla="*/ 0 w 3526221"/>
              <a:gd name="connsiteY7" fmla="*/ 4899134 h 4946526"/>
              <a:gd name="connsiteX8" fmla="*/ 0 w 3526221"/>
              <a:gd name="connsiteY8" fmla="*/ 47392 h 4946526"/>
              <a:gd name="connsiteX0-1" fmla="*/ 0 w 3749408"/>
              <a:gd name="connsiteY0-2" fmla="*/ 47392 h 4946526"/>
              <a:gd name="connsiteX1-3" fmla="*/ 47392 w 3749408"/>
              <a:gd name="connsiteY1-4" fmla="*/ 0 h 4946526"/>
              <a:gd name="connsiteX2-5" fmla="*/ 3478829 w 3749408"/>
              <a:gd name="connsiteY2-6" fmla="*/ 0 h 4946526"/>
              <a:gd name="connsiteX3-7" fmla="*/ 3526221 w 3749408"/>
              <a:gd name="connsiteY3-8" fmla="*/ 4899134 h 4946526"/>
              <a:gd name="connsiteX4-9" fmla="*/ 3478829 w 3749408"/>
              <a:gd name="connsiteY4-10" fmla="*/ 4946526 h 4946526"/>
              <a:gd name="connsiteX5-11" fmla="*/ 47392 w 3749408"/>
              <a:gd name="connsiteY5-12" fmla="*/ 4946526 h 4946526"/>
              <a:gd name="connsiteX6-13" fmla="*/ 0 w 3749408"/>
              <a:gd name="connsiteY6-14" fmla="*/ 4899134 h 4946526"/>
              <a:gd name="connsiteX7-15" fmla="*/ 0 w 3749408"/>
              <a:gd name="connsiteY7-16" fmla="*/ 47392 h 4946526"/>
              <a:gd name="connsiteX0-17" fmla="*/ 0 w 3907758"/>
              <a:gd name="connsiteY0-18" fmla="*/ 47392 h 4946526"/>
              <a:gd name="connsiteX1-19" fmla="*/ 47392 w 3907758"/>
              <a:gd name="connsiteY1-20" fmla="*/ 0 h 4946526"/>
              <a:gd name="connsiteX2-21" fmla="*/ 3478829 w 3907758"/>
              <a:gd name="connsiteY2-22" fmla="*/ 0 h 4946526"/>
              <a:gd name="connsiteX3-23" fmla="*/ 3478829 w 3907758"/>
              <a:gd name="connsiteY3-24" fmla="*/ 4946526 h 4946526"/>
              <a:gd name="connsiteX4-25" fmla="*/ 47392 w 3907758"/>
              <a:gd name="connsiteY4-26" fmla="*/ 4946526 h 4946526"/>
              <a:gd name="connsiteX5-27" fmla="*/ 0 w 3907758"/>
              <a:gd name="connsiteY5-28" fmla="*/ 4899134 h 4946526"/>
              <a:gd name="connsiteX6-29" fmla="*/ 0 w 3907758"/>
              <a:gd name="connsiteY6-30" fmla="*/ 47392 h 4946526"/>
              <a:gd name="connsiteX0-31" fmla="*/ 0 w 3478829"/>
              <a:gd name="connsiteY0-32" fmla="*/ 47392 h 4946526"/>
              <a:gd name="connsiteX1-33" fmla="*/ 47392 w 3478829"/>
              <a:gd name="connsiteY1-34" fmla="*/ 0 h 4946526"/>
              <a:gd name="connsiteX2-35" fmla="*/ 3478829 w 3478829"/>
              <a:gd name="connsiteY2-36" fmla="*/ 0 h 4946526"/>
              <a:gd name="connsiteX3-37" fmla="*/ 3478829 w 3478829"/>
              <a:gd name="connsiteY3-38" fmla="*/ 4946526 h 4946526"/>
              <a:gd name="connsiteX4-39" fmla="*/ 47392 w 3478829"/>
              <a:gd name="connsiteY4-40" fmla="*/ 4946526 h 4946526"/>
              <a:gd name="connsiteX5-41" fmla="*/ 0 w 3478829"/>
              <a:gd name="connsiteY5-42" fmla="*/ 4899134 h 4946526"/>
              <a:gd name="connsiteX6-43" fmla="*/ 0 w 3478829"/>
              <a:gd name="connsiteY6-44" fmla="*/ 47392 h 49465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3478829" h="4946526">
                <a:moveTo>
                  <a:pt x="0" y="47392"/>
                </a:moveTo>
                <a:cubicBezTo>
                  <a:pt x="0" y="21218"/>
                  <a:pt x="21218" y="0"/>
                  <a:pt x="47392" y="0"/>
                </a:cubicBezTo>
                <a:lnTo>
                  <a:pt x="3478829" y="0"/>
                </a:lnTo>
                <a:lnTo>
                  <a:pt x="3478829" y="4946526"/>
                </a:lnTo>
                <a:lnTo>
                  <a:pt x="47392" y="4946526"/>
                </a:lnTo>
                <a:cubicBezTo>
                  <a:pt x="21218" y="4946526"/>
                  <a:pt x="0" y="4925308"/>
                  <a:pt x="0" y="4899134"/>
                </a:cubicBezTo>
                <a:lnTo>
                  <a:pt x="0" y="47392"/>
                </a:lnTo>
                <a:close/>
              </a:path>
            </a:pathLst>
          </a:custGeom>
          <a:pattFill prst="pct5">
            <a:fgClr>
              <a:schemeClr val="tx1"/>
            </a:fgClr>
            <a:bgClr>
              <a:schemeClr val="bg1">
                <a:lumMod val="85000"/>
              </a:schemeClr>
            </a:bgClr>
          </a:pattFill>
        </p:spPr>
        <p:txBody>
          <a:bodyPr anchor="ctr"/>
          <a:lstStyle>
            <a:lvl1pPr marL="0" indent="0" algn="ctr">
              <a:buNone/>
              <a:defRPr sz="1600" b="0" i="0">
                <a:latin typeface="Source Sans Pro" panose="020B0503030403020204" charset="0"/>
                <a:ea typeface="Source Sans Pro" panose="020B0503030403020204" charset="0"/>
                <a:cs typeface="Source Sans Pro" panose="020B0503030403020204" charset="0"/>
              </a:defRPr>
            </a:lvl1pPr>
          </a:lstStyle>
          <a:p>
            <a:r>
              <a:rPr lang="en-US" dirty="0"/>
              <a:t>Drag &amp; Drop Image</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0" grpId="0" bldLvl="0" animBg="1"/>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83194" y="153236"/>
            <a:ext cx="5608806" cy="5754647"/>
          </a:xfrm>
          <a:prstGeom prst="rect">
            <a:avLst/>
          </a:prstGeom>
        </p:spPr>
      </p:pic>
    </p:spTree>
  </p:cSld>
  <p:clrMapOvr>
    <a:masterClrMapping/>
  </p:clrMapOvr>
  <p:transition spd="slow">
    <p:push di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7" name="Picture Placeholder 6"/>
          <p:cNvSpPr>
            <a:spLocks noGrp="1"/>
          </p:cNvSpPr>
          <p:nvPr>
            <p:ph type="pic" sz="quarter" idx="11"/>
          </p:nvPr>
        </p:nvSpPr>
        <p:spPr>
          <a:xfrm>
            <a:off x="5610225" y="2506777"/>
            <a:ext cx="971551" cy="971551"/>
          </a:xfrm>
          <a:custGeom>
            <a:avLst/>
            <a:gdLst>
              <a:gd name="connsiteX0" fmla="*/ 485775 w 971550"/>
              <a:gd name="connsiteY0" fmla="*/ 0 h 971550"/>
              <a:gd name="connsiteX1" fmla="*/ 971550 w 971550"/>
              <a:gd name="connsiteY1" fmla="*/ 485775 h 971550"/>
              <a:gd name="connsiteX2" fmla="*/ 485775 w 971550"/>
              <a:gd name="connsiteY2" fmla="*/ 971550 h 971550"/>
              <a:gd name="connsiteX3" fmla="*/ 0 w 971550"/>
              <a:gd name="connsiteY3" fmla="*/ 485775 h 971550"/>
              <a:gd name="connsiteX4" fmla="*/ 485775 w 971550"/>
              <a:gd name="connsiteY4" fmla="*/ 0 h 97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1550" h="971550">
                <a:moveTo>
                  <a:pt x="485775" y="0"/>
                </a:moveTo>
                <a:cubicBezTo>
                  <a:pt x="754061" y="0"/>
                  <a:pt x="971550" y="217489"/>
                  <a:pt x="971550" y="485775"/>
                </a:cubicBezTo>
                <a:cubicBezTo>
                  <a:pt x="971550" y="754061"/>
                  <a:pt x="754061" y="971550"/>
                  <a:pt x="485775" y="971550"/>
                </a:cubicBezTo>
                <a:cubicBezTo>
                  <a:pt x="217489" y="971550"/>
                  <a:pt x="0" y="754061"/>
                  <a:pt x="0" y="485775"/>
                </a:cubicBezTo>
                <a:cubicBezTo>
                  <a:pt x="0" y="217489"/>
                  <a:pt x="217489" y="0"/>
                  <a:pt x="485775" y="0"/>
                </a:cubicBezTo>
                <a:close/>
              </a:path>
            </a:pathLst>
          </a:custGeom>
        </p:spPr>
        <p:txBody>
          <a:bodyPr wrap="square">
            <a:noAutofit/>
          </a:bodyPr>
          <a:lstStyle>
            <a:lvl1pPr marL="0" indent="0">
              <a:buNone/>
              <a:defRPr sz="800"/>
            </a:lvl1pPr>
          </a:lstStyle>
          <a:p>
            <a:endParaRPr lang="id-ID"/>
          </a:p>
        </p:txBody>
      </p:sp>
      <p:sp>
        <p:nvSpPr>
          <p:cNvPr id="5" name="Text Placeholder 2"/>
          <p:cNvSpPr>
            <a:spLocks noGrp="1"/>
          </p:cNvSpPr>
          <p:nvPr>
            <p:ph type="body" sz="quarter" idx="10"/>
          </p:nvPr>
        </p:nvSpPr>
        <p:spPr>
          <a:xfrm>
            <a:off x="849313" y="743843"/>
            <a:ext cx="10493375" cy="696232"/>
          </a:xfrm>
          <a:prstGeom prst="rect">
            <a:avLst/>
          </a:prstGeom>
        </p:spPr>
        <p:txBody>
          <a:bodyPr/>
          <a:lstStyle>
            <a:lvl1pPr marL="0" indent="0" algn="ctr">
              <a:buNone/>
              <a:defRPr sz="4000" b="0">
                <a:solidFill>
                  <a:schemeClr val="tx1">
                    <a:lumMod val="65000"/>
                    <a:lumOff val="35000"/>
                  </a:schemeClr>
                </a:solidFill>
                <a:latin typeface="Segoe UI Light" panose="020B0502040204020203" pitchFamily="34" charset="0"/>
                <a:cs typeface="Segoe UI Light" panose="020B0502040204020203" pitchFamily="34" charset="0"/>
              </a:defRPr>
            </a:lvl1pPr>
          </a:lstStyle>
          <a:p>
            <a:pPr lvl="0"/>
            <a:endParaRPr lang="id-ID" dirty="0"/>
          </a:p>
        </p:txBody>
      </p:sp>
      <p:sp>
        <p:nvSpPr>
          <p:cNvPr id="6" name="TextBox 5"/>
          <p:cNvSpPr txBox="1"/>
          <p:nvPr userDrawn="1"/>
        </p:nvSpPr>
        <p:spPr>
          <a:xfrm>
            <a:off x="4457700" y="526651"/>
            <a:ext cx="3276600" cy="245110"/>
          </a:xfrm>
          <a:prstGeom prst="rect">
            <a:avLst/>
          </a:prstGeom>
          <a:noFill/>
        </p:spPr>
        <p:txBody>
          <a:bodyPr wrap="square" rtlCol="0">
            <a:spAutoFit/>
          </a:bodyPr>
          <a:lstStyle/>
          <a:p>
            <a:pPr algn="ctr"/>
            <a:r>
              <a:rPr lang="en-US" sz="1000" b="0" strike="noStrike" spc="450" dirty="0">
                <a:solidFill>
                  <a:schemeClr val="bg1">
                    <a:lumMod val="75000"/>
                  </a:schemeClr>
                </a:solidFill>
                <a:latin typeface="Segoe UI Light" panose="020B0502040204020203" pitchFamily="34" charset="0"/>
                <a:cs typeface="Segoe UI Light" panose="020B0502040204020203" pitchFamily="34" charset="0"/>
              </a:rPr>
              <a:t>BUSINESS</a:t>
            </a:r>
            <a:endParaRPr lang="id-ID" sz="1000" b="0" strike="noStrike" spc="450" dirty="0">
              <a:solidFill>
                <a:schemeClr val="bg1">
                  <a:lumMod val="75000"/>
                </a:schemeClr>
              </a:solidFill>
              <a:latin typeface="Segoe UI Light" panose="020B0502040204020203" pitchFamily="34" charset="0"/>
              <a:cs typeface="Segoe UI Light" panose="020B0502040204020203"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42" presetClass="entr" presetSubtype="0" fill="hold" grpId="0" nodeType="withEffect" nodePh="1">
                                  <p:stCondLst>
                                    <p:cond delay="0"/>
                                  </p:stCondLst>
                                  <p:endCondLst>
                                    <p:cond evt="begin" delay="0">
                                      <p:tn val="8"/>
                                    </p:cond>
                                  </p:end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anim calcmode="lin" valueType="num">
                                      <p:cBhvr>
                                        <p:cTn id="1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2" dur="500" fill="hold"/>
                                        <p:tgtEl>
                                          <p:spTgt spid="5">
                                            <p:txEl>
                                              <p:pRg st="0" end="0"/>
                                            </p:txEl>
                                          </p:spTgt>
                                        </p:tgtEl>
                                        <p:attrNameLst>
                                          <p:attrName>ppt_y</p:attrName>
                                        </p:attrNameLst>
                                      </p:cBhvr>
                                      <p:tavLst>
                                        <p:tav tm="0">
                                          <p:val>
                                            <p:strVal val="#ppt_y+.1"/>
                                          </p:val>
                                        </p:tav>
                                        <p:tav tm="100000">
                                          <p:val>
                                            <p:strVal val="#ppt_y"/>
                                          </p:val>
                                        </p:tav>
                                      </p:tavLst>
                                    </p:anim>
                                  </p:childTnLst>
                                </p:cTn>
                              </p:par>
                              <p:par>
                                <p:cTn id="13" presetID="53" presetClass="entr" presetSubtype="16" fill="hold" grpId="0" nodeType="withEffect" nodePh="1">
                                  <p:stCondLst>
                                    <p:cond delay="100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5" grpId="0" build="p">
        <p:tmplLst>
          <p:tmpl lvl="1">
            <p:tnLst>
              <p:par>
                <p:cTn presetID="42" presetClass="entr" presetSubtype="0" fill="hold" nodeType="withEffect" nodePh="1">
                  <p:stCondLst>
                    <p:cond delay="0"/>
                  </p:stCondLst>
                  <p:endCondLst>
                    <p:cond delay="0"/>
                  </p:end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anim calcmode="lin" valueType="num">
                      <p:cBhvr>
                        <p:cTn dur="500" fill="hold"/>
                        <p:tgtEl>
                          <p:spTgt spid="5"/>
                        </p:tgtEl>
                        <p:attrNameLst>
                          <p:attrName>ppt_x</p:attrName>
                        </p:attrNameLst>
                      </p:cBhvr>
                      <p:tavLst>
                        <p:tav tm="0">
                          <p:val>
                            <p:strVal val="#ppt_x"/>
                          </p:val>
                        </p:tav>
                        <p:tav tm="100000">
                          <p:val>
                            <p:strVal val="#ppt_x"/>
                          </p:val>
                        </p:tav>
                      </p:tavLst>
                    </p:anim>
                    <p:anim calcmode="lin" valueType="num">
                      <p:cBhvr>
                        <p:cTn dur="500" fill="hold"/>
                        <p:tgtEl>
                          <p:spTgt spid="5"/>
                        </p:tgtEl>
                        <p:attrNameLst>
                          <p:attrName>ppt_y</p:attrName>
                        </p:attrNameLst>
                      </p:cBhvr>
                      <p:tavLst>
                        <p:tav tm="0">
                          <p:val>
                            <p:strVal val="#ppt_y+.1"/>
                          </p:val>
                        </p:tav>
                        <p:tav tm="100000">
                          <p:val>
                            <p:strVal val="#ppt_y"/>
                          </p:val>
                        </p:tav>
                      </p:tavLst>
                    </p:anim>
                  </p:childTnLst>
                </p:cTn>
              </p:par>
            </p:tnLst>
          </p:tmpl>
        </p:tmplLst>
      </p:bldP>
      <p:bldP spid="6" grpId="0"/>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69_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tx1">
              <a:alpha val="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11"/>
          <p:cNvSpPr>
            <a:spLocks noGrp="1"/>
          </p:cNvSpPr>
          <p:nvPr>
            <p:ph type="pic" sz="quarter" idx="12" hasCustomPrompt="1"/>
          </p:nvPr>
        </p:nvSpPr>
        <p:spPr>
          <a:xfrm>
            <a:off x="4123308" y="1349450"/>
            <a:ext cx="4339048" cy="4339048"/>
          </a:xfrm>
          <a:custGeom>
            <a:avLst/>
            <a:gdLst>
              <a:gd name="connsiteX0" fmla="*/ 897241 w 4999205"/>
              <a:gd name="connsiteY0" fmla="*/ 349012 h 2498048"/>
              <a:gd name="connsiteX1" fmla="*/ 1794482 w 4999205"/>
              <a:gd name="connsiteY1" fmla="*/ 1246253 h 2498048"/>
              <a:gd name="connsiteX2" fmla="*/ 897241 w 4999205"/>
              <a:gd name="connsiteY2" fmla="*/ 2143494 h 2498048"/>
              <a:gd name="connsiteX3" fmla="*/ 0 w 4999205"/>
              <a:gd name="connsiteY3" fmla="*/ 1246253 h 2498048"/>
              <a:gd name="connsiteX4" fmla="*/ 897241 w 4999205"/>
              <a:gd name="connsiteY4" fmla="*/ 349012 h 2498048"/>
              <a:gd name="connsiteX5" fmla="*/ 3750181 w 4999205"/>
              <a:gd name="connsiteY5" fmla="*/ 0 h 2498048"/>
              <a:gd name="connsiteX6" fmla="*/ 4277993 w 4999205"/>
              <a:gd name="connsiteY6" fmla="*/ 218627 h 2498048"/>
              <a:gd name="connsiteX7" fmla="*/ 4780578 w 4999205"/>
              <a:gd name="connsiteY7" fmla="*/ 721212 h 2498048"/>
              <a:gd name="connsiteX8" fmla="*/ 4780578 w 4999205"/>
              <a:gd name="connsiteY8" fmla="*/ 1776836 h 2498048"/>
              <a:gd name="connsiteX9" fmla="*/ 4277993 w 4999205"/>
              <a:gd name="connsiteY9" fmla="*/ 2279421 h 2498048"/>
              <a:gd name="connsiteX10" fmla="*/ 3222369 w 4999205"/>
              <a:gd name="connsiteY10" fmla="*/ 2279421 h 2498048"/>
              <a:gd name="connsiteX11" fmla="*/ 2719785 w 4999205"/>
              <a:gd name="connsiteY11" fmla="*/ 1776836 h 2498048"/>
              <a:gd name="connsiteX12" fmla="*/ 2719785 w 4999205"/>
              <a:gd name="connsiteY12" fmla="*/ 721212 h 2498048"/>
              <a:gd name="connsiteX13" fmla="*/ 3222369 w 4999205"/>
              <a:gd name="connsiteY13" fmla="*/ 218627 h 2498048"/>
              <a:gd name="connsiteX14" fmla="*/ 3750181 w 4999205"/>
              <a:gd name="connsiteY14" fmla="*/ 0 h 2498048"/>
              <a:gd name="connsiteX0-1" fmla="*/ 24941 w 5024146"/>
              <a:gd name="connsiteY0-2" fmla="*/ 1246253 h 2498048"/>
              <a:gd name="connsiteX1-3" fmla="*/ 1819423 w 5024146"/>
              <a:gd name="connsiteY1-4" fmla="*/ 1246253 h 2498048"/>
              <a:gd name="connsiteX2-5" fmla="*/ 922182 w 5024146"/>
              <a:gd name="connsiteY2-6" fmla="*/ 2143494 h 2498048"/>
              <a:gd name="connsiteX3-7" fmla="*/ 24941 w 5024146"/>
              <a:gd name="connsiteY3-8" fmla="*/ 1246253 h 2498048"/>
              <a:gd name="connsiteX4-9" fmla="*/ 3775122 w 5024146"/>
              <a:gd name="connsiteY4-10" fmla="*/ 0 h 2498048"/>
              <a:gd name="connsiteX5-11" fmla="*/ 4302934 w 5024146"/>
              <a:gd name="connsiteY5-12" fmla="*/ 218627 h 2498048"/>
              <a:gd name="connsiteX6-13" fmla="*/ 4805519 w 5024146"/>
              <a:gd name="connsiteY6-14" fmla="*/ 721212 h 2498048"/>
              <a:gd name="connsiteX7-15" fmla="*/ 4805519 w 5024146"/>
              <a:gd name="connsiteY7-16" fmla="*/ 1776836 h 2498048"/>
              <a:gd name="connsiteX8-17" fmla="*/ 4302934 w 5024146"/>
              <a:gd name="connsiteY8-18" fmla="*/ 2279421 h 2498048"/>
              <a:gd name="connsiteX9-19" fmla="*/ 3247310 w 5024146"/>
              <a:gd name="connsiteY9-20" fmla="*/ 2279421 h 2498048"/>
              <a:gd name="connsiteX10-21" fmla="*/ 2744726 w 5024146"/>
              <a:gd name="connsiteY10-22" fmla="*/ 1776836 h 2498048"/>
              <a:gd name="connsiteX11-23" fmla="*/ 2744726 w 5024146"/>
              <a:gd name="connsiteY11-24" fmla="*/ 721212 h 2498048"/>
              <a:gd name="connsiteX12-25" fmla="*/ 3247310 w 5024146"/>
              <a:gd name="connsiteY12-26" fmla="*/ 218627 h 2498048"/>
              <a:gd name="connsiteX13-27" fmla="*/ 3775122 w 5024146"/>
              <a:gd name="connsiteY13-28" fmla="*/ 0 h 2498048"/>
              <a:gd name="connsiteX0-29" fmla="*/ 24941 w 5024146"/>
              <a:gd name="connsiteY0-30" fmla="*/ 1246253 h 2498048"/>
              <a:gd name="connsiteX1-31" fmla="*/ 922182 w 5024146"/>
              <a:gd name="connsiteY1-32" fmla="*/ 2143494 h 2498048"/>
              <a:gd name="connsiteX2-33" fmla="*/ 24941 w 5024146"/>
              <a:gd name="connsiteY2-34" fmla="*/ 1246253 h 2498048"/>
              <a:gd name="connsiteX3-35" fmla="*/ 3775122 w 5024146"/>
              <a:gd name="connsiteY3-36" fmla="*/ 0 h 2498048"/>
              <a:gd name="connsiteX4-37" fmla="*/ 4302934 w 5024146"/>
              <a:gd name="connsiteY4-38" fmla="*/ 218627 h 2498048"/>
              <a:gd name="connsiteX5-39" fmla="*/ 4805519 w 5024146"/>
              <a:gd name="connsiteY5-40" fmla="*/ 721212 h 2498048"/>
              <a:gd name="connsiteX6-41" fmla="*/ 4805519 w 5024146"/>
              <a:gd name="connsiteY6-42" fmla="*/ 1776836 h 2498048"/>
              <a:gd name="connsiteX7-43" fmla="*/ 4302934 w 5024146"/>
              <a:gd name="connsiteY7-44" fmla="*/ 2279421 h 2498048"/>
              <a:gd name="connsiteX8-45" fmla="*/ 3247310 w 5024146"/>
              <a:gd name="connsiteY8-46" fmla="*/ 2279421 h 2498048"/>
              <a:gd name="connsiteX9-47" fmla="*/ 2744726 w 5024146"/>
              <a:gd name="connsiteY9-48" fmla="*/ 1776836 h 2498048"/>
              <a:gd name="connsiteX10-49" fmla="*/ 2744726 w 5024146"/>
              <a:gd name="connsiteY10-50" fmla="*/ 721212 h 2498048"/>
              <a:gd name="connsiteX11-51" fmla="*/ 3247310 w 5024146"/>
              <a:gd name="connsiteY11-52" fmla="*/ 218627 h 2498048"/>
              <a:gd name="connsiteX12-53" fmla="*/ 3775122 w 5024146"/>
              <a:gd name="connsiteY12-54" fmla="*/ 0 h 2498048"/>
              <a:gd name="connsiteX0-55" fmla="*/ 1249024 w 2498048"/>
              <a:gd name="connsiteY0-56" fmla="*/ 0 h 2498048"/>
              <a:gd name="connsiteX1-57" fmla="*/ 1776836 w 2498048"/>
              <a:gd name="connsiteY1-58" fmla="*/ 218627 h 2498048"/>
              <a:gd name="connsiteX2-59" fmla="*/ 2279421 w 2498048"/>
              <a:gd name="connsiteY2-60" fmla="*/ 721212 h 2498048"/>
              <a:gd name="connsiteX3-61" fmla="*/ 2279421 w 2498048"/>
              <a:gd name="connsiteY3-62" fmla="*/ 1776836 h 2498048"/>
              <a:gd name="connsiteX4-63" fmla="*/ 1776836 w 2498048"/>
              <a:gd name="connsiteY4-64" fmla="*/ 2279421 h 2498048"/>
              <a:gd name="connsiteX5-65" fmla="*/ 721212 w 2498048"/>
              <a:gd name="connsiteY5-66" fmla="*/ 2279421 h 2498048"/>
              <a:gd name="connsiteX6-67" fmla="*/ 218628 w 2498048"/>
              <a:gd name="connsiteY6-68" fmla="*/ 1776836 h 2498048"/>
              <a:gd name="connsiteX7-69" fmla="*/ 218628 w 2498048"/>
              <a:gd name="connsiteY7-70" fmla="*/ 721212 h 2498048"/>
              <a:gd name="connsiteX8-71" fmla="*/ 721212 w 2498048"/>
              <a:gd name="connsiteY8-72" fmla="*/ 218627 h 2498048"/>
              <a:gd name="connsiteX9-73" fmla="*/ 1249024 w 2498048"/>
              <a:gd name="connsiteY9-74" fmla="*/ 0 h 249804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498048" h="2498048">
                <a:moveTo>
                  <a:pt x="1249024" y="0"/>
                </a:moveTo>
                <a:cubicBezTo>
                  <a:pt x="1440055" y="0"/>
                  <a:pt x="1631085" y="72876"/>
                  <a:pt x="1776836" y="218627"/>
                </a:cubicBezTo>
                <a:lnTo>
                  <a:pt x="2279421" y="721212"/>
                </a:lnTo>
                <a:cubicBezTo>
                  <a:pt x="2570924" y="1012715"/>
                  <a:pt x="2570924" y="1485334"/>
                  <a:pt x="2279421" y="1776836"/>
                </a:cubicBezTo>
                <a:lnTo>
                  <a:pt x="1776836" y="2279421"/>
                </a:lnTo>
                <a:cubicBezTo>
                  <a:pt x="1485334" y="2570924"/>
                  <a:pt x="1012715" y="2570924"/>
                  <a:pt x="721212" y="2279421"/>
                </a:cubicBezTo>
                <a:lnTo>
                  <a:pt x="218628" y="1776836"/>
                </a:lnTo>
                <a:cubicBezTo>
                  <a:pt x="-72875" y="1485334"/>
                  <a:pt x="-72875" y="1012715"/>
                  <a:pt x="218628" y="721212"/>
                </a:cubicBezTo>
                <a:lnTo>
                  <a:pt x="721212" y="218627"/>
                </a:lnTo>
                <a:cubicBezTo>
                  <a:pt x="866963" y="72876"/>
                  <a:pt x="1057994" y="0"/>
                  <a:pt x="1249024" y="0"/>
                </a:cubicBezTo>
                <a:close/>
              </a:path>
            </a:pathLst>
          </a:custGeom>
          <a:pattFill prst="pct5">
            <a:fgClr>
              <a:schemeClr val="tx1"/>
            </a:fgClr>
            <a:bgClr>
              <a:schemeClr val="bg1">
                <a:lumMod val="85000"/>
              </a:schemeClr>
            </a:bgClr>
          </a:pattFill>
          <a:effectLst>
            <a:outerShdw blurRad="50800" dist="25400" dir="5400000" algn="t" rotWithShape="0">
              <a:prstClr val="black">
                <a:alpha val="15000"/>
              </a:prstClr>
            </a:outerShdw>
          </a:effectLst>
        </p:spPr>
        <p:txBody>
          <a:bodyPr wrap="square" anchor="ctr">
            <a:noAutofit/>
          </a:bodyPr>
          <a:lstStyle>
            <a:lvl1pPr marL="0" indent="0" algn="ctr">
              <a:buNone/>
              <a:defRPr sz="1600" b="0" i="0">
                <a:latin typeface="Source Sans Pro" panose="020B0503030403020204" charset="0"/>
                <a:ea typeface="Source Sans Pro" panose="020B0503030403020204" charset="0"/>
                <a:cs typeface="Source Sans Pro" panose="020B0503030403020204" charset="0"/>
              </a:defRPr>
            </a:lvl1pPr>
          </a:lstStyle>
          <a:p>
            <a:r>
              <a:rPr lang="en-US" dirty="0"/>
              <a:t>Drag &amp; Drop Image</a:t>
            </a:r>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t>2025-04-10</a:t>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www.islide.cc</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transition spd="slow">
    <p:push dir="u"/>
  </p:transition>
  <p:hf hdr="0" dt="0"/>
  <p:txStyles>
    <p:titleStyle>
      <a:lvl1pPr algn="l" defTabSz="913765"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png"/><Relationship Id="rId7"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20.jpe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4.xml"/><Relationship Id="rId3" Type="http://schemas.openxmlformats.org/officeDocument/2006/relationships/tags" Target="../tags/tag4.xml"/><Relationship Id="rId7" Type="http://schemas.openxmlformats.org/officeDocument/2006/relationships/slideLayout" Target="../slideLayouts/slideLayout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3.xml"/><Relationship Id="rId1" Type="http://schemas.openxmlformats.org/officeDocument/2006/relationships/slideLayout" Target="../slideLayouts/slideLayout2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7.xml"/><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2.png"/></Relationships>
</file>

<file path=ppt/slides/_rels/slide7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8.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8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3.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8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4.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8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5.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8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6.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2.xml"/><Relationship Id="rId1" Type="http://schemas.openxmlformats.org/officeDocument/2006/relationships/tags" Target="../tags/tag8.xml"/><Relationship Id="rId5" Type="http://schemas.openxmlformats.org/officeDocument/2006/relationships/image" Target="../media/image7.png"/><Relationship Id="rId4" Type="http://schemas.openxmlformats.org/officeDocument/2006/relationships/image" Target="../media/image4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6"/>
          <p:cNvSpPr txBox="1"/>
          <p:nvPr/>
        </p:nvSpPr>
        <p:spPr>
          <a:xfrm>
            <a:off x="2011824" y="2005022"/>
            <a:ext cx="9700662" cy="913327"/>
          </a:xfrm>
          <a:prstGeom prst="rect">
            <a:avLst/>
          </a:prstGeom>
          <a:noFill/>
        </p:spPr>
        <p:txBody>
          <a:bodyPr wrap="square" rtlCol="0">
            <a:spAutoFit/>
          </a:bodyPr>
          <a:lstStyle/>
          <a:p>
            <a:r>
              <a:rPr lang="en-US" altLang="zh-CN" sz="5335" b="1" dirty="0">
                <a:solidFill>
                  <a:schemeClr val="bg1"/>
                </a:solidFill>
                <a:latin typeface="微软雅黑" panose="020B0503020204020204" pitchFamily="34" charset="-122"/>
                <a:ea typeface="微软雅黑" panose="020B0503020204020204" pitchFamily="34" charset="-122"/>
              </a:rPr>
              <a:t>  </a:t>
            </a:r>
            <a:r>
              <a:rPr lang="zh-CN" altLang="en-US" sz="5335" b="1" dirty="0">
                <a:solidFill>
                  <a:schemeClr val="bg1"/>
                </a:solidFill>
                <a:latin typeface="微软雅黑" panose="020B0503020204020204" pitchFamily="34" charset="-122"/>
                <a:ea typeface="微软雅黑" panose="020B0503020204020204" pitchFamily="34" charset="-122"/>
              </a:rPr>
              <a:t>人工智能训练师培训课程</a:t>
            </a:r>
            <a:endParaRPr lang="en-US" sz="5335" b="1" dirty="0">
              <a:solidFill>
                <a:schemeClr val="bg1"/>
              </a:solidFill>
              <a:latin typeface="微软雅黑" panose="020B0503020204020204" pitchFamily="34" charset="-122"/>
              <a:ea typeface="微软雅黑" panose="020B0503020204020204" pitchFamily="34" charset="-122"/>
            </a:endParaRPr>
          </a:p>
        </p:txBody>
      </p:sp>
      <p:cxnSp>
        <p:nvCxnSpPr>
          <p:cNvPr id="4" name="Straight Connector 9"/>
          <p:cNvCxnSpPr/>
          <p:nvPr/>
        </p:nvCxnSpPr>
        <p:spPr>
          <a:xfrm>
            <a:off x="1990856" y="2045744"/>
            <a:ext cx="0" cy="1099732"/>
          </a:xfrm>
          <a:prstGeom prst="line">
            <a:avLst/>
          </a:prstGeom>
          <a:ln w="76200">
            <a:solidFill>
              <a:schemeClr val="bg1">
                <a:alpha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8624442"/>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0" y="3906078"/>
            <a:ext cx="3983316" cy="2951922"/>
          </a:xfrm>
          <a:prstGeom prst="rect">
            <a:avLst/>
          </a:prstGeom>
        </p:spPr>
      </p:pic>
      <p:sp>
        <p:nvSpPr>
          <p:cNvPr id="15" name="文本框 14"/>
          <p:cNvSpPr txBox="1"/>
          <p:nvPr/>
        </p:nvSpPr>
        <p:spPr>
          <a:xfrm>
            <a:off x="0" y="2646564"/>
            <a:ext cx="12192000" cy="70788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r>
              <a:rPr lang="zh-CN" altLang="en-US" sz="4000" dirty="0">
                <a:solidFill>
                  <a:srgbClr val="44546A"/>
                </a:solidFill>
              </a:rPr>
              <a:t>第</a:t>
            </a:r>
            <a:r>
              <a:rPr lang="en-US" altLang="zh-CN" sz="4000" dirty="0">
                <a:solidFill>
                  <a:srgbClr val="44546A"/>
                </a:solidFill>
              </a:rPr>
              <a:t>10</a:t>
            </a:r>
            <a:r>
              <a:rPr lang="zh-CN" altLang="en-US" sz="4000" dirty="0">
                <a:solidFill>
                  <a:srgbClr val="44546A"/>
                </a:solidFill>
              </a:rPr>
              <a:t>课 智能系统设计</a:t>
            </a:r>
          </a:p>
        </p:txBody>
      </p:sp>
      <p:sp>
        <p:nvSpPr>
          <p:cNvPr id="2" name="文本框 1">
            <a:extLst>
              <a:ext uri="{FF2B5EF4-FFF2-40B4-BE49-F238E27FC236}">
                <a16:creationId xmlns:a16="http://schemas.microsoft.com/office/drawing/2014/main" id="{19AEFC86-57B2-CAB3-D60C-4136FAD32012}"/>
              </a:ext>
            </a:extLst>
          </p:cNvPr>
          <p:cNvSpPr txBox="1"/>
          <p:nvPr/>
        </p:nvSpPr>
        <p:spPr>
          <a:xfrm>
            <a:off x="4261555" y="3503551"/>
            <a:ext cx="7930445" cy="461665"/>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r>
              <a:rPr lang="en-US" altLang="zh-CN" sz="2400" dirty="0">
                <a:solidFill>
                  <a:srgbClr val="44546A"/>
                </a:solidFill>
              </a:rPr>
              <a:t>——</a:t>
            </a:r>
            <a:r>
              <a:rPr lang="zh-CN" altLang="en-US" sz="2400" dirty="0">
                <a:solidFill>
                  <a:srgbClr val="44546A"/>
                </a:solidFill>
              </a:rPr>
              <a:t>数据分析</a:t>
            </a:r>
          </a:p>
        </p:txBody>
      </p:sp>
    </p:spTree>
    <p:extLst>
      <p:ext uri="{BB962C8B-B14F-4D97-AF65-F5344CB8AC3E}">
        <p14:creationId xmlns:p14="http://schemas.microsoft.com/office/powerpoint/2010/main" val="1858055849"/>
      </p:ext>
    </p:extLst>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6306" y="3900310"/>
            <a:ext cx="3983316" cy="2951922"/>
          </a:xfrm>
          <a:prstGeom prst="rect">
            <a:avLst/>
          </a:prstGeom>
        </p:spPr>
      </p:pic>
      <p:sp>
        <p:nvSpPr>
          <p:cNvPr id="35" name="文本框 34"/>
          <p:cNvSpPr txBox="1"/>
          <p:nvPr/>
        </p:nvSpPr>
        <p:spPr>
          <a:xfrm>
            <a:off x="2164320" y="2792875"/>
            <a:ext cx="2155262" cy="70788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pPr algn="just"/>
            <a:r>
              <a:rPr lang="zh-CN" altLang="en-US" sz="4000" dirty="0">
                <a:solidFill>
                  <a:srgbClr val="44546A"/>
                </a:solidFill>
              </a:rPr>
              <a:t>目录</a:t>
            </a:r>
          </a:p>
        </p:txBody>
      </p:sp>
      <p:sp>
        <p:nvSpPr>
          <p:cNvPr id="20" name="文本框 19"/>
          <p:cNvSpPr txBox="1"/>
          <p:nvPr/>
        </p:nvSpPr>
        <p:spPr>
          <a:xfrm>
            <a:off x="5410386" y="2207531"/>
            <a:ext cx="5204947"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lang="zh-CN" altLang="en-US" kern="0" dirty="0">
                <a:solidFill>
                  <a:srgbClr val="4494C8"/>
                </a:solidFill>
                <a:effectLst/>
              </a:rPr>
              <a:t>数据库基础</a:t>
            </a:r>
            <a:endParaRPr lang="en-US" altLang="zh-CN" kern="0" dirty="0">
              <a:solidFill>
                <a:srgbClr val="4494C8"/>
              </a:solidFill>
              <a:effectLst/>
            </a:endParaRPr>
          </a:p>
        </p:txBody>
      </p:sp>
      <p:sp>
        <p:nvSpPr>
          <p:cNvPr id="21" name="圆角矩形 20"/>
          <p:cNvSpPr/>
          <p:nvPr/>
        </p:nvSpPr>
        <p:spPr>
          <a:xfrm>
            <a:off x="5410386" y="3002496"/>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 name="文本框 1">
            <a:extLst>
              <a:ext uri="{FF2B5EF4-FFF2-40B4-BE49-F238E27FC236}">
                <a16:creationId xmlns:a16="http://schemas.microsoft.com/office/drawing/2014/main" id="{EB2D80E8-95F0-F590-7A8C-C191F946DF16}"/>
              </a:ext>
            </a:extLst>
          </p:cNvPr>
          <p:cNvSpPr txBox="1"/>
          <p:nvPr/>
        </p:nvSpPr>
        <p:spPr>
          <a:xfrm>
            <a:off x="5337411" y="3403763"/>
            <a:ext cx="5204947"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lang="zh-CN" altLang="en-US" kern="0" dirty="0">
                <a:solidFill>
                  <a:srgbClr val="02B36F"/>
                </a:solidFill>
                <a:effectLst/>
              </a:rPr>
              <a:t>单表数据记录查询</a:t>
            </a:r>
            <a:endParaRPr lang="en-US" altLang="zh-CN" kern="0" dirty="0">
              <a:solidFill>
                <a:srgbClr val="02B36F"/>
              </a:solidFill>
              <a:effectLst/>
            </a:endParaRPr>
          </a:p>
        </p:txBody>
      </p:sp>
      <p:sp>
        <p:nvSpPr>
          <p:cNvPr id="3" name="圆角矩形 20">
            <a:extLst>
              <a:ext uri="{FF2B5EF4-FFF2-40B4-BE49-F238E27FC236}">
                <a16:creationId xmlns:a16="http://schemas.microsoft.com/office/drawing/2014/main" id="{E84525B3-DC1A-B332-E6E9-970CBDDC6EF8}"/>
              </a:ext>
            </a:extLst>
          </p:cNvPr>
          <p:cNvSpPr/>
          <p:nvPr/>
        </p:nvSpPr>
        <p:spPr>
          <a:xfrm>
            <a:off x="5337411" y="4198728"/>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 name="文本框 3">
            <a:extLst>
              <a:ext uri="{FF2B5EF4-FFF2-40B4-BE49-F238E27FC236}">
                <a16:creationId xmlns:a16="http://schemas.microsoft.com/office/drawing/2014/main" id="{EC7E4733-AD0C-1690-2D11-492629CE5600}"/>
              </a:ext>
            </a:extLst>
          </p:cNvPr>
          <p:cNvSpPr txBox="1"/>
          <p:nvPr/>
        </p:nvSpPr>
        <p:spPr>
          <a:xfrm>
            <a:off x="5410386" y="4581191"/>
            <a:ext cx="5204947"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lang="zh-CN" altLang="en-US" kern="0" dirty="0">
                <a:solidFill>
                  <a:srgbClr val="02B36F"/>
                </a:solidFill>
                <a:effectLst/>
              </a:rPr>
              <a:t>实战</a:t>
            </a:r>
            <a:endParaRPr lang="en-US" altLang="zh-CN" kern="0" dirty="0">
              <a:solidFill>
                <a:srgbClr val="02B36F"/>
              </a:solidFill>
              <a:effectLst/>
            </a:endParaRPr>
          </a:p>
        </p:txBody>
      </p:sp>
      <p:sp>
        <p:nvSpPr>
          <p:cNvPr id="5" name="圆角矩形 20">
            <a:extLst>
              <a:ext uri="{FF2B5EF4-FFF2-40B4-BE49-F238E27FC236}">
                <a16:creationId xmlns:a16="http://schemas.microsoft.com/office/drawing/2014/main" id="{E2D3EB71-3B14-57C1-583D-BB8E4844D0AF}"/>
              </a:ext>
            </a:extLst>
          </p:cNvPr>
          <p:cNvSpPr/>
          <p:nvPr/>
        </p:nvSpPr>
        <p:spPr>
          <a:xfrm>
            <a:off x="5410386" y="5376156"/>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extLst>
      <p:ext uri="{BB962C8B-B14F-4D97-AF65-F5344CB8AC3E}">
        <p14:creationId xmlns:p14="http://schemas.microsoft.com/office/powerpoint/2010/main" val="3562715861"/>
      </p:ext>
    </p:extLst>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1000"/>
                                        <p:tgtEl>
                                          <p:spTgt spid="20"/>
                                        </p:tgtEl>
                                      </p:cBhvr>
                                    </p:animEffect>
                                  </p:childTnLst>
                                </p:cTn>
                              </p:par>
                              <p:par>
                                <p:cTn id="11" presetID="2" presetClass="entr" presetSubtype="2" decel="100000" fill="hold" grpId="1" nodeType="with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1500" fill="hold"/>
                                        <p:tgtEl>
                                          <p:spTgt spid="20"/>
                                        </p:tgtEl>
                                        <p:attrNameLst>
                                          <p:attrName>ppt_x</p:attrName>
                                        </p:attrNameLst>
                                      </p:cBhvr>
                                      <p:tavLst>
                                        <p:tav tm="0">
                                          <p:val>
                                            <p:strVal val="1+#ppt_w/2"/>
                                          </p:val>
                                        </p:tav>
                                        <p:tav tm="100000">
                                          <p:val>
                                            <p:strVal val="#ppt_x"/>
                                          </p:val>
                                        </p:tav>
                                      </p:tavLst>
                                    </p:anim>
                                    <p:anim calcmode="lin" valueType="num">
                                      <p:cBhvr additive="base">
                                        <p:cTn id="14" dur="1500" fill="hold"/>
                                        <p:tgtEl>
                                          <p:spTgt spid="20"/>
                                        </p:tgtEl>
                                        <p:attrNameLst>
                                          <p:attrName>ppt_y</p:attrName>
                                        </p:attrNameLst>
                                      </p:cBhvr>
                                      <p:tavLst>
                                        <p:tav tm="0">
                                          <p:val>
                                            <p:strVal val="#ppt_y"/>
                                          </p:val>
                                        </p:tav>
                                        <p:tav tm="100000">
                                          <p:val>
                                            <p:strVal val="#ppt_y"/>
                                          </p:val>
                                        </p:tav>
                                      </p:tavLst>
                                    </p:anim>
                                  </p:childTnLst>
                                </p:cTn>
                              </p:par>
                              <p:par>
                                <p:cTn id="15" presetID="22" presetClass="entr" presetSubtype="2"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right)">
                                      <p:cBhvr>
                                        <p:cTn id="17" dur="10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childTnLst>
                                </p:cTn>
                              </p:par>
                              <p:par>
                                <p:cTn id="21" presetID="2" presetClass="entr" presetSubtype="2" decel="100000" fill="hold" grpId="1"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1500" fill="hold"/>
                                        <p:tgtEl>
                                          <p:spTgt spid="2"/>
                                        </p:tgtEl>
                                        <p:attrNameLst>
                                          <p:attrName>ppt_x</p:attrName>
                                        </p:attrNameLst>
                                      </p:cBhvr>
                                      <p:tavLst>
                                        <p:tav tm="0">
                                          <p:val>
                                            <p:strVal val="1+#ppt_w/2"/>
                                          </p:val>
                                        </p:tav>
                                        <p:tav tm="100000">
                                          <p:val>
                                            <p:strVal val="#ppt_x"/>
                                          </p:val>
                                        </p:tav>
                                      </p:tavLst>
                                    </p:anim>
                                    <p:anim calcmode="lin" valueType="num">
                                      <p:cBhvr additive="base">
                                        <p:cTn id="24" dur="1500" fill="hold"/>
                                        <p:tgtEl>
                                          <p:spTgt spid="2"/>
                                        </p:tgtEl>
                                        <p:attrNameLst>
                                          <p:attrName>ppt_y</p:attrName>
                                        </p:attrNameLst>
                                      </p:cBhvr>
                                      <p:tavLst>
                                        <p:tav tm="0">
                                          <p:val>
                                            <p:strVal val="#ppt_y"/>
                                          </p:val>
                                        </p:tav>
                                        <p:tav tm="100000">
                                          <p:val>
                                            <p:strVal val="#ppt_y"/>
                                          </p:val>
                                        </p:tav>
                                      </p:tavLst>
                                    </p:anim>
                                  </p:childTnLst>
                                </p:cTn>
                              </p:par>
                              <p:par>
                                <p:cTn id="25" presetID="22" presetClass="entr" presetSubtype="2"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right)">
                                      <p:cBhvr>
                                        <p:cTn id="27" dur="1000"/>
                                        <p:tgtEl>
                                          <p:spTgt spid="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1000"/>
                                        <p:tgtEl>
                                          <p:spTgt spid="4"/>
                                        </p:tgtEl>
                                      </p:cBhvr>
                                    </p:animEffect>
                                  </p:childTnLst>
                                </p:cTn>
                              </p:par>
                              <p:par>
                                <p:cTn id="31" presetID="2" presetClass="entr" presetSubtype="2" decel="100000" fill="hold" grpId="1" nodeType="with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1500" fill="hold"/>
                                        <p:tgtEl>
                                          <p:spTgt spid="4"/>
                                        </p:tgtEl>
                                        <p:attrNameLst>
                                          <p:attrName>ppt_x</p:attrName>
                                        </p:attrNameLst>
                                      </p:cBhvr>
                                      <p:tavLst>
                                        <p:tav tm="0">
                                          <p:val>
                                            <p:strVal val="1+#ppt_w/2"/>
                                          </p:val>
                                        </p:tav>
                                        <p:tav tm="100000">
                                          <p:val>
                                            <p:strVal val="#ppt_x"/>
                                          </p:val>
                                        </p:tav>
                                      </p:tavLst>
                                    </p:anim>
                                    <p:anim calcmode="lin" valueType="num">
                                      <p:cBhvr additive="base">
                                        <p:cTn id="34" dur="1500" fill="hold"/>
                                        <p:tgtEl>
                                          <p:spTgt spid="4"/>
                                        </p:tgtEl>
                                        <p:attrNameLst>
                                          <p:attrName>ppt_y</p:attrName>
                                        </p:attrNameLst>
                                      </p:cBhvr>
                                      <p:tavLst>
                                        <p:tav tm="0">
                                          <p:val>
                                            <p:strVal val="#ppt_y"/>
                                          </p:val>
                                        </p:tav>
                                        <p:tav tm="100000">
                                          <p:val>
                                            <p:strVal val="#ppt_y"/>
                                          </p:val>
                                        </p:tav>
                                      </p:tavLst>
                                    </p:anim>
                                  </p:childTnLst>
                                </p:cTn>
                              </p:par>
                              <p:par>
                                <p:cTn id="35" presetID="22" presetClass="entr" presetSubtype="2"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right)">
                                      <p:cBhvr>
                                        <p:cTn id="3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0" grpId="0" bldLvl="0" animBg="1"/>
      <p:bldP spid="20" grpId="1" bldLvl="0" animBg="1"/>
      <p:bldP spid="21" grpId="0" bldLvl="0" animBg="1"/>
      <p:bldP spid="2" grpId="0" bldLvl="0" animBg="1"/>
      <p:bldP spid="2" grpId="1" bldLvl="0" animBg="1"/>
      <p:bldP spid="3" grpId="0" bldLvl="0" animBg="1"/>
      <p:bldP spid="4" grpId="0" bldLvl="0" animBg="1"/>
      <p:bldP spid="4" grpId="1" bldLvl="0" animBg="1"/>
      <p:bldP spid="5"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6306" y="3900310"/>
            <a:ext cx="3983316" cy="2951922"/>
          </a:xfrm>
          <a:prstGeom prst="rect">
            <a:avLst/>
          </a:prstGeom>
        </p:spPr>
      </p:pic>
      <p:sp>
        <p:nvSpPr>
          <p:cNvPr id="6" name="文本框 5">
            <a:extLst>
              <a:ext uri="{FF2B5EF4-FFF2-40B4-BE49-F238E27FC236}">
                <a16:creationId xmlns:a16="http://schemas.microsoft.com/office/drawing/2014/main" id="{CCEB7C88-3422-6278-3570-116BD905AE4E}"/>
              </a:ext>
            </a:extLst>
          </p:cNvPr>
          <p:cNvSpPr txBox="1"/>
          <p:nvPr/>
        </p:nvSpPr>
        <p:spPr>
          <a:xfrm>
            <a:off x="5487153" y="1929404"/>
            <a:ext cx="3238838" cy="400110"/>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kern="0" spc="300" dirty="0">
                <a:solidFill>
                  <a:srgbClr val="4494C8"/>
                </a:solidFill>
                <a:latin typeface="微软雅黑" panose="020B0503020204020204" pitchFamily="34" charset="-122"/>
                <a:ea typeface="微软雅黑" panose="020B0503020204020204" pitchFamily="34" charset="-122"/>
                <a:sym typeface="Arial"/>
              </a:rPr>
              <a:t>数据库的基本概念</a:t>
            </a:r>
          </a:p>
        </p:txBody>
      </p:sp>
      <p:sp>
        <p:nvSpPr>
          <p:cNvPr id="8" name="文本框 7">
            <a:extLst>
              <a:ext uri="{FF2B5EF4-FFF2-40B4-BE49-F238E27FC236}">
                <a16:creationId xmlns:a16="http://schemas.microsoft.com/office/drawing/2014/main" id="{074B36F8-DFF6-F9C8-541B-33FDC4994B01}"/>
              </a:ext>
            </a:extLst>
          </p:cNvPr>
          <p:cNvSpPr txBox="1"/>
          <p:nvPr/>
        </p:nvSpPr>
        <p:spPr>
          <a:xfrm>
            <a:off x="4530840" y="1763132"/>
            <a:ext cx="885179" cy="584775"/>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200" b="1" kern="0" spc="300" dirty="0">
                <a:solidFill>
                  <a:srgbClr val="4494C8"/>
                </a:solidFill>
                <a:latin typeface="微软雅黑" panose="020B0503020204020204" pitchFamily="34" charset="-122"/>
                <a:ea typeface="微软雅黑" panose="020B0503020204020204" pitchFamily="34" charset="-122"/>
                <a:sym typeface="Arial"/>
              </a:rPr>
              <a:t>01</a:t>
            </a:r>
            <a:r>
              <a:rPr lang="en-US" altLang="zh-CN" sz="3200" b="1" kern="0" dirty="0">
                <a:solidFill>
                  <a:srgbClr val="4494C8"/>
                </a:solidFill>
                <a:latin typeface="微软雅黑" panose="020B0503020204020204" pitchFamily="34" charset="-122"/>
                <a:ea typeface="微软雅黑" panose="020B0503020204020204" pitchFamily="34" charset="-122"/>
                <a:sym typeface="Arial"/>
              </a:rPr>
              <a:t>.</a:t>
            </a:r>
            <a:endParaRPr lang="zh-CN" altLang="en-US" sz="3200" b="1" kern="0" dirty="0">
              <a:solidFill>
                <a:srgbClr val="4494C8"/>
              </a:solidFill>
              <a:latin typeface="微软雅黑" panose="020B0503020204020204" pitchFamily="34" charset="-122"/>
              <a:ea typeface="微软雅黑" panose="020B0503020204020204" pitchFamily="34" charset="-122"/>
              <a:sym typeface="Arial"/>
            </a:endParaRPr>
          </a:p>
        </p:txBody>
      </p:sp>
      <p:sp>
        <p:nvSpPr>
          <p:cNvPr id="9" name="文本框 8">
            <a:extLst>
              <a:ext uri="{FF2B5EF4-FFF2-40B4-BE49-F238E27FC236}">
                <a16:creationId xmlns:a16="http://schemas.microsoft.com/office/drawing/2014/main" id="{A93B0541-EA0B-E7F9-A3C3-EEEE911FDC63}"/>
              </a:ext>
            </a:extLst>
          </p:cNvPr>
          <p:cNvSpPr txBox="1"/>
          <p:nvPr/>
        </p:nvSpPr>
        <p:spPr>
          <a:xfrm>
            <a:off x="5487153" y="2543793"/>
            <a:ext cx="3578470" cy="400110"/>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常见的数据库管理系统</a:t>
            </a:r>
          </a:p>
        </p:txBody>
      </p:sp>
      <p:sp>
        <p:nvSpPr>
          <p:cNvPr id="11" name="文本框 10">
            <a:extLst>
              <a:ext uri="{FF2B5EF4-FFF2-40B4-BE49-F238E27FC236}">
                <a16:creationId xmlns:a16="http://schemas.microsoft.com/office/drawing/2014/main" id="{FDB5F4D9-F7AA-0670-8E6E-E3A2DA3D5B05}"/>
              </a:ext>
            </a:extLst>
          </p:cNvPr>
          <p:cNvSpPr txBox="1"/>
          <p:nvPr/>
        </p:nvSpPr>
        <p:spPr>
          <a:xfrm>
            <a:off x="4530840" y="2403647"/>
            <a:ext cx="989373" cy="584775"/>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02.</a:t>
            </a:r>
            <a:endParaRPr lang="zh-CN" altLang="en-US"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endParaRPr>
          </a:p>
        </p:txBody>
      </p:sp>
      <p:sp>
        <p:nvSpPr>
          <p:cNvPr id="12" name="文本框 11">
            <a:extLst>
              <a:ext uri="{FF2B5EF4-FFF2-40B4-BE49-F238E27FC236}">
                <a16:creationId xmlns:a16="http://schemas.microsoft.com/office/drawing/2014/main" id="{F1EE0159-B6F8-0954-BDF2-DDA282620198}"/>
              </a:ext>
            </a:extLst>
          </p:cNvPr>
          <p:cNvSpPr txBox="1"/>
          <p:nvPr/>
        </p:nvSpPr>
        <p:spPr>
          <a:xfrm>
            <a:off x="5487152" y="3145119"/>
            <a:ext cx="3357581" cy="400110"/>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数据管理技术的发展</a:t>
            </a:r>
          </a:p>
        </p:txBody>
      </p:sp>
      <p:sp>
        <p:nvSpPr>
          <p:cNvPr id="14" name="文本框 13">
            <a:extLst>
              <a:ext uri="{FF2B5EF4-FFF2-40B4-BE49-F238E27FC236}">
                <a16:creationId xmlns:a16="http://schemas.microsoft.com/office/drawing/2014/main" id="{F28153F4-0F99-C1B2-D243-0F9DF24E219A}"/>
              </a:ext>
            </a:extLst>
          </p:cNvPr>
          <p:cNvSpPr txBox="1"/>
          <p:nvPr/>
        </p:nvSpPr>
        <p:spPr>
          <a:xfrm>
            <a:off x="4530840" y="3044162"/>
            <a:ext cx="989373" cy="584775"/>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03.</a:t>
            </a:r>
            <a:endParaRPr lang="zh-CN" altLang="en-US"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endParaRPr>
          </a:p>
        </p:txBody>
      </p:sp>
      <p:sp>
        <p:nvSpPr>
          <p:cNvPr id="15" name="文本框 14">
            <a:extLst>
              <a:ext uri="{FF2B5EF4-FFF2-40B4-BE49-F238E27FC236}">
                <a16:creationId xmlns:a16="http://schemas.microsoft.com/office/drawing/2014/main" id="{FC630475-7420-333F-0EE7-EDDC28DDE43C}"/>
              </a:ext>
            </a:extLst>
          </p:cNvPr>
          <p:cNvSpPr txBox="1"/>
          <p:nvPr/>
        </p:nvSpPr>
        <p:spPr>
          <a:xfrm>
            <a:off x="5487153" y="3811760"/>
            <a:ext cx="3357580" cy="400110"/>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常见的数据模型</a:t>
            </a:r>
          </a:p>
        </p:txBody>
      </p:sp>
      <p:sp>
        <p:nvSpPr>
          <p:cNvPr id="17" name="文本框 16">
            <a:extLst>
              <a:ext uri="{FF2B5EF4-FFF2-40B4-BE49-F238E27FC236}">
                <a16:creationId xmlns:a16="http://schemas.microsoft.com/office/drawing/2014/main" id="{30EC2183-14FC-B58A-E51C-EF0296A9156A}"/>
              </a:ext>
            </a:extLst>
          </p:cNvPr>
          <p:cNvSpPr txBox="1"/>
          <p:nvPr/>
        </p:nvSpPr>
        <p:spPr>
          <a:xfrm>
            <a:off x="4530840" y="3684677"/>
            <a:ext cx="989373" cy="584775"/>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04.</a:t>
            </a:r>
            <a:endParaRPr lang="zh-CN" altLang="en-US"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endParaRPr>
          </a:p>
        </p:txBody>
      </p:sp>
    </p:spTree>
    <p:extLst>
      <p:ext uri="{BB962C8B-B14F-4D97-AF65-F5344CB8AC3E}">
        <p14:creationId xmlns:p14="http://schemas.microsoft.com/office/powerpoint/2010/main" val="1203011250"/>
      </p:ext>
    </p:extLst>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数据库</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基础概念</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矩形: 圆角 32">
            <a:extLst>
              <a:ext uri="{FF2B5EF4-FFF2-40B4-BE49-F238E27FC236}">
                <a16:creationId xmlns:a16="http://schemas.microsoft.com/office/drawing/2014/main" id="{6D3B80D6-C8E2-495D-4234-2D15CEBAD80A}"/>
              </a:ext>
            </a:extLst>
          </p:cNvPr>
          <p:cNvSpPr/>
          <p:nvPr/>
        </p:nvSpPr>
        <p:spPr>
          <a:xfrm>
            <a:off x="839788" y="1209094"/>
            <a:ext cx="10780713" cy="4975225"/>
          </a:xfrm>
          <a:prstGeom prst="roundRect">
            <a:avLst>
              <a:gd name="adj" fmla="val 7476"/>
            </a:avLst>
          </a:prstGeom>
          <a:solidFill>
            <a:srgbClr val="3982FF">
              <a:alpha val="15000"/>
            </a:srgbClr>
          </a:solidFill>
          <a:ln>
            <a:solidFill>
              <a:srgbClr val="3982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TextBox 3">
            <a:extLst>
              <a:ext uri="{FF2B5EF4-FFF2-40B4-BE49-F238E27FC236}">
                <a16:creationId xmlns:a16="http://schemas.microsoft.com/office/drawing/2014/main" id="{53A7684C-D51C-5CD3-7B75-B0F1A4E8C511}"/>
              </a:ext>
            </a:extLst>
          </p:cNvPr>
          <p:cNvSpPr txBox="1"/>
          <p:nvPr/>
        </p:nvSpPr>
        <p:spPr>
          <a:xfrm>
            <a:off x="1181100" y="1413881"/>
            <a:ext cx="1804988" cy="646113"/>
          </a:xfrm>
          <a:prstGeom prst="rect">
            <a:avLst/>
          </a:prstGeom>
          <a:solidFill>
            <a:srgbClr val="1FA8BB"/>
          </a:solidFill>
          <a:effectLst/>
        </p:spPr>
        <p:style>
          <a:lnRef idx="0">
            <a:schemeClr val="accent1"/>
          </a:lnRef>
          <a:fillRef idx="3">
            <a:schemeClr val="accent1"/>
          </a:fillRef>
          <a:effectRef idx="3">
            <a:schemeClr val="accent1"/>
          </a:effectRef>
          <a:fontRef idx="minor">
            <a:schemeClr val="lt1"/>
          </a:fontRef>
        </p:style>
        <p:txBody>
          <a:bodyPr wrap="square">
            <a:spAutoFit/>
          </a:bodyPr>
          <a:lstStyle/>
          <a:p>
            <a:pPr marL="0" marR="0" lvl="0" indent="0" algn="ctr" defTabSz="4572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数据</a:t>
            </a:r>
          </a:p>
          <a:p>
            <a:pPr marL="0" marR="0" lvl="0" indent="0" algn="ctr" defTabSz="4572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(Data)</a:t>
            </a:r>
          </a:p>
        </p:txBody>
      </p:sp>
      <p:sp>
        <p:nvSpPr>
          <p:cNvPr id="6" name="矩形 5">
            <a:extLst>
              <a:ext uri="{FF2B5EF4-FFF2-40B4-BE49-F238E27FC236}">
                <a16:creationId xmlns:a16="http://schemas.microsoft.com/office/drawing/2014/main" id="{9E2C5487-CADD-D549-030A-F1E0EBB1D9F0}"/>
              </a:ext>
            </a:extLst>
          </p:cNvPr>
          <p:cNvSpPr/>
          <p:nvPr/>
        </p:nvSpPr>
        <p:spPr>
          <a:xfrm>
            <a:off x="3668713" y="1315456"/>
            <a:ext cx="2905125" cy="338138"/>
          </a:xfrm>
          <a:prstGeom prst="rect">
            <a:avLst/>
          </a:prstGeom>
          <a:solidFill>
            <a:srgbClr val="0070C0"/>
          </a:solidFill>
          <a:ln>
            <a:noFill/>
          </a:ln>
        </p:spPr>
        <p:style>
          <a:lnRef idx="1">
            <a:schemeClr val="accent5"/>
          </a:lnRef>
          <a:fillRef idx="2">
            <a:schemeClr val="accent5"/>
          </a:fillRef>
          <a:effectRef idx="1">
            <a:schemeClr val="accent5"/>
          </a:effectRef>
          <a:fontRef idx="minor">
            <a:schemeClr val="dk1"/>
          </a:fontRef>
        </p:style>
        <p:txBody>
          <a:bodyPr wrap="square">
            <a:spAutoFit/>
          </a:bodyPr>
          <a:lstStyle/>
          <a:p>
            <a:pPr marL="0" marR="0" lvl="0" indent="0" algn="ctr" defTabSz="4572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狭义：数值数据</a:t>
            </a:r>
          </a:p>
        </p:txBody>
      </p:sp>
      <p:sp>
        <p:nvSpPr>
          <p:cNvPr id="7" name="矩形 6">
            <a:extLst>
              <a:ext uri="{FF2B5EF4-FFF2-40B4-BE49-F238E27FC236}">
                <a16:creationId xmlns:a16="http://schemas.microsoft.com/office/drawing/2014/main" id="{4C3EB154-3295-2722-B5E5-67DDF4AD13BC}"/>
              </a:ext>
            </a:extLst>
          </p:cNvPr>
          <p:cNvSpPr/>
          <p:nvPr/>
        </p:nvSpPr>
        <p:spPr>
          <a:xfrm>
            <a:off x="3668713" y="1910769"/>
            <a:ext cx="6046788" cy="338138"/>
          </a:xfrm>
          <a:prstGeom prst="rect">
            <a:avLst/>
          </a:prstGeom>
          <a:solidFill>
            <a:srgbClr val="0070C0"/>
          </a:solidFill>
          <a:ln>
            <a:noFill/>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numCol="1" spcCol="0" rtlCol="0" fromWordArt="0" anchor="ctr" anchorCtr="0" forceAA="0" compatLnSpc="1">
            <a:spAutoFit/>
          </a:bodyPr>
          <a:lstStyle/>
          <a:p>
            <a:pPr marL="0" marR="0" lvl="0" indent="0" algn="l" defTabSz="457200" rtl="0" eaLnBrk="0" fontAlgn="base" latinLnBrk="0" hangingPunct="0">
              <a:lnSpc>
                <a:spcPct val="100000"/>
              </a:lnSpc>
              <a:spcBef>
                <a:spcPts val="0"/>
              </a:spcBef>
              <a:spcAft>
                <a:spcPts val="0"/>
              </a:spcAft>
              <a:buClrTx/>
              <a:buSzTx/>
              <a:buFont typeface="Arial" panose="020B0604020202090204" pitchFamily="34" charset="0"/>
              <a:buNone/>
              <a:defRPr/>
            </a:pPr>
            <a:r>
              <a:rPr kumimoji="0" lang="zh-CN" altLang="en-US" sz="16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sym typeface="+mn-ea"/>
              </a:rPr>
              <a:t>描述事物的符号记录广义：数字、文字、声音、图形等</a:t>
            </a:r>
          </a:p>
        </p:txBody>
      </p:sp>
      <p:sp>
        <p:nvSpPr>
          <p:cNvPr id="8" name="TextBox 7">
            <a:extLst>
              <a:ext uri="{FF2B5EF4-FFF2-40B4-BE49-F238E27FC236}">
                <a16:creationId xmlns:a16="http://schemas.microsoft.com/office/drawing/2014/main" id="{F106DEBB-3487-AB1E-6C8F-F136E8121236}"/>
              </a:ext>
            </a:extLst>
          </p:cNvPr>
          <p:cNvSpPr txBox="1"/>
          <p:nvPr/>
        </p:nvSpPr>
        <p:spPr>
          <a:xfrm>
            <a:off x="2451100" y="2783894"/>
            <a:ext cx="1714500" cy="368300"/>
          </a:xfrm>
          <a:prstGeom prst="rect">
            <a:avLst/>
          </a:prstGeom>
          <a:solidFill>
            <a:srgbClr val="1FA8BB"/>
          </a:solidFill>
          <a:ln>
            <a:noFill/>
          </a:ln>
          <a:effectLst/>
        </p:spPr>
        <p:style>
          <a:lnRef idx="1">
            <a:schemeClr val="accent2"/>
          </a:lnRef>
          <a:fillRef idx="2">
            <a:schemeClr val="accent2"/>
          </a:fillRef>
          <a:effectRef idx="1">
            <a:schemeClr val="accent2"/>
          </a:effectRef>
          <a:fontRef idx="minor">
            <a:schemeClr val="dk1"/>
          </a:fontRef>
        </p:style>
        <p:txBody>
          <a:bodyPr>
            <a:spAutoFit/>
          </a:bodyPr>
          <a:lstStyle/>
          <a:p>
            <a:pPr marL="0" marR="0" lvl="0" indent="0" algn="ctr" defTabSz="4572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大量、海量</a:t>
            </a:r>
          </a:p>
        </p:txBody>
      </p:sp>
      <p:sp>
        <p:nvSpPr>
          <p:cNvPr id="9" name="TextBox 8">
            <a:extLst>
              <a:ext uri="{FF2B5EF4-FFF2-40B4-BE49-F238E27FC236}">
                <a16:creationId xmlns:a16="http://schemas.microsoft.com/office/drawing/2014/main" id="{CB202038-1081-659D-CB0E-ACC622C3CE36}"/>
              </a:ext>
            </a:extLst>
          </p:cNvPr>
          <p:cNvSpPr txBox="1"/>
          <p:nvPr/>
        </p:nvSpPr>
        <p:spPr>
          <a:xfrm>
            <a:off x="1687513" y="3645906"/>
            <a:ext cx="2381250" cy="369888"/>
          </a:xfrm>
          <a:prstGeom prst="rect">
            <a:avLst/>
          </a:prstGeom>
          <a:solidFill>
            <a:srgbClr val="1FA8BB"/>
          </a:solidFill>
          <a:ln>
            <a:noFill/>
          </a:ln>
          <a:effectLst/>
        </p:spPr>
        <p:style>
          <a:lnRef idx="1">
            <a:schemeClr val="accent2"/>
          </a:lnRef>
          <a:fillRef idx="2">
            <a:schemeClr val="accent2"/>
          </a:fillRef>
          <a:effectRef idx="1">
            <a:schemeClr val="accent2"/>
          </a:effectRef>
          <a:fontRef idx="minor">
            <a:schemeClr val="dk1"/>
          </a:fontRef>
        </p:style>
        <p:txBody>
          <a:bodyPr>
            <a:spAutoFit/>
          </a:bodyPr>
          <a:lstStyle/>
          <a:p>
            <a:pPr marL="0" marR="0" lvl="0" indent="0" algn="ctr" defTabSz="4572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数据库</a:t>
            </a:r>
            <a:r>
              <a:rPr kumimoji="0" lang="en-US" altLang="zh-CN" sz="18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(DataBase)</a:t>
            </a:r>
          </a:p>
        </p:txBody>
      </p:sp>
      <p:sp>
        <p:nvSpPr>
          <p:cNvPr id="10" name="TextBox 9">
            <a:extLst>
              <a:ext uri="{FF2B5EF4-FFF2-40B4-BE49-F238E27FC236}">
                <a16:creationId xmlns:a16="http://schemas.microsoft.com/office/drawing/2014/main" id="{2F48348A-6F33-F4D6-E468-0DC490B63C0D}"/>
              </a:ext>
            </a:extLst>
          </p:cNvPr>
          <p:cNvSpPr txBox="1"/>
          <p:nvPr/>
        </p:nvSpPr>
        <p:spPr>
          <a:xfrm>
            <a:off x="5405438" y="2488619"/>
            <a:ext cx="1868488" cy="338138"/>
          </a:xfrm>
          <a:prstGeom prst="rect">
            <a:avLst/>
          </a:prstGeom>
          <a:solidFill>
            <a:srgbClr val="69A35B"/>
          </a:solidFill>
          <a:ln>
            <a:noFill/>
          </a:ln>
          <a:effectLst/>
        </p:spPr>
        <p:style>
          <a:lnRef idx="0">
            <a:schemeClr val="accent2"/>
          </a:lnRef>
          <a:fillRef idx="3">
            <a:schemeClr val="accent2"/>
          </a:fillRef>
          <a:effectRef idx="3">
            <a:schemeClr val="accent2"/>
          </a:effectRef>
          <a:fontRef idx="minor">
            <a:schemeClr val="lt1"/>
          </a:fontRef>
        </p:style>
        <p:txBody>
          <a:bodyPr wrap="square">
            <a:spAutoFit/>
          </a:bodyPr>
          <a:lstStyle/>
          <a:p>
            <a:pPr marL="742950" marR="0" lvl="1" indent="-285750" algn="l" defTabSz="4572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0" dirty="0">
                <a:ln>
                  <a:noFill/>
                </a:ln>
                <a:solidFill>
                  <a:schemeClr val="lt1"/>
                </a:solidFill>
                <a:effectLst/>
                <a:uLnTx/>
                <a:uFillTx/>
                <a:latin typeface="微软雅黑" pitchFamily="34" charset="-122"/>
                <a:ea typeface="微软雅黑" pitchFamily="34" charset="-122"/>
                <a:cs typeface="+mn-cs"/>
              </a:rPr>
              <a:t>数据集合      </a:t>
            </a:r>
          </a:p>
        </p:txBody>
      </p:sp>
      <p:sp>
        <p:nvSpPr>
          <p:cNvPr id="11" name="矩形 10">
            <a:extLst>
              <a:ext uri="{FF2B5EF4-FFF2-40B4-BE49-F238E27FC236}">
                <a16:creationId xmlns:a16="http://schemas.microsoft.com/office/drawing/2014/main" id="{0E826854-8E53-CDE1-4101-B31D68703E60}"/>
              </a:ext>
            </a:extLst>
          </p:cNvPr>
          <p:cNvSpPr/>
          <p:nvPr/>
        </p:nvSpPr>
        <p:spPr>
          <a:xfrm>
            <a:off x="5405438" y="2917244"/>
            <a:ext cx="3221038" cy="338138"/>
          </a:xfrm>
          <a:prstGeom prst="rect">
            <a:avLst/>
          </a:prstGeom>
          <a:solidFill>
            <a:srgbClr val="69A35B"/>
          </a:solidFill>
          <a:ln>
            <a:noFill/>
          </a:ln>
        </p:spPr>
        <p:style>
          <a:lnRef idx="1">
            <a:schemeClr val="accent2"/>
          </a:lnRef>
          <a:fillRef idx="3">
            <a:schemeClr val="accent2"/>
          </a:fillRef>
          <a:effectRef idx="2">
            <a:schemeClr val="accent2"/>
          </a:effectRef>
          <a:fontRef idx="minor">
            <a:schemeClr val="lt1"/>
          </a:fontRef>
        </p:style>
        <p:txBody>
          <a:bodyPr wrap="none">
            <a:spAutoFit/>
          </a:bodyPr>
          <a:lstStyle/>
          <a:p>
            <a:pPr marL="742950" marR="0" lvl="1" indent="-285750" algn="l" defTabSz="4572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0" dirty="0">
                <a:ln>
                  <a:noFill/>
                </a:ln>
                <a:solidFill>
                  <a:schemeClr val="lt1"/>
                </a:solidFill>
                <a:effectLst/>
                <a:uLnTx/>
                <a:uFillTx/>
                <a:latin typeface="微软雅黑" pitchFamily="34" charset="-122"/>
                <a:ea typeface="微软雅黑" pitchFamily="34" charset="-122"/>
                <a:cs typeface="+mn-cs"/>
              </a:rPr>
              <a:t>针对明确的应用目标而设计  </a:t>
            </a:r>
          </a:p>
        </p:txBody>
      </p:sp>
      <p:sp>
        <p:nvSpPr>
          <p:cNvPr id="12" name="矩形 11">
            <a:extLst>
              <a:ext uri="{FF2B5EF4-FFF2-40B4-BE49-F238E27FC236}">
                <a16:creationId xmlns:a16="http://schemas.microsoft.com/office/drawing/2014/main" id="{A320034F-7EAD-6A48-DFE5-A1FA61A0E3A1}"/>
              </a:ext>
            </a:extLst>
          </p:cNvPr>
          <p:cNvSpPr/>
          <p:nvPr/>
        </p:nvSpPr>
        <p:spPr>
          <a:xfrm>
            <a:off x="5389563" y="3712581"/>
            <a:ext cx="2470150" cy="338138"/>
          </a:xfrm>
          <a:prstGeom prst="rect">
            <a:avLst/>
          </a:prstGeom>
          <a:solidFill>
            <a:srgbClr val="69A35B"/>
          </a:solidFill>
          <a:ln>
            <a:noFill/>
          </a:ln>
        </p:spPr>
        <p:style>
          <a:lnRef idx="1">
            <a:schemeClr val="accent2"/>
          </a:lnRef>
          <a:fillRef idx="3">
            <a:schemeClr val="accent2"/>
          </a:fillRef>
          <a:effectRef idx="2">
            <a:schemeClr val="accent2"/>
          </a:effectRef>
          <a:fontRef idx="minor">
            <a:schemeClr val="lt1"/>
          </a:fontRef>
        </p:style>
        <p:txBody>
          <a:bodyPr wrap="none">
            <a:spAutoFit/>
          </a:bodyPr>
          <a:lstStyle/>
          <a:p>
            <a:pPr marL="742950" marR="0" lvl="1" indent="-285750" algn="l" defTabSz="4572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0" dirty="0">
                <a:ln>
                  <a:noFill/>
                </a:ln>
                <a:solidFill>
                  <a:schemeClr val="lt1"/>
                </a:solidFill>
                <a:effectLst/>
                <a:uLnTx/>
                <a:uFillTx/>
                <a:latin typeface="微软雅黑" pitchFamily="34" charset="-122"/>
                <a:ea typeface="微软雅黑" pitchFamily="34" charset="-122"/>
                <a:cs typeface="+mn-cs"/>
              </a:rPr>
              <a:t>共享性和易扩充性   </a:t>
            </a:r>
          </a:p>
        </p:txBody>
      </p:sp>
      <p:sp>
        <p:nvSpPr>
          <p:cNvPr id="13" name="矩形 12">
            <a:extLst>
              <a:ext uri="{FF2B5EF4-FFF2-40B4-BE49-F238E27FC236}">
                <a16:creationId xmlns:a16="http://schemas.microsoft.com/office/drawing/2014/main" id="{44B14DB1-4D54-B97E-DC8B-57E6052CEA6D}"/>
              </a:ext>
            </a:extLst>
          </p:cNvPr>
          <p:cNvSpPr/>
          <p:nvPr/>
        </p:nvSpPr>
        <p:spPr>
          <a:xfrm>
            <a:off x="5373688" y="4552369"/>
            <a:ext cx="4114800" cy="338138"/>
          </a:xfrm>
          <a:prstGeom prst="rect">
            <a:avLst/>
          </a:prstGeom>
          <a:solidFill>
            <a:srgbClr val="69A35B"/>
          </a:solidFill>
          <a:ln>
            <a:noFill/>
          </a:ln>
        </p:spPr>
        <p:style>
          <a:lnRef idx="1">
            <a:schemeClr val="accent2"/>
          </a:lnRef>
          <a:fillRef idx="3">
            <a:schemeClr val="accent2"/>
          </a:fillRef>
          <a:effectRef idx="2">
            <a:schemeClr val="accent2"/>
          </a:effectRef>
          <a:fontRef idx="minor">
            <a:schemeClr val="lt1"/>
          </a:fontRef>
        </p:style>
        <p:txBody>
          <a:bodyPr>
            <a:spAutoFit/>
          </a:bodyPr>
          <a:lstStyle/>
          <a:p>
            <a:pPr marL="742950" marR="0" lvl="1" indent="-285750" algn="l" defTabSz="4572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0" dirty="0">
                <a:ln>
                  <a:noFill/>
                </a:ln>
                <a:solidFill>
                  <a:schemeClr val="lt1"/>
                </a:solidFill>
                <a:effectLst/>
                <a:uLnTx/>
                <a:uFillTx/>
                <a:latin typeface="微软雅黑" pitchFamily="34" charset="-122"/>
                <a:ea typeface="微软雅黑" pitchFamily="34" charset="-122"/>
                <a:cs typeface="+mn-cs"/>
              </a:rPr>
              <a:t>保证了整个系统数据的一致性</a:t>
            </a:r>
          </a:p>
        </p:txBody>
      </p:sp>
      <p:sp>
        <p:nvSpPr>
          <p:cNvPr id="14" name="下箭头 14">
            <a:extLst>
              <a:ext uri="{FF2B5EF4-FFF2-40B4-BE49-F238E27FC236}">
                <a16:creationId xmlns:a16="http://schemas.microsoft.com/office/drawing/2014/main" id="{752D6FBA-F1B8-F334-6158-7C44272CF1AE}"/>
              </a:ext>
            </a:extLst>
          </p:cNvPr>
          <p:cNvSpPr/>
          <p:nvPr/>
        </p:nvSpPr>
        <p:spPr>
          <a:xfrm rot="4115915" flipV="1">
            <a:off x="3192463" y="1288469"/>
            <a:ext cx="290512" cy="428625"/>
          </a:xfrm>
          <a:prstGeom prst="downArrow">
            <a:avLst>
              <a:gd name="adj1" fmla="val 50000"/>
              <a:gd name="adj2" fmla="val 50000"/>
            </a:avLst>
          </a:prstGeom>
          <a:solidFill>
            <a:srgbClr val="1FA8BB"/>
          </a:solidFill>
          <a:ln w="9525">
            <a:noFill/>
          </a:ln>
          <a:effectLst/>
        </p:spPr>
        <p:txBody>
          <a:bodyPr/>
          <a:lstStyle/>
          <a:p>
            <a:pPr>
              <a:buNone/>
            </a:pPr>
            <a:endParaRPr lang="zh-CN" altLang="en-US" sz="1400" dirty="0">
              <a:latin typeface="Times New Roman" panose="02020503050405090304" pitchFamily="18" charset="0"/>
              <a:ea typeface="楷体_GB2312"/>
            </a:endParaRPr>
          </a:p>
        </p:txBody>
      </p:sp>
      <p:sp>
        <p:nvSpPr>
          <p:cNvPr id="15" name="右箭头 15">
            <a:extLst>
              <a:ext uri="{FF2B5EF4-FFF2-40B4-BE49-F238E27FC236}">
                <a16:creationId xmlns:a16="http://schemas.microsoft.com/office/drawing/2014/main" id="{AF47E1A6-854F-19D5-A863-17338DEB3091}"/>
              </a:ext>
            </a:extLst>
          </p:cNvPr>
          <p:cNvSpPr/>
          <p:nvPr/>
        </p:nvSpPr>
        <p:spPr>
          <a:xfrm rot="1695399">
            <a:off x="3082925" y="1828219"/>
            <a:ext cx="447675" cy="333375"/>
          </a:xfrm>
          <a:prstGeom prst="rightArrow">
            <a:avLst>
              <a:gd name="adj1" fmla="val 50000"/>
              <a:gd name="adj2" fmla="val 50002"/>
            </a:avLst>
          </a:prstGeom>
          <a:solidFill>
            <a:srgbClr val="1FA8BB"/>
          </a:solidFill>
          <a:ln w="9525">
            <a:noFill/>
          </a:ln>
          <a:effectLst/>
        </p:spPr>
        <p:txBody>
          <a:bodyPr/>
          <a:lstStyle/>
          <a:p>
            <a:pPr>
              <a:buNone/>
            </a:pPr>
            <a:endParaRPr lang="zh-CN" altLang="en-US" sz="1400" dirty="0">
              <a:latin typeface="Times New Roman" panose="02020503050405090304" pitchFamily="18" charset="0"/>
              <a:ea typeface="楷体_GB2312"/>
            </a:endParaRPr>
          </a:p>
        </p:txBody>
      </p:sp>
      <p:sp>
        <p:nvSpPr>
          <p:cNvPr id="16" name="下箭头 16">
            <a:extLst>
              <a:ext uri="{FF2B5EF4-FFF2-40B4-BE49-F238E27FC236}">
                <a16:creationId xmlns:a16="http://schemas.microsoft.com/office/drawing/2014/main" id="{C619E5CE-EDD7-2725-42E9-5C60BC1BAD58}"/>
              </a:ext>
            </a:extLst>
          </p:cNvPr>
          <p:cNvSpPr/>
          <p:nvPr/>
        </p:nvSpPr>
        <p:spPr>
          <a:xfrm>
            <a:off x="3624263" y="2312406"/>
            <a:ext cx="357187" cy="428625"/>
          </a:xfrm>
          <a:prstGeom prst="downArrow">
            <a:avLst>
              <a:gd name="adj1" fmla="val 50000"/>
              <a:gd name="adj2" fmla="val 50000"/>
            </a:avLst>
          </a:prstGeom>
          <a:solidFill>
            <a:srgbClr val="1FA8BB"/>
          </a:solidFill>
          <a:ln w="9525">
            <a:noFill/>
          </a:ln>
          <a:effectLst/>
        </p:spPr>
        <p:txBody>
          <a:bodyPr/>
          <a:lstStyle/>
          <a:p>
            <a:pPr algn="ctr">
              <a:buNone/>
            </a:pPr>
            <a:endParaRPr lang="zh-CN" altLang="en-US" sz="1400" dirty="0">
              <a:latin typeface="Times New Roman" panose="02020503050405090304" pitchFamily="18" charset="0"/>
              <a:ea typeface="楷体_GB2312"/>
            </a:endParaRPr>
          </a:p>
        </p:txBody>
      </p:sp>
      <p:sp>
        <p:nvSpPr>
          <p:cNvPr id="17" name="左大括号 16">
            <a:extLst>
              <a:ext uri="{FF2B5EF4-FFF2-40B4-BE49-F238E27FC236}">
                <a16:creationId xmlns:a16="http://schemas.microsoft.com/office/drawing/2014/main" id="{AC7592B3-E095-C27F-1FE4-BEA3ACDA36D5}"/>
              </a:ext>
            </a:extLst>
          </p:cNvPr>
          <p:cNvSpPr/>
          <p:nvPr/>
        </p:nvSpPr>
        <p:spPr>
          <a:xfrm>
            <a:off x="3970338" y="2506081"/>
            <a:ext cx="1036638" cy="2400300"/>
          </a:xfrm>
          <a:prstGeom prst="leftBrace">
            <a:avLst>
              <a:gd name="adj1" fmla="val 8324"/>
              <a:gd name="adj2" fmla="val 50000"/>
            </a:avLst>
          </a:prstGeom>
          <a:solidFill>
            <a:srgbClr val="69A35B"/>
          </a:solidFill>
          <a:ln w="9525" cap="flat" cmpd="sng">
            <a:noFill/>
            <a:prstDash val="solid"/>
            <a:headEnd type="none" w="med" len="med"/>
            <a:tailEnd type="none" w="med" len="med"/>
          </a:ln>
          <a:effectLst/>
        </p:spPr>
        <p:txBody>
          <a:bodyPr/>
          <a:lstStyle/>
          <a:p>
            <a:pPr marL="0" marR="0" lvl="0" indent="0" algn="ctr" defTabSz="457200" rtl="0" eaLnBrk="1" fontAlgn="auto" latinLnBrk="0" hangingPunct="1">
              <a:lnSpc>
                <a:spcPct val="9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endParaRPr>
          </a:p>
          <a:p>
            <a:pPr marL="0" marR="0" lvl="0" indent="0" algn="ctr" defTabSz="457200" rtl="0" eaLnBrk="1" fontAlgn="auto" latinLnBrk="0" hangingPunct="1">
              <a:lnSpc>
                <a:spcPct val="9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endParaRPr>
          </a:p>
          <a:p>
            <a:pPr marL="0" marR="0" lvl="0" indent="0" algn="ctr" defTabSz="457200" rtl="0" eaLnBrk="1" fontAlgn="auto" latinLnBrk="0" hangingPunct="1">
              <a:lnSpc>
                <a:spcPct val="9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endParaRPr>
          </a:p>
          <a:p>
            <a:pPr marL="0" marR="0" lvl="0" indent="0" algn="ctr" defTabSz="457200" rtl="0" eaLnBrk="1" fontAlgn="auto" latinLnBrk="0" hangingPunct="1">
              <a:lnSpc>
                <a:spcPct val="9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特</a:t>
            </a:r>
          </a:p>
          <a:p>
            <a:pPr marL="0" marR="0" lvl="0" indent="0" algn="ctr" defTabSz="457200" rtl="0" eaLnBrk="1" fontAlgn="auto" latinLnBrk="0" hangingPunct="1">
              <a:lnSpc>
                <a:spcPct val="9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endParaRPr>
          </a:p>
          <a:p>
            <a:pPr marL="0" marR="0" lvl="0" indent="0" algn="ctr" defTabSz="457200" rtl="0" eaLnBrk="1" fontAlgn="auto" latinLnBrk="0" hangingPunct="1">
              <a:lnSpc>
                <a:spcPct val="9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endParaRPr>
          </a:p>
          <a:p>
            <a:pPr marL="0" marR="0" lvl="0" indent="0" algn="ctr" defTabSz="457200" rtl="0" eaLnBrk="1" fontAlgn="auto" latinLnBrk="0" hangingPunct="1">
              <a:lnSpc>
                <a:spcPct val="9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性</a:t>
            </a:r>
          </a:p>
        </p:txBody>
      </p:sp>
      <p:sp>
        <p:nvSpPr>
          <p:cNvPr id="18" name="TextBox 42">
            <a:extLst>
              <a:ext uri="{FF2B5EF4-FFF2-40B4-BE49-F238E27FC236}">
                <a16:creationId xmlns:a16="http://schemas.microsoft.com/office/drawing/2014/main" id="{1C1F823A-F494-B68D-4EA1-5E4B2E087F8F}"/>
              </a:ext>
            </a:extLst>
          </p:cNvPr>
          <p:cNvSpPr txBox="1"/>
          <p:nvPr/>
        </p:nvSpPr>
        <p:spPr>
          <a:xfrm>
            <a:off x="1797050" y="5060369"/>
            <a:ext cx="2571750" cy="646113"/>
          </a:xfrm>
          <a:prstGeom prst="rect">
            <a:avLst/>
          </a:prstGeom>
          <a:solidFill>
            <a:srgbClr val="1FA8BB"/>
          </a:solidFill>
          <a:ln>
            <a:noFill/>
          </a:ln>
          <a:effectLst/>
        </p:spPr>
        <p:style>
          <a:lnRef idx="1">
            <a:schemeClr val="accent2"/>
          </a:lnRef>
          <a:fillRef idx="2">
            <a:schemeClr val="accent2"/>
          </a:fillRef>
          <a:effectRef idx="1">
            <a:schemeClr val="accent2"/>
          </a:effectRef>
          <a:fontRef idx="minor">
            <a:schemeClr val="dk1"/>
          </a:fontRef>
        </p:style>
        <p:txBody>
          <a:bodyPr>
            <a:spAutoFit/>
          </a:bodyPr>
          <a:lstStyle/>
          <a:p>
            <a:pPr marL="0" marR="0" lvl="0" indent="0" algn="ctr" defTabSz="4572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数据库管理系统</a:t>
            </a:r>
          </a:p>
          <a:p>
            <a:pPr marL="0" marR="0" lvl="0" indent="0" algn="ctr" defTabSz="4572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a:t>
            </a:r>
            <a:r>
              <a:rPr kumimoji="0" lang="en-US" altLang="zh-CN" sz="18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DBMS</a:t>
            </a:r>
            <a:r>
              <a:rPr kumimoji="0" lang="zh-CN" altLang="en-US" sz="18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a:t>
            </a:r>
          </a:p>
        </p:txBody>
      </p:sp>
      <p:sp>
        <p:nvSpPr>
          <p:cNvPr id="19" name="矩形 18">
            <a:extLst>
              <a:ext uri="{FF2B5EF4-FFF2-40B4-BE49-F238E27FC236}">
                <a16:creationId xmlns:a16="http://schemas.microsoft.com/office/drawing/2014/main" id="{E03FF25C-BAA8-7148-F5EA-6EDD9F99A2FA}"/>
              </a:ext>
            </a:extLst>
          </p:cNvPr>
          <p:cNvSpPr/>
          <p:nvPr/>
        </p:nvSpPr>
        <p:spPr>
          <a:xfrm>
            <a:off x="5006975" y="5047669"/>
            <a:ext cx="6350000" cy="339725"/>
          </a:xfrm>
          <a:prstGeom prst="rect">
            <a:avLst/>
          </a:prstGeom>
          <a:solidFill>
            <a:srgbClr val="1FA8BB"/>
          </a:solidFill>
          <a:ln>
            <a:noFill/>
          </a:ln>
        </p:spPr>
        <p:style>
          <a:lnRef idx="1">
            <a:schemeClr val="accent1"/>
          </a:lnRef>
          <a:fillRef idx="3">
            <a:schemeClr val="accent1"/>
          </a:fillRef>
          <a:effectRef idx="2">
            <a:schemeClr val="accent1"/>
          </a:effectRef>
          <a:fontRef idx="minor">
            <a:schemeClr val="lt1"/>
          </a:fontRef>
        </p:style>
        <p:txBody>
          <a:bodyPr wrap="square">
            <a:spAutoFit/>
          </a:bodyPr>
          <a:lstStyle/>
          <a:p>
            <a:pPr marL="0" marR="0" lvl="1" indent="0" algn="l" defTabSz="457200" rtl="0" eaLnBrk="1" fontAlgn="base"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一种操纵和管理数据库的大型软件，用于建立、使用和维护数据库</a:t>
            </a:r>
          </a:p>
        </p:txBody>
      </p:sp>
      <p:sp>
        <p:nvSpPr>
          <p:cNvPr id="20" name="矩形 19">
            <a:extLst>
              <a:ext uri="{FF2B5EF4-FFF2-40B4-BE49-F238E27FC236}">
                <a16:creationId xmlns:a16="http://schemas.microsoft.com/office/drawing/2014/main" id="{A70E3AF4-8293-0859-A7C8-06ECC0CBC9DA}"/>
              </a:ext>
            </a:extLst>
          </p:cNvPr>
          <p:cNvSpPr/>
          <p:nvPr/>
        </p:nvSpPr>
        <p:spPr>
          <a:xfrm>
            <a:off x="5381625" y="4130094"/>
            <a:ext cx="2854325" cy="338138"/>
          </a:xfrm>
          <a:prstGeom prst="rect">
            <a:avLst/>
          </a:prstGeom>
          <a:solidFill>
            <a:srgbClr val="69A35B"/>
          </a:solidFill>
          <a:ln>
            <a:noFill/>
          </a:ln>
        </p:spPr>
        <p:style>
          <a:lnRef idx="1">
            <a:schemeClr val="accent2"/>
          </a:lnRef>
          <a:fillRef idx="3">
            <a:schemeClr val="accent2"/>
          </a:fillRef>
          <a:effectRef idx="2">
            <a:schemeClr val="accent2"/>
          </a:effectRef>
          <a:fontRef idx="minor">
            <a:schemeClr val="lt1"/>
          </a:fontRef>
        </p:style>
        <p:txBody>
          <a:bodyPr wrap="none">
            <a:spAutoFit/>
          </a:bodyPr>
          <a:lstStyle/>
          <a:p>
            <a:pPr marL="742950" marR="0" lvl="1" indent="-285750" algn="l" defTabSz="4572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0" dirty="0">
                <a:ln>
                  <a:noFill/>
                </a:ln>
                <a:solidFill>
                  <a:schemeClr val="lt1"/>
                </a:solidFill>
                <a:effectLst/>
                <a:uLnTx/>
                <a:uFillTx/>
                <a:latin typeface="微软雅黑" pitchFamily="34" charset="-122"/>
                <a:ea typeface="微软雅黑" pitchFamily="34" charset="-122"/>
                <a:cs typeface="+mn-cs"/>
              </a:rPr>
              <a:t>集中了各种应用的数据   </a:t>
            </a:r>
          </a:p>
        </p:txBody>
      </p:sp>
      <p:sp>
        <p:nvSpPr>
          <p:cNvPr id="21" name="矩形 20">
            <a:extLst>
              <a:ext uri="{FF2B5EF4-FFF2-40B4-BE49-F238E27FC236}">
                <a16:creationId xmlns:a16="http://schemas.microsoft.com/office/drawing/2014/main" id="{023C1722-F60D-6743-4989-9F34851E77B7}"/>
              </a:ext>
            </a:extLst>
          </p:cNvPr>
          <p:cNvSpPr/>
          <p:nvPr/>
        </p:nvSpPr>
        <p:spPr>
          <a:xfrm>
            <a:off x="5397500" y="3317294"/>
            <a:ext cx="3221038" cy="339725"/>
          </a:xfrm>
          <a:prstGeom prst="rect">
            <a:avLst/>
          </a:prstGeom>
          <a:solidFill>
            <a:srgbClr val="69A35B"/>
          </a:solidFill>
          <a:ln>
            <a:noFill/>
          </a:ln>
        </p:spPr>
        <p:style>
          <a:lnRef idx="1">
            <a:schemeClr val="accent2"/>
          </a:lnRef>
          <a:fillRef idx="3">
            <a:schemeClr val="accent2"/>
          </a:fillRef>
          <a:effectRef idx="2">
            <a:schemeClr val="accent2"/>
          </a:effectRef>
          <a:fontRef idx="minor">
            <a:schemeClr val="lt1"/>
          </a:fontRef>
        </p:style>
        <p:txBody>
          <a:bodyPr wrap="none">
            <a:spAutoFit/>
          </a:bodyPr>
          <a:lstStyle/>
          <a:p>
            <a:pPr marL="742950" marR="0" lvl="1" indent="-285750" algn="l" defTabSz="4572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0" dirty="0">
                <a:ln>
                  <a:noFill/>
                </a:ln>
                <a:solidFill>
                  <a:schemeClr val="lt1"/>
                </a:solidFill>
                <a:effectLst/>
                <a:uLnTx/>
                <a:uFillTx/>
                <a:latin typeface="微软雅黑" pitchFamily="34" charset="-122"/>
                <a:ea typeface="微软雅黑" pitchFamily="34" charset="-122"/>
                <a:cs typeface="+mn-cs"/>
              </a:rPr>
              <a:t>与客观事物的状态保持一致  </a:t>
            </a:r>
          </a:p>
        </p:txBody>
      </p:sp>
      <p:sp>
        <p:nvSpPr>
          <p:cNvPr id="22" name="下箭头 16">
            <a:extLst>
              <a:ext uri="{FF2B5EF4-FFF2-40B4-BE49-F238E27FC236}">
                <a16:creationId xmlns:a16="http://schemas.microsoft.com/office/drawing/2014/main" id="{6C7CB960-D7D7-6E8B-DCB3-B55D3EB56F48}"/>
              </a:ext>
            </a:extLst>
          </p:cNvPr>
          <p:cNvSpPr/>
          <p:nvPr/>
        </p:nvSpPr>
        <p:spPr>
          <a:xfrm>
            <a:off x="3648075" y="3190294"/>
            <a:ext cx="357188" cy="428625"/>
          </a:xfrm>
          <a:prstGeom prst="downArrow">
            <a:avLst>
              <a:gd name="adj1" fmla="val 50000"/>
              <a:gd name="adj2" fmla="val 49999"/>
            </a:avLst>
          </a:prstGeom>
          <a:solidFill>
            <a:srgbClr val="1FA8BB"/>
          </a:solidFill>
          <a:ln w="9525">
            <a:noFill/>
          </a:ln>
          <a:effectLst/>
        </p:spPr>
        <p:txBody>
          <a:bodyPr/>
          <a:lstStyle/>
          <a:p>
            <a:pPr algn="ctr">
              <a:buNone/>
            </a:pPr>
            <a:endParaRPr lang="zh-CN" altLang="en-US" sz="1400" dirty="0">
              <a:latin typeface="Times New Roman" panose="02020503050405090304" pitchFamily="18" charset="0"/>
              <a:ea typeface="楷体_GB2312"/>
            </a:endParaRPr>
          </a:p>
        </p:txBody>
      </p:sp>
      <p:sp>
        <p:nvSpPr>
          <p:cNvPr id="23" name="下箭头 16">
            <a:extLst>
              <a:ext uri="{FF2B5EF4-FFF2-40B4-BE49-F238E27FC236}">
                <a16:creationId xmlns:a16="http://schemas.microsoft.com/office/drawing/2014/main" id="{8FF6A1A5-F9F6-83E5-FA92-653EC56F86D0}"/>
              </a:ext>
            </a:extLst>
          </p:cNvPr>
          <p:cNvSpPr/>
          <p:nvPr/>
        </p:nvSpPr>
        <p:spPr>
          <a:xfrm>
            <a:off x="3678238" y="4052306"/>
            <a:ext cx="357187" cy="960438"/>
          </a:xfrm>
          <a:prstGeom prst="downArrow">
            <a:avLst>
              <a:gd name="adj1" fmla="val 50000"/>
              <a:gd name="adj2" fmla="val 49893"/>
            </a:avLst>
          </a:prstGeom>
          <a:solidFill>
            <a:srgbClr val="1FA8BB"/>
          </a:solidFill>
          <a:ln w="9525">
            <a:noFill/>
          </a:ln>
          <a:effectLst/>
        </p:spPr>
        <p:txBody>
          <a:bodyPr/>
          <a:lstStyle/>
          <a:p>
            <a:pPr algn="ctr">
              <a:buNone/>
            </a:pPr>
            <a:endParaRPr lang="zh-CN" altLang="en-US" sz="1400" dirty="0">
              <a:latin typeface="Times New Roman" panose="02020503050405090304" pitchFamily="18" charset="0"/>
              <a:ea typeface="楷体_GB2312"/>
            </a:endParaRPr>
          </a:p>
        </p:txBody>
      </p:sp>
      <p:sp>
        <p:nvSpPr>
          <p:cNvPr id="24" name="TextBox 42">
            <a:extLst>
              <a:ext uri="{FF2B5EF4-FFF2-40B4-BE49-F238E27FC236}">
                <a16:creationId xmlns:a16="http://schemas.microsoft.com/office/drawing/2014/main" id="{BCD8C3B6-B806-6693-9B7F-250D118C7B21}"/>
              </a:ext>
            </a:extLst>
          </p:cNvPr>
          <p:cNvSpPr txBox="1"/>
          <p:nvPr/>
        </p:nvSpPr>
        <p:spPr>
          <a:xfrm>
            <a:off x="5073650" y="5706481"/>
            <a:ext cx="5430838" cy="338138"/>
          </a:xfrm>
          <a:prstGeom prst="rect">
            <a:avLst/>
          </a:prstGeom>
          <a:solidFill>
            <a:schemeClr val="accent6">
              <a:lumMod val="75000"/>
            </a:schemeClr>
          </a:solidFill>
          <a:ln>
            <a:noFill/>
          </a:ln>
        </p:spPr>
        <p:style>
          <a:lnRef idx="1">
            <a:schemeClr val="accent2"/>
          </a:lnRef>
          <a:fillRef idx="2">
            <a:schemeClr val="accent2"/>
          </a:fillRef>
          <a:effectRef idx="1">
            <a:schemeClr val="accent2"/>
          </a:effectRef>
          <a:fontRef idx="minor">
            <a:schemeClr val="dk1"/>
          </a:fontRef>
        </p:style>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zh-CN" sz="16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（张三丰，男，</a:t>
            </a:r>
            <a:r>
              <a:rPr kumimoji="0" lang="en-US" altLang="zh-CN" sz="16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2001.9</a:t>
            </a:r>
            <a:r>
              <a:rPr kumimoji="0" lang="zh-CN" altLang="zh-CN" sz="16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，河南，信息工程系，</a:t>
            </a:r>
            <a:r>
              <a:rPr kumimoji="0" lang="en-US" altLang="zh-CN" sz="16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2023</a:t>
            </a:r>
            <a:r>
              <a:rPr kumimoji="0" lang="zh-CN" altLang="zh-CN" sz="1600" b="0"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n-cs"/>
              </a:rPr>
              <a:t>）</a:t>
            </a:r>
          </a:p>
        </p:txBody>
      </p:sp>
    </p:spTree>
    <p:extLst>
      <p:ext uri="{BB962C8B-B14F-4D97-AF65-F5344CB8AC3E}">
        <p14:creationId xmlns:p14="http://schemas.microsoft.com/office/powerpoint/2010/main" val="27128571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数据库</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基础概念</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内容占位符 2">
            <a:extLst>
              <a:ext uri="{FF2B5EF4-FFF2-40B4-BE49-F238E27FC236}">
                <a16:creationId xmlns:a16="http://schemas.microsoft.com/office/drawing/2014/main" id="{3225CDC0-87D1-DB6D-6BED-FA3CD63195F5}"/>
              </a:ext>
            </a:extLst>
          </p:cNvPr>
          <p:cNvSpPr>
            <a:spLocks noGrp="1"/>
          </p:cNvSpPr>
          <p:nvPr/>
        </p:nvSpPr>
        <p:spPr bwMode="auto">
          <a:xfrm>
            <a:off x="857250" y="2546350"/>
            <a:ext cx="10477500" cy="378460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50000"/>
              </a:lnSpc>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0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18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16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16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1" indent="0" algn="l" defTabSz="457200" rtl="0" eaLnBrk="0" fontAlgn="base" latinLnBrk="0" hangingPunct="0">
              <a:lnSpc>
                <a:spcPct val="150000"/>
              </a:lnSpc>
              <a:spcBef>
                <a:spcPct val="20000"/>
              </a:spcBef>
              <a:spcAft>
                <a:spcPct val="0"/>
              </a:spcAft>
              <a:buClrTx/>
              <a:buSzTx/>
              <a:buFontTx/>
              <a:buNone/>
              <a:defRPr/>
            </a:pPr>
            <a:endParaRPr kumimoji="0" lang="en-US" altLang="zh-CN" sz="1900" b="0"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a:p>
            <a:pPr marL="342900" marR="0" lvl="1" indent="-342900" algn="l" defTabSz="457200" rtl="0" eaLnBrk="0" fontAlgn="base" latinLnBrk="0" hangingPunct="0">
              <a:lnSpc>
                <a:spcPct val="150000"/>
              </a:lnSpc>
              <a:spcBef>
                <a:spcPct val="20000"/>
              </a:spcBef>
              <a:spcAft>
                <a:spcPct val="0"/>
              </a:spcAft>
              <a:buClrTx/>
              <a:buSzTx/>
              <a:buFont typeface="Arial" panose="020B0604020202090204" pitchFamily="34" charset="0"/>
              <a:buChar char="─"/>
              <a:defRPr/>
            </a:pPr>
            <a:endParaRPr kumimoji="0" lang="zh-CN" altLang="zh-CN" sz="1900" b="0"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a:p>
            <a:pPr marL="342900" marR="0" lvl="1" indent="-342900" algn="l" defTabSz="457200" rtl="0" eaLnBrk="0" fontAlgn="base" latinLnBrk="0" hangingPunct="0">
              <a:lnSpc>
                <a:spcPct val="150000"/>
              </a:lnSpc>
              <a:spcBef>
                <a:spcPct val="20000"/>
              </a:spcBef>
              <a:spcAft>
                <a:spcPct val="0"/>
              </a:spcAft>
              <a:buClrTx/>
              <a:buSzTx/>
              <a:buFont typeface="Arial" panose="020B0604020202090204" pitchFamily="34" charset="0"/>
              <a:buChar char="─"/>
              <a:defRPr/>
            </a:pPr>
            <a:endParaRPr kumimoji="0" lang="zh-CN" altLang="zh-CN" sz="1900" b="0"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a:p>
            <a:pPr marL="342900" marR="0" lvl="1" indent="-342900" algn="l" defTabSz="457200" rtl="0" eaLnBrk="0" fontAlgn="base" latinLnBrk="0" hangingPunct="0">
              <a:lnSpc>
                <a:spcPct val="200000"/>
              </a:lnSpc>
              <a:spcBef>
                <a:spcPct val="20000"/>
              </a:spcBef>
              <a:spcAft>
                <a:spcPct val="0"/>
              </a:spcAft>
              <a:buClrTx/>
              <a:buSzTx/>
              <a:buFont typeface="Arial" panose="020B0604020202090204" pitchFamily="34" charset="0"/>
              <a:buChar char="─"/>
              <a:defRPr/>
            </a:pPr>
            <a:endParaRPr kumimoji="0" lang="zh-CN" altLang="zh-CN" sz="1900" b="0"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a:p>
            <a:pPr marL="342900" marR="0" lvl="1" indent="-342900" algn="l" defTabSz="457200" rtl="0" eaLnBrk="0" fontAlgn="base" latinLnBrk="0" hangingPunct="0">
              <a:lnSpc>
                <a:spcPct val="200000"/>
              </a:lnSpc>
              <a:spcBef>
                <a:spcPct val="20000"/>
              </a:spcBef>
              <a:spcAft>
                <a:spcPct val="0"/>
              </a:spcAft>
              <a:buClrTx/>
              <a:buSzTx/>
              <a:buFont typeface="Arial" panose="020B0604020202090204" pitchFamily="34" charset="0"/>
              <a:buChar char="─"/>
              <a:defRPr/>
            </a:pPr>
            <a:endParaRPr kumimoji="0" lang="zh-CN" altLang="zh-CN" sz="1900" b="0"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a:p>
            <a:pPr marL="342900" marR="0" lvl="1" indent="-342900" algn="l" defTabSz="457200" rtl="0" eaLnBrk="0" fontAlgn="base" latinLnBrk="0" hangingPunct="0">
              <a:lnSpc>
                <a:spcPct val="200000"/>
              </a:lnSpc>
              <a:spcBef>
                <a:spcPct val="20000"/>
              </a:spcBef>
              <a:spcAft>
                <a:spcPct val="0"/>
              </a:spcAft>
              <a:buClrTx/>
              <a:buSzTx/>
              <a:buFont typeface="Arial" panose="020B0604020202090204" pitchFamily="34" charset="0"/>
              <a:buChar char="─"/>
              <a:defRPr/>
            </a:pPr>
            <a:endParaRPr kumimoji="0" lang="en-US" altLang="zh-CN" sz="1900" b="0"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a:p>
            <a:pPr marL="342900" marR="0" lvl="1" indent="-342900" algn="l" defTabSz="457200" rtl="0" eaLnBrk="0" fontAlgn="base" latinLnBrk="0" hangingPunct="0">
              <a:lnSpc>
                <a:spcPct val="200000"/>
              </a:lnSpc>
              <a:spcBef>
                <a:spcPct val="20000"/>
              </a:spcBef>
              <a:spcAft>
                <a:spcPct val="0"/>
              </a:spcAft>
              <a:buClrTx/>
              <a:buSzTx/>
              <a:buFont typeface="Arial" panose="020B0604020202090204" pitchFamily="34" charset="0"/>
              <a:buChar char="─"/>
              <a:defRPr/>
            </a:pPr>
            <a:endParaRPr kumimoji="0" lang="en-US" altLang="zh-CN" sz="1900" b="1"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p:txBody>
      </p:sp>
      <p:sp>
        <p:nvSpPr>
          <p:cNvPr id="6" name="文本框 5">
            <a:extLst>
              <a:ext uri="{FF2B5EF4-FFF2-40B4-BE49-F238E27FC236}">
                <a16:creationId xmlns:a16="http://schemas.microsoft.com/office/drawing/2014/main" id="{2825DE90-949D-4844-B7FE-37BC84E1F5B1}"/>
              </a:ext>
            </a:extLst>
          </p:cNvPr>
          <p:cNvSpPr txBox="1"/>
          <p:nvPr/>
        </p:nvSpPr>
        <p:spPr>
          <a:xfrm>
            <a:off x="3862136" y="1140154"/>
            <a:ext cx="6581730" cy="927480"/>
          </a:xfrm>
          <a:prstGeom prst="rect">
            <a:avLst/>
          </a:prstGeom>
          <a:noFill/>
        </p:spPr>
        <p:txBody>
          <a:bodyPr wrap="square" lIns="0" tIns="72000" bIns="72000" rtlCol="0" anchor="b" anchorCtr="0">
            <a:spAutoFit/>
          </a:bodyPr>
          <a:lstStyle>
            <a:defPPr>
              <a:defRPr lang="zh-CN"/>
            </a:defPPr>
            <a:lvl1pPr>
              <a:lnSpc>
                <a:spcPts val="1800"/>
              </a:lnSpc>
              <a:defRPr sz="1200">
                <a:solidFill>
                  <a:schemeClr val="bg1"/>
                </a:solidFill>
                <a:latin typeface="微软雅黑" panose="020B0503020204020204" pitchFamily="34" charset="-122"/>
                <a:ea typeface="微软雅黑" panose="020B0503020204020204" pitchFamily="34" charset="-122"/>
              </a:defRPr>
            </a:lvl1pPr>
          </a:lstStyle>
          <a:p>
            <a:pPr>
              <a:lnSpc>
                <a:spcPct val="150000"/>
              </a:lnSpc>
            </a:pPr>
            <a:r>
              <a:rPr lang="zh-CN" altLang="en-US" sz="1800" dirty="0">
                <a:solidFill>
                  <a:srgbClr val="44546A"/>
                </a:solidFill>
                <a:sym typeface="+mn-ea"/>
              </a:rPr>
              <a:t>是指长期存储在计算机内，</a:t>
            </a:r>
            <a:endParaRPr lang="en-US" altLang="zh-CN" sz="1800" dirty="0">
              <a:solidFill>
                <a:srgbClr val="44546A"/>
              </a:solidFill>
              <a:sym typeface="+mn-ea"/>
            </a:endParaRPr>
          </a:p>
          <a:p>
            <a:pPr>
              <a:lnSpc>
                <a:spcPct val="150000"/>
              </a:lnSpc>
            </a:pPr>
            <a:r>
              <a:rPr lang="zh-CN" altLang="en-US" sz="1800" dirty="0">
                <a:solidFill>
                  <a:srgbClr val="44546A"/>
                </a:solidFill>
                <a:sym typeface="+mn-ea"/>
              </a:rPr>
              <a:t>有组织的、可共享的数据集合。</a:t>
            </a:r>
            <a:endParaRPr lang="en-US" altLang="zh-CN" sz="1800" dirty="0">
              <a:solidFill>
                <a:srgbClr val="44546A"/>
              </a:solidFill>
              <a:sym typeface="微软雅黑"/>
            </a:endParaRPr>
          </a:p>
        </p:txBody>
      </p:sp>
      <p:sp>
        <p:nvSpPr>
          <p:cNvPr id="7" name="文本框 6">
            <a:extLst>
              <a:ext uri="{FF2B5EF4-FFF2-40B4-BE49-F238E27FC236}">
                <a16:creationId xmlns:a16="http://schemas.microsoft.com/office/drawing/2014/main" id="{D8003E92-0CA7-6EBF-E85B-019F71219784}"/>
              </a:ext>
            </a:extLst>
          </p:cNvPr>
          <p:cNvSpPr txBox="1"/>
          <p:nvPr/>
        </p:nvSpPr>
        <p:spPr>
          <a:xfrm>
            <a:off x="1410939" y="1151417"/>
            <a:ext cx="2451197" cy="1099514"/>
          </a:xfrm>
          <a:prstGeom prst="rect">
            <a:avLst/>
          </a:prstGeom>
          <a:noFill/>
        </p:spPr>
        <p:txBody>
          <a:bodyPr wrap="square" lIns="0" tIns="72000" bIns="72000" rtlCol="0" anchor="ctr" anchorCtr="0">
            <a:spAutoFit/>
          </a:bodyPr>
          <a:lstStyle>
            <a:defPPr>
              <a:defRPr lang="zh-CN"/>
            </a:defPPr>
            <a:lvl1pPr algn="ctr">
              <a:defRPr sz="2800" b="1">
                <a:solidFill>
                  <a:srgbClr val="70CBCD"/>
                </a:solidFill>
                <a:latin typeface="Geometr706 Md BT" panose="020B0502020203020204" pitchFamily="34" charset="0"/>
                <a:ea typeface="微软雅黑" panose="020B0503020204020204" pitchFamily="34" charset="-122"/>
              </a:defRPr>
            </a:lvl1pPr>
          </a:lstStyle>
          <a:p>
            <a:r>
              <a:rPr lang="zh-CN" altLang="en-US" sz="4800" dirty="0">
                <a:solidFill>
                  <a:srgbClr val="44546A"/>
                </a:solidFill>
                <a:latin typeface="微软雅黑" panose="020B0503020204020204" pitchFamily="34" charset="-122"/>
                <a:sym typeface="微软雅黑"/>
              </a:rPr>
              <a:t>数据库</a:t>
            </a:r>
            <a:endParaRPr lang="en-US" altLang="zh-CN" sz="4800" dirty="0">
              <a:solidFill>
                <a:srgbClr val="44546A"/>
              </a:solidFill>
              <a:latin typeface="微软雅黑" panose="020B0503020204020204" pitchFamily="34" charset="-122"/>
              <a:sym typeface="微软雅黑"/>
            </a:endParaRPr>
          </a:p>
          <a:p>
            <a:r>
              <a:rPr lang="en-US" altLang="zh-CN" sz="1400" dirty="0">
                <a:solidFill>
                  <a:srgbClr val="44546A"/>
                </a:solidFill>
                <a:latin typeface="微软雅黑" panose="020B0503020204020204" pitchFamily="34" charset="-122"/>
                <a:sym typeface="+mn-ea"/>
              </a:rPr>
              <a:t>Data Base</a:t>
            </a:r>
            <a:endParaRPr lang="zh-CN" altLang="en-US" sz="1400" dirty="0">
              <a:solidFill>
                <a:srgbClr val="44546A"/>
              </a:solidFill>
              <a:latin typeface="微软雅黑" panose="020B0503020204020204" pitchFamily="34" charset="-122"/>
              <a:sym typeface="微软雅黑"/>
            </a:endParaRPr>
          </a:p>
        </p:txBody>
      </p:sp>
      <p:sp>
        <p:nvSpPr>
          <p:cNvPr id="8" name="文本框 7">
            <a:extLst>
              <a:ext uri="{FF2B5EF4-FFF2-40B4-BE49-F238E27FC236}">
                <a16:creationId xmlns:a16="http://schemas.microsoft.com/office/drawing/2014/main" id="{8593F6DC-7F11-5F49-EE2A-4161E4F89DBA}"/>
              </a:ext>
            </a:extLst>
          </p:cNvPr>
          <p:cNvSpPr txBox="1"/>
          <p:nvPr/>
        </p:nvSpPr>
        <p:spPr>
          <a:xfrm>
            <a:off x="1623727" y="2163090"/>
            <a:ext cx="9433293" cy="1014362"/>
          </a:xfrm>
          <a:prstGeom prst="rect">
            <a:avLst/>
          </a:prstGeom>
          <a:noFill/>
        </p:spPr>
        <p:txBody>
          <a:bodyPr wrap="square" lIns="0" tIns="72000" bIns="72000" rtlCol="0" anchor="b" anchorCtr="0">
            <a:spAutoFit/>
          </a:bodyPr>
          <a:lstStyle>
            <a:defPPr>
              <a:defRPr lang="zh-CN"/>
            </a:defPPr>
            <a:lvl1pPr>
              <a:lnSpc>
                <a:spcPts val="1800"/>
              </a:lnSpc>
              <a:defRPr sz="1200">
                <a:solidFill>
                  <a:schemeClr val="bg1"/>
                </a:solidFill>
                <a:latin typeface="微软雅黑" panose="020B0503020204020204" pitchFamily="34" charset="-122"/>
                <a:ea typeface="微软雅黑" panose="020B0503020204020204" pitchFamily="34" charset="-122"/>
              </a:defRPr>
            </a:lvl1pPr>
          </a:lstStyle>
          <a:p>
            <a:pPr>
              <a:lnSpc>
                <a:spcPct val="150000"/>
              </a:lnSpc>
            </a:pPr>
            <a:r>
              <a:rPr lang="zh-CN" altLang="en-US" sz="2000" dirty="0">
                <a:solidFill>
                  <a:srgbClr val="44546A"/>
                </a:solidFill>
                <a:sym typeface="+mn-ea"/>
              </a:rPr>
              <a:t>       它可视为一个电子化的文件柜，用来存储电子文件，用户可以对文件中的数据进行查询、新增、更新、删除等操作</a:t>
            </a:r>
            <a:r>
              <a:rPr lang="zh-CN" altLang="zh-CN" sz="2000" dirty="0">
                <a:solidFill>
                  <a:srgbClr val="44546A"/>
                </a:solidFill>
                <a:sym typeface="+mn-ea"/>
              </a:rPr>
              <a:t>。</a:t>
            </a:r>
            <a:endParaRPr lang="zh-CN" altLang="zh-CN" sz="2400" kern="0" dirty="0">
              <a:solidFill>
                <a:schemeClr val="tx1"/>
              </a:solidFill>
            </a:endParaRPr>
          </a:p>
        </p:txBody>
      </p:sp>
    </p:spTree>
    <p:extLst>
      <p:ext uri="{BB962C8B-B14F-4D97-AF65-F5344CB8AC3E}">
        <p14:creationId xmlns:p14="http://schemas.microsoft.com/office/powerpoint/2010/main" val="35270944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iterate type="lt">
                                    <p:tmPct val="10000"/>
                                  </p:iterate>
                                  <p:childTnLst>
                                    <p:set>
                                      <p:cBhvr>
                                        <p:cTn id="13" dur="1" fill="hold">
                                          <p:stCondLst>
                                            <p:cond delay="0"/>
                                          </p:stCondLst>
                                        </p:cTn>
                                        <p:tgtEl>
                                          <p:spTgt spid="6"/>
                                        </p:tgtEl>
                                        <p:attrNameLst>
                                          <p:attrName>style.visibility</p:attrName>
                                        </p:attrNameLst>
                                      </p:cBhvr>
                                      <p:to>
                                        <p:strVal val="visible"/>
                                      </p:to>
                                    </p:set>
                                    <p:anim calcmode="lin" valueType="num">
                                      <p:cBhvr>
                                        <p:cTn id="14" dur="200" fill="hold"/>
                                        <p:tgtEl>
                                          <p:spTgt spid="6"/>
                                        </p:tgtEl>
                                        <p:attrNameLst>
                                          <p:attrName>ppt_w</p:attrName>
                                        </p:attrNameLst>
                                      </p:cBhvr>
                                      <p:tavLst>
                                        <p:tav tm="0">
                                          <p:val>
                                            <p:fltVal val="0"/>
                                          </p:val>
                                        </p:tav>
                                        <p:tav tm="100000">
                                          <p:val>
                                            <p:strVal val="#ppt_w"/>
                                          </p:val>
                                        </p:tav>
                                      </p:tavLst>
                                    </p:anim>
                                    <p:anim calcmode="lin" valueType="num">
                                      <p:cBhvr>
                                        <p:cTn id="15" dur="200" fill="hold"/>
                                        <p:tgtEl>
                                          <p:spTgt spid="6"/>
                                        </p:tgtEl>
                                        <p:attrNameLst>
                                          <p:attrName>ppt_h</p:attrName>
                                        </p:attrNameLst>
                                      </p:cBhvr>
                                      <p:tavLst>
                                        <p:tav tm="0">
                                          <p:val>
                                            <p:fltVal val="0"/>
                                          </p:val>
                                        </p:tav>
                                        <p:tav tm="100000">
                                          <p:val>
                                            <p:strVal val="#ppt_h"/>
                                          </p:val>
                                        </p:tav>
                                      </p:tavLst>
                                    </p:anim>
                                    <p:animEffect transition="in" filter="fade">
                                      <p:cBhvr>
                                        <p:cTn id="16" dur="2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iterate type="lt">
                                    <p:tmPct val="10000"/>
                                  </p:iterate>
                                  <p:childTnLst>
                                    <p:set>
                                      <p:cBhvr>
                                        <p:cTn id="20" dur="1" fill="hold">
                                          <p:stCondLst>
                                            <p:cond delay="0"/>
                                          </p:stCondLst>
                                        </p:cTn>
                                        <p:tgtEl>
                                          <p:spTgt spid="8"/>
                                        </p:tgtEl>
                                        <p:attrNameLst>
                                          <p:attrName>style.visibility</p:attrName>
                                        </p:attrNameLst>
                                      </p:cBhvr>
                                      <p:to>
                                        <p:strVal val="visible"/>
                                      </p:to>
                                    </p:set>
                                    <p:anim calcmode="lin" valueType="num">
                                      <p:cBhvr>
                                        <p:cTn id="21" dur="200" fill="hold"/>
                                        <p:tgtEl>
                                          <p:spTgt spid="8"/>
                                        </p:tgtEl>
                                        <p:attrNameLst>
                                          <p:attrName>ppt_w</p:attrName>
                                        </p:attrNameLst>
                                      </p:cBhvr>
                                      <p:tavLst>
                                        <p:tav tm="0">
                                          <p:val>
                                            <p:fltVal val="0"/>
                                          </p:val>
                                        </p:tav>
                                        <p:tav tm="100000">
                                          <p:val>
                                            <p:strVal val="#ppt_w"/>
                                          </p:val>
                                        </p:tav>
                                      </p:tavLst>
                                    </p:anim>
                                    <p:anim calcmode="lin" valueType="num">
                                      <p:cBhvr>
                                        <p:cTn id="22" dur="200" fill="hold"/>
                                        <p:tgtEl>
                                          <p:spTgt spid="8"/>
                                        </p:tgtEl>
                                        <p:attrNameLst>
                                          <p:attrName>ppt_h</p:attrName>
                                        </p:attrNameLst>
                                      </p:cBhvr>
                                      <p:tavLst>
                                        <p:tav tm="0">
                                          <p:val>
                                            <p:fltVal val="0"/>
                                          </p:val>
                                        </p:tav>
                                        <p:tav tm="100000">
                                          <p:val>
                                            <p:strVal val="#ppt_h"/>
                                          </p:val>
                                        </p:tav>
                                      </p:tavLst>
                                    </p:anim>
                                    <p:animEffect transition="in" filter="fade">
                                      <p:cBhvr>
                                        <p:cTn id="23"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6306" y="3900310"/>
            <a:ext cx="3983316" cy="2951922"/>
          </a:xfrm>
          <a:prstGeom prst="rect">
            <a:avLst/>
          </a:prstGeom>
        </p:spPr>
      </p:pic>
      <p:sp>
        <p:nvSpPr>
          <p:cNvPr id="6" name="文本框 5">
            <a:extLst>
              <a:ext uri="{FF2B5EF4-FFF2-40B4-BE49-F238E27FC236}">
                <a16:creationId xmlns:a16="http://schemas.microsoft.com/office/drawing/2014/main" id="{CCEB7C88-3422-6278-3570-116BD905AE4E}"/>
              </a:ext>
            </a:extLst>
          </p:cNvPr>
          <p:cNvSpPr txBox="1"/>
          <p:nvPr/>
        </p:nvSpPr>
        <p:spPr>
          <a:xfrm>
            <a:off x="5487153" y="1929404"/>
            <a:ext cx="3238838" cy="400110"/>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数据库的基本概念</a:t>
            </a:r>
          </a:p>
        </p:txBody>
      </p:sp>
      <p:sp>
        <p:nvSpPr>
          <p:cNvPr id="8" name="文本框 7">
            <a:extLst>
              <a:ext uri="{FF2B5EF4-FFF2-40B4-BE49-F238E27FC236}">
                <a16:creationId xmlns:a16="http://schemas.microsoft.com/office/drawing/2014/main" id="{074B36F8-DFF6-F9C8-541B-33FDC4994B01}"/>
              </a:ext>
            </a:extLst>
          </p:cNvPr>
          <p:cNvSpPr txBox="1"/>
          <p:nvPr/>
        </p:nvSpPr>
        <p:spPr>
          <a:xfrm>
            <a:off x="4530840" y="1763132"/>
            <a:ext cx="989373" cy="584775"/>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01.</a:t>
            </a:r>
            <a:endParaRPr lang="zh-CN" altLang="en-US"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endParaRPr>
          </a:p>
        </p:txBody>
      </p:sp>
      <p:sp>
        <p:nvSpPr>
          <p:cNvPr id="9" name="文本框 8">
            <a:extLst>
              <a:ext uri="{FF2B5EF4-FFF2-40B4-BE49-F238E27FC236}">
                <a16:creationId xmlns:a16="http://schemas.microsoft.com/office/drawing/2014/main" id="{A93B0541-EA0B-E7F9-A3C3-EEEE911FDC63}"/>
              </a:ext>
            </a:extLst>
          </p:cNvPr>
          <p:cNvSpPr txBox="1"/>
          <p:nvPr/>
        </p:nvSpPr>
        <p:spPr>
          <a:xfrm>
            <a:off x="5487153" y="2543793"/>
            <a:ext cx="3578470" cy="400110"/>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kern="0" spc="300" dirty="0">
                <a:solidFill>
                  <a:srgbClr val="4494C8"/>
                </a:solidFill>
                <a:latin typeface="微软雅黑" panose="020B0503020204020204" pitchFamily="34" charset="-122"/>
                <a:ea typeface="微软雅黑" panose="020B0503020204020204" pitchFamily="34" charset="-122"/>
                <a:sym typeface="Arial"/>
              </a:rPr>
              <a:t>常见的数据库管理系统</a:t>
            </a:r>
          </a:p>
        </p:txBody>
      </p:sp>
      <p:sp>
        <p:nvSpPr>
          <p:cNvPr id="11" name="文本框 10">
            <a:extLst>
              <a:ext uri="{FF2B5EF4-FFF2-40B4-BE49-F238E27FC236}">
                <a16:creationId xmlns:a16="http://schemas.microsoft.com/office/drawing/2014/main" id="{FDB5F4D9-F7AA-0670-8E6E-E3A2DA3D5B05}"/>
              </a:ext>
            </a:extLst>
          </p:cNvPr>
          <p:cNvSpPr txBox="1"/>
          <p:nvPr/>
        </p:nvSpPr>
        <p:spPr>
          <a:xfrm>
            <a:off x="4530840" y="2403647"/>
            <a:ext cx="808235" cy="584775"/>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200" b="1" kern="0" dirty="0">
                <a:solidFill>
                  <a:srgbClr val="4494C8"/>
                </a:solidFill>
                <a:latin typeface="微软雅黑" panose="020B0503020204020204" pitchFamily="34" charset="-122"/>
                <a:ea typeface="微软雅黑" panose="020B0503020204020204" pitchFamily="34" charset="-122"/>
                <a:sym typeface="Arial"/>
              </a:rPr>
              <a:t>02.</a:t>
            </a:r>
            <a:endParaRPr lang="zh-CN" altLang="en-US" sz="3200" b="1" kern="0" dirty="0">
              <a:solidFill>
                <a:srgbClr val="4494C8"/>
              </a:solidFill>
              <a:latin typeface="微软雅黑" panose="020B0503020204020204" pitchFamily="34" charset="-122"/>
              <a:ea typeface="微软雅黑" panose="020B0503020204020204" pitchFamily="34" charset="-122"/>
              <a:sym typeface="Arial"/>
            </a:endParaRPr>
          </a:p>
        </p:txBody>
      </p:sp>
      <p:sp>
        <p:nvSpPr>
          <p:cNvPr id="12" name="文本框 11">
            <a:extLst>
              <a:ext uri="{FF2B5EF4-FFF2-40B4-BE49-F238E27FC236}">
                <a16:creationId xmlns:a16="http://schemas.microsoft.com/office/drawing/2014/main" id="{F1EE0159-B6F8-0954-BDF2-DDA282620198}"/>
              </a:ext>
            </a:extLst>
          </p:cNvPr>
          <p:cNvSpPr txBox="1"/>
          <p:nvPr/>
        </p:nvSpPr>
        <p:spPr>
          <a:xfrm>
            <a:off x="5487152" y="3145119"/>
            <a:ext cx="3357581" cy="400110"/>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数据管理技术的发展</a:t>
            </a:r>
          </a:p>
        </p:txBody>
      </p:sp>
      <p:sp>
        <p:nvSpPr>
          <p:cNvPr id="14" name="文本框 13">
            <a:extLst>
              <a:ext uri="{FF2B5EF4-FFF2-40B4-BE49-F238E27FC236}">
                <a16:creationId xmlns:a16="http://schemas.microsoft.com/office/drawing/2014/main" id="{F28153F4-0F99-C1B2-D243-0F9DF24E219A}"/>
              </a:ext>
            </a:extLst>
          </p:cNvPr>
          <p:cNvSpPr txBox="1"/>
          <p:nvPr/>
        </p:nvSpPr>
        <p:spPr>
          <a:xfrm>
            <a:off x="4530840" y="3044162"/>
            <a:ext cx="989373" cy="584775"/>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03.</a:t>
            </a:r>
            <a:endParaRPr lang="zh-CN" altLang="en-US"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endParaRPr>
          </a:p>
        </p:txBody>
      </p:sp>
      <p:sp>
        <p:nvSpPr>
          <p:cNvPr id="15" name="文本框 14">
            <a:extLst>
              <a:ext uri="{FF2B5EF4-FFF2-40B4-BE49-F238E27FC236}">
                <a16:creationId xmlns:a16="http://schemas.microsoft.com/office/drawing/2014/main" id="{FC630475-7420-333F-0EE7-EDDC28DDE43C}"/>
              </a:ext>
            </a:extLst>
          </p:cNvPr>
          <p:cNvSpPr txBox="1"/>
          <p:nvPr/>
        </p:nvSpPr>
        <p:spPr>
          <a:xfrm>
            <a:off x="5487153" y="3811760"/>
            <a:ext cx="3357580" cy="400110"/>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常见的数据模型</a:t>
            </a:r>
          </a:p>
        </p:txBody>
      </p:sp>
      <p:sp>
        <p:nvSpPr>
          <p:cNvPr id="17" name="文本框 16">
            <a:extLst>
              <a:ext uri="{FF2B5EF4-FFF2-40B4-BE49-F238E27FC236}">
                <a16:creationId xmlns:a16="http://schemas.microsoft.com/office/drawing/2014/main" id="{30EC2183-14FC-B58A-E51C-EF0296A9156A}"/>
              </a:ext>
            </a:extLst>
          </p:cNvPr>
          <p:cNvSpPr txBox="1"/>
          <p:nvPr/>
        </p:nvSpPr>
        <p:spPr>
          <a:xfrm>
            <a:off x="4530840" y="3684677"/>
            <a:ext cx="989373" cy="584775"/>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04.</a:t>
            </a:r>
            <a:endParaRPr lang="zh-CN" altLang="en-US"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endParaRPr>
          </a:p>
        </p:txBody>
      </p:sp>
    </p:spTree>
    <p:extLst>
      <p:ext uri="{BB962C8B-B14F-4D97-AF65-F5344CB8AC3E}">
        <p14:creationId xmlns:p14="http://schemas.microsoft.com/office/powerpoint/2010/main" val="4032988502"/>
      </p:ext>
    </p:extLst>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常见的数据库管理系统</a:t>
            </a:r>
            <a:endParaRPr lang="en-US" altLang="zh-CN" b="1" dirty="0">
              <a:solidFill>
                <a:srgbClr val="44546A"/>
              </a:solidFill>
              <a:latin typeface="微软雅黑" panose="020B0503020204020204" pitchFamily="34" charset="-122"/>
              <a:ea typeface="微软雅黑" panose="020B0503020204020204" pitchFamily="34" charset="-122"/>
            </a:endParaRPr>
          </a:p>
        </p:txBody>
      </p:sp>
      <p:pic>
        <p:nvPicPr>
          <p:cNvPr id="3" name="图片 4">
            <a:extLst>
              <a:ext uri="{FF2B5EF4-FFF2-40B4-BE49-F238E27FC236}">
                <a16:creationId xmlns:a16="http://schemas.microsoft.com/office/drawing/2014/main" id="{A40FA0D7-530B-329A-3046-057F4CD26CCA}"/>
              </a:ext>
            </a:extLst>
          </p:cNvPr>
          <p:cNvPicPr>
            <a:picLocks noChangeAspect="1"/>
          </p:cNvPicPr>
          <p:nvPr/>
        </p:nvPicPr>
        <p:blipFill>
          <a:blip r:embed="rId3"/>
          <a:srcRect l="2" r="3574"/>
          <a:stretch>
            <a:fillRect/>
          </a:stretch>
        </p:blipFill>
        <p:spPr>
          <a:xfrm>
            <a:off x="2141538" y="2735263"/>
            <a:ext cx="1989137" cy="971550"/>
          </a:xfrm>
          <a:prstGeom prst="rect">
            <a:avLst/>
          </a:prstGeom>
          <a:noFill/>
          <a:ln w="9525">
            <a:noFill/>
          </a:ln>
        </p:spPr>
      </p:pic>
      <p:pic>
        <p:nvPicPr>
          <p:cNvPr id="4" name="图片 6">
            <a:extLst>
              <a:ext uri="{FF2B5EF4-FFF2-40B4-BE49-F238E27FC236}">
                <a16:creationId xmlns:a16="http://schemas.microsoft.com/office/drawing/2014/main" id="{C1B78CA0-559D-1115-80A0-76CD51695A33}"/>
              </a:ext>
            </a:extLst>
          </p:cNvPr>
          <p:cNvPicPr>
            <a:picLocks noChangeAspect="1"/>
          </p:cNvPicPr>
          <p:nvPr/>
        </p:nvPicPr>
        <p:blipFill>
          <a:blip r:embed="rId4"/>
          <a:stretch>
            <a:fillRect/>
          </a:stretch>
        </p:blipFill>
        <p:spPr>
          <a:xfrm>
            <a:off x="4976813" y="2638425"/>
            <a:ext cx="1768475" cy="1131888"/>
          </a:xfrm>
          <a:prstGeom prst="rect">
            <a:avLst/>
          </a:prstGeom>
          <a:noFill/>
          <a:ln w="9525">
            <a:noFill/>
          </a:ln>
        </p:spPr>
      </p:pic>
      <p:pic>
        <p:nvPicPr>
          <p:cNvPr id="5" name="图片 8">
            <a:extLst>
              <a:ext uri="{FF2B5EF4-FFF2-40B4-BE49-F238E27FC236}">
                <a16:creationId xmlns:a16="http://schemas.microsoft.com/office/drawing/2014/main" id="{1EB8DF99-99A1-7E4E-1EF5-31D40F2BD554}"/>
              </a:ext>
            </a:extLst>
          </p:cNvPr>
          <p:cNvPicPr>
            <a:picLocks noChangeAspect="1"/>
          </p:cNvPicPr>
          <p:nvPr/>
        </p:nvPicPr>
        <p:blipFill>
          <a:blip r:embed="rId5"/>
          <a:srcRect t="14011"/>
          <a:stretch>
            <a:fillRect/>
          </a:stretch>
        </p:blipFill>
        <p:spPr>
          <a:xfrm>
            <a:off x="7467600" y="2701925"/>
            <a:ext cx="2051050" cy="1093788"/>
          </a:xfrm>
          <a:prstGeom prst="rect">
            <a:avLst/>
          </a:prstGeom>
          <a:noFill/>
          <a:ln w="9525">
            <a:noFill/>
          </a:ln>
        </p:spPr>
      </p:pic>
      <p:pic>
        <p:nvPicPr>
          <p:cNvPr id="6" name="图片 11">
            <a:extLst>
              <a:ext uri="{FF2B5EF4-FFF2-40B4-BE49-F238E27FC236}">
                <a16:creationId xmlns:a16="http://schemas.microsoft.com/office/drawing/2014/main" id="{48922407-4247-6BFE-2501-02F61B80D5B9}"/>
              </a:ext>
            </a:extLst>
          </p:cNvPr>
          <p:cNvPicPr>
            <a:picLocks noChangeAspect="1"/>
          </p:cNvPicPr>
          <p:nvPr/>
        </p:nvPicPr>
        <p:blipFill>
          <a:blip r:embed="rId6"/>
          <a:srcRect b="14301"/>
          <a:stretch>
            <a:fillRect/>
          </a:stretch>
        </p:blipFill>
        <p:spPr>
          <a:xfrm>
            <a:off x="2141538" y="4167188"/>
            <a:ext cx="1989137" cy="971550"/>
          </a:xfrm>
          <a:prstGeom prst="rect">
            <a:avLst/>
          </a:prstGeom>
          <a:noFill/>
          <a:ln w="9525">
            <a:noFill/>
          </a:ln>
        </p:spPr>
      </p:pic>
      <p:pic>
        <p:nvPicPr>
          <p:cNvPr id="7" name="图片 13">
            <a:extLst>
              <a:ext uri="{FF2B5EF4-FFF2-40B4-BE49-F238E27FC236}">
                <a16:creationId xmlns:a16="http://schemas.microsoft.com/office/drawing/2014/main" id="{2D71F6AF-167B-2EB1-2150-BF5011915210}"/>
              </a:ext>
            </a:extLst>
          </p:cNvPr>
          <p:cNvPicPr>
            <a:picLocks noChangeAspect="1"/>
          </p:cNvPicPr>
          <p:nvPr/>
        </p:nvPicPr>
        <p:blipFill>
          <a:blip r:embed="rId7"/>
          <a:stretch>
            <a:fillRect/>
          </a:stretch>
        </p:blipFill>
        <p:spPr>
          <a:xfrm>
            <a:off x="5267325" y="4079875"/>
            <a:ext cx="1187450" cy="1200150"/>
          </a:xfrm>
          <a:prstGeom prst="rect">
            <a:avLst/>
          </a:prstGeom>
          <a:noFill/>
          <a:ln w="9525">
            <a:noFill/>
          </a:ln>
        </p:spPr>
      </p:pic>
      <p:pic>
        <p:nvPicPr>
          <p:cNvPr id="8" name="图片 15">
            <a:extLst>
              <a:ext uri="{FF2B5EF4-FFF2-40B4-BE49-F238E27FC236}">
                <a16:creationId xmlns:a16="http://schemas.microsoft.com/office/drawing/2014/main" id="{33D0A8C7-16B9-AD87-120A-7A632C3573CA}"/>
              </a:ext>
            </a:extLst>
          </p:cNvPr>
          <p:cNvPicPr>
            <a:picLocks noChangeAspect="1"/>
          </p:cNvPicPr>
          <p:nvPr/>
        </p:nvPicPr>
        <p:blipFill>
          <a:blip r:embed="rId8"/>
          <a:stretch>
            <a:fillRect/>
          </a:stretch>
        </p:blipFill>
        <p:spPr>
          <a:xfrm>
            <a:off x="7467600" y="4167188"/>
            <a:ext cx="2051050" cy="1025525"/>
          </a:xfrm>
          <a:prstGeom prst="rect">
            <a:avLst/>
          </a:prstGeom>
          <a:noFill/>
          <a:ln w="9525">
            <a:noFill/>
          </a:ln>
        </p:spPr>
      </p:pic>
      <p:sp>
        <p:nvSpPr>
          <p:cNvPr id="9" name="Shape 1452">
            <a:extLst>
              <a:ext uri="{FF2B5EF4-FFF2-40B4-BE49-F238E27FC236}">
                <a16:creationId xmlns:a16="http://schemas.microsoft.com/office/drawing/2014/main" id="{A3C93AEC-82A4-440B-B060-F43531DD6BF8}"/>
              </a:ext>
            </a:extLst>
          </p:cNvPr>
          <p:cNvSpPr/>
          <p:nvPr/>
        </p:nvSpPr>
        <p:spPr>
          <a:xfrm>
            <a:off x="1903413" y="2587625"/>
            <a:ext cx="2486025" cy="1233488"/>
          </a:xfrm>
          <a:prstGeom prst="roundRect">
            <a:avLst>
              <a:gd name="adj" fmla="val 6924"/>
            </a:avLst>
          </a:prstGeom>
          <a:ln w="12700">
            <a:solidFill>
              <a:srgbClr val="A6AAA9"/>
            </a:solidFill>
            <a:miter lim="400000"/>
          </a:ln>
        </p:spPr>
        <p:txBody>
          <a:bodyPr lIns="14285" tIns="14285" rIns="14285" bIns="14285" anchor="ctr"/>
          <a:lstStyle/>
          <a:p>
            <a:pPr marL="0" marR="0" lvl="0" indent="0" algn="l" defTabSz="457200" rtl="0" eaLnBrk="1" fontAlgn="auto" latinLnBrk="0" hangingPunct="1">
              <a:lnSpc>
                <a:spcPct val="120000"/>
              </a:lnSpc>
              <a:spcBef>
                <a:spcPts val="0"/>
              </a:spcBef>
              <a:spcAft>
                <a:spcPts val="0"/>
              </a:spcAft>
              <a:buClrTx/>
              <a:buSzTx/>
              <a:buFontTx/>
              <a:buNone/>
              <a:defRPr/>
            </a:pPr>
            <a:endParaRPr kumimoji="0" sz="1300" b="0" i="0" u="none" strike="noStrike" kern="1200" cap="none" spc="0" normalizeH="0" baseline="0" noProof="0">
              <a:ln>
                <a:noFill/>
              </a:ln>
              <a:solidFill>
                <a:schemeClr val="tx1"/>
              </a:solidFill>
              <a:effectLst/>
              <a:uLnTx/>
              <a:uFillTx/>
              <a:latin typeface="Arial" panose="020B0604020202090204" pitchFamily="34" charset="0"/>
              <a:ea typeface="微软雅黑" pitchFamily="34" charset="-122"/>
              <a:cs typeface="+mn-ea"/>
              <a:sym typeface="Arial" panose="020B0604020202090204" pitchFamily="34" charset="0"/>
            </a:endParaRPr>
          </a:p>
        </p:txBody>
      </p:sp>
      <p:sp>
        <p:nvSpPr>
          <p:cNvPr id="10" name="Shape 1452">
            <a:extLst>
              <a:ext uri="{FF2B5EF4-FFF2-40B4-BE49-F238E27FC236}">
                <a16:creationId xmlns:a16="http://schemas.microsoft.com/office/drawing/2014/main" id="{09EC4ED9-9669-2060-77BD-E2EB684B00A7}"/>
              </a:ext>
            </a:extLst>
          </p:cNvPr>
          <p:cNvSpPr/>
          <p:nvPr/>
        </p:nvSpPr>
        <p:spPr>
          <a:xfrm>
            <a:off x="4583113" y="2587625"/>
            <a:ext cx="2484438" cy="1233488"/>
          </a:xfrm>
          <a:prstGeom prst="roundRect">
            <a:avLst>
              <a:gd name="adj" fmla="val 6924"/>
            </a:avLst>
          </a:prstGeom>
          <a:ln w="12700">
            <a:solidFill>
              <a:srgbClr val="A6AAA9"/>
            </a:solidFill>
            <a:miter lim="400000"/>
          </a:ln>
        </p:spPr>
        <p:txBody>
          <a:bodyPr lIns="14285" tIns="14285" rIns="14285" bIns="14285" anchor="ctr"/>
          <a:lstStyle/>
          <a:p>
            <a:pPr marL="0" marR="0" lvl="0" indent="0" algn="l" defTabSz="457200" rtl="0" eaLnBrk="1" fontAlgn="auto" latinLnBrk="0" hangingPunct="1">
              <a:lnSpc>
                <a:spcPct val="120000"/>
              </a:lnSpc>
              <a:spcBef>
                <a:spcPts val="0"/>
              </a:spcBef>
              <a:spcAft>
                <a:spcPts val="0"/>
              </a:spcAft>
              <a:buClrTx/>
              <a:buSzTx/>
              <a:buFontTx/>
              <a:buNone/>
              <a:defRPr/>
            </a:pPr>
            <a:endParaRPr kumimoji="0" sz="1300" b="0" i="0" u="none" strike="noStrike" kern="1200" cap="none" spc="0" normalizeH="0" baseline="0" noProof="0">
              <a:ln>
                <a:noFill/>
              </a:ln>
              <a:solidFill>
                <a:schemeClr val="tx1"/>
              </a:solidFill>
              <a:effectLst/>
              <a:uLnTx/>
              <a:uFillTx/>
              <a:latin typeface="Arial" panose="020B0604020202090204" pitchFamily="34" charset="0"/>
              <a:ea typeface="微软雅黑" pitchFamily="34" charset="-122"/>
              <a:cs typeface="+mn-ea"/>
              <a:sym typeface="Arial" panose="020B0604020202090204" pitchFamily="34" charset="0"/>
            </a:endParaRPr>
          </a:p>
        </p:txBody>
      </p:sp>
      <p:sp>
        <p:nvSpPr>
          <p:cNvPr id="11" name="Shape 1452">
            <a:extLst>
              <a:ext uri="{FF2B5EF4-FFF2-40B4-BE49-F238E27FC236}">
                <a16:creationId xmlns:a16="http://schemas.microsoft.com/office/drawing/2014/main" id="{A80A57DF-FA2F-5E90-6580-1763791F8558}"/>
              </a:ext>
            </a:extLst>
          </p:cNvPr>
          <p:cNvSpPr/>
          <p:nvPr/>
        </p:nvSpPr>
        <p:spPr>
          <a:xfrm>
            <a:off x="7250113" y="2587625"/>
            <a:ext cx="2486025" cy="1233488"/>
          </a:xfrm>
          <a:prstGeom prst="roundRect">
            <a:avLst>
              <a:gd name="adj" fmla="val 6924"/>
            </a:avLst>
          </a:prstGeom>
          <a:ln w="12700">
            <a:solidFill>
              <a:srgbClr val="A6AAA9"/>
            </a:solidFill>
            <a:miter lim="400000"/>
          </a:ln>
        </p:spPr>
        <p:txBody>
          <a:bodyPr lIns="14285" tIns="14285" rIns="14285" bIns="14285" anchor="ctr"/>
          <a:lstStyle/>
          <a:p>
            <a:pPr marL="0" marR="0" lvl="0" indent="0" algn="l" defTabSz="457200" rtl="0" eaLnBrk="1" fontAlgn="auto" latinLnBrk="0" hangingPunct="1">
              <a:lnSpc>
                <a:spcPct val="120000"/>
              </a:lnSpc>
              <a:spcBef>
                <a:spcPts val="0"/>
              </a:spcBef>
              <a:spcAft>
                <a:spcPts val="0"/>
              </a:spcAft>
              <a:buClrTx/>
              <a:buSzTx/>
              <a:buFontTx/>
              <a:buNone/>
              <a:defRPr/>
            </a:pPr>
            <a:endParaRPr kumimoji="0" sz="1300" b="0" i="0" u="none" strike="noStrike" kern="1200" cap="none" spc="0" normalizeH="0" baseline="0" noProof="0">
              <a:ln>
                <a:noFill/>
              </a:ln>
              <a:solidFill>
                <a:schemeClr val="tx1"/>
              </a:solidFill>
              <a:effectLst/>
              <a:uLnTx/>
              <a:uFillTx/>
              <a:latin typeface="Arial" panose="020B0604020202090204" pitchFamily="34" charset="0"/>
              <a:ea typeface="微软雅黑" pitchFamily="34" charset="-122"/>
              <a:cs typeface="+mn-ea"/>
              <a:sym typeface="Arial" panose="020B0604020202090204" pitchFamily="34" charset="0"/>
            </a:endParaRPr>
          </a:p>
        </p:txBody>
      </p:sp>
      <p:sp>
        <p:nvSpPr>
          <p:cNvPr id="12" name="Shape 1452">
            <a:extLst>
              <a:ext uri="{FF2B5EF4-FFF2-40B4-BE49-F238E27FC236}">
                <a16:creationId xmlns:a16="http://schemas.microsoft.com/office/drawing/2014/main" id="{264DDAB0-4FCE-065A-2403-E040B71BCA54}"/>
              </a:ext>
            </a:extLst>
          </p:cNvPr>
          <p:cNvSpPr/>
          <p:nvPr/>
        </p:nvSpPr>
        <p:spPr>
          <a:xfrm>
            <a:off x="1903413" y="4032250"/>
            <a:ext cx="2486025" cy="1235075"/>
          </a:xfrm>
          <a:prstGeom prst="roundRect">
            <a:avLst>
              <a:gd name="adj" fmla="val 6924"/>
            </a:avLst>
          </a:prstGeom>
          <a:ln w="12700">
            <a:solidFill>
              <a:srgbClr val="A6AAA9"/>
            </a:solidFill>
            <a:miter lim="400000"/>
          </a:ln>
        </p:spPr>
        <p:txBody>
          <a:bodyPr lIns="14285" tIns="14285" rIns="14285" bIns="14285" anchor="ctr"/>
          <a:lstStyle/>
          <a:p>
            <a:pPr marL="0" marR="0" lvl="0" indent="0" algn="l" defTabSz="457200" rtl="0" eaLnBrk="1" fontAlgn="auto" latinLnBrk="0" hangingPunct="1">
              <a:lnSpc>
                <a:spcPct val="120000"/>
              </a:lnSpc>
              <a:spcBef>
                <a:spcPts val="0"/>
              </a:spcBef>
              <a:spcAft>
                <a:spcPts val="0"/>
              </a:spcAft>
              <a:buClrTx/>
              <a:buSzTx/>
              <a:buFontTx/>
              <a:buNone/>
              <a:defRPr/>
            </a:pPr>
            <a:endParaRPr kumimoji="0" sz="1300" b="0" i="0" u="none" strike="noStrike" kern="1200" cap="none" spc="0" normalizeH="0" baseline="0" noProof="0">
              <a:ln>
                <a:noFill/>
              </a:ln>
              <a:solidFill>
                <a:schemeClr val="tx1"/>
              </a:solidFill>
              <a:effectLst/>
              <a:uLnTx/>
              <a:uFillTx/>
              <a:latin typeface="Arial" panose="020B0604020202090204" pitchFamily="34" charset="0"/>
              <a:ea typeface="微软雅黑" pitchFamily="34" charset="-122"/>
              <a:cs typeface="+mn-ea"/>
              <a:sym typeface="Arial" panose="020B0604020202090204" pitchFamily="34" charset="0"/>
            </a:endParaRPr>
          </a:p>
        </p:txBody>
      </p:sp>
      <p:sp>
        <p:nvSpPr>
          <p:cNvPr id="13" name="Shape 1452">
            <a:extLst>
              <a:ext uri="{FF2B5EF4-FFF2-40B4-BE49-F238E27FC236}">
                <a16:creationId xmlns:a16="http://schemas.microsoft.com/office/drawing/2014/main" id="{7DF977A5-FAD3-7A90-FE52-390F2E1B357B}"/>
              </a:ext>
            </a:extLst>
          </p:cNvPr>
          <p:cNvSpPr/>
          <p:nvPr/>
        </p:nvSpPr>
        <p:spPr>
          <a:xfrm>
            <a:off x="4583113" y="4032250"/>
            <a:ext cx="2484438" cy="1235075"/>
          </a:xfrm>
          <a:prstGeom prst="roundRect">
            <a:avLst>
              <a:gd name="adj" fmla="val 6924"/>
            </a:avLst>
          </a:prstGeom>
          <a:ln w="12700">
            <a:solidFill>
              <a:srgbClr val="A6AAA9"/>
            </a:solidFill>
            <a:miter lim="400000"/>
          </a:ln>
        </p:spPr>
        <p:txBody>
          <a:bodyPr lIns="14285" tIns="14285" rIns="14285" bIns="14285" anchor="ctr"/>
          <a:lstStyle/>
          <a:p>
            <a:pPr marL="0" marR="0" lvl="0" indent="0" algn="l" defTabSz="457200" rtl="0" eaLnBrk="1" fontAlgn="auto" latinLnBrk="0" hangingPunct="1">
              <a:lnSpc>
                <a:spcPct val="120000"/>
              </a:lnSpc>
              <a:spcBef>
                <a:spcPts val="0"/>
              </a:spcBef>
              <a:spcAft>
                <a:spcPts val="0"/>
              </a:spcAft>
              <a:buClrTx/>
              <a:buSzTx/>
              <a:buFontTx/>
              <a:buNone/>
              <a:defRPr/>
            </a:pPr>
            <a:endParaRPr kumimoji="0" sz="1300" b="0" i="0" u="none" strike="noStrike" kern="1200" cap="none" spc="0" normalizeH="0" baseline="0" noProof="0">
              <a:ln>
                <a:noFill/>
              </a:ln>
              <a:solidFill>
                <a:schemeClr val="tx1"/>
              </a:solidFill>
              <a:effectLst/>
              <a:uLnTx/>
              <a:uFillTx/>
              <a:latin typeface="Arial" panose="020B0604020202090204" pitchFamily="34" charset="0"/>
              <a:ea typeface="微软雅黑" pitchFamily="34" charset="-122"/>
              <a:cs typeface="+mn-ea"/>
              <a:sym typeface="Arial" panose="020B0604020202090204" pitchFamily="34" charset="0"/>
            </a:endParaRPr>
          </a:p>
        </p:txBody>
      </p:sp>
      <p:sp>
        <p:nvSpPr>
          <p:cNvPr id="14" name="Shape 1452">
            <a:extLst>
              <a:ext uri="{FF2B5EF4-FFF2-40B4-BE49-F238E27FC236}">
                <a16:creationId xmlns:a16="http://schemas.microsoft.com/office/drawing/2014/main" id="{EBE44F94-38F2-B573-2AFD-E304EA1BD8D8}"/>
              </a:ext>
            </a:extLst>
          </p:cNvPr>
          <p:cNvSpPr/>
          <p:nvPr/>
        </p:nvSpPr>
        <p:spPr>
          <a:xfrm>
            <a:off x="7250113" y="4032250"/>
            <a:ext cx="2486025" cy="1235075"/>
          </a:xfrm>
          <a:prstGeom prst="roundRect">
            <a:avLst>
              <a:gd name="adj" fmla="val 6924"/>
            </a:avLst>
          </a:prstGeom>
          <a:ln w="12700">
            <a:solidFill>
              <a:srgbClr val="A6AAA9"/>
            </a:solidFill>
            <a:miter lim="400000"/>
          </a:ln>
        </p:spPr>
        <p:txBody>
          <a:bodyPr lIns="14285" tIns="14285" rIns="14285" bIns="14285" anchor="ctr"/>
          <a:lstStyle/>
          <a:p>
            <a:pPr marL="0" marR="0" lvl="0" indent="0" algn="l" defTabSz="457200" rtl="0" eaLnBrk="1" fontAlgn="auto" latinLnBrk="0" hangingPunct="1">
              <a:lnSpc>
                <a:spcPct val="120000"/>
              </a:lnSpc>
              <a:spcBef>
                <a:spcPts val="0"/>
              </a:spcBef>
              <a:spcAft>
                <a:spcPts val="0"/>
              </a:spcAft>
              <a:buClrTx/>
              <a:buSzTx/>
              <a:buFontTx/>
              <a:buNone/>
              <a:defRPr/>
            </a:pPr>
            <a:endParaRPr kumimoji="0" sz="1300" b="0" i="0" u="none" strike="noStrike" kern="1200" cap="none" spc="0" normalizeH="0" baseline="0" noProof="0">
              <a:ln>
                <a:noFill/>
              </a:ln>
              <a:solidFill>
                <a:schemeClr val="tx1"/>
              </a:solidFill>
              <a:effectLst/>
              <a:uLnTx/>
              <a:uFillTx/>
              <a:latin typeface="Arial" panose="020B0604020202090204" pitchFamily="34" charset="0"/>
              <a:ea typeface="微软雅黑" pitchFamily="34" charset="-122"/>
              <a:cs typeface="+mn-ea"/>
              <a:sym typeface="Arial" panose="020B0604020202090204" pitchFamily="34" charset="0"/>
            </a:endParaRPr>
          </a:p>
        </p:txBody>
      </p:sp>
    </p:spTree>
    <p:extLst>
      <p:ext uri="{BB962C8B-B14F-4D97-AF65-F5344CB8AC3E}">
        <p14:creationId xmlns:p14="http://schemas.microsoft.com/office/powerpoint/2010/main" val="364702107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6306" y="3900310"/>
            <a:ext cx="3983316" cy="2951922"/>
          </a:xfrm>
          <a:prstGeom prst="rect">
            <a:avLst/>
          </a:prstGeom>
        </p:spPr>
      </p:pic>
      <p:sp>
        <p:nvSpPr>
          <p:cNvPr id="6" name="文本框 5">
            <a:extLst>
              <a:ext uri="{FF2B5EF4-FFF2-40B4-BE49-F238E27FC236}">
                <a16:creationId xmlns:a16="http://schemas.microsoft.com/office/drawing/2014/main" id="{CCEB7C88-3422-6278-3570-116BD905AE4E}"/>
              </a:ext>
            </a:extLst>
          </p:cNvPr>
          <p:cNvSpPr txBox="1"/>
          <p:nvPr/>
        </p:nvSpPr>
        <p:spPr>
          <a:xfrm>
            <a:off x="5487153" y="1929404"/>
            <a:ext cx="3238838" cy="400110"/>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数据库的基本概念</a:t>
            </a:r>
          </a:p>
        </p:txBody>
      </p:sp>
      <p:sp>
        <p:nvSpPr>
          <p:cNvPr id="8" name="文本框 7">
            <a:extLst>
              <a:ext uri="{FF2B5EF4-FFF2-40B4-BE49-F238E27FC236}">
                <a16:creationId xmlns:a16="http://schemas.microsoft.com/office/drawing/2014/main" id="{074B36F8-DFF6-F9C8-541B-33FDC4994B01}"/>
              </a:ext>
            </a:extLst>
          </p:cNvPr>
          <p:cNvSpPr txBox="1"/>
          <p:nvPr/>
        </p:nvSpPr>
        <p:spPr>
          <a:xfrm>
            <a:off x="4530840" y="1763132"/>
            <a:ext cx="989373" cy="584775"/>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01.</a:t>
            </a:r>
            <a:endParaRPr lang="zh-CN" altLang="en-US"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endParaRPr>
          </a:p>
        </p:txBody>
      </p:sp>
      <p:sp>
        <p:nvSpPr>
          <p:cNvPr id="9" name="文本框 8">
            <a:extLst>
              <a:ext uri="{FF2B5EF4-FFF2-40B4-BE49-F238E27FC236}">
                <a16:creationId xmlns:a16="http://schemas.microsoft.com/office/drawing/2014/main" id="{A93B0541-EA0B-E7F9-A3C3-EEEE911FDC63}"/>
              </a:ext>
            </a:extLst>
          </p:cNvPr>
          <p:cNvSpPr txBox="1"/>
          <p:nvPr/>
        </p:nvSpPr>
        <p:spPr>
          <a:xfrm>
            <a:off x="5487153" y="2543793"/>
            <a:ext cx="3578470" cy="400110"/>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常见的数据库管理系统</a:t>
            </a:r>
          </a:p>
        </p:txBody>
      </p:sp>
      <p:sp>
        <p:nvSpPr>
          <p:cNvPr id="11" name="文本框 10">
            <a:extLst>
              <a:ext uri="{FF2B5EF4-FFF2-40B4-BE49-F238E27FC236}">
                <a16:creationId xmlns:a16="http://schemas.microsoft.com/office/drawing/2014/main" id="{FDB5F4D9-F7AA-0670-8E6E-E3A2DA3D5B05}"/>
              </a:ext>
            </a:extLst>
          </p:cNvPr>
          <p:cNvSpPr txBox="1"/>
          <p:nvPr/>
        </p:nvSpPr>
        <p:spPr>
          <a:xfrm>
            <a:off x="4530840" y="2403647"/>
            <a:ext cx="989373" cy="584775"/>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02.</a:t>
            </a:r>
            <a:endParaRPr lang="zh-CN" altLang="en-US"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endParaRPr>
          </a:p>
        </p:txBody>
      </p:sp>
      <p:sp>
        <p:nvSpPr>
          <p:cNvPr id="12" name="文本框 11">
            <a:extLst>
              <a:ext uri="{FF2B5EF4-FFF2-40B4-BE49-F238E27FC236}">
                <a16:creationId xmlns:a16="http://schemas.microsoft.com/office/drawing/2014/main" id="{F1EE0159-B6F8-0954-BDF2-DDA282620198}"/>
              </a:ext>
            </a:extLst>
          </p:cNvPr>
          <p:cNvSpPr txBox="1"/>
          <p:nvPr/>
        </p:nvSpPr>
        <p:spPr>
          <a:xfrm>
            <a:off x="5487152" y="3145119"/>
            <a:ext cx="3357581" cy="400110"/>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kern="0" spc="300" dirty="0">
                <a:solidFill>
                  <a:srgbClr val="4494C8"/>
                </a:solidFill>
                <a:latin typeface="微软雅黑" panose="020B0503020204020204" pitchFamily="34" charset="-122"/>
                <a:ea typeface="微软雅黑" panose="020B0503020204020204" pitchFamily="34" charset="-122"/>
                <a:sym typeface="Arial"/>
              </a:rPr>
              <a:t>数据管理技术的发展</a:t>
            </a:r>
          </a:p>
        </p:txBody>
      </p:sp>
      <p:sp>
        <p:nvSpPr>
          <p:cNvPr id="14" name="文本框 13">
            <a:extLst>
              <a:ext uri="{FF2B5EF4-FFF2-40B4-BE49-F238E27FC236}">
                <a16:creationId xmlns:a16="http://schemas.microsoft.com/office/drawing/2014/main" id="{F28153F4-0F99-C1B2-D243-0F9DF24E219A}"/>
              </a:ext>
            </a:extLst>
          </p:cNvPr>
          <p:cNvSpPr txBox="1"/>
          <p:nvPr/>
        </p:nvSpPr>
        <p:spPr>
          <a:xfrm>
            <a:off x="4530840" y="3044162"/>
            <a:ext cx="885179" cy="584775"/>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200" b="1" kern="0" spc="300" dirty="0">
                <a:solidFill>
                  <a:srgbClr val="4494C8"/>
                </a:solidFill>
                <a:latin typeface="微软雅黑" panose="020B0503020204020204" pitchFamily="34" charset="-122"/>
                <a:ea typeface="微软雅黑" panose="020B0503020204020204" pitchFamily="34" charset="-122"/>
                <a:sym typeface="Arial"/>
              </a:rPr>
              <a:t>03</a:t>
            </a:r>
            <a:r>
              <a:rPr lang="en-US" altLang="zh-CN" sz="3200" b="1" kern="0" dirty="0">
                <a:solidFill>
                  <a:srgbClr val="4494C8"/>
                </a:solidFill>
                <a:latin typeface="微软雅黑" panose="020B0503020204020204" pitchFamily="34" charset="-122"/>
                <a:ea typeface="微软雅黑" panose="020B0503020204020204" pitchFamily="34" charset="-122"/>
                <a:sym typeface="Arial"/>
              </a:rPr>
              <a:t>.</a:t>
            </a:r>
            <a:endParaRPr lang="zh-CN" altLang="en-US" sz="3200" b="1" kern="0" dirty="0">
              <a:solidFill>
                <a:srgbClr val="4494C8"/>
              </a:solidFill>
              <a:latin typeface="微软雅黑" panose="020B0503020204020204" pitchFamily="34" charset="-122"/>
              <a:ea typeface="微软雅黑" panose="020B0503020204020204" pitchFamily="34" charset="-122"/>
              <a:sym typeface="Arial"/>
            </a:endParaRPr>
          </a:p>
        </p:txBody>
      </p:sp>
      <p:sp>
        <p:nvSpPr>
          <p:cNvPr id="15" name="文本框 14">
            <a:extLst>
              <a:ext uri="{FF2B5EF4-FFF2-40B4-BE49-F238E27FC236}">
                <a16:creationId xmlns:a16="http://schemas.microsoft.com/office/drawing/2014/main" id="{FC630475-7420-333F-0EE7-EDDC28DDE43C}"/>
              </a:ext>
            </a:extLst>
          </p:cNvPr>
          <p:cNvSpPr txBox="1"/>
          <p:nvPr/>
        </p:nvSpPr>
        <p:spPr>
          <a:xfrm>
            <a:off x="5487153" y="3811760"/>
            <a:ext cx="3357580" cy="400110"/>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常见的数据模型</a:t>
            </a:r>
          </a:p>
        </p:txBody>
      </p:sp>
      <p:sp>
        <p:nvSpPr>
          <p:cNvPr id="17" name="文本框 16">
            <a:extLst>
              <a:ext uri="{FF2B5EF4-FFF2-40B4-BE49-F238E27FC236}">
                <a16:creationId xmlns:a16="http://schemas.microsoft.com/office/drawing/2014/main" id="{30EC2183-14FC-B58A-E51C-EF0296A9156A}"/>
              </a:ext>
            </a:extLst>
          </p:cNvPr>
          <p:cNvSpPr txBox="1"/>
          <p:nvPr/>
        </p:nvSpPr>
        <p:spPr>
          <a:xfrm>
            <a:off x="4530840" y="3684677"/>
            <a:ext cx="989373" cy="584775"/>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04.</a:t>
            </a:r>
            <a:endParaRPr lang="zh-CN" altLang="en-US"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endParaRPr>
          </a:p>
        </p:txBody>
      </p:sp>
    </p:spTree>
    <p:extLst>
      <p:ext uri="{BB962C8B-B14F-4D97-AF65-F5344CB8AC3E}">
        <p14:creationId xmlns:p14="http://schemas.microsoft.com/office/powerpoint/2010/main" val="3224300521"/>
      </p:ext>
    </p:extLst>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数据管理技术的发展</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人工管理阶段</a:t>
            </a:r>
            <a:endParaRPr lang="en-US" altLang="zh-CN" b="1" dirty="0">
              <a:solidFill>
                <a:srgbClr val="44546A"/>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0F6FAE23-72F3-C278-0DF5-3ACBAB66F97C}"/>
              </a:ext>
            </a:extLst>
          </p:cNvPr>
          <p:cNvPicPr>
            <a:picLocks noChangeAspect="1"/>
          </p:cNvPicPr>
          <p:nvPr/>
        </p:nvPicPr>
        <p:blipFill>
          <a:blip r:embed="rId3"/>
          <a:srcRect r="2132"/>
          <a:stretch>
            <a:fillRect/>
          </a:stretch>
        </p:blipFill>
        <p:spPr>
          <a:xfrm>
            <a:off x="989013" y="1893888"/>
            <a:ext cx="6516687" cy="4330700"/>
          </a:xfrm>
          <a:prstGeom prst="rect">
            <a:avLst/>
          </a:prstGeom>
          <a:noFill/>
          <a:ln w="9525">
            <a:noFill/>
          </a:ln>
        </p:spPr>
      </p:pic>
      <p:sp>
        <p:nvSpPr>
          <p:cNvPr id="4" name="矩形 6">
            <a:extLst>
              <a:ext uri="{FF2B5EF4-FFF2-40B4-BE49-F238E27FC236}">
                <a16:creationId xmlns:a16="http://schemas.microsoft.com/office/drawing/2014/main" id="{E42F8320-982F-9023-A4EF-A009951C3316}"/>
              </a:ext>
            </a:extLst>
          </p:cNvPr>
          <p:cNvSpPr/>
          <p:nvPr/>
        </p:nvSpPr>
        <p:spPr>
          <a:xfrm>
            <a:off x="7681913" y="2432050"/>
            <a:ext cx="3832225" cy="2677656"/>
          </a:xfrm>
          <a:prstGeom prst="rect">
            <a:avLst/>
          </a:prstGeom>
          <a:noFill/>
          <a:ln w="9525">
            <a:noFill/>
          </a:ln>
        </p:spPr>
        <p:txBody>
          <a:bodyPr wrap="square">
            <a:spAutoFit/>
          </a:bodyPr>
          <a:lstStyle/>
          <a:p>
            <a:pPr marL="0" marR="0" lvl="0" indent="0" algn="just" defTabSz="457200" rtl="0" eaLnBrk="1" fontAlgn="auto" latinLnBrk="0" hangingPunct="1">
              <a:lnSpc>
                <a:spcPct val="100000"/>
              </a:lnSpc>
              <a:spcBef>
                <a:spcPct val="50000"/>
              </a:spcBef>
              <a:spcAft>
                <a:spcPts val="0"/>
              </a:spcAft>
              <a:buClrTx/>
              <a:buSzTx/>
              <a:buFontTx/>
              <a:buNone/>
              <a:defRPr/>
            </a:pPr>
            <a:endParaRPr kumimoji="0" lang="en-US" altLang="zh-CN" sz="1800" b="0" i="0" u="none" strike="noStrike" kern="1200" cap="none" spc="0" normalizeH="0" baseline="0" noProof="0" dirty="0">
              <a:ln>
                <a:noFill/>
              </a:ln>
              <a:solidFill>
                <a:srgbClr val="1FA8BB"/>
              </a:solidFill>
              <a:effectLst/>
              <a:uLnTx/>
              <a:uFillTx/>
              <a:latin typeface="微软雅黑" pitchFamily="34" charset="-122"/>
              <a:ea typeface="微软雅黑" pitchFamily="34" charset="-122"/>
              <a:cs typeface="+mn-cs"/>
            </a:endParaRPr>
          </a:p>
          <a:p>
            <a:pPr marL="285750" marR="0" lvl="0" indent="-285750" algn="l" defTabSz="457200" rtl="0" eaLnBrk="1" fontAlgn="auto" latinLnBrk="0" hangingPunct="1">
              <a:spcBef>
                <a:spcPts val="0"/>
              </a:spcBef>
              <a:spcAft>
                <a:spcPts val="0"/>
              </a:spcAft>
              <a:buClr>
                <a:schemeClr val="accent1"/>
              </a:buClr>
              <a:buSzTx/>
              <a:buFont typeface="Wingdings" panose="05000000000000000000" pitchFamily="2" charset="2"/>
              <a:buChar char="l"/>
              <a:defRPr/>
            </a:pPr>
            <a:r>
              <a:rPr lang="zh-CN" altLang="en-US" dirty="0">
                <a:solidFill>
                  <a:srgbClr val="44546A"/>
                </a:solidFill>
                <a:latin typeface="微软雅黑" panose="020B0503020204020204" pitchFamily="34" charset="-122"/>
                <a:ea typeface="微软雅黑" panose="020B0503020204020204" pitchFamily="34" charset="-122"/>
              </a:rPr>
              <a:t>数据不能长期保存，用完就删除。</a:t>
            </a:r>
          </a:p>
          <a:p>
            <a:pPr marL="0" marR="0" lvl="0" indent="0" algn="l" defTabSz="457200" rtl="0" eaLnBrk="1" fontAlgn="auto" latinLnBrk="0" hangingPunct="1">
              <a:spcBef>
                <a:spcPts val="0"/>
              </a:spcBef>
              <a:spcAft>
                <a:spcPts val="0"/>
              </a:spcAft>
              <a:buClrTx/>
              <a:buSzTx/>
              <a:buFontTx/>
              <a:buNone/>
              <a:defRPr/>
            </a:pPr>
            <a:endParaRPr lang="en-US" altLang="zh-CN" dirty="0">
              <a:solidFill>
                <a:srgbClr val="44546A"/>
              </a:solidFill>
              <a:latin typeface="微软雅黑" panose="020B0503020204020204" pitchFamily="34" charset="-122"/>
              <a:ea typeface="微软雅黑" panose="020B0503020204020204" pitchFamily="34" charset="-122"/>
            </a:endParaRPr>
          </a:p>
          <a:p>
            <a:pPr marL="285750" marR="0" lvl="0" indent="-285750" algn="l" defTabSz="457200" rtl="0" eaLnBrk="1" fontAlgn="auto" latinLnBrk="0" hangingPunct="1">
              <a:spcBef>
                <a:spcPts val="0"/>
              </a:spcBef>
              <a:spcAft>
                <a:spcPts val="0"/>
              </a:spcAft>
              <a:buClr>
                <a:schemeClr val="accent1"/>
              </a:buClr>
              <a:buSzTx/>
              <a:buFont typeface="Wingdings" panose="05000000000000000000" pitchFamily="2" charset="2"/>
              <a:buChar char="l"/>
              <a:defRPr/>
            </a:pPr>
            <a:r>
              <a:rPr lang="zh-CN" altLang="en-US" dirty="0">
                <a:solidFill>
                  <a:srgbClr val="44546A"/>
                </a:solidFill>
                <a:latin typeface="微软雅黑" panose="020B0503020204020204" pitchFamily="34" charset="-122"/>
                <a:ea typeface="微软雅黑" panose="020B0503020204020204" pitchFamily="34" charset="-122"/>
              </a:rPr>
              <a:t>数据的管理由应用程序完成。</a:t>
            </a:r>
          </a:p>
          <a:p>
            <a:pPr marL="0" marR="0" lvl="0" indent="0" algn="l" defTabSz="457200" rtl="0" eaLnBrk="1" fontAlgn="auto" latinLnBrk="0" hangingPunct="1">
              <a:spcBef>
                <a:spcPts val="0"/>
              </a:spcBef>
              <a:spcAft>
                <a:spcPts val="0"/>
              </a:spcAft>
              <a:buClrTx/>
              <a:buSzTx/>
              <a:buFontTx/>
              <a:buNone/>
              <a:defRPr/>
            </a:pPr>
            <a:endParaRPr lang="en-US" altLang="zh-CN" dirty="0">
              <a:solidFill>
                <a:srgbClr val="44546A"/>
              </a:solidFill>
              <a:latin typeface="微软雅黑" panose="020B0503020204020204" pitchFamily="34" charset="-122"/>
              <a:ea typeface="微软雅黑" panose="020B0503020204020204" pitchFamily="34" charset="-122"/>
            </a:endParaRPr>
          </a:p>
          <a:p>
            <a:pPr marL="285750" marR="0" lvl="0" indent="-285750" algn="l" defTabSz="457200" rtl="0" eaLnBrk="1" fontAlgn="auto" latinLnBrk="0" hangingPunct="1">
              <a:spcBef>
                <a:spcPts val="0"/>
              </a:spcBef>
              <a:spcAft>
                <a:spcPts val="0"/>
              </a:spcAft>
              <a:buClr>
                <a:schemeClr val="accent1"/>
              </a:buClr>
              <a:buSzTx/>
              <a:buFont typeface="Wingdings" panose="05000000000000000000" pitchFamily="2" charset="2"/>
              <a:buChar char="l"/>
              <a:defRPr/>
            </a:pPr>
            <a:r>
              <a:rPr lang="zh-CN" altLang="en-US" dirty="0">
                <a:solidFill>
                  <a:srgbClr val="44546A"/>
                </a:solidFill>
                <a:latin typeface="微软雅黑" panose="020B0503020204020204" pitchFamily="34" charset="-122"/>
                <a:ea typeface="微软雅黑" panose="020B0503020204020204" pitchFamily="34" charset="-122"/>
              </a:rPr>
              <a:t>数据面向应用不能共享。</a:t>
            </a:r>
          </a:p>
          <a:p>
            <a:pPr marL="285750" marR="0" lvl="0" indent="-285750" algn="l" defTabSz="457200" rtl="0" eaLnBrk="1" fontAlgn="auto" latinLnBrk="0" hangingPunct="1">
              <a:spcBef>
                <a:spcPts val="0"/>
              </a:spcBef>
              <a:spcAft>
                <a:spcPts val="0"/>
              </a:spcAft>
              <a:buClr>
                <a:schemeClr val="accent1"/>
              </a:buClr>
              <a:buSzTx/>
              <a:buFont typeface="Wingdings" panose="05000000000000000000" pitchFamily="2" charset="2"/>
              <a:buChar char="l"/>
              <a:defRPr/>
            </a:pPr>
            <a:endParaRPr lang="en-US" altLang="zh-CN" dirty="0">
              <a:solidFill>
                <a:srgbClr val="44546A"/>
              </a:solidFill>
              <a:latin typeface="微软雅黑" panose="020B0503020204020204" pitchFamily="34" charset="-122"/>
              <a:ea typeface="微软雅黑" panose="020B0503020204020204" pitchFamily="34" charset="-122"/>
            </a:endParaRPr>
          </a:p>
          <a:p>
            <a:pPr marL="285750" marR="0" lvl="0" indent="-285750" algn="l" defTabSz="457200" rtl="0" eaLnBrk="1" fontAlgn="auto" latinLnBrk="0" hangingPunct="1">
              <a:spcBef>
                <a:spcPts val="0"/>
              </a:spcBef>
              <a:spcAft>
                <a:spcPts val="0"/>
              </a:spcAft>
              <a:buClr>
                <a:schemeClr val="accent1"/>
              </a:buClr>
              <a:buSzTx/>
              <a:buFont typeface="Wingdings" panose="05000000000000000000" pitchFamily="2" charset="2"/>
              <a:buChar char="l"/>
              <a:defRPr/>
            </a:pPr>
            <a:r>
              <a:rPr lang="zh-CN" altLang="en-US" dirty="0">
                <a:solidFill>
                  <a:srgbClr val="44546A"/>
                </a:solidFill>
                <a:latin typeface="微软雅黑" panose="020B0503020204020204" pitchFamily="34" charset="-122"/>
                <a:ea typeface="微软雅黑" panose="020B0503020204020204" pitchFamily="34" charset="-122"/>
              </a:rPr>
              <a:t>数据不独立。</a:t>
            </a:r>
          </a:p>
          <a:p>
            <a:pPr marL="0" marR="0" lvl="0" indent="0" algn="just" defTabSz="457200"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dirty="0">
              <a:ln>
                <a:noFill/>
              </a:ln>
              <a:solidFill>
                <a:srgbClr val="1FA8BB"/>
              </a:solidFill>
              <a:effectLst/>
              <a:uLnTx/>
              <a:uFillTx/>
              <a:latin typeface="微软雅黑" pitchFamily="34" charset="-122"/>
              <a:ea typeface="微软雅黑" pitchFamily="34" charset="-122"/>
              <a:cs typeface="+mn-cs"/>
            </a:endParaRPr>
          </a:p>
        </p:txBody>
      </p:sp>
      <p:sp>
        <p:nvSpPr>
          <p:cNvPr id="5" name="流程图: 磁盘 1">
            <a:extLst>
              <a:ext uri="{FF2B5EF4-FFF2-40B4-BE49-F238E27FC236}">
                <a16:creationId xmlns:a16="http://schemas.microsoft.com/office/drawing/2014/main" id="{187B1B98-EE5D-1A84-C92D-1FBA4EE035BB}"/>
              </a:ext>
            </a:extLst>
          </p:cNvPr>
          <p:cNvSpPr/>
          <p:nvPr/>
        </p:nvSpPr>
        <p:spPr>
          <a:xfrm>
            <a:off x="5897563" y="2268538"/>
            <a:ext cx="1336675" cy="884237"/>
          </a:xfrm>
          <a:prstGeom prst="flowChartMagneticDisk">
            <a:avLst/>
          </a:prstGeom>
          <a:solidFill>
            <a:srgbClr val="F0882E"/>
          </a:solidFill>
          <a:ln w="28575" cap="flat" cmpd="sng">
            <a:solidFill>
              <a:schemeClr val="bg1"/>
            </a:solidFill>
            <a:prstDash val="solid"/>
            <a:headEnd type="none" w="med" len="med"/>
            <a:tailEnd type="none" w="med" len="med"/>
          </a:ln>
        </p:spPr>
        <p:txBody>
          <a:bodyPr/>
          <a:lstStyle/>
          <a:p>
            <a:pPr algn="ctr">
              <a:buNone/>
            </a:pPr>
            <a:r>
              <a:rPr lang="zh-CN" altLang="en-US" b="1" dirty="0">
                <a:solidFill>
                  <a:schemeClr val="bg1"/>
                </a:solidFill>
                <a:latin typeface="微软雅黑" pitchFamily="34" charset="-122"/>
                <a:ea typeface="微软雅黑" pitchFamily="34" charset="-122"/>
              </a:rPr>
              <a:t>数据集</a:t>
            </a:r>
            <a:r>
              <a:rPr lang="en-US" altLang="zh-CN" b="1" dirty="0">
                <a:solidFill>
                  <a:schemeClr val="bg1"/>
                </a:solidFill>
                <a:latin typeface="微软雅黑" pitchFamily="34" charset="-122"/>
                <a:ea typeface="微软雅黑" pitchFamily="34" charset="-122"/>
              </a:rPr>
              <a:t>1</a:t>
            </a:r>
          </a:p>
        </p:txBody>
      </p:sp>
      <p:sp>
        <p:nvSpPr>
          <p:cNvPr id="6" name="流程图: 磁盘 8">
            <a:extLst>
              <a:ext uri="{FF2B5EF4-FFF2-40B4-BE49-F238E27FC236}">
                <a16:creationId xmlns:a16="http://schemas.microsoft.com/office/drawing/2014/main" id="{FF33DF81-57CF-DAAA-BD5B-C72B2153A8FE}"/>
              </a:ext>
            </a:extLst>
          </p:cNvPr>
          <p:cNvSpPr/>
          <p:nvPr/>
        </p:nvSpPr>
        <p:spPr>
          <a:xfrm>
            <a:off x="5897563" y="3616325"/>
            <a:ext cx="1336675" cy="884238"/>
          </a:xfrm>
          <a:prstGeom prst="flowChartMagneticDisk">
            <a:avLst/>
          </a:prstGeom>
          <a:solidFill>
            <a:srgbClr val="F0882E"/>
          </a:solidFill>
          <a:ln w="28575" cap="flat" cmpd="sng">
            <a:solidFill>
              <a:schemeClr val="bg1"/>
            </a:solidFill>
            <a:prstDash val="solid"/>
            <a:headEnd type="none" w="med" len="med"/>
            <a:tailEnd type="none" w="med" len="med"/>
          </a:ln>
        </p:spPr>
        <p:txBody>
          <a:bodyPr/>
          <a:lstStyle/>
          <a:p>
            <a:pPr algn="ctr">
              <a:buNone/>
            </a:pPr>
            <a:r>
              <a:rPr lang="zh-CN" altLang="en-US" b="1" dirty="0">
                <a:solidFill>
                  <a:schemeClr val="bg1"/>
                </a:solidFill>
                <a:latin typeface="微软雅黑" pitchFamily="34" charset="-122"/>
                <a:ea typeface="微软雅黑" pitchFamily="34" charset="-122"/>
              </a:rPr>
              <a:t>数据集</a:t>
            </a:r>
            <a:r>
              <a:rPr lang="en-US" altLang="zh-CN" b="1" dirty="0">
                <a:solidFill>
                  <a:schemeClr val="bg1"/>
                </a:solidFill>
                <a:latin typeface="微软雅黑" pitchFamily="34" charset="-122"/>
                <a:ea typeface="微软雅黑" pitchFamily="34" charset="-122"/>
              </a:rPr>
              <a:t>2</a:t>
            </a:r>
          </a:p>
        </p:txBody>
      </p:sp>
      <p:sp>
        <p:nvSpPr>
          <p:cNvPr id="7" name="流程图: 磁盘 9">
            <a:extLst>
              <a:ext uri="{FF2B5EF4-FFF2-40B4-BE49-F238E27FC236}">
                <a16:creationId xmlns:a16="http://schemas.microsoft.com/office/drawing/2014/main" id="{A3F46F80-11DB-4A25-18DC-FBF2A8861B16}"/>
              </a:ext>
            </a:extLst>
          </p:cNvPr>
          <p:cNvSpPr/>
          <p:nvPr/>
        </p:nvSpPr>
        <p:spPr>
          <a:xfrm>
            <a:off x="5897563" y="5130800"/>
            <a:ext cx="1336675" cy="884238"/>
          </a:xfrm>
          <a:prstGeom prst="flowChartMagneticDisk">
            <a:avLst/>
          </a:prstGeom>
          <a:solidFill>
            <a:srgbClr val="F0882E"/>
          </a:solidFill>
          <a:ln w="28575" cap="flat" cmpd="sng">
            <a:solidFill>
              <a:schemeClr val="bg1"/>
            </a:solidFill>
            <a:prstDash val="solid"/>
            <a:headEnd type="none" w="med" len="med"/>
            <a:tailEnd type="none" w="med" len="med"/>
          </a:ln>
        </p:spPr>
        <p:txBody>
          <a:bodyPr/>
          <a:lstStyle/>
          <a:p>
            <a:pPr algn="ctr">
              <a:buNone/>
            </a:pPr>
            <a:r>
              <a:rPr lang="zh-CN" altLang="en-US" b="1" dirty="0">
                <a:solidFill>
                  <a:schemeClr val="bg1"/>
                </a:solidFill>
                <a:latin typeface="微软雅黑" pitchFamily="34" charset="-122"/>
                <a:ea typeface="微软雅黑" pitchFamily="34" charset="-122"/>
              </a:rPr>
              <a:t>数据集</a:t>
            </a:r>
            <a:r>
              <a:rPr lang="en-US" altLang="zh-CN" b="1" dirty="0">
                <a:solidFill>
                  <a:schemeClr val="bg1"/>
                </a:solidFill>
                <a:latin typeface="微软雅黑" pitchFamily="34" charset="-122"/>
                <a:ea typeface="微软雅黑" pitchFamily="34" charset="-122"/>
              </a:rPr>
              <a:t>n</a:t>
            </a:r>
          </a:p>
        </p:txBody>
      </p:sp>
      <p:sp>
        <p:nvSpPr>
          <p:cNvPr id="8" name="矩形 4">
            <a:extLst>
              <a:ext uri="{FF2B5EF4-FFF2-40B4-BE49-F238E27FC236}">
                <a16:creationId xmlns:a16="http://schemas.microsoft.com/office/drawing/2014/main" id="{A7859F91-B5EB-4BC0-437A-FE459DE49D40}"/>
              </a:ext>
            </a:extLst>
          </p:cNvPr>
          <p:cNvSpPr/>
          <p:nvPr/>
        </p:nvSpPr>
        <p:spPr>
          <a:xfrm>
            <a:off x="1165225" y="2573338"/>
            <a:ext cx="1360488" cy="358775"/>
          </a:xfrm>
          <a:prstGeom prst="rect">
            <a:avLst/>
          </a:prstGeom>
          <a:solidFill>
            <a:srgbClr val="0070C0"/>
          </a:solidFill>
          <a:ln w="28575" cap="flat" cmpd="sng">
            <a:solidFill>
              <a:schemeClr val="bg1"/>
            </a:solidFill>
            <a:prstDash val="solid"/>
            <a:round/>
            <a:headEnd type="none" w="med" len="med"/>
            <a:tailEnd type="none" w="med" len="med"/>
          </a:ln>
        </p:spPr>
        <p:txBody>
          <a:bodyPr/>
          <a:lstStyle/>
          <a:p>
            <a:pPr algn="ctr">
              <a:buNone/>
            </a:pPr>
            <a:r>
              <a:rPr lang="zh-CN" altLang="en-US" b="1" dirty="0">
                <a:solidFill>
                  <a:schemeClr val="bg1"/>
                </a:solidFill>
                <a:latin typeface="微软雅黑" pitchFamily="34" charset="-122"/>
                <a:ea typeface="微软雅黑" pitchFamily="34" charset="-122"/>
              </a:rPr>
              <a:t>应用程序</a:t>
            </a:r>
            <a:r>
              <a:rPr lang="en-US" altLang="zh-CN" b="1" dirty="0">
                <a:solidFill>
                  <a:schemeClr val="bg1"/>
                </a:solidFill>
                <a:latin typeface="微软雅黑" pitchFamily="34" charset="-122"/>
                <a:ea typeface="微软雅黑" pitchFamily="34" charset="-122"/>
              </a:rPr>
              <a:t>1</a:t>
            </a:r>
          </a:p>
        </p:txBody>
      </p:sp>
      <p:sp>
        <p:nvSpPr>
          <p:cNvPr id="9" name="矩形 11">
            <a:extLst>
              <a:ext uri="{FF2B5EF4-FFF2-40B4-BE49-F238E27FC236}">
                <a16:creationId xmlns:a16="http://schemas.microsoft.com/office/drawing/2014/main" id="{E6BD3354-9BC5-26F1-449B-013B9B02D8D3}"/>
              </a:ext>
            </a:extLst>
          </p:cNvPr>
          <p:cNvSpPr/>
          <p:nvPr/>
        </p:nvSpPr>
        <p:spPr>
          <a:xfrm>
            <a:off x="1165225" y="4070350"/>
            <a:ext cx="1360488" cy="358775"/>
          </a:xfrm>
          <a:prstGeom prst="rect">
            <a:avLst/>
          </a:prstGeom>
          <a:solidFill>
            <a:srgbClr val="0070C0"/>
          </a:solidFill>
          <a:ln w="28575" cap="flat" cmpd="sng">
            <a:solidFill>
              <a:schemeClr val="bg1"/>
            </a:solidFill>
            <a:prstDash val="solid"/>
            <a:round/>
            <a:headEnd type="none" w="med" len="med"/>
            <a:tailEnd type="none" w="med" len="med"/>
          </a:ln>
        </p:spPr>
        <p:txBody>
          <a:bodyPr/>
          <a:lstStyle/>
          <a:p>
            <a:pPr algn="ctr">
              <a:buNone/>
            </a:pPr>
            <a:r>
              <a:rPr lang="zh-CN" altLang="en-US" b="1" dirty="0">
                <a:solidFill>
                  <a:schemeClr val="bg1"/>
                </a:solidFill>
                <a:latin typeface="微软雅黑" pitchFamily="34" charset="-122"/>
                <a:ea typeface="微软雅黑" pitchFamily="34" charset="-122"/>
              </a:rPr>
              <a:t>应用程序</a:t>
            </a:r>
            <a:r>
              <a:rPr lang="en-US" altLang="zh-CN" b="1" dirty="0">
                <a:solidFill>
                  <a:schemeClr val="bg1"/>
                </a:solidFill>
                <a:latin typeface="微软雅黑" pitchFamily="34" charset="-122"/>
                <a:ea typeface="微软雅黑" pitchFamily="34" charset="-122"/>
              </a:rPr>
              <a:t>2</a:t>
            </a:r>
          </a:p>
        </p:txBody>
      </p:sp>
      <p:sp>
        <p:nvSpPr>
          <p:cNvPr id="10" name="矩形 12">
            <a:extLst>
              <a:ext uri="{FF2B5EF4-FFF2-40B4-BE49-F238E27FC236}">
                <a16:creationId xmlns:a16="http://schemas.microsoft.com/office/drawing/2014/main" id="{329935CB-22C7-2C25-30E0-2EC65133B683}"/>
              </a:ext>
            </a:extLst>
          </p:cNvPr>
          <p:cNvSpPr/>
          <p:nvPr/>
        </p:nvSpPr>
        <p:spPr>
          <a:xfrm>
            <a:off x="1149350" y="5511800"/>
            <a:ext cx="1360488" cy="358775"/>
          </a:xfrm>
          <a:prstGeom prst="rect">
            <a:avLst/>
          </a:prstGeom>
          <a:solidFill>
            <a:srgbClr val="0070C0"/>
          </a:solidFill>
          <a:ln w="28575" cap="flat" cmpd="sng">
            <a:solidFill>
              <a:schemeClr val="bg1"/>
            </a:solidFill>
            <a:prstDash val="solid"/>
            <a:round/>
            <a:headEnd type="none" w="med" len="med"/>
            <a:tailEnd type="none" w="med" len="med"/>
          </a:ln>
        </p:spPr>
        <p:txBody>
          <a:bodyPr/>
          <a:lstStyle/>
          <a:p>
            <a:pPr algn="ctr">
              <a:buNone/>
            </a:pPr>
            <a:r>
              <a:rPr lang="zh-CN" altLang="en-US" b="1" dirty="0">
                <a:solidFill>
                  <a:schemeClr val="bg1"/>
                </a:solidFill>
                <a:latin typeface="微软雅黑" pitchFamily="34" charset="-122"/>
                <a:ea typeface="微软雅黑" pitchFamily="34" charset="-122"/>
              </a:rPr>
              <a:t>应用程序</a:t>
            </a:r>
            <a:r>
              <a:rPr lang="en-US" altLang="zh-CN" b="1" dirty="0">
                <a:solidFill>
                  <a:schemeClr val="bg1"/>
                </a:solidFill>
                <a:latin typeface="微软雅黑" pitchFamily="34" charset="-122"/>
                <a:ea typeface="微软雅黑" pitchFamily="34" charset="-122"/>
              </a:rPr>
              <a:t>n</a:t>
            </a:r>
          </a:p>
        </p:txBody>
      </p:sp>
      <p:pic>
        <p:nvPicPr>
          <p:cNvPr id="11" name="图片 7">
            <a:extLst>
              <a:ext uri="{FF2B5EF4-FFF2-40B4-BE49-F238E27FC236}">
                <a16:creationId xmlns:a16="http://schemas.microsoft.com/office/drawing/2014/main" id="{46B4337E-19FA-BEE5-9717-25A7C753A5A1}"/>
              </a:ext>
            </a:extLst>
          </p:cNvPr>
          <p:cNvPicPr>
            <a:picLocks noChangeAspect="1"/>
          </p:cNvPicPr>
          <p:nvPr/>
        </p:nvPicPr>
        <p:blipFill>
          <a:blip r:embed="rId4"/>
          <a:stretch>
            <a:fillRect/>
          </a:stretch>
        </p:blipFill>
        <p:spPr>
          <a:xfrm>
            <a:off x="3957638" y="2339975"/>
            <a:ext cx="1657350" cy="676275"/>
          </a:xfrm>
          <a:prstGeom prst="rect">
            <a:avLst/>
          </a:prstGeom>
          <a:noFill/>
          <a:ln w="9525">
            <a:noFill/>
          </a:ln>
        </p:spPr>
      </p:pic>
      <p:pic>
        <p:nvPicPr>
          <p:cNvPr id="12" name="图片 16">
            <a:extLst>
              <a:ext uri="{FF2B5EF4-FFF2-40B4-BE49-F238E27FC236}">
                <a16:creationId xmlns:a16="http://schemas.microsoft.com/office/drawing/2014/main" id="{4508F975-C685-DC68-2009-0835D209684E}"/>
              </a:ext>
            </a:extLst>
          </p:cNvPr>
          <p:cNvPicPr>
            <a:picLocks noChangeAspect="1"/>
          </p:cNvPicPr>
          <p:nvPr/>
        </p:nvPicPr>
        <p:blipFill>
          <a:blip r:embed="rId4"/>
          <a:stretch>
            <a:fillRect/>
          </a:stretch>
        </p:blipFill>
        <p:spPr>
          <a:xfrm>
            <a:off x="3957638" y="3752850"/>
            <a:ext cx="1657350" cy="676275"/>
          </a:xfrm>
          <a:prstGeom prst="rect">
            <a:avLst/>
          </a:prstGeom>
          <a:noFill/>
          <a:ln w="9525">
            <a:noFill/>
          </a:ln>
        </p:spPr>
      </p:pic>
      <p:pic>
        <p:nvPicPr>
          <p:cNvPr id="13" name="图片 18">
            <a:extLst>
              <a:ext uri="{FF2B5EF4-FFF2-40B4-BE49-F238E27FC236}">
                <a16:creationId xmlns:a16="http://schemas.microsoft.com/office/drawing/2014/main" id="{F8259FE3-2F57-8B88-EC51-92C832036BF1}"/>
              </a:ext>
            </a:extLst>
          </p:cNvPr>
          <p:cNvPicPr>
            <a:picLocks noChangeAspect="1"/>
          </p:cNvPicPr>
          <p:nvPr/>
        </p:nvPicPr>
        <p:blipFill>
          <a:blip r:embed="rId4"/>
          <a:stretch>
            <a:fillRect/>
          </a:stretch>
        </p:blipFill>
        <p:spPr>
          <a:xfrm>
            <a:off x="3957638" y="5227638"/>
            <a:ext cx="1657350" cy="676275"/>
          </a:xfrm>
          <a:prstGeom prst="rect">
            <a:avLst/>
          </a:prstGeom>
          <a:noFill/>
          <a:ln w="9525">
            <a:noFill/>
          </a:ln>
        </p:spPr>
      </p:pic>
      <p:sp>
        <p:nvSpPr>
          <p:cNvPr id="14" name="文本框 6">
            <a:extLst>
              <a:ext uri="{FF2B5EF4-FFF2-40B4-BE49-F238E27FC236}">
                <a16:creationId xmlns:a16="http://schemas.microsoft.com/office/drawing/2014/main" id="{6DA7870D-BB04-697B-3510-44C1EAFFBC39}"/>
              </a:ext>
            </a:extLst>
          </p:cNvPr>
          <p:cNvSpPr txBox="1"/>
          <p:nvPr/>
        </p:nvSpPr>
        <p:spPr>
          <a:xfrm>
            <a:off x="7788275" y="1833250"/>
            <a:ext cx="1723549" cy="499624"/>
          </a:xfrm>
          <a:prstGeom prst="rect">
            <a:avLst/>
          </a:prstGeom>
          <a:noFill/>
          <a:ln w="9525">
            <a:noFill/>
          </a:ln>
        </p:spPr>
        <p:txBody>
          <a:bodyPr wrap="none">
            <a:spAutoFit/>
          </a:bodyPr>
          <a:lstStyle/>
          <a:p>
            <a:pPr marL="0" lvl="2" indent="0" eaLnBrk="0" hangingPunct="0">
              <a:lnSpc>
                <a:spcPct val="150000"/>
              </a:lnSpc>
              <a:spcBef>
                <a:spcPct val="20000"/>
              </a:spcBef>
              <a:buNone/>
            </a:pPr>
            <a:r>
              <a:rPr lang="zh-CN" altLang="en-US" sz="2000" b="1" dirty="0">
                <a:solidFill>
                  <a:srgbClr val="44546A"/>
                </a:solidFill>
                <a:latin typeface="微软雅黑" panose="020B0503020204020204" pitchFamily="34" charset="-122"/>
                <a:ea typeface="微软雅黑" panose="020B0503020204020204" pitchFamily="34" charset="-122"/>
                <a:sym typeface="+mn-ea"/>
              </a:rPr>
              <a:t>人工管理阶段</a:t>
            </a:r>
          </a:p>
        </p:txBody>
      </p:sp>
    </p:spTree>
    <p:extLst>
      <p:ext uri="{BB962C8B-B14F-4D97-AF65-F5344CB8AC3E}">
        <p14:creationId xmlns:p14="http://schemas.microsoft.com/office/powerpoint/2010/main" val="17941272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数据管理技术的发展</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矩形 6">
            <a:extLst>
              <a:ext uri="{FF2B5EF4-FFF2-40B4-BE49-F238E27FC236}">
                <a16:creationId xmlns:a16="http://schemas.microsoft.com/office/drawing/2014/main" id="{8B730415-6A54-01FE-251D-805A41879571}"/>
              </a:ext>
            </a:extLst>
          </p:cNvPr>
          <p:cNvSpPr/>
          <p:nvPr/>
        </p:nvSpPr>
        <p:spPr>
          <a:xfrm>
            <a:off x="8558213" y="2813050"/>
            <a:ext cx="3832225" cy="2031325"/>
          </a:xfrm>
          <a:prstGeom prst="rect">
            <a:avLst/>
          </a:prstGeom>
          <a:noFill/>
          <a:ln w="9525">
            <a:noFill/>
          </a:ln>
        </p:spPr>
        <p:txBody>
          <a:bodyPr wrap="square">
            <a:spAutoFit/>
          </a:bodyPr>
          <a:lstStyle/>
          <a:p>
            <a:pPr marL="285750" indent="-285750" defTabSz="457200">
              <a:buClr>
                <a:schemeClr val="accent1"/>
              </a:buClr>
              <a:buFont typeface="Wingdings" panose="05000000000000000000" pitchFamily="2" charset="2"/>
              <a:buChar char="l"/>
              <a:defRPr/>
            </a:pPr>
            <a:r>
              <a:rPr lang="zh-CN" altLang="en-US" dirty="0">
                <a:solidFill>
                  <a:srgbClr val="44546A"/>
                </a:solidFill>
                <a:latin typeface="微软雅黑" panose="020B0503020204020204" pitchFamily="34" charset="-122"/>
                <a:ea typeface="微软雅黑" panose="020B0503020204020204" pitchFamily="34" charset="-122"/>
                <a:sym typeface="+mn-ea"/>
              </a:rPr>
              <a:t>数据实现了长期保存。</a:t>
            </a:r>
            <a:endParaRPr lang="en-US" altLang="zh-CN" dirty="0">
              <a:solidFill>
                <a:srgbClr val="44546A"/>
              </a:solidFill>
              <a:latin typeface="微软雅黑" panose="020B0503020204020204" pitchFamily="34" charset="-122"/>
              <a:ea typeface="微软雅黑" panose="020B0503020204020204" pitchFamily="34" charset="-122"/>
            </a:endParaRPr>
          </a:p>
          <a:p>
            <a:pPr marL="285750" indent="-285750" defTabSz="457200">
              <a:buClr>
                <a:schemeClr val="accent1"/>
              </a:buClr>
              <a:buFont typeface="Wingdings" panose="05000000000000000000" pitchFamily="2" charset="2"/>
              <a:buChar char="l"/>
              <a:defRPr/>
            </a:pPr>
            <a:endParaRPr lang="zh-CN" altLang="en-US" dirty="0">
              <a:solidFill>
                <a:srgbClr val="44546A"/>
              </a:solidFill>
              <a:latin typeface="微软雅黑" panose="020B0503020204020204" pitchFamily="34" charset="-122"/>
              <a:ea typeface="微软雅黑" panose="020B0503020204020204" pitchFamily="34" charset="-122"/>
            </a:endParaRPr>
          </a:p>
          <a:p>
            <a:pPr marL="285750" indent="-285750" defTabSz="457200">
              <a:buClr>
                <a:schemeClr val="accent1"/>
              </a:buClr>
              <a:buFont typeface="Wingdings" panose="05000000000000000000" pitchFamily="2" charset="2"/>
              <a:buChar char="l"/>
              <a:defRPr/>
            </a:pPr>
            <a:r>
              <a:rPr lang="zh-CN" altLang="en-US" dirty="0">
                <a:solidFill>
                  <a:srgbClr val="44546A"/>
                </a:solidFill>
                <a:latin typeface="微软雅黑" panose="020B0503020204020204" pitchFamily="34" charset="-122"/>
                <a:ea typeface="微软雅黑" panose="020B0503020204020204" pitchFamily="34" charset="-122"/>
                <a:sym typeface="+mn-ea"/>
              </a:rPr>
              <a:t>由文件系统管理数据。</a:t>
            </a:r>
            <a:endParaRPr lang="en-US" altLang="zh-CN" dirty="0">
              <a:solidFill>
                <a:srgbClr val="44546A"/>
              </a:solidFill>
              <a:latin typeface="微软雅黑" panose="020B0503020204020204" pitchFamily="34" charset="-122"/>
              <a:ea typeface="微软雅黑" panose="020B0503020204020204" pitchFamily="34" charset="-122"/>
            </a:endParaRPr>
          </a:p>
          <a:p>
            <a:pPr marL="285750" indent="-285750" defTabSz="457200">
              <a:buClr>
                <a:schemeClr val="accent1"/>
              </a:buClr>
              <a:buFont typeface="Wingdings" panose="05000000000000000000" pitchFamily="2" charset="2"/>
              <a:buChar char="l"/>
              <a:defRPr/>
            </a:pPr>
            <a:endParaRPr lang="zh-CN" altLang="en-US" dirty="0">
              <a:solidFill>
                <a:srgbClr val="44546A"/>
              </a:solidFill>
              <a:latin typeface="微软雅黑" panose="020B0503020204020204" pitchFamily="34" charset="-122"/>
              <a:ea typeface="微软雅黑" panose="020B0503020204020204" pitchFamily="34" charset="-122"/>
            </a:endParaRPr>
          </a:p>
          <a:p>
            <a:pPr marL="285750" indent="-285750" defTabSz="457200">
              <a:buClr>
                <a:schemeClr val="accent1"/>
              </a:buClr>
              <a:buFont typeface="Wingdings" panose="05000000000000000000" pitchFamily="2" charset="2"/>
              <a:buChar char="l"/>
              <a:defRPr/>
            </a:pPr>
            <a:r>
              <a:rPr lang="zh-CN" altLang="en-US" dirty="0">
                <a:solidFill>
                  <a:srgbClr val="44546A"/>
                </a:solidFill>
                <a:latin typeface="微软雅黑" panose="020B0503020204020204" pitchFamily="34" charset="-122"/>
                <a:ea typeface="微软雅黑" panose="020B0503020204020204" pitchFamily="34" charset="-122"/>
                <a:sym typeface="+mn-ea"/>
              </a:rPr>
              <a:t>数据共享率低，冗余程度高。</a:t>
            </a:r>
            <a:endParaRPr lang="zh-CN" altLang="en-US" dirty="0">
              <a:solidFill>
                <a:srgbClr val="44546A"/>
              </a:solidFill>
              <a:latin typeface="微软雅黑" panose="020B0503020204020204" pitchFamily="34" charset="-122"/>
              <a:ea typeface="微软雅黑" panose="020B0503020204020204" pitchFamily="34" charset="-122"/>
            </a:endParaRPr>
          </a:p>
          <a:p>
            <a:pPr marL="285750" indent="-285750" defTabSz="457200">
              <a:buClr>
                <a:schemeClr val="accent1"/>
              </a:buClr>
              <a:buFont typeface="Wingdings" panose="05000000000000000000" pitchFamily="2" charset="2"/>
              <a:buChar char="l"/>
              <a:defRPr/>
            </a:pPr>
            <a:endParaRPr lang="en-US" altLang="zh-CN" dirty="0">
              <a:solidFill>
                <a:srgbClr val="44546A"/>
              </a:solidFill>
              <a:latin typeface="微软雅黑" panose="020B0503020204020204" pitchFamily="34" charset="-122"/>
              <a:ea typeface="微软雅黑" panose="020B0503020204020204" pitchFamily="34" charset="-122"/>
            </a:endParaRPr>
          </a:p>
          <a:p>
            <a:pPr marL="285750" indent="-285750" defTabSz="457200">
              <a:buClr>
                <a:schemeClr val="accent1"/>
              </a:buClr>
              <a:buFont typeface="Wingdings" panose="05000000000000000000" pitchFamily="2" charset="2"/>
              <a:buChar char="l"/>
              <a:defRPr/>
            </a:pPr>
            <a:r>
              <a:rPr lang="zh-CN" altLang="en-US" dirty="0">
                <a:solidFill>
                  <a:srgbClr val="44546A"/>
                </a:solidFill>
                <a:latin typeface="微软雅黑" panose="020B0503020204020204" pitchFamily="34" charset="-122"/>
                <a:ea typeface="微软雅黑" panose="020B0503020204020204" pitchFamily="34" charset="-122"/>
                <a:sym typeface="+mn-ea"/>
              </a:rPr>
              <a:t>数据独立性差。</a:t>
            </a:r>
            <a:endParaRPr lang="zh-CN" altLang="en-US" dirty="0">
              <a:solidFill>
                <a:srgbClr val="44546A"/>
              </a:solidFill>
              <a:latin typeface="微软雅黑" panose="020B0503020204020204" pitchFamily="34" charset="-122"/>
              <a:ea typeface="微软雅黑" panose="020B0503020204020204" pitchFamily="34" charset="-122"/>
            </a:endParaRPr>
          </a:p>
        </p:txBody>
      </p:sp>
      <p:sp>
        <p:nvSpPr>
          <p:cNvPr id="4" name="文本框 6">
            <a:extLst>
              <a:ext uri="{FF2B5EF4-FFF2-40B4-BE49-F238E27FC236}">
                <a16:creationId xmlns:a16="http://schemas.microsoft.com/office/drawing/2014/main" id="{306C7BCF-C1F8-3B53-94AB-3DBE5F981EC8}"/>
              </a:ext>
            </a:extLst>
          </p:cNvPr>
          <p:cNvSpPr txBox="1"/>
          <p:nvPr/>
        </p:nvSpPr>
        <p:spPr>
          <a:xfrm>
            <a:off x="8651875" y="2111564"/>
            <a:ext cx="1723549" cy="499624"/>
          </a:xfrm>
          <a:prstGeom prst="rect">
            <a:avLst/>
          </a:prstGeom>
          <a:noFill/>
          <a:ln w="9525">
            <a:noFill/>
          </a:ln>
        </p:spPr>
        <p:txBody>
          <a:bodyPr wrap="none">
            <a:spAutoFit/>
          </a:bodyPr>
          <a:lstStyle/>
          <a:p>
            <a:pPr marL="0" lvl="2" indent="0" eaLnBrk="0" hangingPunct="0">
              <a:lnSpc>
                <a:spcPct val="150000"/>
              </a:lnSpc>
              <a:spcBef>
                <a:spcPct val="20000"/>
              </a:spcBef>
              <a:buNone/>
            </a:pPr>
            <a:r>
              <a:rPr lang="zh-CN" altLang="en-US" sz="2000" b="1" dirty="0">
                <a:solidFill>
                  <a:srgbClr val="44546A"/>
                </a:solidFill>
                <a:latin typeface="微软雅黑" panose="020B0503020204020204" pitchFamily="34" charset="-122"/>
                <a:ea typeface="微软雅黑" panose="020B0503020204020204" pitchFamily="34" charset="-122"/>
                <a:sym typeface="+mn-ea"/>
              </a:rPr>
              <a:t>文件系统阶段</a:t>
            </a:r>
          </a:p>
        </p:txBody>
      </p:sp>
      <p:pic>
        <p:nvPicPr>
          <p:cNvPr id="5" name="图片 4">
            <a:extLst>
              <a:ext uri="{FF2B5EF4-FFF2-40B4-BE49-F238E27FC236}">
                <a16:creationId xmlns:a16="http://schemas.microsoft.com/office/drawing/2014/main" id="{5CA05CDE-F759-8F5A-3C94-2B13102B3B3C}"/>
              </a:ext>
            </a:extLst>
          </p:cNvPr>
          <p:cNvPicPr>
            <a:picLocks noChangeAspect="1"/>
          </p:cNvPicPr>
          <p:nvPr/>
        </p:nvPicPr>
        <p:blipFill>
          <a:blip r:embed="rId3"/>
          <a:stretch>
            <a:fillRect/>
          </a:stretch>
        </p:blipFill>
        <p:spPr>
          <a:xfrm>
            <a:off x="920750" y="1998663"/>
            <a:ext cx="7467600" cy="4348162"/>
          </a:xfrm>
          <a:prstGeom prst="rect">
            <a:avLst/>
          </a:prstGeom>
          <a:noFill/>
          <a:ln w="9525">
            <a:noFill/>
          </a:ln>
        </p:spPr>
      </p:pic>
      <p:sp>
        <p:nvSpPr>
          <p:cNvPr id="6" name="流程图: 磁盘 9">
            <a:extLst>
              <a:ext uri="{FF2B5EF4-FFF2-40B4-BE49-F238E27FC236}">
                <a16:creationId xmlns:a16="http://schemas.microsoft.com/office/drawing/2014/main" id="{833C41B8-FCAC-993B-D310-5BC6DD90C3D8}"/>
              </a:ext>
            </a:extLst>
          </p:cNvPr>
          <p:cNvSpPr/>
          <p:nvPr/>
        </p:nvSpPr>
        <p:spPr>
          <a:xfrm>
            <a:off x="7245350" y="2517775"/>
            <a:ext cx="1023938" cy="854075"/>
          </a:xfrm>
          <a:prstGeom prst="flowChartMagneticDisk">
            <a:avLst/>
          </a:prstGeom>
          <a:solidFill>
            <a:srgbClr val="F0882E"/>
          </a:solidFill>
          <a:ln w="28575" cap="flat" cmpd="sng">
            <a:solidFill>
              <a:schemeClr val="bg1"/>
            </a:solidFill>
            <a:prstDash val="solid"/>
            <a:headEnd type="none" w="med" len="med"/>
            <a:tailEnd type="none" w="med" len="med"/>
          </a:ln>
        </p:spPr>
        <p:txBody>
          <a:bodyPr/>
          <a:lstStyle/>
          <a:p>
            <a:pPr algn="ctr">
              <a:buNone/>
            </a:pPr>
            <a:r>
              <a:rPr lang="zh-CN" altLang="en-US" b="1" dirty="0">
                <a:solidFill>
                  <a:schemeClr val="bg1"/>
                </a:solidFill>
                <a:latin typeface="微软雅黑" pitchFamily="34" charset="-122"/>
                <a:ea typeface="微软雅黑" pitchFamily="34" charset="-122"/>
              </a:rPr>
              <a:t>文件1</a:t>
            </a:r>
          </a:p>
        </p:txBody>
      </p:sp>
      <p:sp>
        <p:nvSpPr>
          <p:cNvPr id="7" name="流程图: 磁盘 11">
            <a:extLst>
              <a:ext uri="{FF2B5EF4-FFF2-40B4-BE49-F238E27FC236}">
                <a16:creationId xmlns:a16="http://schemas.microsoft.com/office/drawing/2014/main" id="{08D70AD8-CB48-F54F-1E4A-61FF023DE739}"/>
              </a:ext>
            </a:extLst>
          </p:cNvPr>
          <p:cNvSpPr/>
          <p:nvPr/>
        </p:nvSpPr>
        <p:spPr>
          <a:xfrm>
            <a:off x="7254875" y="3832225"/>
            <a:ext cx="1025525" cy="854075"/>
          </a:xfrm>
          <a:prstGeom prst="flowChartMagneticDisk">
            <a:avLst/>
          </a:prstGeom>
          <a:solidFill>
            <a:srgbClr val="F0882E"/>
          </a:solidFill>
          <a:ln w="28575" cap="flat" cmpd="sng">
            <a:solidFill>
              <a:schemeClr val="bg1"/>
            </a:solidFill>
            <a:prstDash val="solid"/>
            <a:headEnd type="none" w="med" len="med"/>
            <a:tailEnd type="none" w="med" len="med"/>
          </a:ln>
        </p:spPr>
        <p:txBody>
          <a:bodyPr/>
          <a:lstStyle/>
          <a:p>
            <a:pPr algn="ctr">
              <a:buNone/>
            </a:pPr>
            <a:r>
              <a:rPr lang="zh-CN" altLang="en-US" b="1" dirty="0">
                <a:solidFill>
                  <a:schemeClr val="bg1"/>
                </a:solidFill>
                <a:latin typeface="微软雅黑" pitchFamily="34" charset="-122"/>
                <a:ea typeface="微软雅黑" pitchFamily="34" charset="-122"/>
              </a:rPr>
              <a:t>文件</a:t>
            </a:r>
            <a:r>
              <a:rPr lang="en-US" altLang="zh-CN" b="1" dirty="0">
                <a:solidFill>
                  <a:schemeClr val="bg1"/>
                </a:solidFill>
                <a:latin typeface="微软雅黑" pitchFamily="34" charset="-122"/>
                <a:ea typeface="微软雅黑" pitchFamily="34" charset="-122"/>
              </a:rPr>
              <a:t>2</a:t>
            </a:r>
          </a:p>
        </p:txBody>
      </p:sp>
      <p:sp>
        <p:nvSpPr>
          <p:cNvPr id="8" name="流程图: 磁盘 12">
            <a:extLst>
              <a:ext uri="{FF2B5EF4-FFF2-40B4-BE49-F238E27FC236}">
                <a16:creationId xmlns:a16="http://schemas.microsoft.com/office/drawing/2014/main" id="{E429370E-24B4-973E-45D2-0B4A6B39C6F0}"/>
              </a:ext>
            </a:extLst>
          </p:cNvPr>
          <p:cNvSpPr/>
          <p:nvPr/>
        </p:nvSpPr>
        <p:spPr>
          <a:xfrm>
            <a:off x="7275513" y="5219700"/>
            <a:ext cx="1023937" cy="855663"/>
          </a:xfrm>
          <a:prstGeom prst="flowChartMagneticDisk">
            <a:avLst/>
          </a:prstGeom>
          <a:solidFill>
            <a:srgbClr val="F0882E"/>
          </a:solidFill>
          <a:ln w="28575" cap="flat" cmpd="sng">
            <a:solidFill>
              <a:schemeClr val="bg1"/>
            </a:solidFill>
            <a:prstDash val="solid"/>
            <a:headEnd type="none" w="med" len="med"/>
            <a:tailEnd type="none" w="med" len="med"/>
          </a:ln>
        </p:spPr>
        <p:txBody>
          <a:bodyPr/>
          <a:lstStyle/>
          <a:p>
            <a:pPr algn="ctr">
              <a:buNone/>
            </a:pPr>
            <a:r>
              <a:rPr lang="zh-CN" altLang="en-US" b="1" dirty="0">
                <a:solidFill>
                  <a:schemeClr val="bg1"/>
                </a:solidFill>
                <a:latin typeface="微软雅黑" pitchFamily="34" charset="-122"/>
                <a:ea typeface="微软雅黑" pitchFamily="34" charset="-122"/>
              </a:rPr>
              <a:t>文件</a:t>
            </a:r>
            <a:r>
              <a:rPr lang="en-US" altLang="zh-CN" b="1" dirty="0">
                <a:solidFill>
                  <a:schemeClr val="bg1"/>
                </a:solidFill>
                <a:latin typeface="微软雅黑" pitchFamily="34" charset="-122"/>
                <a:ea typeface="微软雅黑" pitchFamily="34" charset="-122"/>
              </a:rPr>
              <a:t>n</a:t>
            </a:r>
          </a:p>
        </p:txBody>
      </p:sp>
      <p:sp>
        <p:nvSpPr>
          <p:cNvPr id="9" name="矩形 13">
            <a:extLst>
              <a:ext uri="{FF2B5EF4-FFF2-40B4-BE49-F238E27FC236}">
                <a16:creationId xmlns:a16="http://schemas.microsoft.com/office/drawing/2014/main" id="{ABC74C50-A2BA-4246-38F5-F0369347439F}"/>
              </a:ext>
            </a:extLst>
          </p:cNvPr>
          <p:cNvSpPr/>
          <p:nvPr/>
        </p:nvSpPr>
        <p:spPr>
          <a:xfrm>
            <a:off x="1027113" y="2849563"/>
            <a:ext cx="1296987" cy="347662"/>
          </a:xfrm>
          <a:prstGeom prst="rect">
            <a:avLst/>
          </a:prstGeom>
          <a:solidFill>
            <a:srgbClr val="0070C0"/>
          </a:solidFill>
          <a:ln w="28575" cap="flat" cmpd="sng">
            <a:solidFill>
              <a:schemeClr val="bg1"/>
            </a:solidFill>
            <a:prstDash val="solid"/>
            <a:round/>
            <a:headEnd type="none" w="med" len="med"/>
            <a:tailEnd type="none" w="med" len="med"/>
          </a:ln>
        </p:spPr>
        <p:txBody>
          <a:bodyPr/>
          <a:lstStyle/>
          <a:p>
            <a:pPr algn="ctr">
              <a:buNone/>
            </a:pPr>
            <a:r>
              <a:rPr lang="zh-CN" altLang="en-US" b="1" dirty="0">
                <a:solidFill>
                  <a:schemeClr val="bg1"/>
                </a:solidFill>
                <a:latin typeface="微软雅黑" pitchFamily="34" charset="-122"/>
                <a:ea typeface="微软雅黑" pitchFamily="34" charset="-122"/>
              </a:rPr>
              <a:t>应用程序</a:t>
            </a:r>
            <a:r>
              <a:rPr lang="en-US" altLang="zh-CN" b="1" dirty="0">
                <a:solidFill>
                  <a:schemeClr val="bg1"/>
                </a:solidFill>
                <a:latin typeface="微软雅黑" pitchFamily="34" charset="-122"/>
                <a:ea typeface="微软雅黑" pitchFamily="34" charset="-122"/>
              </a:rPr>
              <a:t>1</a:t>
            </a:r>
          </a:p>
        </p:txBody>
      </p:sp>
      <p:sp>
        <p:nvSpPr>
          <p:cNvPr id="10" name="矩形 14">
            <a:extLst>
              <a:ext uri="{FF2B5EF4-FFF2-40B4-BE49-F238E27FC236}">
                <a16:creationId xmlns:a16="http://schemas.microsoft.com/office/drawing/2014/main" id="{FCEF0869-2370-171A-0382-86D9A80A5E5F}"/>
              </a:ext>
            </a:extLst>
          </p:cNvPr>
          <p:cNvSpPr/>
          <p:nvPr/>
        </p:nvSpPr>
        <p:spPr>
          <a:xfrm>
            <a:off x="1027113" y="4259263"/>
            <a:ext cx="1296987" cy="347662"/>
          </a:xfrm>
          <a:prstGeom prst="rect">
            <a:avLst/>
          </a:prstGeom>
          <a:solidFill>
            <a:srgbClr val="0070C0"/>
          </a:solidFill>
          <a:ln w="28575" cap="flat" cmpd="sng">
            <a:solidFill>
              <a:schemeClr val="bg1"/>
            </a:solidFill>
            <a:prstDash val="solid"/>
            <a:round/>
            <a:headEnd type="none" w="med" len="med"/>
            <a:tailEnd type="none" w="med" len="med"/>
          </a:ln>
        </p:spPr>
        <p:txBody>
          <a:bodyPr/>
          <a:lstStyle/>
          <a:p>
            <a:pPr algn="ctr">
              <a:buNone/>
            </a:pPr>
            <a:r>
              <a:rPr lang="zh-CN" altLang="en-US" b="1" dirty="0">
                <a:solidFill>
                  <a:schemeClr val="bg1"/>
                </a:solidFill>
                <a:latin typeface="微软雅黑" pitchFamily="34" charset="-122"/>
                <a:ea typeface="微软雅黑" pitchFamily="34" charset="-122"/>
              </a:rPr>
              <a:t>应用程序</a:t>
            </a:r>
            <a:r>
              <a:rPr lang="en-US" altLang="zh-CN" b="1" dirty="0">
                <a:solidFill>
                  <a:schemeClr val="bg1"/>
                </a:solidFill>
                <a:latin typeface="微软雅黑" pitchFamily="34" charset="-122"/>
                <a:ea typeface="微软雅黑" pitchFamily="34" charset="-122"/>
              </a:rPr>
              <a:t>2</a:t>
            </a:r>
          </a:p>
        </p:txBody>
      </p:sp>
      <p:sp>
        <p:nvSpPr>
          <p:cNvPr id="11" name="矩形 15">
            <a:extLst>
              <a:ext uri="{FF2B5EF4-FFF2-40B4-BE49-F238E27FC236}">
                <a16:creationId xmlns:a16="http://schemas.microsoft.com/office/drawing/2014/main" id="{B5F0402A-8105-E677-259E-8CA36888B4D9}"/>
              </a:ext>
            </a:extLst>
          </p:cNvPr>
          <p:cNvSpPr/>
          <p:nvPr/>
        </p:nvSpPr>
        <p:spPr>
          <a:xfrm>
            <a:off x="1027113" y="5778500"/>
            <a:ext cx="1296987" cy="347663"/>
          </a:xfrm>
          <a:prstGeom prst="rect">
            <a:avLst/>
          </a:prstGeom>
          <a:solidFill>
            <a:srgbClr val="0070C0"/>
          </a:solidFill>
          <a:ln w="28575" cap="flat" cmpd="sng">
            <a:solidFill>
              <a:schemeClr val="bg1"/>
            </a:solidFill>
            <a:prstDash val="solid"/>
            <a:round/>
            <a:headEnd type="none" w="med" len="med"/>
            <a:tailEnd type="none" w="med" len="med"/>
          </a:ln>
        </p:spPr>
        <p:txBody>
          <a:bodyPr/>
          <a:lstStyle/>
          <a:p>
            <a:pPr algn="ctr">
              <a:buNone/>
            </a:pPr>
            <a:r>
              <a:rPr lang="zh-CN" altLang="en-US" b="1" dirty="0">
                <a:solidFill>
                  <a:schemeClr val="bg1"/>
                </a:solidFill>
                <a:latin typeface="微软雅黑" pitchFamily="34" charset="-122"/>
                <a:ea typeface="微软雅黑" pitchFamily="34" charset="-122"/>
              </a:rPr>
              <a:t>应用程序</a:t>
            </a:r>
            <a:r>
              <a:rPr lang="en-US" altLang="zh-CN" b="1" dirty="0">
                <a:solidFill>
                  <a:schemeClr val="bg1"/>
                </a:solidFill>
                <a:latin typeface="微软雅黑" pitchFamily="34" charset="-122"/>
                <a:ea typeface="微软雅黑" pitchFamily="34" charset="-122"/>
              </a:rPr>
              <a:t>n</a:t>
            </a:r>
          </a:p>
        </p:txBody>
      </p:sp>
      <p:sp>
        <p:nvSpPr>
          <p:cNvPr id="12" name="矩形 5">
            <a:extLst>
              <a:ext uri="{FF2B5EF4-FFF2-40B4-BE49-F238E27FC236}">
                <a16:creationId xmlns:a16="http://schemas.microsoft.com/office/drawing/2014/main" id="{B8694C7E-D11E-EBC8-EDFB-AAD91B5B82E5}"/>
              </a:ext>
            </a:extLst>
          </p:cNvPr>
          <p:cNvSpPr/>
          <p:nvPr/>
        </p:nvSpPr>
        <p:spPr>
          <a:xfrm>
            <a:off x="4268788" y="3968750"/>
            <a:ext cx="1855787" cy="638175"/>
          </a:xfrm>
          <a:prstGeom prst="rect">
            <a:avLst/>
          </a:prstGeom>
          <a:solidFill>
            <a:srgbClr val="0070C0"/>
          </a:solidFill>
          <a:ln w="28575" cap="flat" cmpd="sng">
            <a:solidFill>
              <a:schemeClr val="bg1"/>
            </a:solidFill>
            <a:prstDash val="solid"/>
            <a:round/>
            <a:headEnd type="none" w="med" len="med"/>
            <a:tailEnd type="none" w="med" len="med"/>
          </a:ln>
        </p:spPr>
        <p:txBody>
          <a:bodyPr/>
          <a:lstStyle/>
          <a:p>
            <a:pPr algn="ctr">
              <a:buNone/>
            </a:pPr>
            <a:endParaRPr lang="en-US" altLang="zh-CN" dirty="0">
              <a:latin typeface="Arial" panose="020B0604020202090204" pitchFamily="34" charset="0"/>
              <a:ea typeface="等线" pitchFamily="2" charset="-122"/>
            </a:endParaRPr>
          </a:p>
        </p:txBody>
      </p:sp>
      <p:pic>
        <p:nvPicPr>
          <p:cNvPr id="13" name="图片 7">
            <a:extLst>
              <a:ext uri="{FF2B5EF4-FFF2-40B4-BE49-F238E27FC236}">
                <a16:creationId xmlns:a16="http://schemas.microsoft.com/office/drawing/2014/main" id="{58430BCB-3BD6-619F-35E1-E627EDF4AE8A}"/>
              </a:ext>
            </a:extLst>
          </p:cNvPr>
          <p:cNvPicPr>
            <a:picLocks noChangeAspect="1"/>
          </p:cNvPicPr>
          <p:nvPr/>
        </p:nvPicPr>
        <p:blipFill>
          <a:blip r:embed="rId4"/>
          <a:stretch>
            <a:fillRect/>
          </a:stretch>
        </p:blipFill>
        <p:spPr>
          <a:xfrm>
            <a:off x="1184275" y="2352675"/>
            <a:ext cx="400050" cy="341313"/>
          </a:xfrm>
          <a:prstGeom prst="rect">
            <a:avLst/>
          </a:prstGeom>
          <a:noFill/>
          <a:ln w="9525">
            <a:noFill/>
          </a:ln>
        </p:spPr>
      </p:pic>
      <p:sp>
        <p:nvSpPr>
          <p:cNvPr id="14" name="文本框 8">
            <a:extLst>
              <a:ext uri="{FF2B5EF4-FFF2-40B4-BE49-F238E27FC236}">
                <a16:creationId xmlns:a16="http://schemas.microsoft.com/office/drawing/2014/main" id="{C800DE7A-E011-4F90-15FA-A14C330B8622}"/>
              </a:ext>
            </a:extLst>
          </p:cNvPr>
          <p:cNvSpPr txBox="1"/>
          <p:nvPr/>
        </p:nvSpPr>
        <p:spPr>
          <a:xfrm>
            <a:off x="4429125" y="4079875"/>
            <a:ext cx="1536700" cy="368300"/>
          </a:xfrm>
          <a:prstGeom prst="rect">
            <a:avLst/>
          </a:prstGeom>
          <a:noFill/>
          <a:ln w="9525">
            <a:noFill/>
          </a:ln>
        </p:spPr>
        <p:txBody>
          <a:bodyPr wrap="none">
            <a:spAutoFit/>
          </a:bodyPr>
          <a:lstStyle/>
          <a:p>
            <a:pPr>
              <a:buNone/>
            </a:pPr>
            <a:r>
              <a:rPr lang="zh-CN" altLang="en-US" b="1" dirty="0">
                <a:solidFill>
                  <a:schemeClr val="bg1"/>
                </a:solidFill>
                <a:latin typeface="微软雅黑" pitchFamily="34" charset="-122"/>
                <a:ea typeface="微软雅黑" pitchFamily="34" charset="-122"/>
              </a:rPr>
              <a:t>文件管理系统</a:t>
            </a:r>
          </a:p>
        </p:txBody>
      </p:sp>
    </p:spTree>
    <p:extLst>
      <p:ext uri="{BB962C8B-B14F-4D97-AF65-F5344CB8AC3E}">
        <p14:creationId xmlns:p14="http://schemas.microsoft.com/office/powerpoint/2010/main" val="901133835"/>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数据管理技术的发展</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矩形 6">
            <a:extLst>
              <a:ext uri="{FF2B5EF4-FFF2-40B4-BE49-F238E27FC236}">
                <a16:creationId xmlns:a16="http://schemas.microsoft.com/office/drawing/2014/main" id="{CEDFDF79-B160-6B26-0C4E-BDD3C6ECDEA3}"/>
              </a:ext>
            </a:extLst>
          </p:cNvPr>
          <p:cNvSpPr/>
          <p:nvPr/>
        </p:nvSpPr>
        <p:spPr>
          <a:xfrm>
            <a:off x="8431213" y="2867025"/>
            <a:ext cx="3614738" cy="2536400"/>
          </a:xfrm>
          <a:prstGeom prst="rect">
            <a:avLst/>
          </a:prstGeom>
          <a:noFill/>
          <a:ln w="9525">
            <a:noFill/>
          </a:ln>
        </p:spPr>
        <p:txBody>
          <a:bodyPr wrap="square">
            <a:spAutoFit/>
          </a:bodyPr>
          <a:lstStyle/>
          <a:p>
            <a:pPr marL="285750" marR="0" lvl="0" indent="-285750" algn="l" defTabSz="457200" rtl="0" eaLnBrk="1" fontAlgn="auto" latinLnBrk="0" hangingPunct="1">
              <a:lnSpc>
                <a:spcPct val="150000"/>
              </a:lnSpc>
              <a:spcBef>
                <a:spcPct val="50000"/>
              </a:spcBef>
              <a:spcAft>
                <a:spcPts val="0"/>
              </a:spcAft>
              <a:buClr>
                <a:schemeClr val="accent1"/>
              </a:buClr>
              <a:buSzTx/>
              <a:buFont typeface="Wingdings" panose="05000000000000000000" pitchFamily="2" charset="2"/>
              <a:buChar char="l"/>
              <a:defRPr/>
            </a:pPr>
            <a:r>
              <a:rPr lang="zh-CN" altLang="en-US" dirty="0">
                <a:solidFill>
                  <a:srgbClr val="44546A"/>
                </a:solidFill>
                <a:latin typeface="微软雅黑" panose="020B0503020204020204" pitchFamily="34" charset="-122"/>
                <a:ea typeface="微软雅黑" panose="020B0503020204020204" pitchFamily="34" charset="-122"/>
                <a:sym typeface="+mn-ea"/>
              </a:rPr>
              <a:t>数据结构化。</a:t>
            </a:r>
            <a:endParaRPr lang="zh-CN" altLang="en-US" dirty="0">
              <a:solidFill>
                <a:srgbClr val="44546A"/>
              </a:solidFill>
              <a:latin typeface="微软雅黑" panose="020B0503020204020204" pitchFamily="34" charset="-122"/>
              <a:ea typeface="微软雅黑" panose="020B0503020204020204" pitchFamily="34" charset="-122"/>
            </a:endParaRPr>
          </a:p>
          <a:p>
            <a:pPr marL="285750" marR="0" lvl="0" indent="-285750" algn="l" defTabSz="457200" rtl="0" eaLnBrk="1" fontAlgn="auto" latinLnBrk="0" hangingPunct="1">
              <a:lnSpc>
                <a:spcPct val="150000"/>
              </a:lnSpc>
              <a:spcBef>
                <a:spcPct val="50000"/>
              </a:spcBef>
              <a:spcAft>
                <a:spcPts val="0"/>
              </a:spcAft>
              <a:buClr>
                <a:schemeClr val="accent1"/>
              </a:buClr>
              <a:buSzTx/>
              <a:buFont typeface="Wingdings" panose="05000000000000000000" pitchFamily="2" charset="2"/>
              <a:buChar char="l"/>
              <a:defRPr/>
            </a:pPr>
            <a:r>
              <a:rPr lang="zh-CN" altLang="en-US" dirty="0">
                <a:solidFill>
                  <a:srgbClr val="44546A"/>
                </a:solidFill>
                <a:latin typeface="微软雅黑" panose="020B0503020204020204" pitchFamily="34" charset="-122"/>
                <a:ea typeface="微软雅黑" panose="020B0503020204020204" pitchFamily="34" charset="-122"/>
                <a:sym typeface="+mn-ea"/>
              </a:rPr>
              <a:t>数据共享性高、冗余少且易扩充。</a:t>
            </a:r>
            <a:endParaRPr lang="zh-CN" altLang="en-US" dirty="0">
              <a:solidFill>
                <a:srgbClr val="44546A"/>
              </a:solidFill>
              <a:latin typeface="微软雅黑" panose="020B0503020204020204" pitchFamily="34" charset="-122"/>
              <a:ea typeface="微软雅黑" panose="020B0503020204020204" pitchFamily="34" charset="-122"/>
            </a:endParaRPr>
          </a:p>
          <a:p>
            <a:pPr marL="285750" marR="0" lvl="0" indent="-285750" algn="l" defTabSz="457200" rtl="0" eaLnBrk="1" fontAlgn="auto" latinLnBrk="0" hangingPunct="1">
              <a:lnSpc>
                <a:spcPct val="150000"/>
              </a:lnSpc>
              <a:spcBef>
                <a:spcPct val="50000"/>
              </a:spcBef>
              <a:spcAft>
                <a:spcPts val="0"/>
              </a:spcAft>
              <a:buClr>
                <a:schemeClr val="accent1"/>
              </a:buClr>
              <a:buSzTx/>
              <a:buFont typeface="Wingdings" panose="05000000000000000000" pitchFamily="2" charset="2"/>
              <a:buChar char="l"/>
              <a:defRPr/>
            </a:pPr>
            <a:r>
              <a:rPr lang="zh-CN" altLang="en-US" dirty="0">
                <a:solidFill>
                  <a:srgbClr val="44546A"/>
                </a:solidFill>
                <a:latin typeface="微软雅黑" panose="020B0503020204020204" pitchFamily="34" charset="-122"/>
                <a:ea typeface="微软雅黑" panose="020B0503020204020204" pitchFamily="34" charset="-122"/>
                <a:sym typeface="+mn-ea"/>
              </a:rPr>
              <a:t>数据独立性高。</a:t>
            </a:r>
            <a:endParaRPr lang="zh-CN" altLang="en-US" dirty="0">
              <a:solidFill>
                <a:srgbClr val="44546A"/>
              </a:solidFill>
              <a:latin typeface="微软雅黑" panose="020B0503020204020204" pitchFamily="34" charset="-122"/>
              <a:ea typeface="微软雅黑" panose="020B0503020204020204" pitchFamily="34" charset="-122"/>
            </a:endParaRPr>
          </a:p>
          <a:p>
            <a:pPr marL="285750" marR="0" lvl="0" indent="-285750" algn="l" defTabSz="457200" rtl="0" eaLnBrk="1" fontAlgn="auto" latinLnBrk="0" hangingPunct="1">
              <a:lnSpc>
                <a:spcPct val="150000"/>
              </a:lnSpc>
              <a:spcBef>
                <a:spcPct val="50000"/>
              </a:spcBef>
              <a:spcAft>
                <a:spcPts val="0"/>
              </a:spcAft>
              <a:buClr>
                <a:schemeClr val="accent1"/>
              </a:buClr>
              <a:buSzTx/>
              <a:buFont typeface="Wingdings" panose="05000000000000000000" pitchFamily="2" charset="2"/>
              <a:buChar char="l"/>
              <a:defRPr/>
            </a:pPr>
            <a:r>
              <a:rPr lang="zh-CN" altLang="en-US" dirty="0">
                <a:solidFill>
                  <a:srgbClr val="44546A"/>
                </a:solidFill>
                <a:latin typeface="微软雅黑" panose="020B0503020204020204" pitchFamily="34" charset="-122"/>
                <a:ea typeface="微软雅黑" panose="020B0503020204020204" pitchFamily="34" charset="-122"/>
                <a:sym typeface="+mn-ea"/>
              </a:rPr>
              <a:t>数据由</a:t>
            </a:r>
            <a:r>
              <a:rPr lang="en-US" altLang="zh-CN" dirty="0">
                <a:solidFill>
                  <a:srgbClr val="44546A"/>
                </a:solidFill>
                <a:latin typeface="微软雅黑" panose="020B0503020204020204" pitchFamily="34" charset="-122"/>
                <a:ea typeface="微软雅黑" panose="020B0503020204020204" pitchFamily="34" charset="-122"/>
                <a:sym typeface="+mn-ea"/>
              </a:rPr>
              <a:t>DBMS</a:t>
            </a:r>
            <a:r>
              <a:rPr lang="zh-CN" altLang="en-US" dirty="0">
                <a:solidFill>
                  <a:srgbClr val="44546A"/>
                </a:solidFill>
                <a:latin typeface="微软雅黑" panose="020B0503020204020204" pitchFamily="34" charset="-122"/>
                <a:ea typeface="微软雅黑" panose="020B0503020204020204" pitchFamily="34" charset="-122"/>
                <a:sym typeface="+mn-ea"/>
              </a:rPr>
              <a:t>统一管理和控制。</a:t>
            </a:r>
            <a:endParaRPr lang="zh-CN" altLang="en-US" dirty="0">
              <a:solidFill>
                <a:srgbClr val="44546A"/>
              </a:solidFill>
              <a:latin typeface="微软雅黑" panose="020B0503020204020204" pitchFamily="34" charset="-122"/>
              <a:ea typeface="微软雅黑" panose="020B0503020204020204" pitchFamily="34" charset="-122"/>
            </a:endParaRPr>
          </a:p>
        </p:txBody>
      </p:sp>
      <p:sp>
        <p:nvSpPr>
          <p:cNvPr id="4" name="文本框 6">
            <a:extLst>
              <a:ext uri="{FF2B5EF4-FFF2-40B4-BE49-F238E27FC236}">
                <a16:creationId xmlns:a16="http://schemas.microsoft.com/office/drawing/2014/main" id="{A0B671F0-1C07-973C-732A-ABA9F6D54B67}"/>
              </a:ext>
            </a:extLst>
          </p:cNvPr>
          <p:cNvSpPr txBox="1"/>
          <p:nvPr/>
        </p:nvSpPr>
        <p:spPr>
          <a:xfrm>
            <a:off x="8490564" y="2123748"/>
            <a:ext cx="1980029" cy="499624"/>
          </a:xfrm>
          <a:prstGeom prst="rect">
            <a:avLst/>
          </a:prstGeom>
          <a:noFill/>
          <a:ln w="9525">
            <a:noFill/>
          </a:ln>
        </p:spPr>
        <p:txBody>
          <a:bodyPr wrap="none">
            <a:spAutoFit/>
          </a:bodyPr>
          <a:lstStyle/>
          <a:p>
            <a:pPr marL="0" lvl="2" eaLnBrk="0" hangingPunct="0">
              <a:lnSpc>
                <a:spcPct val="150000"/>
              </a:lnSpc>
              <a:spcBef>
                <a:spcPct val="20000"/>
              </a:spcBef>
            </a:pPr>
            <a:r>
              <a:rPr lang="zh-CN" altLang="en-US" sz="2000" b="1" dirty="0">
                <a:solidFill>
                  <a:srgbClr val="44546A"/>
                </a:solidFill>
                <a:latin typeface="微软雅黑" panose="020B0503020204020204" pitchFamily="34" charset="-122"/>
                <a:ea typeface="微软雅黑" panose="020B0503020204020204" pitchFamily="34" charset="-122"/>
                <a:sym typeface="+mn-ea"/>
              </a:rPr>
              <a:t>数据库系统阶段</a:t>
            </a:r>
          </a:p>
        </p:txBody>
      </p:sp>
      <p:grpSp>
        <p:nvGrpSpPr>
          <p:cNvPr id="5" name="组合 17">
            <a:extLst>
              <a:ext uri="{FF2B5EF4-FFF2-40B4-BE49-F238E27FC236}">
                <a16:creationId xmlns:a16="http://schemas.microsoft.com/office/drawing/2014/main" id="{E08F5EFC-D109-DAE6-1861-EBB0A9ABE836}"/>
              </a:ext>
            </a:extLst>
          </p:cNvPr>
          <p:cNvGrpSpPr/>
          <p:nvPr/>
        </p:nvGrpSpPr>
        <p:grpSpPr>
          <a:xfrm>
            <a:off x="952500" y="2098675"/>
            <a:ext cx="7289800" cy="4103688"/>
            <a:chOff x="276339" y="2195387"/>
            <a:chExt cx="7574265" cy="4097833"/>
          </a:xfrm>
        </p:grpSpPr>
        <p:pic>
          <p:nvPicPr>
            <p:cNvPr id="6" name="图片 4">
              <a:extLst>
                <a:ext uri="{FF2B5EF4-FFF2-40B4-BE49-F238E27FC236}">
                  <a16:creationId xmlns:a16="http://schemas.microsoft.com/office/drawing/2014/main" id="{DB4277E6-36C5-AA61-1EAD-271A422533D3}"/>
                </a:ext>
              </a:extLst>
            </p:cNvPr>
            <p:cNvPicPr>
              <a:picLocks noChangeAspect="1"/>
            </p:cNvPicPr>
            <p:nvPr/>
          </p:nvPicPr>
          <p:blipFill>
            <a:blip r:embed="rId3"/>
            <a:srcRect t="5775" r="2675"/>
            <a:stretch>
              <a:fillRect/>
            </a:stretch>
          </p:blipFill>
          <p:spPr>
            <a:xfrm>
              <a:off x="276339" y="2195387"/>
              <a:ext cx="7565718" cy="4097833"/>
            </a:xfrm>
            <a:prstGeom prst="rect">
              <a:avLst/>
            </a:prstGeom>
            <a:noFill/>
            <a:ln w="9525">
              <a:noFill/>
            </a:ln>
          </p:spPr>
        </p:pic>
        <p:sp>
          <p:nvSpPr>
            <p:cNvPr id="7" name="矩形 13">
              <a:extLst>
                <a:ext uri="{FF2B5EF4-FFF2-40B4-BE49-F238E27FC236}">
                  <a16:creationId xmlns:a16="http://schemas.microsoft.com/office/drawing/2014/main" id="{9F34A84F-0FF0-C093-ED91-B01FAB44CAC6}"/>
                </a:ext>
              </a:extLst>
            </p:cNvPr>
            <p:cNvSpPr/>
            <p:nvPr/>
          </p:nvSpPr>
          <p:spPr>
            <a:xfrm>
              <a:off x="413499" y="2795842"/>
              <a:ext cx="1311009" cy="346935"/>
            </a:xfrm>
            <a:prstGeom prst="rect">
              <a:avLst/>
            </a:prstGeom>
            <a:solidFill>
              <a:srgbClr val="0070C0"/>
            </a:solidFill>
            <a:ln w="28575" cap="flat" cmpd="sng">
              <a:solidFill>
                <a:schemeClr val="bg1"/>
              </a:solidFill>
              <a:prstDash val="solid"/>
              <a:round/>
              <a:headEnd type="none" w="med" len="med"/>
              <a:tailEnd type="none" w="med" len="med"/>
            </a:ln>
          </p:spPr>
          <p:txBody>
            <a:bodyPr/>
            <a:lstStyle/>
            <a:p>
              <a:pPr algn="ctr">
                <a:buNone/>
              </a:pPr>
              <a:r>
                <a:rPr lang="zh-CN" altLang="en-US" b="1" dirty="0">
                  <a:solidFill>
                    <a:schemeClr val="bg1"/>
                  </a:solidFill>
                  <a:latin typeface="微软雅黑" pitchFamily="34" charset="-122"/>
                  <a:ea typeface="微软雅黑" pitchFamily="34" charset="-122"/>
                </a:rPr>
                <a:t>应用程序</a:t>
              </a:r>
              <a:r>
                <a:rPr lang="en-US" altLang="zh-CN" b="1" dirty="0">
                  <a:solidFill>
                    <a:schemeClr val="bg1"/>
                  </a:solidFill>
                  <a:latin typeface="微软雅黑" pitchFamily="34" charset="-122"/>
                  <a:ea typeface="微软雅黑" pitchFamily="34" charset="-122"/>
                </a:rPr>
                <a:t>1</a:t>
              </a:r>
            </a:p>
          </p:txBody>
        </p:sp>
        <p:sp>
          <p:nvSpPr>
            <p:cNvPr id="8" name="矩形 14">
              <a:extLst>
                <a:ext uri="{FF2B5EF4-FFF2-40B4-BE49-F238E27FC236}">
                  <a16:creationId xmlns:a16="http://schemas.microsoft.com/office/drawing/2014/main" id="{6558E8D1-993B-676A-CD40-4FF2AB1E921E}"/>
                </a:ext>
              </a:extLst>
            </p:cNvPr>
            <p:cNvSpPr/>
            <p:nvPr/>
          </p:nvSpPr>
          <p:spPr>
            <a:xfrm>
              <a:off x="413499" y="4205859"/>
              <a:ext cx="1311009" cy="346935"/>
            </a:xfrm>
            <a:prstGeom prst="rect">
              <a:avLst/>
            </a:prstGeom>
            <a:solidFill>
              <a:srgbClr val="0070C0"/>
            </a:solidFill>
            <a:ln w="28575" cap="flat" cmpd="sng">
              <a:solidFill>
                <a:schemeClr val="bg1"/>
              </a:solidFill>
              <a:prstDash val="solid"/>
              <a:round/>
              <a:headEnd type="none" w="med" len="med"/>
              <a:tailEnd type="none" w="med" len="med"/>
            </a:ln>
          </p:spPr>
          <p:txBody>
            <a:bodyPr/>
            <a:lstStyle/>
            <a:p>
              <a:pPr algn="ctr">
                <a:buNone/>
              </a:pPr>
              <a:r>
                <a:rPr lang="zh-CN" altLang="en-US" b="1" dirty="0">
                  <a:solidFill>
                    <a:schemeClr val="bg1"/>
                  </a:solidFill>
                  <a:latin typeface="微软雅黑" pitchFamily="34" charset="-122"/>
                  <a:ea typeface="微软雅黑" pitchFamily="34" charset="-122"/>
                </a:rPr>
                <a:t>应用程序</a:t>
              </a:r>
              <a:r>
                <a:rPr lang="en-US" altLang="zh-CN" b="1" dirty="0">
                  <a:solidFill>
                    <a:schemeClr val="bg1"/>
                  </a:solidFill>
                  <a:latin typeface="微软雅黑" pitchFamily="34" charset="-122"/>
                  <a:ea typeface="微软雅黑" pitchFamily="34" charset="-122"/>
                </a:rPr>
                <a:t>2</a:t>
              </a:r>
            </a:p>
          </p:txBody>
        </p:sp>
        <p:sp>
          <p:nvSpPr>
            <p:cNvPr id="9" name="矩形 15">
              <a:extLst>
                <a:ext uri="{FF2B5EF4-FFF2-40B4-BE49-F238E27FC236}">
                  <a16:creationId xmlns:a16="http://schemas.microsoft.com/office/drawing/2014/main" id="{AC0257BD-C944-9994-8713-5BF967BF8B36}"/>
                </a:ext>
              </a:extLst>
            </p:cNvPr>
            <p:cNvSpPr/>
            <p:nvPr/>
          </p:nvSpPr>
          <p:spPr>
            <a:xfrm>
              <a:off x="413499" y="5726088"/>
              <a:ext cx="1311009" cy="346935"/>
            </a:xfrm>
            <a:prstGeom prst="rect">
              <a:avLst/>
            </a:prstGeom>
            <a:solidFill>
              <a:srgbClr val="0070C0"/>
            </a:solidFill>
            <a:ln w="28575" cap="flat" cmpd="sng">
              <a:solidFill>
                <a:schemeClr val="bg1"/>
              </a:solidFill>
              <a:prstDash val="solid"/>
              <a:round/>
              <a:headEnd type="none" w="med" len="med"/>
              <a:tailEnd type="none" w="med" len="med"/>
            </a:ln>
          </p:spPr>
          <p:txBody>
            <a:bodyPr/>
            <a:lstStyle/>
            <a:p>
              <a:pPr algn="ctr">
                <a:buNone/>
              </a:pPr>
              <a:r>
                <a:rPr lang="zh-CN" altLang="en-US" b="1" dirty="0">
                  <a:solidFill>
                    <a:schemeClr val="bg1"/>
                  </a:solidFill>
                  <a:latin typeface="微软雅黑" pitchFamily="34" charset="-122"/>
                  <a:ea typeface="微软雅黑" pitchFamily="34" charset="-122"/>
                </a:rPr>
                <a:t>应用程序</a:t>
              </a:r>
              <a:r>
                <a:rPr lang="en-US" altLang="zh-CN" b="1" dirty="0">
                  <a:solidFill>
                    <a:schemeClr val="bg1"/>
                  </a:solidFill>
                  <a:latin typeface="微软雅黑" pitchFamily="34" charset="-122"/>
                  <a:ea typeface="微软雅黑" pitchFamily="34" charset="-122"/>
                </a:rPr>
                <a:t>n</a:t>
              </a:r>
            </a:p>
          </p:txBody>
        </p:sp>
        <p:sp>
          <p:nvSpPr>
            <p:cNvPr id="10" name="矩形 5">
              <a:extLst>
                <a:ext uri="{FF2B5EF4-FFF2-40B4-BE49-F238E27FC236}">
                  <a16:creationId xmlns:a16="http://schemas.microsoft.com/office/drawing/2014/main" id="{DD3D8698-592D-3A82-AE0F-805EFEA94A56}"/>
                </a:ext>
              </a:extLst>
            </p:cNvPr>
            <p:cNvSpPr/>
            <p:nvPr/>
          </p:nvSpPr>
          <p:spPr>
            <a:xfrm>
              <a:off x="3766094" y="3914357"/>
              <a:ext cx="1875807" cy="638437"/>
            </a:xfrm>
            <a:prstGeom prst="rect">
              <a:avLst/>
            </a:prstGeom>
            <a:solidFill>
              <a:srgbClr val="0070C0"/>
            </a:solidFill>
            <a:ln w="28575" cap="flat" cmpd="sng">
              <a:solidFill>
                <a:schemeClr val="bg1"/>
              </a:solidFill>
              <a:prstDash val="solid"/>
              <a:round/>
              <a:headEnd type="none" w="med" len="med"/>
              <a:tailEnd type="none" w="med" len="med"/>
            </a:ln>
          </p:spPr>
          <p:txBody>
            <a:bodyPr/>
            <a:lstStyle/>
            <a:p>
              <a:pPr algn="ctr">
                <a:buNone/>
              </a:pPr>
              <a:endParaRPr lang="en-US" altLang="zh-CN" dirty="0">
                <a:latin typeface="Arial" panose="020B0604020202090204" pitchFamily="34" charset="0"/>
                <a:ea typeface="等线" pitchFamily="2" charset="-122"/>
              </a:endParaRPr>
            </a:p>
          </p:txBody>
        </p:sp>
        <p:pic>
          <p:nvPicPr>
            <p:cNvPr id="11" name="图片 7">
              <a:extLst>
                <a:ext uri="{FF2B5EF4-FFF2-40B4-BE49-F238E27FC236}">
                  <a16:creationId xmlns:a16="http://schemas.microsoft.com/office/drawing/2014/main" id="{50288C75-E1C0-C9CC-8E55-1AFDF6E20563}"/>
                </a:ext>
              </a:extLst>
            </p:cNvPr>
            <p:cNvPicPr>
              <a:picLocks noChangeAspect="1"/>
            </p:cNvPicPr>
            <p:nvPr/>
          </p:nvPicPr>
          <p:blipFill>
            <a:blip r:embed="rId4"/>
            <a:stretch>
              <a:fillRect/>
            </a:stretch>
          </p:blipFill>
          <p:spPr>
            <a:xfrm>
              <a:off x="542838" y="2299335"/>
              <a:ext cx="403748" cy="341090"/>
            </a:xfrm>
            <a:prstGeom prst="rect">
              <a:avLst/>
            </a:prstGeom>
            <a:noFill/>
            <a:ln w="9525">
              <a:noFill/>
            </a:ln>
          </p:spPr>
        </p:pic>
        <p:sp>
          <p:nvSpPr>
            <p:cNvPr id="12" name="文本框 8">
              <a:extLst>
                <a:ext uri="{FF2B5EF4-FFF2-40B4-BE49-F238E27FC236}">
                  <a16:creationId xmlns:a16="http://schemas.microsoft.com/office/drawing/2014/main" id="{5E3DADC6-6CD1-2C29-43B9-AC5E1B42ADA4}"/>
                </a:ext>
              </a:extLst>
            </p:cNvPr>
            <p:cNvSpPr txBox="1"/>
            <p:nvPr/>
          </p:nvSpPr>
          <p:spPr>
            <a:xfrm>
              <a:off x="3758615" y="4027427"/>
              <a:ext cx="1886288" cy="367803"/>
            </a:xfrm>
            <a:prstGeom prst="rect">
              <a:avLst/>
            </a:prstGeom>
            <a:noFill/>
            <a:ln w="9525">
              <a:noFill/>
            </a:ln>
          </p:spPr>
          <p:txBody>
            <a:bodyPr>
              <a:spAutoFit/>
            </a:bodyPr>
            <a:lstStyle/>
            <a:p>
              <a:pPr>
                <a:buNone/>
              </a:pPr>
              <a:r>
                <a:rPr lang="zh-CN" altLang="en-US" b="1" dirty="0">
                  <a:solidFill>
                    <a:schemeClr val="bg1"/>
                  </a:solidFill>
                  <a:latin typeface="微软雅黑" pitchFamily="34" charset="-122"/>
                  <a:ea typeface="微软雅黑" pitchFamily="34" charset="-122"/>
                </a:rPr>
                <a:t>数据库管理系统</a:t>
              </a:r>
            </a:p>
          </p:txBody>
        </p:sp>
        <p:pic>
          <p:nvPicPr>
            <p:cNvPr id="13" name="图片 2">
              <a:extLst>
                <a:ext uri="{FF2B5EF4-FFF2-40B4-BE49-F238E27FC236}">
                  <a16:creationId xmlns:a16="http://schemas.microsoft.com/office/drawing/2014/main" id="{14CD674E-6DA0-8A0D-5341-8F11C0B6AE42}"/>
                </a:ext>
              </a:extLst>
            </p:cNvPr>
            <p:cNvPicPr>
              <a:picLocks noChangeAspect="1"/>
            </p:cNvPicPr>
            <p:nvPr/>
          </p:nvPicPr>
          <p:blipFill>
            <a:blip r:embed="rId5"/>
            <a:stretch>
              <a:fillRect/>
            </a:stretch>
          </p:blipFill>
          <p:spPr>
            <a:xfrm>
              <a:off x="5323100" y="2874173"/>
              <a:ext cx="1133475" cy="996631"/>
            </a:xfrm>
            <a:prstGeom prst="rect">
              <a:avLst/>
            </a:prstGeom>
            <a:noFill/>
            <a:ln w="9525">
              <a:noFill/>
            </a:ln>
          </p:spPr>
        </p:pic>
        <p:pic>
          <p:nvPicPr>
            <p:cNvPr id="14" name="图片 18">
              <a:extLst>
                <a:ext uri="{FF2B5EF4-FFF2-40B4-BE49-F238E27FC236}">
                  <a16:creationId xmlns:a16="http://schemas.microsoft.com/office/drawing/2014/main" id="{877F527E-4317-4A84-E553-6383745D3A76}"/>
                </a:ext>
              </a:extLst>
            </p:cNvPr>
            <p:cNvPicPr>
              <a:picLocks noChangeAspect="1"/>
            </p:cNvPicPr>
            <p:nvPr/>
          </p:nvPicPr>
          <p:blipFill>
            <a:blip r:embed="rId5"/>
            <a:stretch>
              <a:fillRect/>
            </a:stretch>
          </p:blipFill>
          <p:spPr>
            <a:xfrm>
              <a:off x="5725452" y="3924977"/>
              <a:ext cx="1133475" cy="942975"/>
            </a:xfrm>
            <a:prstGeom prst="rect">
              <a:avLst/>
            </a:prstGeom>
            <a:noFill/>
            <a:ln w="9525">
              <a:noFill/>
            </a:ln>
          </p:spPr>
        </p:pic>
        <p:pic>
          <p:nvPicPr>
            <p:cNvPr id="15" name="图片 19">
              <a:extLst>
                <a:ext uri="{FF2B5EF4-FFF2-40B4-BE49-F238E27FC236}">
                  <a16:creationId xmlns:a16="http://schemas.microsoft.com/office/drawing/2014/main" id="{31883F74-5AF1-D93F-2DC7-76110D0C2B34}"/>
                </a:ext>
              </a:extLst>
            </p:cNvPr>
            <p:cNvPicPr>
              <a:picLocks noChangeAspect="1"/>
            </p:cNvPicPr>
            <p:nvPr/>
          </p:nvPicPr>
          <p:blipFill>
            <a:blip r:embed="rId5"/>
            <a:stretch>
              <a:fillRect/>
            </a:stretch>
          </p:blipFill>
          <p:spPr>
            <a:xfrm>
              <a:off x="6716386" y="3734371"/>
              <a:ext cx="1133475" cy="942975"/>
            </a:xfrm>
            <a:prstGeom prst="rect">
              <a:avLst/>
            </a:prstGeom>
            <a:noFill/>
            <a:ln w="9525">
              <a:noFill/>
            </a:ln>
          </p:spPr>
        </p:pic>
        <p:pic>
          <p:nvPicPr>
            <p:cNvPr id="16" name="图片 20">
              <a:extLst>
                <a:ext uri="{FF2B5EF4-FFF2-40B4-BE49-F238E27FC236}">
                  <a16:creationId xmlns:a16="http://schemas.microsoft.com/office/drawing/2014/main" id="{A4D58736-F642-0205-69BE-D5CD169ACA00}"/>
                </a:ext>
              </a:extLst>
            </p:cNvPr>
            <p:cNvPicPr>
              <a:picLocks noChangeAspect="1"/>
            </p:cNvPicPr>
            <p:nvPr/>
          </p:nvPicPr>
          <p:blipFill>
            <a:blip r:embed="rId5"/>
            <a:stretch>
              <a:fillRect/>
            </a:stretch>
          </p:blipFill>
          <p:spPr>
            <a:xfrm>
              <a:off x="6717129" y="5015252"/>
              <a:ext cx="1133475" cy="942975"/>
            </a:xfrm>
            <a:prstGeom prst="rect">
              <a:avLst/>
            </a:prstGeom>
            <a:noFill/>
            <a:ln w="9525">
              <a:noFill/>
            </a:ln>
          </p:spPr>
        </p:pic>
        <p:pic>
          <p:nvPicPr>
            <p:cNvPr id="17" name="图片 21">
              <a:extLst>
                <a:ext uri="{FF2B5EF4-FFF2-40B4-BE49-F238E27FC236}">
                  <a16:creationId xmlns:a16="http://schemas.microsoft.com/office/drawing/2014/main" id="{38975F3F-B8AF-9837-1B6C-B1457162F702}"/>
                </a:ext>
              </a:extLst>
            </p:cNvPr>
            <p:cNvPicPr>
              <a:picLocks noChangeAspect="1"/>
            </p:cNvPicPr>
            <p:nvPr/>
          </p:nvPicPr>
          <p:blipFill>
            <a:blip r:embed="rId5"/>
            <a:stretch>
              <a:fillRect/>
            </a:stretch>
          </p:blipFill>
          <p:spPr>
            <a:xfrm>
              <a:off x="6484084" y="5127763"/>
              <a:ext cx="1133475" cy="942975"/>
            </a:xfrm>
            <a:prstGeom prst="rect">
              <a:avLst/>
            </a:prstGeom>
            <a:noFill/>
            <a:ln w="9525">
              <a:noFill/>
            </a:ln>
          </p:spPr>
        </p:pic>
        <p:pic>
          <p:nvPicPr>
            <p:cNvPr id="18" name="图片 23">
              <a:extLst>
                <a:ext uri="{FF2B5EF4-FFF2-40B4-BE49-F238E27FC236}">
                  <a16:creationId xmlns:a16="http://schemas.microsoft.com/office/drawing/2014/main" id="{3A074B6E-D743-68BE-FB4A-E65CA9B842AD}"/>
                </a:ext>
              </a:extLst>
            </p:cNvPr>
            <p:cNvPicPr>
              <a:picLocks noChangeAspect="1"/>
            </p:cNvPicPr>
            <p:nvPr/>
          </p:nvPicPr>
          <p:blipFill>
            <a:blip r:embed="rId5"/>
            <a:stretch>
              <a:fillRect/>
            </a:stretch>
          </p:blipFill>
          <p:spPr>
            <a:xfrm>
              <a:off x="5350779" y="4778375"/>
              <a:ext cx="1133475" cy="942975"/>
            </a:xfrm>
            <a:prstGeom prst="rect">
              <a:avLst/>
            </a:prstGeom>
            <a:noFill/>
            <a:ln w="9525">
              <a:noFill/>
            </a:ln>
          </p:spPr>
        </p:pic>
        <p:pic>
          <p:nvPicPr>
            <p:cNvPr id="19" name="图片 24">
              <a:extLst>
                <a:ext uri="{FF2B5EF4-FFF2-40B4-BE49-F238E27FC236}">
                  <a16:creationId xmlns:a16="http://schemas.microsoft.com/office/drawing/2014/main" id="{14AF8522-1825-9CBE-2FE0-2C60BAF79C33}"/>
                </a:ext>
              </a:extLst>
            </p:cNvPr>
            <p:cNvPicPr>
              <a:picLocks noChangeAspect="1"/>
            </p:cNvPicPr>
            <p:nvPr/>
          </p:nvPicPr>
          <p:blipFill>
            <a:blip r:embed="rId5"/>
            <a:stretch>
              <a:fillRect/>
            </a:stretch>
          </p:blipFill>
          <p:spPr>
            <a:xfrm>
              <a:off x="6689532" y="2454428"/>
              <a:ext cx="1133475" cy="942975"/>
            </a:xfrm>
            <a:prstGeom prst="rect">
              <a:avLst/>
            </a:prstGeom>
            <a:noFill/>
            <a:ln w="9525">
              <a:noFill/>
            </a:ln>
          </p:spPr>
        </p:pic>
        <p:sp>
          <p:nvSpPr>
            <p:cNvPr id="20" name="流程图: 磁盘 25">
              <a:extLst>
                <a:ext uri="{FF2B5EF4-FFF2-40B4-BE49-F238E27FC236}">
                  <a16:creationId xmlns:a16="http://schemas.microsoft.com/office/drawing/2014/main" id="{273BE1E3-4A05-99D5-51C1-060D082C6A08}"/>
                </a:ext>
              </a:extLst>
            </p:cNvPr>
            <p:cNvSpPr/>
            <p:nvPr/>
          </p:nvSpPr>
          <p:spPr>
            <a:xfrm>
              <a:off x="6633772" y="3542347"/>
              <a:ext cx="852734" cy="1439904"/>
            </a:xfrm>
            <a:prstGeom prst="flowChartMagneticDisk">
              <a:avLst/>
            </a:prstGeom>
            <a:solidFill>
              <a:srgbClr val="F0882E"/>
            </a:solidFill>
            <a:ln w="28575" cap="flat" cmpd="sng">
              <a:solidFill>
                <a:schemeClr val="bg1"/>
              </a:solidFill>
              <a:prstDash val="solid"/>
              <a:headEnd type="none" w="med" len="med"/>
              <a:tailEnd type="none" w="med" len="med"/>
            </a:ln>
          </p:spPr>
          <p:txBody>
            <a:bodyPr/>
            <a:lstStyle/>
            <a:p>
              <a:pPr algn="ctr">
                <a:buNone/>
              </a:pPr>
              <a:r>
                <a:rPr lang="zh-CN" altLang="en-US" b="1" dirty="0">
                  <a:solidFill>
                    <a:schemeClr val="bg1"/>
                  </a:solidFill>
                  <a:latin typeface="微软雅黑" pitchFamily="34" charset="-122"/>
                  <a:ea typeface="微软雅黑" pitchFamily="34" charset="-122"/>
                </a:rPr>
                <a:t>数</a:t>
              </a:r>
              <a:endParaRPr lang="en-US" altLang="zh-CN" b="1" dirty="0">
                <a:solidFill>
                  <a:schemeClr val="bg1"/>
                </a:solidFill>
                <a:latin typeface="微软雅黑" pitchFamily="34" charset="-122"/>
                <a:ea typeface="微软雅黑" pitchFamily="34" charset="-122"/>
              </a:endParaRPr>
            </a:p>
            <a:p>
              <a:pPr algn="ctr">
                <a:buNone/>
              </a:pPr>
              <a:r>
                <a:rPr lang="zh-CN" altLang="en-US" b="1" dirty="0">
                  <a:solidFill>
                    <a:schemeClr val="bg1"/>
                  </a:solidFill>
                  <a:latin typeface="微软雅黑" pitchFamily="34" charset="-122"/>
                  <a:ea typeface="微软雅黑" pitchFamily="34" charset="-122"/>
                </a:rPr>
                <a:t>据</a:t>
              </a:r>
              <a:endParaRPr lang="en-US" altLang="zh-CN" b="1" dirty="0">
                <a:solidFill>
                  <a:schemeClr val="bg1"/>
                </a:solidFill>
                <a:latin typeface="微软雅黑" pitchFamily="34" charset="-122"/>
                <a:ea typeface="微软雅黑" pitchFamily="34" charset="-122"/>
              </a:endParaRPr>
            </a:p>
            <a:p>
              <a:pPr algn="ctr">
                <a:buNone/>
              </a:pPr>
              <a:r>
                <a:rPr lang="zh-CN" altLang="en-US" b="1" dirty="0">
                  <a:solidFill>
                    <a:schemeClr val="bg1"/>
                  </a:solidFill>
                  <a:latin typeface="微软雅黑" pitchFamily="34" charset="-122"/>
                  <a:ea typeface="微软雅黑" pitchFamily="34" charset="-122"/>
                </a:rPr>
                <a:t>库</a:t>
              </a:r>
            </a:p>
          </p:txBody>
        </p:sp>
        <p:pic>
          <p:nvPicPr>
            <p:cNvPr id="21" name="图片 6">
              <a:extLst>
                <a:ext uri="{FF2B5EF4-FFF2-40B4-BE49-F238E27FC236}">
                  <a16:creationId xmlns:a16="http://schemas.microsoft.com/office/drawing/2014/main" id="{46B87B7E-4B85-9B0C-548E-976F78215E18}"/>
                </a:ext>
              </a:extLst>
            </p:cNvPr>
            <p:cNvPicPr>
              <a:picLocks noChangeAspect="1"/>
            </p:cNvPicPr>
            <p:nvPr/>
          </p:nvPicPr>
          <p:blipFill>
            <a:blip r:embed="rId6"/>
            <a:stretch>
              <a:fillRect/>
            </a:stretch>
          </p:blipFill>
          <p:spPr>
            <a:xfrm>
              <a:off x="5696035" y="3834368"/>
              <a:ext cx="887141" cy="676275"/>
            </a:xfrm>
            <a:prstGeom prst="rect">
              <a:avLst/>
            </a:prstGeom>
            <a:noFill/>
            <a:ln w="9525">
              <a:noFill/>
            </a:ln>
          </p:spPr>
        </p:pic>
      </p:grpSp>
    </p:spTree>
    <p:extLst>
      <p:ext uri="{BB962C8B-B14F-4D97-AF65-F5344CB8AC3E}">
        <p14:creationId xmlns:p14="http://schemas.microsoft.com/office/powerpoint/2010/main" val="335443325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6306" y="3900310"/>
            <a:ext cx="3983316" cy="2951922"/>
          </a:xfrm>
          <a:prstGeom prst="rect">
            <a:avLst/>
          </a:prstGeom>
        </p:spPr>
      </p:pic>
      <p:sp>
        <p:nvSpPr>
          <p:cNvPr id="6" name="文本框 5">
            <a:extLst>
              <a:ext uri="{FF2B5EF4-FFF2-40B4-BE49-F238E27FC236}">
                <a16:creationId xmlns:a16="http://schemas.microsoft.com/office/drawing/2014/main" id="{CCEB7C88-3422-6278-3570-116BD905AE4E}"/>
              </a:ext>
            </a:extLst>
          </p:cNvPr>
          <p:cNvSpPr txBox="1"/>
          <p:nvPr/>
        </p:nvSpPr>
        <p:spPr>
          <a:xfrm>
            <a:off x="5487153" y="1929404"/>
            <a:ext cx="3238838" cy="400110"/>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数据库的基本概念</a:t>
            </a:r>
          </a:p>
        </p:txBody>
      </p:sp>
      <p:sp>
        <p:nvSpPr>
          <p:cNvPr id="8" name="文本框 7">
            <a:extLst>
              <a:ext uri="{FF2B5EF4-FFF2-40B4-BE49-F238E27FC236}">
                <a16:creationId xmlns:a16="http://schemas.microsoft.com/office/drawing/2014/main" id="{074B36F8-DFF6-F9C8-541B-33FDC4994B01}"/>
              </a:ext>
            </a:extLst>
          </p:cNvPr>
          <p:cNvSpPr txBox="1"/>
          <p:nvPr/>
        </p:nvSpPr>
        <p:spPr>
          <a:xfrm>
            <a:off x="4530840" y="1763132"/>
            <a:ext cx="989373" cy="584775"/>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01.</a:t>
            </a:r>
            <a:endParaRPr lang="zh-CN" altLang="en-US"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endParaRPr>
          </a:p>
        </p:txBody>
      </p:sp>
      <p:sp>
        <p:nvSpPr>
          <p:cNvPr id="9" name="文本框 8">
            <a:extLst>
              <a:ext uri="{FF2B5EF4-FFF2-40B4-BE49-F238E27FC236}">
                <a16:creationId xmlns:a16="http://schemas.microsoft.com/office/drawing/2014/main" id="{A93B0541-EA0B-E7F9-A3C3-EEEE911FDC63}"/>
              </a:ext>
            </a:extLst>
          </p:cNvPr>
          <p:cNvSpPr txBox="1"/>
          <p:nvPr/>
        </p:nvSpPr>
        <p:spPr>
          <a:xfrm>
            <a:off x="5487153" y="2543793"/>
            <a:ext cx="3578470" cy="400110"/>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常见的数据库管理系统</a:t>
            </a:r>
          </a:p>
        </p:txBody>
      </p:sp>
      <p:sp>
        <p:nvSpPr>
          <p:cNvPr id="11" name="文本框 10">
            <a:extLst>
              <a:ext uri="{FF2B5EF4-FFF2-40B4-BE49-F238E27FC236}">
                <a16:creationId xmlns:a16="http://schemas.microsoft.com/office/drawing/2014/main" id="{FDB5F4D9-F7AA-0670-8E6E-E3A2DA3D5B05}"/>
              </a:ext>
            </a:extLst>
          </p:cNvPr>
          <p:cNvSpPr txBox="1"/>
          <p:nvPr/>
        </p:nvSpPr>
        <p:spPr>
          <a:xfrm>
            <a:off x="4530840" y="2403647"/>
            <a:ext cx="989373" cy="584775"/>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02.</a:t>
            </a:r>
            <a:endParaRPr lang="zh-CN" altLang="en-US"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endParaRPr>
          </a:p>
        </p:txBody>
      </p:sp>
      <p:sp>
        <p:nvSpPr>
          <p:cNvPr id="12" name="文本框 11">
            <a:extLst>
              <a:ext uri="{FF2B5EF4-FFF2-40B4-BE49-F238E27FC236}">
                <a16:creationId xmlns:a16="http://schemas.microsoft.com/office/drawing/2014/main" id="{F1EE0159-B6F8-0954-BDF2-DDA282620198}"/>
              </a:ext>
            </a:extLst>
          </p:cNvPr>
          <p:cNvSpPr txBox="1"/>
          <p:nvPr/>
        </p:nvSpPr>
        <p:spPr>
          <a:xfrm>
            <a:off x="5487152" y="3145119"/>
            <a:ext cx="3357581" cy="400110"/>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数据管理技术的发展</a:t>
            </a:r>
          </a:p>
        </p:txBody>
      </p:sp>
      <p:sp>
        <p:nvSpPr>
          <p:cNvPr id="14" name="文本框 13">
            <a:extLst>
              <a:ext uri="{FF2B5EF4-FFF2-40B4-BE49-F238E27FC236}">
                <a16:creationId xmlns:a16="http://schemas.microsoft.com/office/drawing/2014/main" id="{F28153F4-0F99-C1B2-D243-0F9DF24E219A}"/>
              </a:ext>
            </a:extLst>
          </p:cNvPr>
          <p:cNvSpPr txBox="1"/>
          <p:nvPr/>
        </p:nvSpPr>
        <p:spPr>
          <a:xfrm>
            <a:off x="4530840" y="3044162"/>
            <a:ext cx="989373" cy="584775"/>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rPr>
              <a:t>03.</a:t>
            </a:r>
            <a:endParaRPr lang="zh-CN" altLang="en-US" sz="3200" b="1" spc="600" dirty="0">
              <a:solidFill>
                <a:srgbClr val="44546A"/>
              </a:solidFill>
              <a:effectLst>
                <a:innerShdw blurRad="76200" dist="63500" dir="18900000">
                  <a:prstClr val="black">
                    <a:alpha val="30000"/>
                  </a:prstClr>
                </a:innerShdw>
              </a:effectLst>
              <a:latin typeface="Century Gothic" panose="020B0502020202020204" pitchFamily="34" charset="0"/>
              <a:cs typeface="+mn-ea"/>
              <a:sym typeface="Arial"/>
            </a:endParaRPr>
          </a:p>
        </p:txBody>
      </p:sp>
      <p:sp>
        <p:nvSpPr>
          <p:cNvPr id="15" name="文本框 14">
            <a:extLst>
              <a:ext uri="{FF2B5EF4-FFF2-40B4-BE49-F238E27FC236}">
                <a16:creationId xmlns:a16="http://schemas.microsoft.com/office/drawing/2014/main" id="{FC630475-7420-333F-0EE7-EDDC28DDE43C}"/>
              </a:ext>
            </a:extLst>
          </p:cNvPr>
          <p:cNvSpPr txBox="1"/>
          <p:nvPr/>
        </p:nvSpPr>
        <p:spPr>
          <a:xfrm>
            <a:off x="5487153" y="3811760"/>
            <a:ext cx="3357580" cy="400110"/>
          </a:xfrm>
          <a:prstGeom prst="rect">
            <a:avLst/>
          </a:prstGeom>
          <a:noFill/>
        </p:spPr>
        <p:txBody>
          <a:bodyPr wrap="square" rtlCol="0">
            <a:spAutoFit/>
            <a:scene3d>
              <a:camera prst="orthographicFront"/>
              <a:lightRig rig="threePt" dir="t"/>
            </a:scene3d>
            <a:sp3d contourW="12700"/>
          </a:bodyPr>
          <a:lstStyle/>
          <a:p>
            <a:pPr defTabSz="685800">
              <a:defRPr/>
            </a:pPr>
            <a:r>
              <a:rPr lang="zh-CN" altLang="en-US" sz="2000" b="1" kern="0" spc="300" dirty="0">
                <a:solidFill>
                  <a:srgbClr val="4494C8"/>
                </a:solidFill>
                <a:latin typeface="微软雅黑" panose="020B0503020204020204" pitchFamily="34" charset="-122"/>
                <a:ea typeface="微软雅黑" panose="020B0503020204020204" pitchFamily="34" charset="-122"/>
                <a:sym typeface="Arial"/>
              </a:rPr>
              <a:t>常见的数据模型</a:t>
            </a:r>
          </a:p>
        </p:txBody>
      </p:sp>
      <p:sp>
        <p:nvSpPr>
          <p:cNvPr id="17" name="文本框 16">
            <a:extLst>
              <a:ext uri="{FF2B5EF4-FFF2-40B4-BE49-F238E27FC236}">
                <a16:creationId xmlns:a16="http://schemas.microsoft.com/office/drawing/2014/main" id="{30EC2183-14FC-B58A-E51C-EF0296A9156A}"/>
              </a:ext>
            </a:extLst>
          </p:cNvPr>
          <p:cNvSpPr txBox="1"/>
          <p:nvPr/>
        </p:nvSpPr>
        <p:spPr>
          <a:xfrm>
            <a:off x="4530840" y="3684677"/>
            <a:ext cx="923651" cy="584775"/>
          </a:xfrm>
          <a:prstGeom prst="rect">
            <a:avLst/>
          </a:prstGeom>
          <a:noFill/>
        </p:spPr>
        <p:txBody>
          <a:bodyPr wrap="none" rtlCol="0">
            <a:spAutoFit/>
            <a:scene3d>
              <a:camera prst="orthographicFront"/>
              <a:lightRig rig="threePt" dir="t"/>
            </a:scene3d>
            <a:sp3d contourW="12700"/>
          </a:bodyPr>
          <a:lstStyle/>
          <a:p>
            <a:pPr defTabSz="685800">
              <a:defRPr/>
            </a:pPr>
            <a:r>
              <a:rPr lang="en-US" altLang="zh-CN" sz="3200" b="1" kern="0" spc="300" dirty="0">
                <a:solidFill>
                  <a:srgbClr val="4494C8"/>
                </a:solidFill>
                <a:latin typeface="微软雅黑" panose="020B0503020204020204" pitchFamily="34" charset="-122"/>
                <a:ea typeface="微软雅黑" panose="020B0503020204020204" pitchFamily="34" charset="-122"/>
                <a:sym typeface="Arial"/>
              </a:rPr>
              <a:t>04.</a:t>
            </a:r>
            <a:endParaRPr lang="zh-CN" altLang="en-US" sz="3200" b="1" kern="0" spc="300" dirty="0">
              <a:solidFill>
                <a:srgbClr val="4494C8"/>
              </a:solidFill>
              <a:latin typeface="微软雅黑" panose="020B0503020204020204" pitchFamily="34" charset="-122"/>
              <a:ea typeface="微软雅黑" panose="020B0503020204020204" pitchFamily="34" charset="-122"/>
              <a:sym typeface="Arial"/>
            </a:endParaRPr>
          </a:p>
        </p:txBody>
      </p:sp>
    </p:spTree>
    <p:extLst>
      <p:ext uri="{BB962C8B-B14F-4D97-AF65-F5344CB8AC3E}">
        <p14:creationId xmlns:p14="http://schemas.microsoft.com/office/powerpoint/2010/main" val="3533376634"/>
      </p:ext>
    </p:extLst>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数据库基础</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数据模型的概念</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矩形: 圆角 32">
            <a:extLst>
              <a:ext uri="{FF2B5EF4-FFF2-40B4-BE49-F238E27FC236}">
                <a16:creationId xmlns:a16="http://schemas.microsoft.com/office/drawing/2014/main" id="{6AA6D088-E88D-A305-3B97-14E8F70DF27F}"/>
              </a:ext>
            </a:extLst>
          </p:cNvPr>
          <p:cNvSpPr/>
          <p:nvPr/>
        </p:nvSpPr>
        <p:spPr>
          <a:xfrm>
            <a:off x="839788" y="1898650"/>
            <a:ext cx="10477500" cy="3990975"/>
          </a:xfrm>
          <a:prstGeom prst="roundRect">
            <a:avLst>
              <a:gd name="adj" fmla="val 7476"/>
            </a:avLst>
          </a:prstGeom>
          <a:solidFill>
            <a:srgbClr val="3982FF">
              <a:alpha val="15000"/>
            </a:srgbClr>
          </a:solidFill>
          <a:ln>
            <a:solidFill>
              <a:srgbClr val="3982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4" name="图片 7" descr="625dcb2ba2a7c06cb6299825db4da6f5">
            <a:extLst>
              <a:ext uri="{FF2B5EF4-FFF2-40B4-BE49-F238E27FC236}">
                <a16:creationId xmlns:a16="http://schemas.microsoft.com/office/drawing/2014/main" id="{94ADAB0C-6637-4D0A-C16E-7B9E0842775C}"/>
              </a:ext>
            </a:extLst>
          </p:cNvPr>
          <p:cNvPicPr>
            <a:picLocks noChangeAspect="1"/>
          </p:cNvPicPr>
          <p:nvPr/>
        </p:nvPicPr>
        <p:blipFill>
          <a:blip r:embed="rId3"/>
          <a:stretch>
            <a:fillRect/>
          </a:stretch>
        </p:blipFill>
        <p:spPr>
          <a:xfrm>
            <a:off x="7742238" y="2085975"/>
            <a:ext cx="1779587" cy="1779588"/>
          </a:xfrm>
          <a:prstGeom prst="rect">
            <a:avLst/>
          </a:prstGeom>
          <a:noFill/>
          <a:ln w="9525">
            <a:noFill/>
          </a:ln>
        </p:spPr>
      </p:pic>
      <p:pic>
        <p:nvPicPr>
          <p:cNvPr id="5" name="图片 6" descr="65a6859376c1d1a98383200d2fa98012(1)">
            <a:extLst>
              <a:ext uri="{FF2B5EF4-FFF2-40B4-BE49-F238E27FC236}">
                <a16:creationId xmlns:a16="http://schemas.microsoft.com/office/drawing/2014/main" id="{8318B9A1-FF3D-551B-73F1-25AFBBE96C32}"/>
              </a:ext>
            </a:extLst>
          </p:cNvPr>
          <p:cNvPicPr>
            <a:picLocks noChangeAspect="1"/>
          </p:cNvPicPr>
          <p:nvPr/>
        </p:nvPicPr>
        <p:blipFill>
          <a:blip r:embed="rId4"/>
          <a:stretch>
            <a:fillRect/>
          </a:stretch>
        </p:blipFill>
        <p:spPr>
          <a:xfrm>
            <a:off x="5083175" y="2632075"/>
            <a:ext cx="2122488" cy="2122488"/>
          </a:xfrm>
          <a:prstGeom prst="rect">
            <a:avLst/>
          </a:prstGeom>
          <a:noFill/>
          <a:ln w="9525">
            <a:noFill/>
          </a:ln>
        </p:spPr>
      </p:pic>
      <p:pic>
        <p:nvPicPr>
          <p:cNvPr id="6" name="图片 8" descr="234993-14032915534964">
            <a:extLst>
              <a:ext uri="{FF2B5EF4-FFF2-40B4-BE49-F238E27FC236}">
                <a16:creationId xmlns:a16="http://schemas.microsoft.com/office/drawing/2014/main" id="{CB13EDA2-CDAF-93DB-00F5-0C6B3D725DEE}"/>
              </a:ext>
            </a:extLst>
          </p:cNvPr>
          <p:cNvPicPr>
            <a:picLocks noChangeAspect="1"/>
          </p:cNvPicPr>
          <p:nvPr/>
        </p:nvPicPr>
        <p:blipFill>
          <a:blip r:embed="rId5"/>
          <a:stretch>
            <a:fillRect/>
          </a:stretch>
        </p:blipFill>
        <p:spPr>
          <a:xfrm>
            <a:off x="7742238" y="4244975"/>
            <a:ext cx="1779587" cy="1316038"/>
          </a:xfrm>
          <a:prstGeom prst="rect">
            <a:avLst/>
          </a:prstGeom>
          <a:noFill/>
          <a:ln w="9525">
            <a:noFill/>
          </a:ln>
        </p:spPr>
      </p:pic>
      <p:pic>
        <p:nvPicPr>
          <p:cNvPr id="7" name="图片 18">
            <a:extLst>
              <a:ext uri="{FF2B5EF4-FFF2-40B4-BE49-F238E27FC236}">
                <a16:creationId xmlns:a16="http://schemas.microsoft.com/office/drawing/2014/main" id="{67B1E91F-E475-6025-2AEC-34D151B3D7F7}"/>
              </a:ext>
            </a:extLst>
          </p:cNvPr>
          <p:cNvPicPr>
            <a:picLocks noChangeAspect="1"/>
          </p:cNvPicPr>
          <p:nvPr/>
        </p:nvPicPr>
        <p:blipFill>
          <a:blip r:embed="rId6"/>
          <a:stretch>
            <a:fillRect/>
          </a:stretch>
        </p:blipFill>
        <p:spPr>
          <a:xfrm>
            <a:off x="1989138" y="2295525"/>
            <a:ext cx="2509837" cy="1441450"/>
          </a:xfrm>
          <a:prstGeom prst="rect">
            <a:avLst/>
          </a:prstGeom>
          <a:noFill/>
          <a:ln w="9525">
            <a:noFill/>
          </a:ln>
        </p:spPr>
      </p:pic>
      <p:pic>
        <p:nvPicPr>
          <p:cNvPr id="8" name="图片 19">
            <a:extLst>
              <a:ext uri="{FF2B5EF4-FFF2-40B4-BE49-F238E27FC236}">
                <a16:creationId xmlns:a16="http://schemas.microsoft.com/office/drawing/2014/main" id="{BA5E7BE8-5E83-577C-438F-59A03838DDA2}"/>
              </a:ext>
            </a:extLst>
          </p:cNvPr>
          <p:cNvPicPr>
            <a:picLocks noChangeAspect="1"/>
          </p:cNvPicPr>
          <p:nvPr/>
        </p:nvPicPr>
        <p:blipFill>
          <a:blip r:embed="rId7"/>
          <a:stretch>
            <a:fillRect/>
          </a:stretch>
        </p:blipFill>
        <p:spPr>
          <a:xfrm>
            <a:off x="1989138" y="4121150"/>
            <a:ext cx="2509837" cy="1439863"/>
          </a:xfrm>
          <a:prstGeom prst="rect">
            <a:avLst/>
          </a:prstGeom>
          <a:noFill/>
          <a:ln w="9525">
            <a:noFill/>
          </a:ln>
        </p:spPr>
      </p:pic>
      <p:sp>
        <p:nvSpPr>
          <p:cNvPr id="10" name="矩形 9">
            <a:extLst>
              <a:ext uri="{FF2B5EF4-FFF2-40B4-BE49-F238E27FC236}">
                <a16:creationId xmlns:a16="http://schemas.microsoft.com/office/drawing/2014/main" id="{B1A02883-6F53-3B1C-2ECF-6BF441C1A890}"/>
              </a:ext>
            </a:extLst>
          </p:cNvPr>
          <p:cNvSpPr/>
          <p:nvPr/>
        </p:nvSpPr>
        <p:spPr>
          <a:xfrm>
            <a:off x="5283200" y="4913313"/>
            <a:ext cx="1722438" cy="400050"/>
          </a:xfrm>
          <a:prstGeom prst="rect">
            <a:avLst/>
          </a:prstGeom>
          <a:noFill/>
          <a:ln w="9525">
            <a:noFill/>
          </a:ln>
        </p:spPr>
        <p:txBody>
          <a:bodyPr wrap="none">
            <a:spAutoFit/>
          </a:bodyPr>
          <a:lstStyle/>
          <a:p>
            <a:pPr>
              <a:buNone/>
            </a:pPr>
            <a:r>
              <a:rPr lang="zh-CN" altLang="en-US" sz="2000" dirty="0">
                <a:solidFill>
                  <a:srgbClr val="0070C0"/>
                </a:solidFill>
                <a:latin typeface="微软雅黑" pitchFamily="34" charset="-122"/>
                <a:ea typeface="微软雅黑" pitchFamily="34" charset="-122"/>
              </a:rPr>
              <a:t>模型</a:t>
            </a:r>
            <a:r>
              <a:rPr lang="en-US" altLang="zh-CN" sz="2000" dirty="0">
                <a:solidFill>
                  <a:srgbClr val="0070C0"/>
                </a:solidFill>
                <a:latin typeface="微软雅黑" pitchFamily="34" charset="-122"/>
                <a:ea typeface="微软雅黑" pitchFamily="34" charset="-122"/>
              </a:rPr>
              <a:t>(Model)</a:t>
            </a:r>
            <a:endParaRPr lang="zh-CN" altLang="en-US" sz="2000" dirty="0">
              <a:solidFill>
                <a:srgbClr val="0070C0"/>
              </a:solidFill>
              <a:latin typeface="Calibri" pitchFamily="34" charset="0"/>
              <a:ea typeface="等线" pitchFamily="2" charset="-122"/>
            </a:endParaRPr>
          </a:p>
        </p:txBody>
      </p:sp>
    </p:spTree>
    <p:extLst>
      <p:ext uri="{BB962C8B-B14F-4D97-AF65-F5344CB8AC3E}">
        <p14:creationId xmlns:p14="http://schemas.microsoft.com/office/powerpoint/2010/main" val="3563437253"/>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概念</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2B256DFE-BCB0-103D-4C54-E46445ED0276}"/>
              </a:ext>
            </a:extLst>
          </p:cNvPr>
          <p:cNvSpPr txBox="1"/>
          <p:nvPr/>
        </p:nvSpPr>
        <p:spPr>
          <a:xfrm>
            <a:off x="3064943" y="1414353"/>
            <a:ext cx="7909445" cy="552697"/>
          </a:xfrm>
          <a:prstGeom prst="rect">
            <a:avLst/>
          </a:prstGeom>
          <a:noFill/>
        </p:spPr>
        <p:txBody>
          <a:bodyPr wrap="square" lIns="0" tIns="72000" bIns="72000" rtlCol="0" anchor="b" anchorCtr="0">
            <a:spAutoFit/>
          </a:bodyPr>
          <a:lstStyle>
            <a:defPPr>
              <a:defRPr lang="zh-CN"/>
            </a:defPPr>
            <a:lvl1pPr>
              <a:lnSpc>
                <a:spcPts val="1800"/>
              </a:lnSpc>
              <a:defRPr sz="1200">
                <a:solidFill>
                  <a:schemeClr val="bg1"/>
                </a:solidFill>
                <a:latin typeface="微软雅黑" panose="020B0503020204020204" pitchFamily="34" charset="-122"/>
                <a:ea typeface="微软雅黑" panose="020B0503020204020204" pitchFamily="34" charset="-122"/>
              </a:defRPr>
            </a:lvl1pPr>
          </a:lstStyle>
          <a:p>
            <a:pPr>
              <a:lnSpc>
                <a:spcPct val="150000"/>
              </a:lnSpc>
            </a:pPr>
            <a:r>
              <a:rPr lang="zh-CN" altLang="zh-CN" sz="2000" dirty="0">
                <a:solidFill>
                  <a:srgbClr val="44546A"/>
                </a:solidFill>
                <a:sym typeface="+mn-ea"/>
              </a:rPr>
              <a:t>数据模型（Data Model）它是数据特征的抽象。</a:t>
            </a:r>
            <a:endParaRPr lang="en-US" altLang="zh-CN" sz="2000" dirty="0">
              <a:solidFill>
                <a:srgbClr val="44546A"/>
              </a:solidFill>
              <a:sym typeface="微软雅黑"/>
            </a:endParaRPr>
          </a:p>
        </p:txBody>
      </p:sp>
      <p:sp>
        <p:nvSpPr>
          <p:cNvPr id="8" name="文本框 7">
            <a:extLst>
              <a:ext uri="{FF2B5EF4-FFF2-40B4-BE49-F238E27FC236}">
                <a16:creationId xmlns:a16="http://schemas.microsoft.com/office/drawing/2014/main" id="{042FA89B-10B6-72F1-B145-37D7A23665D4}"/>
              </a:ext>
            </a:extLst>
          </p:cNvPr>
          <p:cNvSpPr txBox="1"/>
          <p:nvPr/>
        </p:nvSpPr>
        <p:spPr>
          <a:xfrm>
            <a:off x="1410940" y="1259141"/>
            <a:ext cx="1640840" cy="884070"/>
          </a:xfrm>
          <a:prstGeom prst="rect">
            <a:avLst/>
          </a:prstGeom>
          <a:noFill/>
        </p:spPr>
        <p:txBody>
          <a:bodyPr wrap="square" lIns="0" tIns="72000" bIns="72000" rtlCol="0" anchor="ctr" anchorCtr="0">
            <a:spAutoFit/>
          </a:bodyPr>
          <a:lstStyle>
            <a:defPPr>
              <a:defRPr lang="zh-CN"/>
            </a:defPPr>
            <a:lvl1pPr algn="ctr">
              <a:defRPr sz="2800" b="1">
                <a:solidFill>
                  <a:srgbClr val="70CBCD"/>
                </a:solidFill>
                <a:latin typeface="Geometr706 Md BT" panose="020B0502020203020204" pitchFamily="34" charset="0"/>
                <a:ea typeface="微软雅黑" panose="020B0503020204020204" pitchFamily="34" charset="-122"/>
              </a:defRPr>
            </a:lvl1pPr>
          </a:lstStyle>
          <a:p>
            <a:r>
              <a:rPr lang="zh-CN" altLang="en-US" sz="4800" dirty="0">
                <a:solidFill>
                  <a:srgbClr val="44546A"/>
                </a:solidFill>
                <a:latin typeface="微软雅黑" panose="020B0503020204020204" pitchFamily="34" charset="-122"/>
                <a:sym typeface="微软雅黑"/>
              </a:rPr>
              <a:t>概念</a:t>
            </a:r>
          </a:p>
        </p:txBody>
      </p:sp>
      <p:sp>
        <p:nvSpPr>
          <p:cNvPr id="9" name="文本框 8">
            <a:extLst>
              <a:ext uri="{FF2B5EF4-FFF2-40B4-BE49-F238E27FC236}">
                <a16:creationId xmlns:a16="http://schemas.microsoft.com/office/drawing/2014/main" id="{AD0282F2-CBD1-F58B-662B-D9D22463EB3A}"/>
              </a:ext>
            </a:extLst>
          </p:cNvPr>
          <p:cNvSpPr txBox="1"/>
          <p:nvPr/>
        </p:nvSpPr>
        <p:spPr>
          <a:xfrm>
            <a:off x="1671853" y="2097293"/>
            <a:ext cx="9433293" cy="1014362"/>
          </a:xfrm>
          <a:prstGeom prst="rect">
            <a:avLst/>
          </a:prstGeom>
          <a:noFill/>
        </p:spPr>
        <p:txBody>
          <a:bodyPr wrap="square" lIns="0" tIns="72000" bIns="72000" rtlCol="0" anchor="b" anchorCtr="0">
            <a:spAutoFit/>
          </a:bodyPr>
          <a:lstStyle>
            <a:defPPr>
              <a:defRPr lang="zh-CN"/>
            </a:defPPr>
            <a:lvl1pPr>
              <a:lnSpc>
                <a:spcPts val="1800"/>
              </a:lnSpc>
              <a:defRPr sz="1200">
                <a:solidFill>
                  <a:schemeClr val="bg1"/>
                </a:solidFill>
                <a:latin typeface="微软雅黑" panose="020B0503020204020204" pitchFamily="34" charset="-122"/>
                <a:ea typeface="微软雅黑" panose="020B0503020204020204" pitchFamily="34" charset="-122"/>
              </a:defRPr>
            </a:lvl1pPr>
          </a:lstStyle>
          <a:p>
            <a:pPr>
              <a:lnSpc>
                <a:spcPct val="150000"/>
              </a:lnSpc>
            </a:pPr>
            <a:r>
              <a:rPr lang="en-US" altLang="zh-CN" sz="2000" dirty="0">
                <a:solidFill>
                  <a:srgbClr val="1D7FC6"/>
                </a:solidFill>
                <a:sym typeface="+mn-ea"/>
              </a:rPr>
              <a:t>       </a:t>
            </a:r>
            <a:r>
              <a:rPr lang="zh-CN" altLang="zh-CN" sz="2000" dirty="0">
                <a:solidFill>
                  <a:srgbClr val="44546A"/>
                </a:solidFill>
                <a:sym typeface="+mn-ea"/>
              </a:rPr>
              <a:t>数据模型是数据库系统的核心与基础，它从抽象层次上描述了系统的静态特征、动态行为和约束条件 ，为数据库系统的信息表示与操作提供了一个抽象的框架。</a:t>
            </a:r>
            <a:endParaRPr lang="en-US" altLang="zh-CN" sz="2000" dirty="0">
              <a:solidFill>
                <a:srgbClr val="44546A"/>
              </a:solidFill>
              <a:sym typeface="微软雅黑"/>
            </a:endParaRPr>
          </a:p>
        </p:txBody>
      </p:sp>
      <p:sp>
        <p:nvSpPr>
          <p:cNvPr id="22" name="圆角矩形 11">
            <a:extLst>
              <a:ext uri="{FF2B5EF4-FFF2-40B4-BE49-F238E27FC236}">
                <a16:creationId xmlns:a16="http://schemas.microsoft.com/office/drawing/2014/main" id="{8C55570A-4374-5F3F-3EA8-C902800670D1}"/>
              </a:ext>
            </a:extLst>
          </p:cNvPr>
          <p:cNvSpPr/>
          <p:nvPr>
            <p:custDataLst>
              <p:tags r:id="rId1"/>
            </p:custDataLst>
          </p:nvPr>
        </p:nvSpPr>
        <p:spPr>
          <a:xfrm rot="21439215">
            <a:off x="4438490" y="5247129"/>
            <a:ext cx="771329" cy="780659"/>
          </a:xfrm>
          <a:prstGeom prst="roundRect">
            <a:avLst>
              <a:gd name="adj" fmla="val 18567"/>
            </a:avLst>
          </a:prstGeom>
          <a:solidFill>
            <a:srgbClr val="1AA3AA"/>
          </a:solidFill>
          <a:ln>
            <a:solidFill>
              <a:srgbClr val="1AA3AA">
                <a:lumMod val="75000"/>
              </a:srgb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a:bodyPr>
          <a:lstStyle/>
          <a:p>
            <a:pPr algn="ctr"/>
            <a:r>
              <a:rPr lang="en-US" altLang="zh-CN" sz="3600" dirty="0">
                <a:solidFill>
                  <a:sysClr val="window" lastClr="FFFFFF"/>
                </a:solidFill>
                <a:sym typeface="Arial" panose="020B0604020202020204" pitchFamily="34" charset="0"/>
              </a:rPr>
              <a:t>3</a:t>
            </a:r>
            <a:endParaRPr lang="zh-CN" altLang="en-US" sz="3600" dirty="0">
              <a:solidFill>
                <a:sysClr val="window" lastClr="FFFFFF"/>
              </a:solidFill>
              <a:sym typeface="Arial" panose="020B0604020202020204" pitchFamily="34" charset="0"/>
            </a:endParaRPr>
          </a:p>
        </p:txBody>
      </p:sp>
      <p:sp>
        <p:nvSpPr>
          <p:cNvPr id="23" name="标题 1">
            <a:extLst>
              <a:ext uri="{FF2B5EF4-FFF2-40B4-BE49-F238E27FC236}">
                <a16:creationId xmlns:a16="http://schemas.microsoft.com/office/drawing/2014/main" id="{680BECF8-B975-D410-C181-6ED602B6DFBB}"/>
              </a:ext>
            </a:extLst>
          </p:cNvPr>
          <p:cNvSpPr txBox="1"/>
          <p:nvPr>
            <p:custDataLst>
              <p:tags r:id="rId2"/>
            </p:custDataLst>
          </p:nvPr>
        </p:nvSpPr>
        <p:spPr>
          <a:xfrm>
            <a:off x="6202986" y="5462563"/>
            <a:ext cx="3533557" cy="282944"/>
          </a:xfrm>
          <a:prstGeom prst="rect">
            <a:avLst/>
          </a:prstGeom>
          <a:noFill/>
        </p:spPr>
        <p:txBody>
          <a:bodyPr wrap="square" bIns="0" rtlCol="0" anchor="b" anchorCtr="0">
            <a:noAutofit/>
          </a:bodyPr>
          <a:lstStyle>
            <a:defPPr>
              <a:defRPr lang="zh-CN"/>
            </a:defPPr>
            <a:lvl1pPr>
              <a:lnSpc>
                <a:spcPct val="130000"/>
              </a:lnSpc>
              <a:defRPr sz="1200"/>
            </a:lvl1pPr>
          </a:lstStyle>
          <a:p>
            <a:pPr>
              <a:lnSpc>
                <a:spcPct val="120000"/>
              </a:lnSpc>
            </a:pPr>
            <a:r>
              <a:rPr lang="zh-CN" altLang="en-US" sz="2000" b="1" spc="300" dirty="0">
                <a:solidFill>
                  <a:srgbClr val="1AA3AA"/>
                </a:solidFill>
                <a:latin typeface="微软雅黑" panose="020B0503020204020204" pitchFamily="34" charset="-122"/>
                <a:ea typeface="微软雅黑" panose="020B0503020204020204" pitchFamily="34" charset="-122"/>
                <a:cs typeface="+mn-ea"/>
              </a:rPr>
              <a:t>数据的约束条件</a:t>
            </a:r>
            <a:endParaRPr lang="zh-CN" altLang="en-US" sz="2000" b="1" spc="300" dirty="0">
              <a:solidFill>
                <a:srgbClr val="1AA3AA"/>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24" name="圆角矩形 10">
            <a:extLst>
              <a:ext uri="{FF2B5EF4-FFF2-40B4-BE49-F238E27FC236}">
                <a16:creationId xmlns:a16="http://schemas.microsoft.com/office/drawing/2014/main" id="{3CC5A44F-7F56-4413-81B7-CCE8997A468B}"/>
              </a:ext>
            </a:extLst>
          </p:cNvPr>
          <p:cNvSpPr/>
          <p:nvPr>
            <p:custDataLst>
              <p:tags r:id="rId3"/>
            </p:custDataLst>
          </p:nvPr>
        </p:nvSpPr>
        <p:spPr>
          <a:xfrm rot="21439215">
            <a:off x="4604843" y="4458923"/>
            <a:ext cx="771329" cy="780659"/>
          </a:xfrm>
          <a:prstGeom prst="roundRect">
            <a:avLst>
              <a:gd name="adj" fmla="val 18567"/>
            </a:avLst>
          </a:prstGeom>
          <a:solidFill>
            <a:srgbClr val="3498DB"/>
          </a:solidFill>
          <a:ln>
            <a:solidFill>
              <a:srgbClr val="3498DB">
                <a:lumMod val="75000"/>
              </a:srgb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a:bodyPr>
          <a:lstStyle/>
          <a:p>
            <a:pPr algn="ctr"/>
            <a:r>
              <a:rPr lang="en-US" altLang="zh-CN" sz="3600" dirty="0">
                <a:solidFill>
                  <a:sysClr val="window" lastClr="FFFFFF"/>
                </a:solidFill>
                <a:sym typeface="Arial" panose="020B0604020202020204" pitchFamily="34" charset="0"/>
              </a:rPr>
              <a:t>2</a:t>
            </a:r>
            <a:endParaRPr lang="zh-CN" altLang="en-US" sz="3600" dirty="0">
              <a:solidFill>
                <a:sysClr val="window" lastClr="FFFFFF"/>
              </a:solidFill>
              <a:sym typeface="Arial" panose="020B0604020202020204" pitchFamily="34" charset="0"/>
            </a:endParaRPr>
          </a:p>
        </p:txBody>
      </p:sp>
      <p:sp>
        <p:nvSpPr>
          <p:cNvPr id="25" name="标题 1">
            <a:extLst>
              <a:ext uri="{FF2B5EF4-FFF2-40B4-BE49-F238E27FC236}">
                <a16:creationId xmlns:a16="http://schemas.microsoft.com/office/drawing/2014/main" id="{E945C0C0-1C24-9D37-F21B-9B0C8B6A8337}"/>
              </a:ext>
            </a:extLst>
          </p:cNvPr>
          <p:cNvSpPr txBox="1"/>
          <p:nvPr>
            <p:custDataLst>
              <p:tags r:id="rId4"/>
            </p:custDataLst>
          </p:nvPr>
        </p:nvSpPr>
        <p:spPr>
          <a:xfrm>
            <a:off x="6362158" y="4653405"/>
            <a:ext cx="2568224" cy="282944"/>
          </a:xfrm>
          <a:prstGeom prst="rect">
            <a:avLst/>
          </a:prstGeom>
          <a:noFill/>
        </p:spPr>
        <p:txBody>
          <a:bodyPr wrap="square" bIns="0" rtlCol="0" anchor="b" anchorCtr="0">
            <a:noAutofit/>
          </a:bodyPr>
          <a:lstStyle>
            <a:defPPr>
              <a:defRPr lang="zh-CN"/>
            </a:defPPr>
            <a:lvl1pPr>
              <a:lnSpc>
                <a:spcPct val="130000"/>
              </a:lnSpc>
              <a:defRPr sz="1200"/>
            </a:lvl1pPr>
          </a:lstStyle>
          <a:p>
            <a:pPr>
              <a:lnSpc>
                <a:spcPct val="120000"/>
              </a:lnSpc>
            </a:pPr>
            <a:r>
              <a:rPr lang="zh-CN" altLang="en-US" sz="2000" b="1" spc="300" dirty="0">
                <a:solidFill>
                  <a:srgbClr val="1F74AD"/>
                </a:solidFill>
                <a:latin typeface="微软雅黑" panose="020B0503020204020204" pitchFamily="34" charset="-122"/>
                <a:ea typeface="微软雅黑" panose="020B0503020204020204" pitchFamily="34" charset="-122"/>
                <a:cs typeface="+mn-ea"/>
              </a:rPr>
              <a:t>数据操作</a:t>
            </a:r>
            <a:endParaRPr lang="zh-CN" altLang="en-US" sz="2000" b="1" spc="300" dirty="0">
              <a:solidFill>
                <a:srgbClr val="1F74AD"/>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26" name="圆角矩形 1">
            <a:extLst>
              <a:ext uri="{FF2B5EF4-FFF2-40B4-BE49-F238E27FC236}">
                <a16:creationId xmlns:a16="http://schemas.microsoft.com/office/drawing/2014/main" id="{981C043A-2681-790D-695F-C69B81689FBA}"/>
              </a:ext>
            </a:extLst>
          </p:cNvPr>
          <p:cNvSpPr/>
          <p:nvPr>
            <p:custDataLst>
              <p:tags r:id="rId5"/>
            </p:custDataLst>
          </p:nvPr>
        </p:nvSpPr>
        <p:spPr>
          <a:xfrm rot="21116664">
            <a:off x="4349658" y="3691557"/>
            <a:ext cx="771329" cy="780659"/>
          </a:xfrm>
          <a:prstGeom prst="roundRect">
            <a:avLst>
              <a:gd name="adj" fmla="val 18567"/>
            </a:avLst>
          </a:prstGeom>
          <a:ln>
            <a:solidFill>
              <a:srgbClr val="1F74AD">
                <a:lumMod val="75000"/>
              </a:srgb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lnSpcReduction="10000"/>
          </a:bodyPr>
          <a:lstStyle/>
          <a:p>
            <a:pPr algn="ctr"/>
            <a:r>
              <a:rPr lang="en-US" altLang="zh-CN" sz="4050" dirty="0">
                <a:solidFill>
                  <a:sysClr val="window" lastClr="FFFFFF"/>
                </a:solidFill>
                <a:sym typeface="Arial" panose="020B0604020202020204" pitchFamily="34" charset="0"/>
              </a:rPr>
              <a:t>1</a:t>
            </a:r>
            <a:endParaRPr lang="zh-CN" altLang="en-US" sz="4050" dirty="0">
              <a:solidFill>
                <a:sysClr val="window" lastClr="FFFFFF"/>
              </a:solidFill>
              <a:sym typeface="Arial" panose="020B0604020202020204" pitchFamily="34" charset="0"/>
            </a:endParaRPr>
          </a:p>
        </p:txBody>
      </p:sp>
      <p:sp>
        <p:nvSpPr>
          <p:cNvPr id="27" name="标题 1">
            <a:extLst>
              <a:ext uri="{FF2B5EF4-FFF2-40B4-BE49-F238E27FC236}">
                <a16:creationId xmlns:a16="http://schemas.microsoft.com/office/drawing/2014/main" id="{EAF6B892-8A4C-5D5F-75CB-FB3F377E2115}"/>
              </a:ext>
            </a:extLst>
          </p:cNvPr>
          <p:cNvSpPr txBox="1"/>
          <p:nvPr>
            <p:custDataLst>
              <p:tags r:id="rId6"/>
            </p:custDataLst>
          </p:nvPr>
        </p:nvSpPr>
        <p:spPr>
          <a:xfrm>
            <a:off x="6096000" y="3836265"/>
            <a:ext cx="2575258" cy="282944"/>
          </a:xfrm>
          <a:prstGeom prst="rect">
            <a:avLst/>
          </a:prstGeom>
          <a:noFill/>
        </p:spPr>
        <p:txBody>
          <a:bodyPr wrap="square" bIns="0" rtlCol="0" anchor="b" anchorCtr="0">
            <a:noAutofit/>
          </a:bodyPr>
          <a:lstStyle>
            <a:defPPr>
              <a:defRPr lang="zh-CN"/>
            </a:defPPr>
            <a:lvl1pPr>
              <a:lnSpc>
                <a:spcPct val="130000"/>
              </a:lnSpc>
              <a:defRPr sz="1200"/>
            </a:lvl1pPr>
          </a:lstStyle>
          <a:p>
            <a:pPr>
              <a:lnSpc>
                <a:spcPct val="120000"/>
              </a:lnSpc>
            </a:pPr>
            <a:r>
              <a:rPr lang="zh-CN" altLang="en-US" sz="2000" b="1" spc="300" dirty="0">
                <a:solidFill>
                  <a:srgbClr val="1F74AD"/>
                </a:solidFill>
                <a:latin typeface="微软雅黑" panose="020B0503020204020204" pitchFamily="34" charset="-122"/>
                <a:ea typeface="微软雅黑" panose="020B0503020204020204" pitchFamily="34" charset="-122"/>
                <a:cs typeface="+mn-ea"/>
              </a:rPr>
              <a:t>数据结构</a:t>
            </a:r>
            <a:endParaRPr lang="zh-CN" altLang="en-US" sz="2000" b="1" spc="300" dirty="0">
              <a:solidFill>
                <a:srgbClr val="1F74AD"/>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Tree>
    <p:extLst>
      <p:ext uri="{BB962C8B-B14F-4D97-AF65-F5344CB8AC3E}">
        <p14:creationId xmlns:p14="http://schemas.microsoft.com/office/powerpoint/2010/main" val="33210517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 calcmode="lin" valueType="num">
                                      <p:cBhvr>
                                        <p:cTn id="7" dur="300" fill="hold"/>
                                        <p:tgtEl>
                                          <p:spTgt spid="8"/>
                                        </p:tgtEl>
                                        <p:attrNameLst>
                                          <p:attrName>ppt_w</p:attrName>
                                        </p:attrNameLst>
                                      </p:cBhvr>
                                      <p:tavLst>
                                        <p:tav tm="0">
                                          <p:val>
                                            <p:fltVal val="0"/>
                                          </p:val>
                                        </p:tav>
                                        <p:tav tm="100000">
                                          <p:val>
                                            <p:strVal val="#ppt_w"/>
                                          </p:val>
                                        </p:tav>
                                      </p:tavLst>
                                    </p:anim>
                                    <p:anim calcmode="lin" valueType="num">
                                      <p:cBhvr>
                                        <p:cTn id="8" dur="300" fill="hold"/>
                                        <p:tgtEl>
                                          <p:spTgt spid="8"/>
                                        </p:tgtEl>
                                        <p:attrNameLst>
                                          <p:attrName>ppt_h</p:attrName>
                                        </p:attrNameLst>
                                      </p:cBhvr>
                                      <p:tavLst>
                                        <p:tav tm="0">
                                          <p:val>
                                            <p:fltVal val="0"/>
                                          </p:val>
                                        </p:tav>
                                        <p:tav tm="100000">
                                          <p:val>
                                            <p:strVal val="#ppt_h"/>
                                          </p:val>
                                        </p:tav>
                                      </p:tavLst>
                                    </p:anim>
                                    <p:animEffect transition="in" filter="fade">
                                      <p:cBhvr>
                                        <p:cTn id="9" dur="3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iterate type="lt">
                                    <p:tmPct val="10000"/>
                                  </p:iterate>
                                  <p:childTnLst>
                                    <p:set>
                                      <p:cBhvr>
                                        <p:cTn id="13" dur="1" fill="hold">
                                          <p:stCondLst>
                                            <p:cond delay="0"/>
                                          </p:stCondLst>
                                        </p:cTn>
                                        <p:tgtEl>
                                          <p:spTgt spid="7"/>
                                        </p:tgtEl>
                                        <p:attrNameLst>
                                          <p:attrName>style.visibility</p:attrName>
                                        </p:attrNameLst>
                                      </p:cBhvr>
                                      <p:to>
                                        <p:strVal val="visible"/>
                                      </p:to>
                                    </p:set>
                                    <p:anim calcmode="lin" valueType="num">
                                      <p:cBhvr>
                                        <p:cTn id="14" dur="200" fill="hold"/>
                                        <p:tgtEl>
                                          <p:spTgt spid="7"/>
                                        </p:tgtEl>
                                        <p:attrNameLst>
                                          <p:attrName>ppt_w</p:attrName>
                                        </p:attrNameLst>
                                      </p:cBhvr>
                                      <p:tavLst>
                                        <p:tav tm="0">
                                          <p:val>
                                            <p:fltVal val="0"/>
                                          </p:val>
                                        </p:tav>
                                        <p:tav tm="100000">
                                          <p:val>
                                            <p:strVal val="#ppt_w"/>
                                          </p:val>
                                        </p:tav>
                                      </p:tavLst>
                                    </p:anim>
                                    <p:anim calcmode="lin" valueType="num">
                                      <p:cBhvr>
                                        <p:cTn id="15" dur="200" fill="hold"/>
                                        <p:tgtEl>
                                          <p:spTgt spid="7"/>
                                        </p:tgtEl>
                                        <p:attrNameLst>
                                          <p:attrName>ppt_h</p:attrName>
                                        </p:attrNameLst>
                                      </p:cBhvr>
                                      <p:tavLst>
                                        <p:tav tm="0">
                                          <p:val>
                                            <p:fltVal val="0"/>
                                          </p:val>
                                        </p:tav>
                                        <p:tav tm="100000">
                                          <p:val>
                                            <p:strVal val="#ppt_h"/>
                                          </p:val>
                                        </p:tav>
                                      </p:tavLst>
                                    </p:anim>
                                    <p:animEffect transition="in" filter="fade">
                                      <p:cBhvr>
                                        <p:cTn id="16" dur="2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iterate type="lt">
                                    <p:tmPct val="10000"/>
                                  </p:iterate>
                                  <p:childTnLst>
                                    <p:set>
                                      <p:cBhvr>
                                        <p:cTn id="20" dur="1" fill="hold">
                                          <p:stCondLst>
                                            <p:cond delay="0"/>
                                          </p:stCondLst>
                                        </p:cTn>
                                        <p:tgtEl>
                                          <p:spTgt spid="9"/>
                                        </p:tgtEl>
                                        <p:attrNameLst>
                                          <p:attrName>style.visibility</p:attrName>
                                        </p:attrNameLst>
                                      </p:cBhvr>
                                      <p:to>
                                        <p:strVal val="visible"/>
                                      </p:to>
                                    </p:set>
                                    <p:anim calcmode="lin" valueType="num">
                                      <p:cBhvr>
                                        <p:cTn id="21" dur="200" fill="hold"/>
                                        <p:tgtEl>
                                          <p:spTgt spid="9"/>
                                        </p:tgtEl>
                                        <p:attrNameLst>
                                          <p:attrName>ppt_w</p:attrName>
                                        </p:attrNameLst>
                                      </p:cBhvr>
                                      <p:tavLst>
                                        <p:tav tm="0">
                                          <p:val>
                                            <p:fltVal val="0"/>
                                          </p:val>
                                        </p:tav>
                                        <p:tav tm="100000">
                                          <p:val>
                                            <p:strVal val="#ppt_w"/>
                                          </p:val>
                                        </p:tav>
                                      </p:tavLst>
                                    </p:anim>
                                    <p:anim calcmode="lin" valueType="num">
                                      <p:cBhvr>
                                        <p:cTn id="22" dur="200" fill="hold"/>
                                        <p:tgtEl>
                                          <p:spTgt spid="9"/>
                                        </p:tgtEl>
                                        <p:attrNameLst>
                                          <p:attrName>ppt_h</p:attrName>
                                        </p:attrNameLst>
                                      </p:cBhvr>
                                      <p:tavLst>
                                        <p:tav tm="0">
                                          <p:val>
                                            <p:fltVal val="0"/>
                                          </p:val>
                                        </p:tav>
                                        <p:tav tm="100000">
                                          <p:val>
                                            <p:strVal val="#ppt_h"/>
                                          </p:val>
                                        </p:tav>
                                      </p:tavLst>
                                    </p:anim>
                                    <p:animEffect transition="in" filter="fade">
                                      <p:cBhvr>
                                        <p:cTn id="23" dur="2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5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22" grpId="0" animBg="1"/>
      <p:bldP spid="23" grpId="0"/>
      <p:bldP spid="24" grpId="0" animBg="1"/>
      <p:bldP spid="25" grpId="0"/>
      <p:bldP spid="26" grpId="0" animBg="1"/>
      <p:bldP spid="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sym typeface="+mn-ea"/>
              </a:rPr>
              <a:t>数据模型的分类</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BC3BA76C-4075-4E18-2242-2681172337EF}"/>
              </a:ext>
            </a:extLst>
          </p:cNvPr>
          <p:cNvSpPr/>
          <p:nvPr/>
        </p:nvSpPr>
        <p:spPr>
          <a:xfrm>
            <a:off x="1010652" y="869281"/>
            <a:ext cx="10154653" cy="4308359"/>
          </a:xfrm>
          <a:prstGeom prst="rect">
            <a:avLst/>
          </a:prstGeom>
        </p:spPr>
        <p:txBody>
          <a:bodyPr wrap="square">
            <a:spAutoFit/>
          </a:bodyPr>
          <a:lstStyle/>
          <a:p>
            <a:pPr marL="0" marR="0" lvl="0" indent="266700" algn="just" defTabSz="457200" rtl="0" eaLnBrk="0" fontAlgn="base" latinLnBrk="0" hangingPunct="0">
              <a:lnSpc>
                <a:spcPct val="200000"/>
              </a:lnSpc>
              <a:spcBef>
                <a:spcPct val="0"/>
              </a:spcBef>
              <a:spcAft>
                <a:spcPts val="0"/>
              </a:spcAft>
              <a:buClrTx/>
              <a:buSzTx/>
              <a:buFontTx/>
              <a:buNone/>
              <a:defRPr/>
            </a:pPr>
            <a:r>
              <a:rPr lang="zh-CN" altLang="zh-CN" sz="2000" dirty="0">
                <a:solidFill>
                  <a:srgbClr val="44546A"/>
                </a:solidFill>
                <a:latin typeface="微软雅黑" panose="020B0503020204020204" pitchFamily="34" charset="-122"/>
                <a:ea typeface="微软雅黑" panose="020B0503020204020204" pitchFamily="34" charset="-122"/>
                <a:sym typeface="+mn-ea"/>
              </a:rPr>
              <a:t>（</a:t>
            </a:r>
            <a:r>
              <a:rPr lang="en-US" altLang="zh-CN" sz="2000" dirty="0">
                <a:solidFill>
                  <a:srgbClr val="44546A"/>
                </a:solidFill>
                <a:latin typeface="微软雅黑" panose="020B0503020204020204" pitchFamily="34" charset="-122"/>
                <a:ea typeface="微软雅黑" panose="020B0503020204020204" pitchFamily="34" charset="-122"/>
                <a:sym typeface="+mn-ea"/>
              </a:rPr>
              <a:t>1</a:t>
            </a:r>
            <a:r>
              <a:rPr lang="zh-CN" altLang="zh-CN" sz="2000" dirty="0">
                <a:solidFill>
                  <a:srgbClr val="44546A"/>
                </a:solidFill>
                <a:latin typeface="微软雅黑" panose="020B0503020204020204" pitchFamily="34" charset="-122"/>
                <a:ea typeface="微软雅黑" panose="020B0503020204020204" pitchFamily="34" charset="-122"/>
                <a:sym typeface="+mn-ea"/>
              </a:rPr>
              <a:t>）</a:t>
            </a:r>
            <a:r>
              <a:rPr lang="zh-CN" altLang="zh-CN" sz="2000" b="1" dirty="0">
                <a:solidFill>
                  <a:srgbClr val="44546A"/>
                </a:solidFill>
                <a:latin typeface="微软雅黑" panose="020B0503020204020204" pitchFamily="34" charset="-122"/>
                <a:ea typeface="微软雅黑" panose="020B0503020204020204" pitchFamily="34" charset="-122"/>
                <a:sym typeface="+mn-ea"/>
              </a:rPr>
              <a:t>概念数据模型：</a:t>
            </a:r>
            <a:r>
              <a:rPr lang="zh-CN" altLang="zh-CN" sz="2000" dirty="0">
                <a:solidFill>
                  <a:srgbClr val="44546A"/>
                </a:solidFill>
                <a:latin typeface="微软雅黑" panose="020B0503020204020204" pitchFamily="34" charset="-122"/>
                <a:ea typeface="微软雅黑" panose="020B0503020204020204" pitchFamily="34" charset="-122"/>
                <a:sym typeface="+mn-ea"/>
              </a:rPr>
              <a:t>是一种面向</a:t>
            </a:r>
            <a:r>
              <a:rPr lang="en-US" altLang="zh-CN" sz="2000" dirty="0">
                <a:solidFill>
                  <a:srgbClr val="44546A"/>
                </a:solidFill>
                <a:latin typeface="微软雅黑" panose="020B0503020204020204" pitchFamily="34" charset="-122"/>
                <a:ea typeface="微软雅黑" panose="020B0503020204020204" pitchFamily="34" charset="-122"/>
                <a:sym typeface="+mn-ea"/>
              </a:rPr>
              <a:t>用户</a:t>
            </a:r>
            <a:r>
              <a:rPr lang="zh-CN" altLang="zh-CN" sz="2000" dirty="0">
                <a:solidFill>
                  <a:srgbClr val="44546A"/>
                </a:solidFill>
                <a:latin typeface="微软雅黑" panose="020B0503020204020204" pitchFamily="34" charset="-122"/>
                <a:ea typeface="微软雅黑" panose="020B0503020204020204" pitchFamily="34" charset="-122"/>
                <a:sym typeface="+mn-ea"/>
              </a:rPr>
              <a:t>、面向</a:t>
            </a:r>
            <a:r>
              <a:rPr lang="en-US" altLang="zh-CN" sz="2000" dirty="0">
                <a:solidFill>
                  <a:srgbClr val="44546A"/>
                </a:solidFill>
                <a:latin typeface="微软雅黑" panose="020B0503020204020204" pitchFamily="34" charset="-122"/>
                <a:ea typeface="微软雅黑" panose="020B0503020204020204" pitchFamily="34" charset="-122"/>
                <a:sym typeface="+mn-ea"/>
              </a:rPr>
              <a:t>客观世界</a:t>
            </a:r>
            <a:r>
              <a:rPr lang="zh-CN" altLang="zh-CN" sz="2000" dirty="0">
                <a:solidFill>
                  <a:srgbClr val="44546A"/>
                </a:solidFill>
                <a:latin typeface="微软雅黑" panose="020B0503020204020204" pitchFamily="34" charset="-122"/>
                <a:ea typeface="微软雅黑" panose="020B0503020204020204" pitchFamily="34" charset="-122"/>
                <a:sym typeface="+mn-ea"/>
              </a:rPr>
              <a:t>的模型，主要用来描述世界的</a:t>
            </a:r>
            <a:r>
              <a:rPr lang="en-US" altLang="zh-CN" sz="2000" dirty="0">
                <a:solidFill>
                  <a:srgbClr val="44546A"/>
                </a:solidFill>
                <a:latin typeface="微软雅黑" panose="020B0503020204020204" pitchFamily="34" charset="-122"/>
                <a:ea typeface="微软雅黑" panose="020B0503020204020204" pitchFamily="34" charset="-122"/>
                <a:sym typeface="+mn-ea"/>
              </a:rPr>
              <a:t>概念化</a:t>
            </a:r>
            <a:r>
              <a:rPr lang="zh-CN" altLang="zh-CN" sz="2000" dirty="0">
                <a:solidFill>
                  <a:srgbClr val="44546A"/>
                </a:solidFill>
                <a:latin typeface="微软雅黑" panose="020B0503020204020204" pitchFamily="34" charset="-122"/>
                <a:ea typeface="微软雅黑" panose="020B0503020204020204" pitchFamily="34" charset="-122"/>
                <a:sym typeface="+mn-ea"/>
              </a:rPr>
              <a:t>结构。概念模型是现实世界到信息世界的第一次抽象，用于信息世界的建模，是数据库设计人员的有利工具，也是数据库设计人员与用户之间交流的语言。</a:t>
            </a:r>
            <a:endParaRPr lang="zh-CN" altLang="zh-CN" sz="2000" dirty="0">
              <a:solidFill>
                <a:srgbClr val="44546A"/>
              </a:solidFill>
              <a:latin typeface="微软雅黑" panose="020B0503020204020204" pitchFamily="34" charset="-122"/>
              <a:ea typeface="微软雅黑" panose="020B0503020204020204" pitchFamily="34" charset="-122"/>
            </a:endParaRPr>
          </a:p>
          <a:p>
            <a:pPr marL="0" marR="0" lvl="0" indent="266700" algn="just" defTabSz="457200" rtl="0" eaLnBrk="0" fontAlgn="base" latinLnBrk="0" hangingPunct="0">
              <a:lnSpc>
                <a:spcPct val="200000"/>
              </a:lnSpc>
              <a:spcBef>
                <a:spcPct val="0"/>
              </a:spcBef>
              <a:spcAft>
                <a:spcPts val="0"/>
              </a:spcAft>
              <a:buClrTx/>
              <a:buSzTx/>
              <a:buFontTx/>
              <a:buNone/>
              <a:defRPr/>
            </a:pPr>
            <a:r>
              <a:rPr lang="zh-CN" altLang="zh-CN" sz="2000" dirty="0">
                <a:solidFill>
                  <a:srgbClr val="44546A"/>
                </a:solidFill>
                <a:latin typeface="微软雅黑" panose="020B0503020204020204" pitchFamily="34" charset="-122"/>
                <a:ea typeface="微软雅黑" panose="020B0503020204020204" pitchFamily="34" charset="-122"/>
                <a:sym typeface="+mn-ea"/>
              </a:rPr>
              <a:t>（</a:t>
            </a:r>
            <a:r>
              <a:rPr lang="en-US" altLang="zh-CN" sz="2000" dirty="0">
                <a:solidFill>
                  <a:srgbClr val="44546A"/>
                </a:solidFill>
                <a:latin typeface="微软雅黑" panose="020B0503020204020204" pitchFamily="34" charset="-122"/>
                <a:ea typeface="微软雅黑" panose="020B0503020204020204" pitchFamily="34" charset="-122"/>
                <a:sym typeface="+mn-ea"/>
              </a:rPr>
              <a:t>2</a:t>
            </a:r>
            <a:r>
              <a:rPr lang="zh-CN" altLang="zh-CN" sz="2000" dirty="0">
                <a:solidFill>
                  <a:srgbClr val="44546A"/>
                </a:solidFill>
                <a:latin typeface="微软雅黑" panose="020B0503020204020204" pitchFamily="34" charset="-122"/>
                <a:ea typeface="微软雅黑" panose="020B0503020204020204" pitchFamily="34" charset="-122"/>
                <a:sym typeface="+mn-ea"/>
              </a:rPr>
              <a:t>）</a:t>
            </a:r>
            <a:r>
              <a:rPr lang="zh-CN" altLang="zh-CN" sz="2000" b="1" dirty="0">
                <a:solidFill>
                  <a:srgbClr val="44546A"/>
                </a:solidFill>
                <a:latin typeface="微软雅黑" panose="020B0503020204020204" pitchFamily="34" charset="-122"/>
                <a:ea typeface="微软雅黑" panose="020B0503020204020204" pitchFamily="34" charset="-122"/>
                <a:sym typeface="+mn-ea"/>
              </a:rPr>
              <a:t>逻辑数据模型：</a:t>
            </a:r>
            <a:r>
              <a:rPr lang="zh-CN" altLang="zh-CN" sz="2000" dirty="0">
                <a:solidFill>
                  <a:srgbClr val="44546A"/>
                </a:solidFill>
                <a:latin typeface="微软雅黑" panose="020B0503020204020204" pitchFamily="34" charset="-122"/>
                <a:ea typeface="微软雅黑" panose="020B0503020204020204" pitchFamily="34" charset="-122"/>
                <a:sym typeface="+mn-ea"/>
              </a:rPr>
              <a:t>是一种面向数据库系统的模型，是现实世界的第二次抽象。它主要用于</a:t>
            </a:r>
            <a:r>
              <a:rPr lang="en-US" altLang="zh-CN" sz="2000" dirty="0">
                <a:solidFill>
                  <a:srgbClr val="44546A"/>
                </a:solidFill>
                <a:latin typeface="微软雅黑" panose="020B0503020204020204" pitchFamily="34" charset="-122"/>
                <a:ea typeface="微软雅黑" panose="020B0503020204020204" pitchFamily="34" charset="-122"/>
                <a:sym typeface="+mn-ea"/>
              </a:rPr>
              <a:t>DBMS</a:t>
            </a:r>
            <a:r>
              <a:rPr lang="zh-CN" altLang="zh-CN" sz="2000" dirty="0">
                <a:solidFill>
                  <a:srgbClr val="44546A"/>
                </a:solidFill>
                <a:latin typeface="微软雅黑" panose="020B0503020204020204" pitchFamily="34" charset="-122"/>
                <a:ea typeface="微软雅黑" panose="020B0503020204020204" pitchFamily="34" charset="-122"/>
                <a:sym typeface="+mn-ea"/>
              </a:rPr>
              <a:t>的实现。目前最常用的数据模型主要包括</a:t>
            </a:r>
            <a:r>
              <a:rPr lang="zh-CN" altLang="zh-CN" sz="2000" b="1" dirty="0">
                <a:solidFill>
                  <a:srgbClr val="44546A"/>
                </a:solidFill>
                <a:latin typeface="微软雅黑" panose="020B0503020204020204" pitchFamily="34" charset="-122"/>
                <a:ea typeface="微软雅黑" panose="020B0503020204020204" pitchFamily="34" charset="-122"/>
                <a:sym typeface="+mn-ea"/>
              </a:rPr>
              <a:t>层次模型、网状模型和关系模型</a:t>
            </a:r>
            <a:r>
              <a:rPr lang="zh-CN" altLang="zh-CN" sz="2000" dirty="0">
                <a:solidFill>
                  <a:srgbClr val="44546A"/>
                </a:solidFill>
                <a:latin typeface="微软雅黑" panose="020B0503020204020204" pitchFamily="34" charset="-122"/>
                <a:ea typeface="微软雅黑" panose="020B0503020204020204" pitchFamily="34" charset="-122"/>
                <a:sym typeface="+mn-ea"/>
              </a:rPr>
              <a:t>。</a:t>
            </a:r>
          </a:p>
          <a:p>
            <a:pPr marL="0" marR="0" lvl="0" indent="266700" algn="just" defTabSz="457200" rtl="0" eaLnBrk="0" fontAlgn="base" latinLnBrk="0" hangingPunct="0">
              <a:lnSpc>
                <a:spcPct val="200000"/>
              </a:lnSpc>
              <a:spcBef>
                <a:spcPct val="0"/>
              </a:spcBef>
              <a:spcAft>
                <a:spcPts val="0"/>
              </a:spcAft>
              <a:buClrTx/>
              <a:buSzTx/>
              <a:buFontTx/>
              <a:buNone/>
              <a:defRPr/>
            </a:pPr>
            <a:r>
              <a:rPr lang="zh-CN" altLang="zh-CN" sz="2000" dirty="0">
                <a:solidFill>
                  <a:srgbClr val="44546A"/>
                </a:solidFill>
                <a:latin typeface="微软雅黑" panose="020B0503020204020204" pitchFamily="34" charset="-122"/>
                <a:ea typeface="微软雅黑" panose="020B0503020204020204" pitchFamily="34" charset="-122"/>
                <a:sym typeface="+mn-ea"/>
              </a:rPr>
              <a:t>（</a:t>
            </a:r>
            <a:r>
              <a:rPr lang="en-US" altLang="zh-CN" sz="2000" dirty="0">
                <a:solidFill>
                  <a:srgbClr val="44546A"/>
                </a:solidFill>
                <a:latin typeface="微软雅黑" panose="020B0503020204020204" pitchFamily="34" charset="-122"/>
                <a:ea typeface="微软雅黑" panose="020B0503020204020204" pitchFamily="34" charset="-122"/>
                <a:sym typeface="+mn-ea"/>
              </a:rPr>
              <a:t>3</a:t>
            </a:r>
            <a:r>
              <a:rPr lang="zh-CN" altLang="zh-CN" sz="2000" dirty="0">
                <a:solidFill>
                  <a:srgbClr val="44546A"/>
                </a:solidFill>
                <a:latin typeface="微软雅黑" panose="020B0503020204020204" pitchFamily="34" charset="-122"/>
                <a:ea typeface="微软雅黑" panose="020B0503020204020204" pitchFamily="34" charset="-122"/>
                <a:sym typeface="+mn-ea"/>
              </a:rPr>
              <a:t>）</a:t>
            </a:r>
            <a:r>
              <a:rPr lang="zh-CN" altLang="zh-CN" sz="2000" b="1" dirty="0">
                <a:solidFill>
                  <a:srgbClr val="44546A"/>
                </a:solidFill>
                <a:latin typeface="微软雅黑" panose="020B0503020204020204" pitchFamily="34" charset="-122"/>
                <a:ea typeface="微软雅黑" panose="020B0503020204020204" pitchFamily="34" charset="-122"/>
                <a:sym typeface="+mn-ea"/>
              </a:rPr>
              <a:t>物理数据模型：</a:t>
            </a:r>
            <a:r>
              <a:rPr lang="zh-CN" altLang="zh-CN" sz="2000" dirty="0">
                <a:solidFill>
                  <a:srgbClr val="44546A"/>
                </a:solidFill>
                <a:latin typeface="微软雅黑" panose="020B0503020204020204" pitchFamily="34" charset="-122"/>
                <a:ea typeface="微软雅黑" panose="020B0503020204020204" pitchFamily="34" charset="-122"/>
                <a:sym typeface="+mn-ea"/>
              </a:rPr>
              <a:t>是一种面向计算机物理表示的模型，描述了数据在储存介质上的组织结构，它不但与具体的数据库管理系统有关，而且还与操作系统和硬件有关。</a:t>
            </a:r>
          </a:p>
        </p:txBody>
      </p:sp>
    </p:spTree>
    <p:extLst>
      <p:ext uri="{BB962C8B-B14F-4D97-AF65-F5344CB8AC3E}">
        <p14:creationId xmlns:p14="http://schemas.microsoft.com/office/powerpoint/2010/main" val="3625525368"/>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概念模型的表示方法</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椭圆 3">
            <a:extLst>
              <a:ext uri="{FF2B5EF4-FFF2-40B4-BE49-F238E27FC236}">
                <a16:creationId xmlns:a16="http://schemas.microsoft.com/office/drawing/2014/main" id="{B92F3382-6ABC-1A57-9370-5896866767F9}"/>
              </a:ext>
            </a:extLst>
          </p:cNvPr>
          <p:cNvSpPr/>
          <p:nvPr/>
        </p:nvSpPr>
        <p:spPr>
          <a:xfrm>
            <a:off x="2495647" y="1687195"/>
            <a:ext cx="6967026" cy="6967026"/>
          </a:xfrm>
          <a:prstGeom prst="ellipse">
            <a:avLst/>
          </a:prstGeom>
          <a:gradFill>
            <a:gsLst>
              <a:gs pos="100000">
                <a:srgbClr val="3982FF">
                  <a:alpha val="8000"/>
                </a:srgbClr>
              </a:gs>
              <a:gs pos="0">
                <a:srgbClr val="3982FF">
                  <a:alpha val="8000"/>
                </a:srgbClr>
              </a:gs>
              <a:gs pos="50000">
                <a:srgbClr val="3982FF">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5" name="椭圆 4">
            <a:extLst>
              <a:ext uri="{FF2B5EF4-FFF2-40B4-BE49-F238E27FC236}">
                <a16:creationId xmlns:a16="http://schemas.microsoft.com/office/drawing/2014/main" id="{D60F1563-3496-1E7F-08CF-79A6248A1B3D}"/>
              </a:ext>
            </a:extLst>
          </p:cNvPr>
          <p:cNvSpPr/>
          <p:nvPr/>
        </p:nvSpPr>
        <p:spPr>
          <a:xfrm>
            <a:off x="3221355" y="3520440"/>
            <a:ext cx="5282565" cy="5093335"/>
          </a:xfrm>
          <a:prstGeom prst="ellipse">
            <a:avLst/>
          </a:prstGeom>
          <a:gradFill flip="none" rotWithShape="1">
            <a:gsLst>
              <a:gs pos="1000">
                <a:srgbClr val="3982FF"/>
              </a:gs>
              <a:gs pos="100000">
                <a:srgbClr val="3982FF">
                  <a:alpha val="32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grpSp>
        <p:nvGrpSpPr>
          <p:cNvPr id="6" name="组合 11">
            <a:extLst>
              <a:ext uri="{FF2B5EF4-FFF2-40B4-BE49-F238E27FC236}">
                <a16:creationId xmlns:a16="http://schemas.microsoft.com/office/drawing/2014/main" id="{82BCF06C-2BAF-8EF3-6944-2370D028ED5D}"/>
              </a:ext>
            </a:extLst>
          </p:cNvPr>
          <p:cNvGrpSpPr/>
          <p:nvPr/>
        </p:nvGrpSpPr>
        <p:grpSpPr>
          <a:xfrm>
            <a:off x="4997450" y="1114425"/>
            <a:ext cx="2014538" cy="2041525"/>
            <a:chOff x="4387588" y="283439"/>
            <a:chExt cx="3029235" cy="3158980"/>
          </a:xfrm>
        </p:grpSpPr>
        <p:sp>
          <p:nvSpPr>
            <p:cNvPr id="7" name="椭圆 6">
              <a:extLst>
                <a:ext uri="{FF2B5EF4-FFF2-40B4-BE49-F238E27FC236}">
                  <a16:creationId xmlns:a16="http://schemas.microsoft.com/office/drawing/2014/main" id="{C56CC2CB-593B-AE47-2E8C-B04EF98B9AA4}"/>
                </a:ext>
              </a:extLst>
            </p:cNvPr>
            <p:cNvSpPr/>
            <p:nvPr/>
          </p:nvSpPr>
          <p:spPr>
            <a:xfrm>
              <a:off x="4387588" y="283439"/>
              <a:ext cx="2536897" cy="2537789"/>
            </a:xfrm>
            <a:prstGeom prst="ellipse">
              <a:avLst/>
            </a:prstGeom>
            <a:gradFill flip="none" rotWithShape="1">
              <a:gsLst>
                <a:gs pos="100000">
                  <a:srgbClr val="3982FF"/>
                </a:gs>
                <a:gs pos="0">
                  <a:srgbClr val="3982FF">
                    <a:alpha val="32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grpSp>
          <p:nvGrpSpPr>
            <p:cNvPr id="8" name="图形 36">
              <a:extLst>
                <a:ext uri="{FF2B5EF4-FFF2-40B4-BE49-F238E27FC236}">
                  <a16:creationId xmlns:a16="http://schemas.microsoft.com/office/drawing/2014/main" id="{2B085D2D-48EE-3362-74E8-DE24B98717AB}"/>
                </a:ext>
              </a:extLst>
            </p:cNvPr>
            <p:cNvGrpSpPr/>
            <p:nvPr/>
          </p:nvGrpSpPr>
          <p:grpSpPr>
            <a:xfrm>
              <a:off x="7166755" y="3096171"/>
              <a:ext cx="250068" cy="346248"/>
              <a:chOff x="3061268" y="2833448"/>
              <a:chExt cx="250068" cy="346248"/>
            </a:xfrm>
          </p:grpSpPr>
          <p:sp>
            <p:nvSpPr>
              <p:cNvPr id="10" name="任意形状 23">
                <a:extLst>
                  <a:ext uri="{FF2B5EF4-FFF2-40B4-BE49-F238E27FC236}">
                    <a16:creationId xmlns:a16="http://schemas.microsoft.com/office/drawing/2014/main" id="{46AB6FE3-66AB-CB26-E7ED-704366A86732}"/>
                  </a:ext>
                </a:extLst>
              </p:cNvPr>
              <p:cNvSpPr/>
              <p:nvPr/>
            </p:nvSpPr>
            <p:spPr>
              <a:xfrm>
                <a:off x="3061268" y="2968100"/>
                <a:ext cx="19236" cy="115416"/>
              </a:xfrm>
              <a:custGeom>
                <a:avLst/>
                <a:gdLst/>
                <a:ahLst/>
                <a:cxnLst>
                  <a:cxn ang="0">
                    <a:pos x="0" y="0"/>
                  </a:cxn>
                  <a:cxn ang="0">
                    <a:pos x="0" y="115416"/>
                  </a:cxn>
                </a:cxnLst>
                <a:rect l="0" t="0" r="0" b="0"/>
                <a:pathLst>
                  <a:path w="19236" h="115416">
                    <a:moveTo>
                      <a:pt x="0" y="0"/>
                    </a:moveTo>
                    <a:lnTo>
                      <a:pt x="0" y="115416"/>
                    </a:lnTo>
                  </a:path>
                </a:pathLst>
              </a:custGeom>
              <a:noFill/>
              <a:ln w="38100" cap="flat" cmpd="sng">
                <a:solidFill>
                  <a:schemeClr val="bg1">
                    <a:alpha val="100000"/>
                  </a:schemeClr>
                </a:solidFill>
                <a:prstDash val="solid"/>
                <a:round/>
                <a:headEnd type="none" w="med" len="med"/>
                <a:tailEnd type="none" w="med" len="med"/>
              </a:ln>
            </p:spPr>
            <p:txBody>
              <a:bodyPr/>
              <a:lstStyle/>
              <a:p>
                <a:endParaRPr lang="zh-CN" altLang="en-US"/>
              </a:p>
            </p:txBody>
          </p:sp>
          <p:sp>
            <p:nvSpPr>
              <p:cNvPr id="11" name="任意形状 26">
                <a:extLst>
                  <a:ext uri="{FF2B5EF4-FFF2-40B4-BE49-F238E27FC236}">
                    <a16:creationId xmlns:a16="http://schemas.microsoft.com/office/drawing/2014/main" id="{20DF0588-4E59-5B1E-0C26-7BC379FC164B}"/>
                  </a:ext>
                </a:extLst>
              </p:cNvPr>
              <p:cNvSpPr/>
              <p:nvPr/>
            </p:nvSpPr>
            <p:spPr>
              <a:xfrm>
                <a:off x="3157448" y="2833448"/>
                <a:ext cx="19236" cy="38472"/>
              </a:xfrm>
              <a:custGeom>
                <a:avLst/>
                <a:gdLst/>
                <a:ahLst/>
                <a:cxnLst>
                  <a:cxn ang="0">
                    <a:pos x="0" y="0"/>
                  </a:cxn>
                  <a:cxn ang="0">
                    <a:pos x="19236" y="38472"/>
                  </a:cxn>
                </a:cxnLst>
                <a:rect l="0" t="0" r="0" b="0"/>
                <a:pathLst>
                  <a:path w="19236" h="38472">
                    <a:moveTo>
                      <a:pt x="0" y="0"/>
                    </a:moveTo>
                    <a:lnTo>
                      <a:pt x="19236" y="38472"/>
                    </a:lnTo>
                  </a:path>
                </a:pathLst>
              </a:custGeom>
              <a:noFill/>
              <a:ln w="38100" cap="flat" cmpd="sng">
                <a:solidFill>
                  <a:schemeClr val="bg1">
                    <a:alpha val="100000"/>
                  </a:schemeClr>
                </a:solidFill>
                <a:prstDash val="solid"/>
                <a:round/>
                <a:headEnd type="none" w="med" len="med"/>
                <a:tailEnd type="none" w="med" len="med"/>
              </a:ln>
            </p:spPr>
            <p:txBody>
              <a:bodyPr/>
              <a:lstStyle/>
              <a:p>
                <a:endParaRPr lang="zh-CN" altLang="en-US"/>
              </a:p>
            </p:txBody>
          </p:sp>
          <p:sp>
            <p:nvSpPr>
              <p:cNvPr id="12" name="任意形状 27">
                <a:extLst>
                  <a:ext uri="{FF2B5EF4-FFF2-40B4-BE49-F238E27FC236}">
                    <a16:creationId xmlns:a16="http://schemas.microsoft.com/office/drawing/2014/main" id="{0226ED8C-EECD-EC04-6312-2EE9EA0D6856}"/>
                  </a:ext>
                </a:extLst>
              </p:cNvPr>
              <p:cNvSpPr/>
              <p:nvPr/>
            </p:nvSpPr>
            <p:spPr>
              <a:xfrm>
                <a:off x="3292100" y="2833448"/>
                <a:ext cx="19236" cy="38472"/>
              </a:xfrm>
              <a:custGeom>
                <a:avLst/>
                <a:gdLst/>
                <a:ahLst/>
                <a:cxnLst>
                  <a:cxn ang="0">
                    <a:pos x="19236" y="0"/>
                  </a:cxn>
                  <a:cxn ang="0">
                    <a:pos x="0" y="38472"/>
                  </a:cxn>
                </a:cxnLst>
                <a:rect l="0" t="0" r="0" b="0"/>
                <a:pathLst>
                  <a:path w="19236" h="38472">
                    <a:moveTo>
                      <a:pt x="19236" y="0"/>
                    </a:moveTo>
                    <a:lnTo>
                      <a:pt x="0" y="38472"/>
                    </a:lnTo>
                  </a:path>
                </a:pathLst>
              </a:custGeom>
              <a:noFill/>
              <a:ln w="38100" cap="flat" cmpd="sng">
                <a:solidFill>
                  <a:schemeClr val="bg1">
                    <a:alpha val="100000"/>
                  </a:schemeClr>
                </a:solidFill>
                <a:prstDash val="solid"/>
                <a:round/>
                <a:headEnd type="none" w="med" len="med"/>
                <a:tailEnd type="none" w="med" len="med"/>
              </a:ln>
            </p:spPr>
            <p:txBody>
              <a:bodyPr/>
              <a:lstStyle/>
              <a:p>
                <a:endParaRPr lang="zh-CN" altLang="en-US"/>
              </a:p>
            </p:txBody>
          </p:sp>
          <p:sp>
            <p:nvSpPr>
              <p:cNvPr id="13" name="任意形状 28">
                <a:extLst>
                  <a:ext uri="{FF2B5EF4-FFF2-40B4-BE49-F238E27FC236}">
                    <a16:creationId xmlns:a16="http://schemas.microsoft.com/office/drawing/2014/main" id="{93E1BAEA-9F24-C129-7B63-F47EA6D1536E}"/>
                  </a:ext>
                </a:extLst>
              </p:cNvPr>
              <p:cNvSpPr/>
              <p:nvPr/>
            </p:nvSpPr>
            <p:spPr>
              <a:xfrm>
                <a:off x="3176684" y="3121988"/>
                <a:ext cx="19236" cy="57708"/>
              </a:xfrm>
              <a:custGeom>
                <a:avLst/>
                <a:gdLst/>
                <a:ahLst/>
                <a:cxnLst>
                  <a:cxn ang="0">
                    <a:pos x="0" y="0"/>
                  </a:cxn>
                  <a:cxn ang="0">
                    <a:pos x="0" y="57708"/>
                  </a:cxn>
                </a:cxnLst>
                <a:rect l="0" t="0" r="0" b="0"/>
                <a:pathLst>
                  <a:path w="19236" h="57708">
                    <a:moveTo>
                      <a:pt x="0" y="0"/>
                    </a:moveTo>
                    <a:lnTo>
                      <a:pt x="0" y="57708"/>
                    </a:lnTo>
                  </a:path>
                </a:pathLst>
              </a:custGeom>
              <a:noFill/>
              <a:ln w="38100" cap="flat" cmpd="sng">
                <a:solidFill>
                  <a:schemeClr val="bg1">
                    <a:alpha val="100000"/>
                  </a:schemeClr>
                </a:solidFill>
                <a:prstDash val="solid"/>
                <a:round/>
                <a:headEnd type="none" w="med" len="med"/>
                <a:tailEnd type="none" w="med" len="med"/>
              </a:ln>
            </p:spPr>
            <p:txBody>
              <a:bodyPr/>
              <a:lstStyle/>
              <a:p>
                <a:endParaRPr lang="zh-CN" altLang="en-US"/>
              </a:p>
            </p:txBody>
          </p:sp>
          <p:sp>
            <p:nvSpPr>
              <p:cNvPr id="14" name="任意形状 29">
                <a:extLst>
                  <a:ext uri="{FF2B5EF4-FFF2-40B4-BE49-F238E27FC236}">
                    <a16:creationId xmlns:a16="http://schemas.microsoft.com/office/drawing/2014/main" id="{14BE039C-B034-E3F1-43C3-628EB55DA339}"/>
                  </a:ext>
                </a:extLst>
              </p:cNvPr>
              <p:cNvSpPr/>
              <p:nvPr/>
            </p:nvSpPr>
            <p:spPr>
              <a:xfrm>
                <a:off x="3292100" y="3121988"/>
                <a:ext cx="19236" cy="57708"/>
              </a:xfrm>
              <a:custGeom>
                <a:avLst/>
                <a:gdLst/>
                <a:ahLst/>
                <a:cxnLst>
                  <a:cxn ang="0">
                    <a:pos x="0" y="0"/>
                  </a:cxn>
                  <a:cxn ang="0">
                    <a:pos x="0" y="57708"/>
                  </a:cxn>
                </a:cxnLst>
                <a:rect l="0" t="0" r="0" b="0"/>
                <a:pathLst>
                  <a:path w="19236" h="57708">
                    <a:moveTo>
                      <a:pt x="0" y="0"/>
                    </a:moveTo>
                    <a:lnTo>
                      <a:pt x="0" y="57708"/>
                    </a:lnTo>
                  </a:path>
                </a:pathLst>
              </a:custGeom>
              <a:noFill/>
              <a:ln w="38100" cap="flat" cmpd="sng">
                <a:solidFill>
                  <a:schemeClr val="bg1">
                    <a:alpha val="100000"/>
                  </a:schemeClr>
                </a:solidFill>
                <a:prstDash val="solid"/>
                <a:round/>
                <a:headEnd type="none" w="med" len="med"/>
                <a:tailEnd type="none" w="med" len="med"/>
              </a:ln>
            </p:spPr>
            <p:txBody>
              <a:bodyPr/>
              <a:lstStyle/>
              <a:p>
                <a:endParaRPr lang="zh-CN" altLang="en-US"/>
              </a:p>
            </p:txBody>
          </p:sp>
        </p:grpSp>
        <p:sp>
          <p:nvSpPr>
            <p:cNvPr id="9" name="文本框 8">
              <a:extLst>
                <a:ext uri="{FF2B5EF4-FFF2-40B4-BE49-F238E27FC236}">
                  <a16:creationId xmlns:a16="http://schemas.microsoft.com/office/drawing/2014/main" id="{6880430F-A956-FA38-2815-52FC2A3D35DC}"/>
                </a:ext>
              </a:extLst>
            </p:cNvPr>
            <p:cNvSpPr txBox="1"/>
            <p:nvPr/>
          </p:nvSpPr>
          <p:spPr>
            <a:xfrm>
              <a:off x="4416232" y="1168670"/>
              <a:ext cx="2461468" cy="807612"/>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1" lang="zh-CN" altLang="en-US" sz="2800" b="1" kern="1200" cap="none" spc="0" normalizeH="0" baseline="0" noProof="0" dirty="0">
                  <a:solidFill>
                    <a:schemeClr val="bg1"/>
                  </a:solidFill>
                  <a:latin typeface="微软雅黑" pitchFamily="34" charset="-122"/>
                  <a:ea typeface="微软雅黑" pitchFamily="34" charset="-122"/>
                  <a:cs typeface="+mn-cs"/>
                </a:rPr>
                <a:t>实体</a:t>
              </a:r>
              <a:endParaRPr kumimoji="1" lang="zh-CN" altLang="en-US" sz="1600" b="1" kern="0" cap="none" spc="0" normalizeH="0" baseline="0" noProof="0" dirty="0">
                <a:solidFill>
                  <a:schemeClr val="bg1"/>
                </a:solidFill>
                <a:latin typeface="微软雅黑" pitchFamily="34" charset="-122"/>
                <a:ea typeface="微软雅黑" pitchFamily="34" charset="-122"/>
                <a:cs typeface="+mn-cs"/>
                <a:sym typeface="+mn-ea"/>
              </a:endParaRPr>
            </a:p>
          </p:txBody>
        </p:sp>
      </p:grpSp>
      <p:sp>
        <p:nvSpPr>
          <p:cNvPr id="15" name="矩形 14">
            <a:extLst>
              <a:ext uri="{FF2B5EF4-FFF2-40B4-BE49-F238E27FC236}">
                <a16:creationId xmlns:a16="http://schemas.microsoft.com/office/drawing/2014/main" id="{230D2A18-E38A-856A-4CDC-7A1CEC97173E}"/>
              </a:ext>
            </a:extLst>
          </p:cNvPr>
          <p:cNvSpPr/>
          <p:nvPr/>
        </p:nvSpPr>
        <p:spPr>
          <a:xfrm>
            <a:off x="3848100" y="4540250"/>
            <a:ext cx="1198563" cy="706438"/>
          </a:xfrm>
          <a:prstGeom prst="rect">
            <a:avLst/>
          </a:prstGeom>
          <a:noFill/>
          <a:ln w="9525">
            <a:noFill/>
          </a:ln>
        </p:spPr>
        <p:txBody>
          <a:bodyPr wrap="none">
            <a:spAutoFit/>
          </a:bodyPr>
          <a:lstStyle/>
          <a:p>
            <a:pPr>
              <a:buNone/>
            </a:pPr>
            <a:r>
              <a:rPr lang="zh-CN" altLang="en-US" sz="4000" b="1" dirty="0">
                <a:solidFill>
                  <a:schemeClr val="bg1"/>
                </a:solidFill>
                <a:latin typeface="微软雅黑" pitchFamily="34" charset="-122"/>
                <a:ea typeface="微软雅黑" pitchFamily="34" charset="-122"/>
              </a:rPr>
              <a:t>课程</a:t>
            </a:r>
          </a:p>
        </p:txBody>
      </p:sp>
      <p:sp>
        <p:nvSpPr>
          <p:cNvPr id="16" name="矩形 15">
            <a:extLst>
              <a:ext uri="{FF2B5EF4-FFF2-40B4-BE49-F238E27FC236}">
                <a16:creationId xmlns:a16="http://schemas.microsoft.com/office/drawing/2014/main" id="{DB8AFDB6-0A33-4D7E-0E0B-A12F6ACE4DD3}"/>
              </a:ext>
            </a:extLst>
          </p:cNvPr>
          <p:cNvSpPr/>
          <p:nvPr/>
        </p:nvSpPr>
        <p:spPr>
          <a:xfrm>
            <a:off x="4749800" y="3817938"/>
            <a:ext cx="1006475" cy="585787"/>
          </a:xfrm>
          <a:prstGeom prst="rect">
            <a:avLst/>
          </a:prstGeom>
          <a:noFill/>
          <a:ln w="9525">
            <a:noFill/>
          </a:ln>
        </p:spPr>
        <p:txBody>
          <a:bodyPr wrap="none">
            <a:spAutoFit/>
          </a:bodyPr>
          <a:lstStyle/>
          <a:p>
            <a:pPr>
              <a:buNone/>
            </a:pPr>
            <a:r>
              <a:rPr lang="zh-CN" altLang="en-US" sz="3200" b="1" dirty="0">
                <a:solidFill>
                  <a:schemeClr val="bg1"/>
                </a:solidFill>
                <a:latin typeface="微软雅黑" pitchFamily="34" charset="-122"/>
                <a:ea typeface="微软雅黑" pitchFamily="34" charset="-122"/>
              </a:rPr>
              <a:t>部门</a:t>
            </a:r>
          </a:p>
        </p:txBody>
      </p:sp>
      <p:sp>
        <p:nvSpPr>
          <p:cNvPr id="17" name="矩形 16">
            <a:extLst>
              <a:ext uri="{FF2B5EF4-FFF2-40B4-BE49-F238E27FC236}">
                <a16:creationId xmlns:a16="http://schemas.microsoft.com/office/drawing/2014/main" id="{AAA93805-D14D-8DE9-F995-5D6540D62E15}"/>
              </a:ext>
            </a:extLst>
          </p:cNvPr>
          <p:cNvSpPr/>
          <p:nvPr/>
        </p:nvSpPr>
        <p:spPr>
          <a:xfrm>
            <a:off x="6858000" y="4217988"/>
            <a:ext cx="996950" cy="584200"/>
          </a:xfrm>
          <a:prstGeom prst="rect">
            <a:avLst/>
          </a:prstGeom>
          <a:noFill/>
          <a:ln w="9525">
            <a:noFill/>
          </a:ln>
        </p:spPr>
        <p:txBody>
          <a:bodyPr>
            <a:spAutoFit/>
          </a:bodyPr>
          <a:lstStyle/>
          <a:p>
            <a:pPr>
              <a:buNone/>
            </a:pPr>
            <a:r>
              <a:rPr lang="zh-CN" altLang="en-US" sz="3200" b="1" dirty="0">
                <a:solidFill>
                  <a:schemeClr val="bg1"/>
                </a:solidFill>
                <a:latin typeface="微软雅黑" pitchFamily="34" charset="-122"/>
                <a:ea typeface="微软雅黑" pitchFamily="34" charset="-122"/>
              </a:rPr>
              <a:t>学生</a:t>
            </a:r>
          </a:p>
        </p:txBody>
      </p:sp>
      <p:sp>
        <p:nvSpPr>
          <p:cNvPr id="18" name="矩形 17">
            <a:extLst>
              <a:ext uri="{FF2B5EF4-FFF2-40B4-BE49-F238E27FC236}">
                <a16:creationId xmlns:a16="http://schemas.microsoft.com/office/drawing/2014/main" id="{87E01CAD-A664-A9B5-810D-530B6AE5C604}"/>
              </a:ext>
            </a:extLst>
          </p:cNvPr>
          <p:cNvSpPr/>
          <p:nvPr/>
        </p:nvSpPr>
        <p:spPr>
          <a:xfrm>
            <a:off x="3479800" y="5384800"/>
            <a:ext cx="995363" cy="582613"/>
          </a:xfrm>
          <a:prstGeom prst="rect">
            <a:avLst/>
          </a:prstGeom>
          <a:noFill/>
          <a:ln w="9525">
            <a:noFill/>
          </a:ln>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accent6">
                    <a:lumMod val="60000"/>
                    <a:lumOff val="40000"/>
                  </a:schemeClr>
                </a:solidFill>
                <a:effectLst/>
                <a:uLnTx/>
                <a:uFillTx/>
                <a:latin typeface="微软雅黑" pitchFamily="34" charset="-122"/>
                <a:ea typeface="微软雅黑" pitchFamily="34" charset="-122"/>
                <a:cs typeface="+mn-cs"/>
              </a:rPr>
              <a:t>选课</a:t>
            </a:r>
          </a:p>
        </p:txBody>
      </p:sp>
      <p:sp>
        <p:nvSpPr>
          <p:cNvPr id="19" name="矩形 18">
            <a:extLst>
              <a:ext uri="{FF2B5EF4-FFF2-40B4-BE49-F238E27FC236}">
                <a16:creationId xmlns:a16="http://schemas.microsoft.com/office/drawing/2014/main" id="{BFDCAFC9-6A09-1ACD-9B33-C8A8AD15DA47}"/>
              </a:ext>
            </a:extLst>
          </p:cNvPr>
          <p:cNvSpPr/>
          <p:nvPr/>
        </p:nvSpPr>
        <p:spPr>
          <a:xfrm>
            <a:off x="5156200" y="5194300"/>
            <a:ext cx="3392488" cy="479425"/>
          </a:xfrm>
          <a:prstGeom prst="rect">
            <a:avLst/>
          </a:prstGeom>
          <a:noFill/>
          <a:ln w="9525">
            <a:noFill/>
          </a:ln>
        </p:spPr>
        <p:txBody>
          <a:bodyPr wrap="square">
            <a:spAutoFit/>
          </a:bodyPr>
          <a:lstStyle/>
          <a:p>
            <a:pPr marL="0" marR="0" lvl="0" indent="0" algn="l" defTabSz="457200" rtl="0" eaLnBrk="1" fontAlgn="auto" latinLnBrk="0" hangingPunct="1">
              <a:lnSpc>
                <a:spcPct val="9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accent6">
                    <a:lumMod val="60000"/>
                    <a:lumOff val="40000"/>
                  </a:schemeClr>
                </a:solidFill>
                <a:effectLst/>
                <a:uLnTx/>
                <a:uFillTx/>
                <a:latin typeface="微软雅黑" pitchFamily="34" charset="-122"/>
                <a:ea typeface="微软雅黑" pitchFamily="34" charset="-122"/>
                <a:cs typeface="+mn-cs"/>
              </a:rPr>
              <a:t>部门与职工的关系</a:t>
            </a:r>
          </a:p>
        </p:txBody>
      </p:sp>
      <p:sp>
        <p:nvSpPr>
          <p:cNvPr id="20" name="矩形 19">
            <a:extLst>
              <a:ext uri="{FF2B5EF4-FFF2-40B4-BE49-F238E27FC236}">
                <a16:creationId xmlns:a16="http://schemas.microsoft.com/office/drawing/2014/main" id="{2BE262D6-7DF9-270E-B900-F529646D0AFB}"/>
              </a:ext>
            </a:extLst>
          </p:cNvPr>
          <p:cNvSpPr/>
          <p:nvPr/>
        </p:nvSpPr>
        <p:spPr>
          <a:xfrm>
            <a:off x="4475163" y="5961063"/>
            <a:ext cx="1555750" cy="646113"/>
          </a:xfrm>
          <a:prstGeom prst="rect">
            <a:avLst/>
          </a:prstGeom>
        </p:spPr>
        <p:txBody>
          <a:bodyPr wrap="none">
            <a:spAutoFit/>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lumMod val="85000"/>
                  </a:schemeClr>
                </a:solidFill>
                <a:effectLst/>
                <a:uLnTx/>
                <a:uFillTx/>
                <a:latin typeface="微软雅黑" pitchFamily="34" charset="-122"/>
                <a:ea typeface="微软雅黑" pitchFamily="34" charset="-122"/>
                <a:cs typeface="+mn-cs"/>
              </a:rPr>
              <a:t>河南省</a:t>
            </a:r>
          </a:p>
        </p:txBody>
      </p:sp>
      <p:sp>
        <p:nvSpPr>
          <p:cNvPr id="21" name="矩形 20">
            <a:extLst>
              <a:ext uri="{FF2B5EF4-FFF2-40B4-BE49-F238E27FC236}">
                <a16:creationId xmlns:a16="http://schemas.microsoft.com/office/drawing/2014/main" id="{B40B8A69-414B-3DD3-0254-DFEDB9215B98}"/>
              </a:ext>
            </a:extLst>
          </p:cNvPr>
          <p:cNvSpPr/>
          <p:nvPr/>
        </p:nvSpPr>
        <p:spPr>
          <a:xfrm>
            <a:off x="6729413" y="5900738"/>
            <a:ext cx="1403350" cy="584200"/>
          </a:xfrm>
          <a:prstGeom prst="rect">
            <a:avLst/>
          </a:prstGeom>
        </p:spPr>
        <p:txBody>
          <a:bodyPr wrap="none">
            <a:spAutoFit/>
          </a:body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chemeClr val="bg1">
                    <a:lumMod val="85000"/>
                  </a:schemeClr>
                </a:solidFill>
                <a:effectLst/>
                <a:uLnTx/>
                <a:uFillTx/>
                <a:latin typeface="微软雅黑" pitchFamily="34" charset="-122"/>
                <a:ea typeface="微软雅黑" pitchFamily="34" charset="-122"/>
                <a:cs typeface="+mn-cs"/>
              </a:rPr>
              <a:t>郑州市</a:t>
            </a:r>
          </a:p>
        </p:txBody>
      </p:sp>
      <p:sp>
        <p:nvSpPr>
          <p:cNvPr id="22" name="矩形 21">
            <a:extLst>
              <a:ext uri="{FF2B5EF4-FFF2-40B4-BE49-F238E27FC236}">
                <a16:creationId xmlns:a16="http://schemas.microsoft.com/office/drawing/2014/main" id="{5CA917C6-F341-147E-A90D-A2DAB77CFF69}"/>
              </a:ext>
            </a:extLst>
          </p:cNvPr>
          <p:cNvSpPr/>
          <p:nvPr/>
        </p:nvSpPr>
        <p:spPr>
          <a:xfrm>
            <a:off x="5586413" y="4321175"/>
            <a:ext cx="1096962" cy="646113"/>
          </a:xfrm>
          <a:prstGeom prst="rect">
            <a:avLst/>
          </a:prstGeom>
          <a:noFill/>
          <a:ln w="9525">
            <a:noFill/>
          </a:ln>
        </p:spPr>
        <p:txBody>
          <a:bodyPr wrap="none">
            <a:spAutoFit/>
          </a:bodyPr>
          <a:lstStyle/>
          <a:p>
            <a:pPr>
              <a:buNone/>
            </a:pPr>
            <a:r>
              <a:rPr lang="zh-CN" altLang="en-US" sz="3600" b="1" dirty="0">
                <a:solidFill>
                  <a:schemeClr val="bg1"/>
                </a:solidFill>
                <a:latin typeface="微软雅黑" pitchFamily="34" charset="-122"/>
                <a:ea typeface="微软雅黑" pitchFamily="34" charset="-122"/>
              </a:rPr>
              <a:t>老师</a:t>
            </a:r>
          </a:p>
        </p:txBody>
      </p:sp>
      <p:sp>
        <p:nvSpPr>
          <p:cNvPr id="23" name="箭头: 左 69">
            <a:extLst>
              <a:ext uri="{FF2B5EF4-FFF2-40B4-BE49-F238E27FC236}">
                <a16:creationId xmlns:a16="http://schemas.microsoft.com/office/drawing/2014/main" id="{A4ABDEE2-DFEA-8C06-5BB2-983745AF8ACA}"/>
              </a:ext>
            </a:extLst>
          </p:cNvPr>
          <p:cNvSpPr/>
          <p:nvPr/>
        </p:nvSpPr>
        <p:spPr>
          <a:xfrm rot="16200000">
            <a:off x="5511006" y="2897981"/>
            <a:ext cx="703263" cy="552450"/>
          </a:xfrm>
          <a:custGeom>
            <a:avLst/>
            <a:gdLst>
              <a:gd name="connsiteX0" fmla="*/ 0 w 2999150"/>
              <a:gd name="connsiteY0" fmla="*/ 742780 h 1485560"/>
              <a:gd name="connsiteX1" fmla="*/ 742780 w 2999150"/>
              <a:gd name="connsiteY1" fmla="*/ 0 h 1485560"/>
              <a:gd name="connsiteX2" fmla="*/ 742780 w 2999150"/>
              <a:gd name="connsiteY2" fmla="*/ 371390 h 1485560"/>
              <a:gd name="connsiteX3" fmla="*/ 2999150 w 2999150"/>
              <a:gd name="connsiteY3" fmla="*/ 371390 h 1485560"/>
              <a:gd name="connsiteX4" fmla="*/ 2999150 w 2999150"/>
              <a:gd name="connsiteY4" fmla="*/ 1114170 h 1485560"/>
              <a:gd name="connsiteX5" fmla="*/ 742780 w 2999150"/>
              <a:gd name="connsiteY5" fmla="*/ 1114170 h 1485560"/>
              <a:gd name="connsiteX6" fmla="*/ 742780 w 2999150"/>
              <a:gd name="connsiteY6" fmla="*/ 1485560 h 1485560"/>
              <a:gd name="connsiteX7" fmla="*/ 0 w 2999150"/>
              <a:gd name="connsiteY7" fmla="*/ 742780 h 1485560"/>
              <a:gd name="connsiteX0-1" fmla="*/ 0 w 3008982"/>
              <a:gd name="connsiteY0-2" fmla="*/ 1639751 h 2382531"/>
              <a:gd name="connsiteX1-3" fmla="*/ 742780 w 3008982"/>
              <a:gd name="connsiteY1-4" fmla="*/ 896971 h 2382531"/>
              <a:gd name="connsiteX2-5" fmla="*/ 742780 w 3008982"/>
              <a:gd name="connsiteY2-6" fmla="*/ 1268361 h 2382531"/>
              <a:gd name="connsiteX3-7" fmla="*/ 3008982 w 3008982"/>
              <a:gd name="connsiteY3-8" fmla="*/ 0 h 2382531"/>
              <a:gd name="connsiteX4-9" fmla="*/ 2999150 w 3008982"/>
              <a:gd name="connsiteY4-10" fmla="*/ 2011141 h 2382531"/>
              <a:gd name="connsiteX5-11" fmla="*/ 742780 w 3008982"/>
              <a:gd name="connsiteY5-12" fmla="*/ 2011141 h 2382531"/>
              <a:gd name="connsiteX6-13" fmla="*/ 742780 w 3008982"/>
              <a:gd name="connsiteY6-14" fmla="*/ 2382531 h 2382531"/>
              <a:gd name="connsiteX7-15" fmla="*/ 0 w 3008982"/>
              <a:gd name="connsiteY7-16" fmla="*/ 1639751 h 2382531"/>
              <a:gd name="connsiteX0-17" fmla="*/ 0 w 3008982"/>
              <a:gd name="connsiteY0-18" fmla="*/ 1639751 h 3279502"/>
              <a:gd name="connsiteX1-19" fmla="*/ 742780 w 3008982"/>
              <a:gd name="connsiteY1-20" fmla="*/ 896971 h 3279502"/>
              <a:gd name="connsiteX2-21" fmla="*/ 742780 w 3008982"/>
              <a:gd name="connsiteY2-22" fmla="*/ 1268361 h 3279502"/>
              <a:gd name="connsiteX3-23" fmla="*/ 3008982 w 3008982"/>
              <a:gd name="connsiteY3-24" fmla="*/ 0 h 3279502"/>
              <a:gd name="connsiteX4-25" fmla="*/ 2979486 w 3008982"/>
              <a:gd name="connsiteY4-26" fmla="*/ 3279502 h 3279502"/>
              <a:gd name="connsiteX5-27" fmla="*/ 742780 w 3008982"/>
              <a:gd name="connsiteY5-28" fmla="*/ 2011141 h 3279502"/>
              <a:gd name="connsiteX6-29" fmla="*/ 742780 w 3008982"/>
              <a:gd name="connsiteY6-30" fmla="*/ 2382531 h 3279502"/>
              <a:gd name="connsiteX7-31" fmla="*/ 0 w 3008982"/>
              <a:gd name="connsiteY7-32" fmla="*/ 1639751 h 3279502"/>
              <a:gd name="connsiteX0-33" fmla="*/ 0 w 3008982"/>
              <a:gd name="connsiteY0-34" fmla="*/ 1639751 h 3299167"/>
              <a:gd name="connsiteX1-35" fmla="*/ 742780 w 3008982"/>
              <a:gd name="connsiteY1-36" fmla="*/ 896971 h 3299167"/>
              <a:gd name="connsiteX2-37" fmla="*/ 742780 w 3008982"/>
              <a:gd name="connsiteY2-38" fmla="*/ 1268361 h 3299167"/>
              <a:gd name="connsiteX3-39" fmla="*/ 3008982 w 3008982"/>
              <a:gd name="connsiteY3-40" fmla="*/ 0 h 3299167"/>
              <a:gd name="connsiteX4-41" fmla="*/ 2999150 w 3008982"/>
              <a:gd name="connsiteY4-42" fmla="*/ 3299167 h 3299167"/>
              <a:gd name="connsiteX5-43" fmla="*/ 742780 w 3008982"/>
              <a:gd name="connsiteY5-44" fmla="*/ 2011141 h 3299167"/>
              <a:gd name="connsiteX6-45" fmla="*/ 742780 w 3008982"/>
              <a:gd name="connsiteY6-46" fmla="*/ 2382531 h 3299167"/>
              <a:gd name="connsiteX7-47" fmla="*/ 0 w 3008982"/>
              <a:gd name="connsiteY7-48" fmla="*/ 1639751 h 3299167"/>
              <a:gd name="connsiteX0-49" fmla="*/ 0 w 3008982"/>
              <a:gd name="connsiteY0-50" fmla="*/ 1639751 h 3299167"/>
              <a:gd name="connsiteX1-51" fmla="*/ 742780 w 3008982"/>
              <a:gd name="connsiteY1-52" fmla="*/ 896971 h 3299167"/>
              <a:gd name="connsiteX2-53" fmla="*/ 742780 w 3008982"/>
              <a:gd name="connsiteY2-54" fmla="*/ 1268361 h 3299167"/>
              <a:gd name="connsiteX3-55" fmla="*/ 3008982 w 3008982"/>
              <a:gd name="connsiteY3-56" fmla="*/ 0 h 3299167"/>
              <a:gd name="connsiteX4-57" fmla="*/ 2999150 w 3008982"/>
              <a:gd name="connsiteY4-58" fmla="*/ 3299167 h 3299167"/>
              <a:gd name="connsiteX5-59" fmla="*/ 742780 w 3008982"/>
              <a:gd name="connsiteY5-60" fmla="*/ 2011141 h 3299167"/>
              <a:gd name="connsiteX6-61" fmla="*/ 742780 w 3008982"/>
              <a:gd name="connsiteY6-62" fmla="*/ 2382531 h 3299167"/>
              <a:gd name="connsiteX7-63" fmla="*/ 0 w 3008982"/>
              <a:gd name="connsiteY7-64" fmla="*/ 1639751 h 3299167"/>
              <a:gd name="connsiteX0-65" fmla="*/ 0 w 3008982"/>
              <a:gd name="connsiteY0-66" fmla="*/ 1639751 h 3299167"/>
              <a:gd name="connsiteX1-67" fmla="*/ 742780 w 3008982"/>
              <a:gd name="connsiteY1-68" fmla="*/ 896971 h 3299167"/>
              <a:gd name="connsiteX2-69" fmla="*/ 742780 w 3008982"/>
              <a:gd name="connsiteY2-70" fmla="*/ 1268361 h 3299167"/>
              <a:gd name="connsiteX3-71" fmla="*/ 3008982 w 3008982"/>
              <a:gd name="connsiteY3-72" fmla="*/ 0 h 3299167"/>
              <a:gd name="connsiteX4-73" fmla="*/ 2999150 w 3008982"/>
              <a:gd name="connsiteY4-74" fmla="*/ 3299167 h 3299167"/>
              <a:gd name="connsiteX5-75" fmla="*/ 742780 w 3008982"/>
              <a:gd name="connsiteY5-76" fmla="*/ 2011141 h 3299167"/>
              <a:gd name="connsiteX6-77" fmla="*/ 742780 w 3008982"/>
              <a:gd name="connsiteY6-78" fmla="*/ 2382531 h 3299167"/>
              <a:gd name="connsiteX7-79" fmla="*/ 0 w 3008982"/>
              <a:gd name="connsiteY7-80" fmla="*/ 1639751 h 3299167"/>
              <a:gd name="connsiteX0-81" fmla="*/ 0 w 3008982"/>
              <a:gd name="connsiteY0-82" fmla="*/ 1639751 h 3299167"/>
              <a:gd name="connsiteX1-83" fmla="*/ 742780 w 3008982"/>
              <a:gd name="connsiteY1-84" fmla="*/ 896971 h 3299167"/>
              <a:gd name="connsiteX2-85" fmla="*/ 742780 w 3008982"/>
              <a:gd name="connsiteY2-86" fmla="*/ 1268361 h 3299167"/>
              <a:gd name="connsiteX3-87" fmla="*/ 3008982 w 3008982"/>
              <a:gd name="connsiteY3-88" fmla="*/ 0 h 3299167"/>
              <a:gd name="connsiteX4-89" fmla="*/ 2999150 w 3008982"/>
              <a:gd name="connsiteY4-90" fmla="*/ 3299167 h 3299167"/>
              <a:gd name="connsiteX5-91" fmla="*/ 742780 w 3008982"/>
              <a:gd name="connsiteY5-92" fmla="*/ 2011141 h 3299167"/>
              <a:gd name="connsiteX6-93" fmla="*/ 742780 w 3008982"/>
              <a:gd name="connsiteY6-94" fmla="*/ 2382531 h 3299167"/>
              <a:gd name="connsiteX7-95" fmla="*/ 0 w 3008982"/>
              <a:gd name="connsiteY7-96" fmla="*/ 1639751 h 3299167"/>
              <a:gd name="connsiteX0-97" fmla="*/ 0 w 3008982"/>
              <a:gd name="connsiteY0-98" fmla="*/ 1639751 h 3299167"/>
              <a:gd name="connsiteX1-99" fmla="*/ 742780 w 3008982"/>
              <a:gd name="connsiteY1-100" fmla="*/ 896971 h 3299167"/>
              <a:gd name="connsiteX2-101" fmla="*/ 742780 w 3008982"/>
              <a:gd name="connsiteY2-102" fmla="*/ 1268361 h 3299167"/>
              <a:gd name="connsiteX3-103" fmla="*/ 3008982 w 3008982"/>
              <a:gd name="connsiteY3-104" fmla="*/ 0 h 3299167"/>
              <a:gd name="connsiteX4-105" fmla="*/ 2999150 w 3008982"/>
              <a:gd name="connsiteY4-106" fmla="*/ 3299167 h 3299167"/>
              <a:gd name="connsiteX5-107" fmla="*/ 742780 w 3008982"/>
              <a:gd name="connsiteY5-108" fmla="*/ 2011141 h 3299167"/>
              <a:gd name="connsiteX6-109" fmla="*/ 742780 w 3008982"/>
              <a:gd name="connsiteY6-110" fmla="*/ 2382531 h 3299167"/>
              <a:gd name="connsiteX7-111" fmla="*/ 0 w 3008982"/>
              <a:gd name="connsiteY7-112" fmla="*/ 1639751 h 329916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3008982" h="3299167">
                <a:moveTo>
                  <a:pt x="0" y="1639751"/>
                </a:moveTo>
                <a:lnTo>
                  <a:pt x="742780" y="896971"/>
                </a:lnTo>
                <a:lnTo>
                  <a:pt x="742780" y="1268361"/>
                </a:lnTo>
                <a:cubicBezTo>
                  <a:pt x="1360529" y="1150374"/>
                  <a:pt x="2332239" y="1042219"/>
                  <a:pt x="3008982" y="0"/>
                </a:cubicBezTo>
                <a:cubicBezTo>
                  <a:pt x="3005705" y="670380"/>
                  <a:pt x="3002427" y="2628787"/>
                  <a:pt x="2999150" y="3299167"/>
                </a:cubicBezTo>
                <a:cubicBezTo>
                  <a:pt x="2335517" y="2220896"/>
                  <a:pt x="1347419" y="2125851"/>
                  <a:pt x="742780" y="2011141"/>
                </a:cubicBezTo>
                <a:lnTo>
                  <a:pt x="742780" y="2382531"/>
                </a:lnTo>
                <a:lnTo>
                  <a:pt x="0" y="1639751"/>
                </a:lnTo>
                <a:close/>
              </a:path>
            </a:pathLst>
          </a:custGeom>
          <a:gradFill flip="none" rotWithShape="1">
            <a:gsLst>
              <a:gs pos="0">
                <a:srgbClr val="3982FF"/>
              </a:gs>
              <a:gs pos="100000">
                <a:srgbClr val="3982FF">
                  <a:alpha val="37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25" name="文本框 24">
            <a:extLst>
              <a:ext uri="{FF2B5EF4-FFF2-40B4-BE49-F238E27FC236}">
                <a16:creationId xmlns:a16="http://schemas.microsoft.com/office/drawing/2014/main" id="{899D9573-9E92-2C93-5A1D-86C251ED774F}"/>
              </a:ext>
            </a:extLst>
          </p:cNvPr>
          <p:cNvSpPr txBox="1"/>
          <p:nvPr/>
        </p:nvSpPr>
        <p:spPr>
          <a:xfrm>
            <a:off x="832184" y="1154113"/>
            <a:ext cx="3517590" cy="1584325"/>
          </a:xfrm>
          <a:prstGeom prst="rect">
            <a:avLst/>
          </a:prstGeom>
          <a:noFill/>
        </p:spPr>
        <p:txBody>
          <a:bodyPr wrap="square" rtlCol="0" anchor="t">
            <a:noAutofit/>
          </a:bodyPr>
          <a:lstStyle/>
          <a:p>
            <a:pPr marR="0" defTabSz="457200" fontAlgn="auto">
              <a:lnSpc>
                <a:spcPct val="130000"/>
              </a:lnSpc>
              <a:spcBef>
                <a:spcPts val="0"/>
              </a:spcBef>
              <a:spcAft>
                <a:spcPts val="0"/>
              </a:spcAft>
              <a:buClrTx/>
              <a:buSzTx/>
              <a:buFontTx/>
              <a:buNone/>
              <a:defRPr/>
            </a:pPr>
            <a:r>
              <a:rPr lang="zh-CN" altLang="en-US" sz="2000" b="1" dirty="0">
                <a:solidFill>
                  <a:srgbClr val="44546A"/>
                </a:solidFill>
                <a:latin typeface="微软雅黑" panose="020B0503020204020204" pitchFamily="34" charset="-122"/>
                <a:ea typeface="微软雅黑" panose="020B0503020204020204" pitchFamily="34" charset="-122"/>
                <a:sym typeface="+mn-ea"/>
              </a:rPr>
              <a:t>（</a:t>
            </a:r>
            <a:r>
              <a:rPr lang="en-US" altLang="zh-CN" sz="2000" b="1" dirty="0">
                <a:solidFill>
                  <a:srgbClr val="44546A"/>
                </a:solidFill>
                <a:latin typeface="微软雅黑" panose="020B0503020204020204" pitchFamily="34" charset="-122"/>
                <a:ea typeface="微软雅黑" panose="020B0503020204020204" pitchFamily="34" charset="-122"/>
                <a:sym typeface="+mn-ea"/>
              </a:rPr>
              <a:t>1</a:t>
            </a:r>
            <a:r>
              <a:rPr lang="zh-CN" altLang="en-US" sz="2000" b="1" dirty="0">
                <a:solidFill>
                  <a:srgbClr val="44546A"/>
                </a:solidFill>
                <a:latin typeface="微软雅黑" panose="020B0503020204020204" pitchFamily="34" charset="-122"/>
                <a:ea typeface="微软雅黑" panose="020B0503020204020204" pitchFamily="34" charset="-122"/>
                <a:sym typeface="+mn-ea"/>
              </a:rPr>
              <a:t>）</a:t>
            </a:r>
            <a:r>
              <a:rPr lang="zh-CN" altLang="zh-CN" sz="2000" b="1" dirty="0">
                <a:solidFill>
                  <a:srgbClr val="44546A"/>
                </a:solidFill>
                <a:latin typeface="微软雅黑" panose="020B0503020204020204" pitchFamily="34" charset="-122"/>
                <a:ea typeface="微软雅黑" panose="020B0503020204020204" pitchFamily="34" charset="-122"/>
                <a:sym typeface="+mn-ea"/>
              </a:rPr>
              <a:t>实体</a:t>
            </a:r>
            <a:r>
              <a:rPr lang="en-US" altLang="zh-CN" sz="2000" b="1" dirty="0">
                <a:solidFill>
                  <a:srgbClr val="44546A"/>
                </a:solidFill>
                <a:latin typeface="微软雅黑" panose="020B0503020204020204" pitchFamily="34" charset="-122"/>
                <a:ea typeface="微软雅黑" panose="020B0503020204020204" pitchFamily="34" charset="-122"/>
                <a:sym typeface="+mn-ea"/>
              </a:rPr>
              <a:t>(Entity)</a:t>
            </a:r>
            <a:r>
              <a:rPr lang="zh-CN" altLang="zh-CN" sz="2000" b="1" dirty="0">
                <a:solidFill>
                  <a:srgbClr val="44546A"/>
                </a:solidFill>
                <a:latin typeface="微软雅黑" panose="020B0503020204020204" pitchFamily="34" charset="-122"/>
                <a:ea typeface="微软雅黑" panose="020B0503020204020204" pitchFamily="34" charset="-122"/>
                <a:sym typeface="+mn-ea"/>
              </a:rPr>
              <a:t>：</a:t>
            </a:r>
          </a:p>
          <a:p>
            <a:pPr marR="0" defTabSz="457200" fontAlgn="auto">
              <a:lnSpc>
                <a:spcPct val="130000"/>
              </a:lnSpc>
              <a:spcBef>
                <a:spcPts val="0"/>
              </a:spcBef>
              <a:spcAft>
                <a:spcPts val="0"/>
              </a:spcAft>
              <a:buClrTx/>
              <a:buSzTx/>
              <a:buFontTx/>
              <a:buNone/>
              <a:defRPr/>
            </a:pPr>
            <a:r>
              <a:rPr lang="zh-CN" altLang="zh-CN" sz="2000" dirty="0">
                <a:solidFill>
                  <a:srgbClr val="44546A"/>
                </a:solidFill>
                <a:latin typeface="微软雅黑" panose="020B0503020204020204" pitchFamily="34" charset="-122"/>
                <a:ea typeface="微软雅黑" panose="020B0503020204020204" pitchFamily="34" charset="-122"/>
                <a:sym typeface="+mn-ea"/>
              </a:rPr>
              <a:t> </a:t>
            </a:r>
            <a:r>
              <a:rPr lang="en-US" altLang="zh-CN" sz="2000" dirty="0">
                <a:solidFill>
                  <a:srgbClr val="44546A"/>
                </a:solidFill>
                <a:latin typeface="微软雅黑" panose="020B0503020204020204" pitchFamily="34" charset="-122"/>
                <a:ea typeface="微软雅黑" panose="020B0503020204020204" pitchFamily="34" charset="-122"/>
                <a:sym typeface="+mn-ea"/>
              </a:rPr>
              <a:t> </a:t>
            </a:r>
            <a:r>
              <a:rPr lang="zh-CN" altLang="zh-CN" sz="2000" dirty="0">
                <a:solidFill>
                  <a:srgbClr val="44546A"/>
                </a:solidFill>
                <a:latin typeface="微软雅黑" panose="020B0503020204020204" pitchFamily="34" charset="-122"/>
                <a:ea typeface="微软雅黑" panose="020B0503020204020204" pitchFamily="34" charset="-122"/>
                <a:sym typeface="+mn-ea"/>
              </a:rPr>
              <a:t>是指客观世界中存在</a:t>
            </a:r>
          </a:p>
          <a:p>
            <a:pPr marR="0" defTabSz="457200" fontAlgn="auto">
              <a:lnSpc>
                <a:spcPct val="130000"/>
              </a:lnSpc>
              <a:spcBef>
                <a:spcPts val="0"/>
              </a:spcBef>
              <a:spcAft>
                <a:spcPts val="0"/>
              </a:spcAft>
              <a:buClrTx/>
              <a:buSzTx/>
              <a:buFontTx/>
              <a:buNone/>
              <a:defRPr/>
            </a:pPr>
            <a:r>
              <a:rPr lang="zh-CN" altLang="zh-CN" sz="2000" dirty="0">
                <a:solidFill>
                  <a:srgbClr val="44546A"/>
                </a:solidFill>
                <a:latin typeface="微软雅黑" panose="020B0503020204020204" pitchFamily="34" charset="-122"/>
                <a:ea typeface="微软雅黑" panose="020B0503020204020204" pitchFamily="34" charset="-122"/>
                <a:sym typeface="+mn-ea"/>
              </a:rPr>
              <a:t> </a:t>
            </a:r>
            <a:r>
              <a:rPr lang="en-US" altLang="zh-CN" sz="2000" dirty="0">
                <a:solidFill>
                  <a:srgbClr val="44546A"/>
                </a:solidFill>
                <a:latin typeface="微软雅黑" panose="020B0503020204020204" pitchFamily="34" charset="-122"/>
                <a:ea typeface="微软雅黑" panose="020B0503020204020204" pitchFamily="34" charset="-122"/>
                <a:sym typeface="+mn-ea"/>
              </a:rPr>
              <a:t> </a:t>
            </a:r>
            <a:r>
              <a:rPr lang="zh-CN" altLang="zh-CN" sz="2000" dirty="0">
                <a:solidFill>
                  <a:srgbClr val="44546A"/>
                </a:solidFill>
                <a:latin typeface="微软雅黑" panose="020B0503020204020204" pitchFamily="34" charset="-122"/>
                <a:ea typeface="微软雅黑" panose="020B0503020204020204" pitchFamily="34" charset="-122"/>
                <a:sym typeface="+mn-ea"/>
              </a:rPr>
              <a:t>并且可以相互区分的事物</a:t>
            </a:r>
            <a:r>
              <a:rPr lang="zh-CN" altLang="en-US" sz="2000" dirty="0">
                <a:solidFill>
                  <a:srgbClr val="44546A"/>
                </a:solidFill>
                <a:latin typeface="微软雅黑" panose="020B0503020204020204" pitchFamily="34" charset="-122"/>
                <a:ea typeface="微软雅黑" panose="020B0503020204020204" pitchFamily="34" charset="-122"/>
                <a:sym typeface="+mn-ea"/>
              </a:rPr>
              <a:t>。</a:t>
            </a:r>
          </a:p>
        </p:txBody>
      </p:sp>
      <p:sp>
        <p:nvSpPr>
          <p:cNvPr id="3" name="椭圆 2">
            <a:extLst>
              <a:ext uri="{FF2B5EF4-FFF2-40B4-BE49-F238E27FC236}">
                <a16:creationId xmlns:a16="http://schemas.microsoft.com/office/drawing/2014/main" id="{3A524DC4-3240-93D7-7D23-B86C4B3C521F}"/>
              </a:ext>
            </a:extLst>
          </p:cNvPr>
          <p:cNvSpPr/>
          <p:nvPr/>
        </p:nvSpPr>
        <p:spPr>
          <a:xfrm>
            <a:off x="348343" y="-2318753"/>
            <a:ext cx="11495314" cy="11495313"/>
          </a:xfrm>
          <a:prstGeom prst="ellipse">
            <a:avLst/>
          </a:prstGeom>
          <a:gradFill>
            <a:gsLst>
              <a:gs pos="100000">
                <a:srgbClr val="3982FF">
                  <a:alpha val="8000"/>
                </a:srgbClr>
              </a:gs>
              <a:gs pos="0">
                <a:srgbClr val="3982FF">
                  <a:alpha val="8000"/>
                </a:srgbClr>
              </a:gs>
              <a:gs pos="50000">
                <a:srgbClr val="3982FF">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Tree>
    <p:extLst>
      <p:ext uri="{BB962C8B-B14F-4D97-AF65-F5344CB8AC3E}">
        <p14:creationId xmlns:p14="http://schemas.microsoft.com/office/powerpoint/2010/main" val="1291340605"/>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概念模型的表示方法</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4" name="椭圆 3">
            <a:extLst>
              <a:ext uri="{FF2B5EF4-FFF2-40B4-BE49-F238E27FC236}">
                <a16:creationId xmlns:a16="http://schemas.microsoft.com/office/drawing/2014/main" id="{F34B6A09-E069-745A-F3CB-3B9946823754}"/>
              </a:ext>
            </a:extLst>
          </p:cNvPr>
          <p:cNvSpPr/>
          <p:nvPr/>
        </p:nvSpPr>
        <p:spPr>
          <a:xfrm>
            <a:off x="2495647" y="1687195"/>
            <a:ext cx="6967026" cy="6967026"/>
          </a:xfrm>
          <a:prstGeom prst="ellipse">
            <a:avLst/>
          </a:prstGeom>
          <a:gradFill>
            <a:gsLst>
              <a:gs pos="100000">
                <a:srgbClr val="3982FF">
                  <a:alpha val="8000"/>
                </a:srgbClr>
              </a:gs>
              <a:gs pos="0">
                <a:srgbClr val="3982FF">
                  <a:alpha val="8000"/>
                </a:srgbClr>
              </a:gs>
              <a:gs pos="50000">
                <a:srgbClr val="3982FF">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5" name="椭圆 4">
            <a:extLst>
              <a:ext uri="{FF2B5EF4-FFF2-40B4-BE49-F238E27FC236}">
                <a16:creationId xmlns:a16="http://schemas.microsoft.com/office/drawing/2014/main" id="{A8B456A6-C14A-F8FF-C72B-C4AACD18854F}"/>
              </a:ext>
            </a:extLst>
          </p:cNvPr>
          <p:cNvSpPr/>
          <p:nvPr/>
        </p:nvSpPr>
        <p:spPr>
          <a:xfrm>
            <a:off x="3221355" y="3520440"/>
            <a:ext cx="5282565" cy="5093335"/>
          </a:xfrm>
          <a:prstGeom prst="ellipse">
            <a:avLst/>
          </a:prstGeom>
          <a:gradFill flip="none" rotWithShape="1">
            <a:gsLst>
              <a:gs pos="1000">
                <a:srgbClr val="3982FF"/>
              </a:gs>
              <a:gs pos="100000">
                <a:srgbClr val="3982FF">
                  <a:alpha val="32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grpSp>
        <p:nvGrpSpPr>
          <p:cNvPr id="6" name="组合 11">
            <a:extLst>
              <a:ext uri="{FF2B5EF4-FFF2-40B4-BE49-F238E27FC236}">
                <a16:creationId xmlns:a16="http://schemas.microsoft.com/office/drawing/2014/main" id="{5D4873F9-49A5-5CFD-1BB7-DAD66590AAB7}"/>
              </a:ext>
            </a:extLst>
          </p:cNvPr>
          <p:cNvGrpSpPr/>
          <p:nvPr/>
        </p:nvGrpSpPr>
        <p:grpSpPr>
          <a:xfrm>
            <a:off x="4997450" y="1114425"/>
            <a:ext cx="2014538" cy="2041525"/>
            <a:chOff x="4387588" y="283439"/>
            <a:chExt cx="3029235" cy="3158980"/>
          </a:xfrm>
        </p:grpSpPr>
        <p:sp>
          <p:nvSpPr>
            <p:cNvPr id="7" name="椭圆 6">
              <a:extLst>
                <a:ext uri="{FF2B5EF4-FFF2-40B4-BE49-F238E27FC236}">
                  <a16:creationId xmlns:a16="http://schemas.microsoft.com/office/drawing/2014/main" id="{7BA226A9-00EB-5AC9-0955-220C8523ABDF}"/>
                </a:ext>
              </a:extLst>
            </p:cNvPr>
            <p:cNvSpPr/>
            <p:nvPr/>
          </p:nvSpPr>
          <p:spPr>
            <a:xfrm>
              <a:off x="4387588" y="283439"/>
              <a:ext cx="2536897" cy="2537789"/>
            </a:xfrm>
            <a:prstGeom prst="ellipse">
              <a:avLst/>
            </a:prstGeom>
            <a:gradFill flip="none" rotWithShape="1">
              <a:gsLst>
                <a:gs pos="100000">
                  <a:srgbClr val="3982FF"/>
                </a:gs>
                <a:gs pos="0">
                  <a:srgbClr val="3982FF">
                    <a:alpha val="32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grpSp>
          <p:nvGrpSpPr>
            <p:cNvPr id="8" name="图形 36">
              <a:extLst>
                <a:ext uri="{FF2B5EF4-FFF2-40B4-BE49-F238E27FC236}">
                  <a16:creationId xmlns:a16="http://schemas.microsoft.com/office/drawing/2014/main" id="{18440C4E-3BD0-58A0-F51F-471F4F5F9DD6}"/>
                </a:ext>
              </a:extLst>
            </p:cNvPr>
            <p:cNvGrpSpPr/>
            <p:nvPr/>
          </p:nvGrpSpPr>
          <p:grpSpPr>
            <a:xfrm>
              <a:off x="7166755" y="3096171"/>
              <a:ext cx="250068" cy="346248"/>
              <a:chOff x="3061268" y="2833448"/>
              <a:chExt cx="250068" cy="346248"/>
            </a:xfrm>
          </p:grpSpPr>
          <p:sp>
            <p:nvSpPr>
              <p:cNvPr id="10" name="任意形状 23">
                <a:extLst>
                  <a:ext uri="{FF2B5EF4-FFF2-40B4-BE49-F238E27FC236}">
                    <a16:creationId xmlns:a16="http://schemas.microsoft.com/office/drawing/2014/main" id="{F7155B47-160D-F3E9-5864-3563A8C3C5CF}"/>
                  </a:ext>
                </a:extLst>
              </p:cNvPr>
              <p:cNvSpPr/>
              <p:nvPr/>
            </p:nvSpPr>
            <p:spPr>
              <a:xfrm>
                <a:off x="3061268" y="2968100"/>
                <a:ext cx="19236" cy="115416"/>
              </a:xfrm>
              <a:custGeom>
                <a:avLst/>
                <a:gdLst/>
                <a:ahLst/>
                <a:cxnLst>
                  <a:cxn ang="0">
                    <a:pos x="0" y="0"/>
                  </a:cxn>
                  <a:cxn ang="0">
                    <a:pos x="0" y="115416"/>
                  </a:cxn>
                </a:cxnLst>
                <a:rect l="0" t="0" r="0" b="0"/>
                <a:pathLst>
                  <a:path w="19236" h="115416">
                    <a:moveTo>
                      <a:pt x="0" y="0"/>
                    </a:moveTo>
                    <a:lnTo>
                      <a:pt x="0" y="115416"/>
                    </a:lnTo>
                  </a:path>
                </a:pathLst>
              </a:custGeom>
              <a:noFill/>
              <a:ln w="38100" cap="flat" cmpd="sng">
                <a:solidFill>
                  <a:schemeClr val="bg1">
                    <a:alpha val="100000"/>
                  </a:schemeClr>
                </a:solidFill>
                <a:prstDash val="solid"/>
                <a:round/>
                <a:headEnd type="none" w="med" len="med"/>
                <a:tailEnd type="none" w="med" len="med"/>
              </a:ln>
            </p:spPr>
            <p:txBody>
              <a:bodyPr/>
              <a:lstStyle/>
              <a:p>
                <a:endParaRPr lang="zh-CN" altLang="en-US"/>
              </a:p>
            </p:txBody>
          </p:sp>
          <p:sp>
            <p:nvSpPr>
              <p:cNvPr id="11" name="任意形状 26">
                <a:extLst>
                  <a:ext uri="{FF2B5EF4-FFF2-40B4-BE49-F238E27FC236}">
                    <a16:creationId xmlns:a16="http://schemas.microsoft.com/office/drawing/2014/main" id="{C8D33B5B-54E0-D4FE-6538-62AE7065B820}"/>
                  </a:ext>
                </a:extLst>
              </p:cNvPr>
              <p:cNvSpPr/>
              <p:nvPr/>
            </p:nvSpPr>
            <p:spPr>
              <a:xfrm>
                <a:off x="3157448" y="2833448"/>
                <a:ext cx="19236" cy="38472"/>
              </a:xfrm>
              <a:custGeom>
                <a:avLst/>
                <a:gdLst/>
                <a:ahLst/>
                <a:cxnLst>
                  <a:cxn ang="0">
                    <a:pos x="0" y="0"/>
                  </a:cxn>
                  <a:cxn ang="0">
                    <a:pos x="19236" y="38472"/>
                  </a:cxn>
                </a:cxnLst>
                <a:rect l="0" t="0" r="0" b="0"/>
                <a:pathLst>
                  <a:path w="19236" h="38472">
                    <a:moveTo>
                      <a:pt x="0" y="0"/>
                    </a:moveTo>
                    <a:lnTo>
                      <a:pt x="19236" y="38472"/>
                    </a:lnTo>
                  </a:path>
                </a:pathLst>
              </a:custGeom>
              <a:noFill/>
              <a:ln w="38100" cap="flat" cmpd="sng">
                <a:solidFill>
                  <a:schemeClr val="bg1">
                    <a:alpha val="100000"/>
                  </a:schemeClr>
                </a:solidFill>
                <a:prstDash val="solid"/>
                <a:round/>
                <a:headEnd type="none" w="med" len="med"/>
                <a:tailEnd type="none" w="med" len="med"/>
              </a:ln>
            </p:spPr>
            <p:txBody>
              <a:bodyPr/>
              <a:lstStyle/>
              <a:p>
                <a:endParaRPr lang="zh-CN" altLang="en-US"/>
              </a:p>
            </p:txBody>
          </p:sp>
          <p:sp>
            <p:nvSpPr>
              <p:cNvPr id="12" name="任意形状 27">
                <a:extLst>
                  <a:ext uri="{FF2B5EF4-FFF2-40B4-BE49-F238E27FC236}">
                    <a16:creationId xmlns:a16="http://schemas.microsoft.com/office/drawing/2014/main" id="{059AFACE-52D5-3358-F01B-DF9A4C663A67}"/>
                  </a:ext>
                </a:extLst>
              </p:cNvPr>
              <p:cNvSpPr/>
              <p:nvPr/>
            </p:nvSpPr>
            <p:spPr>
              <a:xfrm>
                <a:off x="3292100" y="2833448"/>
                <a:ext cx="19236" cy="38472"/>
              </a:xfrm>
              <a:custGeom>
                <a:avLst/>
                <a:gdLst/>
                <a:ahLst/>
                <a:cxnLst>
                  <a:cxn ang="0">
                    <a:pos x="19236" y="0"/>
                  </a:cxn>
                  <a:cxn ang="0">
                    <a:pos x="0" y="38472"/>
                  </a:cxn>
                </a:cxnLst>
                <a:rect l="0" t="0" r="0" b="0"/>
                <a:pathLst>
                  <a:path w="19236" h="38472">
                    <a:moveTo>
                      <a:pt x="19236" y="0"/>
                    </a:moveTo>
                    <a:lnTo>
                      <a:pt x="0" y="38472"/>
                    </a:lnTo>
                  </a:path>
                </a:pathLst>
              </a:custGeom>
              <a:noFill/>
              <a:ln w="38100" cap="flat" cmpd="sng">
                <a:solidFill>
                  <a:schemeClr val="bg1">
                    <a:alpha val="100000"/>
                  </a:schemeClr>
                </a:solidFill>
                <a:prstDash val="solid"/>
                <a:round/>
                <a:headEnd type="none" w="med" len="med"/>
                <a:tailEnd type="none" w="med" len="med"/>
              </a:ln>
            </p:spPr>
            <p:txBody>
              <a:bodyPr/>
              <a:lstStyle/>
              <a:p>
                <a:endParaRPr lang="zh-CN" altLang="en-US"/>
              </a:p>
            </p:txBody>
          </p:sp>
          <p:sp>
            <p:nvSpPr>
              <p:cNvPr id="13" name="任意形状 28">
                <a:extLst>
                  <a:ext uri="{FF2B5EF4-FFF2-40B4-BE49-F238E27FC236}">
                    <a16:creationId xmlns:a16="http://schemas.microsoft.com/office/drawing/2014/main" id="{BECDD2AE-8391-F547-2D09-93072C3D4669}"/>
                  </a:ext>
                </a:extLst>
              </p:cNvPr>
              <p:cNvSpPr/>
              <p:nvPr/>
            </p:nvSpPr>
            <p:spPr>
              <a:xfrm>
                <a:off x="3176684" y="3121988"/>
                <a:ext cx="19236" cy="57708"/>
              </a:xfrm>
              <a:custGeom>
                <a:avLst/>
                <a:gdLst/>
                <a:ahLst/>
                <a:cxnLst>
                  <a:cxn ang="0">
                    <a:pos x="0" y="0"/>
                  </a:cxn>
                  <a:cxn ang="0">
                    <a:pos x="0" y="57708"/>
                  </a:cxn>
                </a:cxnLst>
                <a:rect l="0" t="0" r="0" b="0"/>
                <a:pathLst>
                  <a:path w="19236" h="57708">
                    <a:moveTo>
                      <a:pt x="0" y="0"/>
                    </a:moveTo>
                    <a:lnTo>
                      <a:pt x="0" y="57708"/>
                    </a:lnTo>
                  </a:path>
                </a:pathLst>
              </a:custGeom>
              <a:noFill/>
              <a:ln w="38100" cap="flat" cmpd="sng">
                <a:solidFill>
                  <a:schemeClr val="bg1">
                    <a:alpha val="100000"/>
                  </a:schemeClr>
                </a:solidFill>
                <a:prstDash val="solid"/>
                <a:round/>
                <a:headEnd type="none" w="med" len="med"/>
                <a:tailEnd type="none" w="med" len="med"/>
              </a:ln>
            </p:spPr>
            <p:txBody>
              <a:bodyPr/>
              <a:lstStyle/>
              <a:p>
                <a:endParaRPr lang="zh-CN" altLang="en-US"/>
              </a:p>
            </p:txBody>
          </p:sp>
          <p:sp>
            <p:nvSpPr>
              <p:cNvPr id="14" name="任意形状 29">
                <a:extLst>
                  <a:ext uri="{FF2B5EF4-FFF2-40B4-BE49-F238E27FC236}">
                    <a16:creationId xmlns:a16="http://schemas.microsoft.com/office/drawing/2014/main" id="{D30E0C3D-982D-72EE-EBD8-3C8A9A3C4266}"/>
                  </a:ext>
                </a:extLst>
              </p:cNvPr>
              <p:cNvSpPr/>
              <p:nvPr/>
            </p:nvSpPr>
            <p:spPr>
              <a:xfrm>
                <a:off x="3292100" y="3121988"/>
                <a:ext cx="19236" cy="57708"/>
              </a:xfrm>
              <a:custGeom>
                <a:avLst/>
                <a:gdLst/>
                <a:ahLst/>
                <a:cxnLst>
                  <a:cxn ang="0">
                    <a:pos x="0" y="0"/>
                  </a:cxn>
                  <a:cxn ang="0">
                    <a:pos x="0" y="57708"/>
                  </a:cxn>
                </a:cxnLst>
                <a:rect l="0" t="0" r="0" b="0"/>
                <a:pathLst>
                  <a:path w="19236" h="57708">
                    <a:moveTo>
                      <a:pt x="0" y="0"/>
                    </a:moveTo>
                    <a:lnTo>
                      <a:pt x="0" y="57708"/>
                    </a:lnTo>
                  </a:path>
                </a:pathLst>
              </a:custGeom>
              <a:noFill/>
              <a:ln w="38100" cap="flat" cmpd="sng">
                <a:solidFill>
                  <a:schemeClr val="bg1">
                    <a:alpha val="100000"/>
                  </a:schemeClr>
                </a:solidFill>
                <a:prstDash val="solid"/>
                <a:round/>
                <a:headEnd type="none" w="med" len="med"/>
                <a:tailEnd type="none" w="med" len="med"/>
              </a:ln>
            </p:spPr>
            <p:txBody>
              <a:bodyPr/>
              <a:lstStyle/>
              <a:p>
                <a:endParaRPr lang="zh-CN" altLang="en-US"/>
              </a:p>
            </p:txBody>
          </p:sp>
        </p:grpSp>
        <p:sp>
          <p:nvSpPr>
            <p:cNvPr id="9" name="文本框 8">
              <a:extLst>
                <a:ext uri="{FF2B5EF4-FFF2-40B4-BE49-F238E27FC236}">
                  <a16:creationId xmlns:a16="http://schemas.microsoft.com/office/drawing/2014/main" id="{FF320343-2CDA-02E6-095A-E150C14A755A}"/>
                </a:ext>
              </a:extLst>
            </p:cNvPr>
            <p:cNvSpPr txBox="1"/>
            <p:nvPr/>
          </p:nvSpPr>
          <p:spPr>
            <a:xfrm>
              <a:off x="4416232" y="1168670"/>
              <a:ext cx="2461468" cy="807612"/>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1" lang="zh-CN" altLang="en-US" sz="2800" b="1" kern="1200" cap="none" spc="0" normalizeH="0" baseline="0" noProof="0" dirty="0">
                  <a:solidFill>
                    <a:schemeClr val="bg1"/>
                  </a:solidFill>
                  <a:latin typeface="微软雅黑" pitchFamily="34" charset="-122"/>
                  <a:ea typeface="微软雅黑" pitchFamily="34" charset="-122"/>
                  <a:cs typeface="+mn-cs"/>
                </a:rPr>
                <a:t>属性</a:t>
              </a:r>
              <a:endParaRPr kumimoji="1" lang="zh-CN" altLang="en-US" sz="1600" b="1" kern="0" cap="none" spc="0" normalizeH="0" baseline="0" noProof="0" dirty="0">
                <a:solidFill>
                  <a:schemeClr val="bg1"/>
                </a:solidFill>
                <a:latin typeface="微软雅黑" pitchFamily="34" charset="-122"/>
                <a:ea typeface="微软雅黑" pitchFamily="34" charset="-122"/>
                <a:cs typeface="+mn-cs"/>
                <a:sym typeface="+mn-ea"/>
              </a:endParaRPr>
            </a:p>
          </p:txBody>
        </p:sp>
      </p:grpSp>
      <p:sp>
        <p:nvSpPr>
          <p:cNvPr id="15" name="矩形 14">
            <a:extLst>
              <a:ext uri="{FF2B5EF4-FFF2-40B4-BE49-F238E27FC236}">
                <a16:creationId xmlns:a16="http://schemas.microsoft.com/office/drawing/2014/main" id="{AC97B458-7C20-4A94-9D10-F70C02F48034}"/>
              </a:ext>
            </a:extLst>
          </p:cNvPr>
          <p:cNvSpPr/>
          <p:nvPr/>
        </p:nvSpPr>
        <p:spPr>
          <a:xfrm>
            <a:off x="3817938" y="4818063"/>
            <a:ext cx="1198562" cy="706437"/>
          </a:xfrm>
          <a:prstGeom prst="rect">
            <a:avLst/>
          </a:prstGeom>
          <a:noFill/>
          <a:ln w="9525">
            <a:noFill/>
          </a:ln>
        </p:spPr>
        <p:txBody>
          <a:bodyPr wrap="none">
            <a:spAutoFit/>
          </a:bodyPr>
          <a:lstStyle/>
          <a:p>
            <a:pPr>
              <a:buNone/>
            </a:pPr>
            <a:r>
              <a:rPr lang="zh-CN" altLang="en-US" sz="4000" b="1" dirty="0">
                <a:solidFill>
                  <a:schemeClr val="bg1"/>
                </a:solidFill>
                <a:latin typeface="微软雅黑" pitchFamily="34" charset="-122"/>
                <a:ea typeface="微软雅黑" pitchFamily="34" charset="-122"/>
              </a:rPr>
              <a:t>姓名</a:t>
            </a:r>
          </a:p>
        </p:txBody>
      </p:sp>
      <p:sp>
        <p:nvSpPr>
          <p:cNvPr id="16" name="矩形 15">
            <a:extLst>
              <a:ext uri="{FF2B5EF4-FFF2-40B4-BE49-F238E27FC236}">
                <a16:creationId xmlns:a16="http://schemas.microsoft.com/office/drawing/2014/main" id="{FA927508-DB61-AF63-4945-A539B20A8CCA}"/>
              </a:ext>
            </a:extLst>
          </p:cNvPr>
          <p:cNvSpPr/>
          <p:nvPr/>
        </p:nvSpPr>
        <p:spPr>
          <a:xfrm>
            <a:off x="4749800" y="3817938"/>
            <a:ext cx="1403350" cy="584200"/>
          </a:xfrm>
          <a:prstGeom prst="rect">
            <a:avLst/>
          </a:prstGeom>
          <a:noFill/>
          <a:ln w="9525">
            <a:noFill/>
          </a:ln>
        </p:spPr>
        <p:txBody>
          <a:bodyPr wrap="none">
            <a:spAutoFit/>
          </a:bodyPr>
          <a:lstStyle/>
          <a:p>
            <a:pPr>
              <a:buNone/>
            </a:pPr>
            <a:r>
              <a:rPr lang="zh-CN" altLang="en-US" sz="3200" b="1" dirty="0">
                <a:solidFill>
                  <a:schemeClr val="bg1"/>
                </a:solidFill>
                <a:latin typeface="微软雅黑" pitchFamily="34" charset="-122"/>
                <a:ea typeface="微软雅黑" pitchFamily="34" charset="-122"/>
              </a:rPr>
              <a:t>职工号</a:t>
            </a:r>
          </a:p>
        </p:txBody>
      </p:sp>
      <p:sp>
        <p:nvSpPr>
          <p:cNvPr id="17" name="矩形 16">
            <a:extLst>
              <a:ext uri="{FF2B5EF4-FFF2-40B4-BE49-F238E27FC236}">
                <a16:creationId xmlns:a16="http://schemas.microsoft.com/office/drawing/2014/main" id="{E1A43F97-4718-9C42-FF09-9EE94D4839D5}"/>
              </a:ext>
            </a:extLst>
          </p:cNvPr>
          <p:cNvSpPr/>
          <p:nvPr/>
        </p:nvSpPr>
        <p:spPr>
          <a:xfrm>
            <a:off x="6845300" y="4878388"/>
            <a:ext cx="996950" cy="584200"/>
          </a:xfrm>
          <a:prstGeom prst="rect">
            <a:avLst/>
          </a:prstGeom>
          <a:noFill/>
          <a:ln w="9525">
            <a:noFill/>
          </a:ln>
        </p:spPr>
        <p:txBody>
          <a:bodyPr>
            <a:spAutoFit/>
          </a:bodyPr>
          <a:lstStyle/>
          <a:p>
            <a:pPr>
              <a:buNone/>
            </a:pPr>
            <a:r>
              <a:rPr lang="zh-CN" altLang="en-US" sz="3200" b="1" dirty="0">
                <a:solidFill>
                  <a:schemeClr val="bg1"/>
                </a:solidFill>
                <a:latin typeface="微软雅黑" pitchFamily="34" charset="-122"/>
                <a:ea typeface="微软雅黑" pitchFamily="34" charset="-122"/>
              </a:rPr>
              <a:t>年龄</a:t>
            </a:r>
          </a:p>
        </p:txBody>
      </p:sp>
      <p:sp>
        <p:nvSpPr>
          <p:cNvPr id="18" name="矩形 17">
            <a:extLst>
              <a:ext uri="{FF2B5EF4-FFF2-40B4-BE49-F238E27FC236}">
                <a16:creationId xmlns:a16="http://schemas.microsoft.com/office/drawing/2014/main" id="{07AB41B6-6C53-6EBB-311B-2DFB23DD4A6F}"/>
              </a:ext>
            </a:extLst>
          </p:cNvPr>
          <p:cNvSpPr/>
          <p:nvPr/>
        </p:nvSpPr>
        <p:spPr>
          <a:xfrm>
            <a:off x="4730750" y="5772150"/>
            <a:ext cx="995363" cy="582613"/>
          </a:xfrm>
          <a:prstGeom prst="rect">
            <a:avLst/>
          </a:prstGeom>
          <a:noFill/>
          <a:ln w="9525">
            <a:noFill/>
          </a:ln>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accent6">
                    <a:lumMod val="60000"/>
                    <a:lumOff val="40000"/>
                  </a:schemeClr>
                </a:solidFill>
                <a:effectLst/>
                <a:uLnTx/>
                <a:uFillTx/>
                <a:latin typeface="微软雅黑" pitchFamily="34" charset="-122"/>
                <a:ea typeface="微软雅黑" pitchFamily="34" charset="-122"/>
                <a:cs typeface="+mn-cs"/>
              </a:rPr>
              <a:t>部门</a:t>
            </a:r>
          </a:p>
        </p:txBody>
      </p:sp>
      <p:sp>
        <p:nvSpPr>
          <p:cNvPr id="19" name="矩形 18">
            <a:extLst>
              <a:ext uri="{FF2B5EF4-FFF2-40B4-BE49-F238E27FC236}">
                <a16:creationId xmlns:a16="http://schemas.microsoft.com/office/drawing/2014/main" id="{8EB25D2F-2FE0-16AE-B00D-2879798E9090}"/>
              </a:ext>
            </a:extLst>
          </p:cNvPr>
          <p:cNvSpPr/>
          <p:nvPr/>
        </p:nvSpPr>
        <p:spPr>
          <a:xfrm>
            <a:off x="6069013" y="5772150"/>
            <a:ext cx="3394075" cy="588963"/>
          </a:xfrm>
          <a:prstGeom prst="rect">
            <a:avLst/>
          </a:prstGeom>
          <a:noFill/>
          <a:ln w="9525">
            <a:noFill/>
          </a:ln>
        </p:spPr>
        <p:txBody>
          <a:bodyPr>
            <a:spAutoFit/>
          </a:bodyPr>
          <a:lstStyle/>
          <a:p>
            <a:pPr>
              <a:lnSpc>
                <a:spcPct val="90000"/>
              </a:lnSpc>
              <a:buNone/>
            </a:pPr>
            <a:r>
              <a:rPr lang="zh-CN" altLang="en-US" sz="3600" b="1" dirty="0">
                <a:solidFill>
                  <a:schemeClr val="bg1"/>
                </a:solidFill>
                <a:latin typeface="微软雅黑" pitchFamily="34" charset="-122"/>
                <a:ea typeface="微软雅黑" pitchFamily="34" charset="-122"/>
              </a:rPr>
              <a:t>学历</a:t>
            </a:r>
          </a:p>
        </p:txBody>
      </p:sp>
      <p:sp>
        <p:nvSpPr>
          <p:cNvPr id="20" name="矩形 19">
            <a:extLst>
              <a:ext uri="{FF2B5EF4-FFF2-40B4-BE49-F238E27FC236}">
                <a16:creationId xmlns:a16="http://schemas.microsoft.com/office/drawing/2014/main" id="{EA25CC9D-F2FE-B6B9-F2EE-2A9E710A9BF4}"/>
              </a:ext>
            </a:extLst>
          </p:cNvPr>
          <p:cNvSpPr/>
          <p:nvPr/>
        </p:nvSpPr>
        <p:spPr>
          <a:xfrm>
            <a:off x="5588000" y="4694238"/>
            <a:ext cx="1096963" cy="646113"/>
          </a:xfrm>
          <a:prstGeom prst="rect">
            <a:avLst/>
          </a:prstGeom>
          <a:noFill/>
          <a:ln w="9525">
            <a:noFill/>
          </a:ln>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chemeClr val="bg1">
                    <a:lumMod val="85000"/>
                  </a:schemeClr>
                </a:solidFill>
                <a:effectLst/>
                <a:uLnTx/>
                <a:uFillTx/>
                <a:latin typeface="微软雅黑" pitchFamily="34" charset="-122"/>
                <a:ea typeface="微软雅黑" pitchFamily="34" charset="-122"/>
                <a:cs typeface="+mn-cs"/>
              </a:rPr>
              <a:t>性别</a:t>
            </a:r>
          </a:p>
        </p:txBody>
      </p:sp>
      <p:sp>
        <p:nvSpPr>
          <p:cNvPr id="21" name="箭头: 左 69">
            <a:extLst>
              <a:ext uri="{FF2B5EF4-FFF2-40B4-BE49-F238E27FC236}">
                <a16:creationId xmlns:a16="http://schemas.microsoft.com/office/drawing/2014/main" id="{162BA8FD-0637-BB00-5CD7-B10FD6A1555D}"/>
              </a:ext>
            </a:extLst>
          </p:cNvPr>
          <p:cNvSpPr/>
          <p:nvPr/>
        </p:nvSpPr>
        <p:spPr>
          <a:xfrm rot="16200000">
            <a:off x="5511006" y="2897981"/>
            <a:ext cx="703263" cy="552450"/>
          </a:xfrm>
          <a:custGeom>
            <a:avLst/>
            <a:gdLst>
              <a:gd name="connsiteX0" fmla="*/ 0 w 2999150"/>
              <a:gd name="connsiteY0" fmla="*/ 742780 h 1485560"/>
              <a:gd name="connsiteX1" fmla="*/ 742780 w 2999150"/>
              <a:gd name="connsiteY1" fmla="*/ 0 h 1485560"/>
              <a:gd name="connsiteX2" fmla="*/ 742780 w 2999150"/>
              <a:gd name="connsiteY2" fmla="*/ 371390 h 1485560"/>
              <a:gd name="connsiteX3" fmla="*/ 2999150 w 2999150"/>
              <a:gd name="connsiteY3" fmla="*/ 371390 h 1485560"/>
              <a:gd name="connsiteX4" fmla="*/ 2999150 w 2999150"/>
              <a:gd name="connsiteY4" fmla="*/ 1114170 h 1485560"/>
              <a:gd name="connsiteX5" fmla="*/ 742780 w 2999150"/>
              <a:gd name="connsiteY5" fmla="*/ 1114170 h 1485560"/>
              <a:gd name="connsiteX6" fmla="*/ 742780 w 2999150"/>
              <a:gd name="connsiteY6" fmla="*/ 1485560 h 1485560"/>
              <a:gd name="connsiteX7" fmla="*/ 0 w 2999150"/>
              <a:gd name="connsiteY7" fmla="*/ 742780 h 1485560"/>
              <a:gd name="connsiteX0-1" fmla="*/ 0 w 3008982"/>
              <a:gd name="connsiteY0-2" fmla="*/ 1639751 h 2382531"/>
              <a:gd name="connsiteX1-3" fmla="*/ 742780 w 3008982"/>
              <a:gd name="connsiteY1-4" fmla="*/ 896971 h 2382531"/>
              <a:gd name="connsiteX2-5" fmla="*/ 742780 w 3008982"/>
              <a:gd name="connsiteY2-6" fmla="*/ 1268361 h 2382531"/>
              <a:gd name="connsiteX3-7" fmla="*/ 3008982 w 3008982"/>
              <a:gd name="connsiteY3-8" fmla="*/ 0 h 2382531"/>
              <a:gd name="connsiteX4-9" fmla="*/ 2999150 w 3008982"/>
              <a:gd name="connsiteY4-10" fmla="*/ 2011141 h 2382531"/>
              <a:gd name="connsiteX5-11" fmla="*/ 742780 w 3008982"/>
              <a:gd name="connsiteY5-12" fmla="*/ 2011141 h 2382531"/>
              <a:gd name="connsiteX6-13" fmla="*/ 742780 w 3008982"/>
              <a:gd name="connsiteY6-14" fmla="*/ 2382531 h 2382531"/>
              <a:gd name="connsiteX7-15" fmla="*/ 0 w 3008982"/>
              <a:gd name="connsiteY7-16" fmla="*/ 1639751 h 2382531"/>
              <a:gd name="connsiteX0-17" fmla="*/ 0 w 3008982"/>
              <a:gd name="connsiteY0-18" fmla="*/ 1639751 h 3279502"/>
              <a:gd name="connsiteX1-19" fmla="*/ 742780 w 3008982"/>
              <a:gd name="connsiteY1-20" fmla="*/ 896971 h 3279502"/>
              <a:gd name="connsiteX2-21" fmla="*/ 742780 w 3008982"/>
              <a:gd name="connsiteY2-22" fmla="*/ 1268361 h 3279502"/>
              <a:gd name="connsiteX3-23" fmla="*/ 3008982 w 3008982"/>
              <a:gd name="connsiteY3-24" fmla="*/ 0 h 3279502"/>
              <a:gd name="connsiteX4-25" fmla="*/ 2979486 w 3008982"/>
              <a:gd name="connsiteY4-26" fmla="*/ 3279502 h 3279502"/>
              <a:gd name="connsiteX5-27" fmla="*/ 742780 w 3008982"/>
              <a:gd name="connsiteY5-28" fmla="*/ 2011141 h 3279502"/>
              <a:gd name="connsiteX6-29" fmla="*/ 742780 w 3008982"/>
              <a:gd name="connsiteY6-30" fmla="*/ 2382531 h 3279502"/>
              <a:gd name="connsiteX7-31" fmla="*/ 0 w 3008982"/>
              <a:gd name="connsiteY7-32" fmla="*/ 1639751 h 3279502"/>
              <a:gd name="connsiteX0-33" fmla="*/ 0 w 3008982"/>
              <a:gd name="connsiteY0-34" fmla="*/ 1639751 h 3299167"/>
              <a:gd name="connsiteX1-35" fmla="*/ 742780 w 3008982"/>
              <a:gd name="connsiteY1-36" fmla="*/ 896971 h 3299167"/>
              <a:gd name="connsiteX2-37" fmla="*/ 742780 w 3008982"/>
              <a:gd name="connsiteY2-38" fmla="*/ 1268361 h 3299167"/>
              <a:gd name="connsiteX3-39" fmla="*/ 3008982 w 3008982"/>
              <a:gd name="connsiteY3-40" fmla="*/ 0 h 3299167"/>
              <a:gd name="connsiteX4-41" fmla="*/ 2999150 w 3008982"/>
              <a:gd name="connsiteY4-42" fmla="*/ 3299167 h 3299167"/>
              <a:gd name="connsiteX5-43" fmla="*/ 742780 w 3008982"/>
              <a:gd name="connsiteY5-44" fmla="*/ 2011141 h 3299167"/>
              <a:gd name="connsiteX6-45" fmla="*/ 742780 w 3008982"/>
              <a:gd name="connsiteY6-46" fmla="*/ 2382531 h 3299167"/>
              <a:gd name="connsiteX7-47" fmla="*/ 0 w 3008982"/>
              <a:gd name="connsiteY7-48" fmla="*/ 1639751 h 3299167"/>
              <a:gd name="connsiteX0-49" fmla="*/ 0 w 3008982"/>
              <a:gd name="connsiteY0-50" fmla="*/ 1639751 h 3299167"/>
              <a:gd name="connsiteX1-51" fmla="*/ 742780 w 3008982"/>
              <a:gd name="connsiteY1-52" fmla="*/ 896971 h 3299167"/>
              <a:gd name="connsiteX2-53" fmla="*/ 742780 w 3008982"/>
              <a:gd name="connsiteY2-54" fmla="*/ 1268361 h 3299167"/>
              <a:gd name="connsiteX3-55" fmla="*/ 3008982 w 3008982"/>
              <a:gd name="connsiteY3-56" fmla="*/ 0 h 3299167"/>
              <a:gd name="connsiteX4-57" fmla="*/ 2999150 w 3008982"/>
              <a:gd name="connsiteY4-58" fmla="*/ 3299167 h 3299167"/>
              <a:gd name="connsiteX5-59" fmla="*/ 742780 w 3008982"/>
              <a:gd name="connsiteY5-60" fmla="*/ 2011141 h 3299167"/>
              <a:gd name="connsiteX6-61" fmla="*/ 742780 w 3008982"/>
              <a:gd name="connsiteY6-62" fmla="*/ 2382531 h 3299167"/>
              <a:gd name="connsiteX7-63" fmla="*/ 0 w 3008982"/>
              <a:gd name="connsiteY7-64" fmla="*/ 1639751 h 3299167"/>
              <a:gd name="connsiteX0-65" fmla="*/ 0 w 3008982"/>
              <a:gd name="connsiteY0-66" fmla="*/ 1639751 h 3299167"/>
              <a:gd name="connsiteX1-67" fmla="*/ 742780 w 3008982"/>
              <a:gd name="connsiteY1-68" fmla="*/ 896971 h 3299167"/>
              <a:gd name="connsiteX2-69" fmla="*/ 742780 w 3008982"/>
              <a:gd name="connsiteY2-70" fmla="*/ 1268361 h 3299167"/>
              <a:gd name="connsiteX3-71" fmla="*/ 3008982 w 3008982"/>
              <a:gd name="connsiteY3-72" fmla="*/ 0 h 3299167"/>
              <a:gd name="connsiteX4-73" fmla="*/ 2999150 w 3008982"/>
              <a:gd name="connsiteY4-74" fmla="*/ 3299167 h 3299167"/>
              <a:gd name="connsiteX5-75" fmla="*/ 742780 w 3008982"/>
              <a:gd name="connsiteY5-76" fmla="*/ 2011141 h 3299167"/>
              <a:gd name="connsiteX6-77" fmla="*/ 742780 w 3008982"/>
              <a:gd name="connsiteY6-78" fmla="*/ 2382531 h 3299167"/>
              <a:gd name="connsiteX7-79" fmla="*/ 0 w 3008982"/>
              <a:gd name="connsiteY7-80" fmla="*/ 1639751 h 3299167"/>
              <a:gd name="connsiteX0-81" fmla="*/ 0 w 3008982"/>
              <a:gd name="connsiteY0-82" fmla="*/ 1639751 h 3299167"/>
              <a:gd name="connsiteX1-83" fmla="*/ 742780 w 3008982"/>
              <a:gd name="connsiteY1-84" fmla="*/ 896971 h 3299167"/>
              <a:gd name="connsiteX2-85" fmla="*/ 742780 w 3008982"/>
              <a:gd name="connsiteY2-86" fmla="*/ 1268361 h 3299167"/>
              <a:gd name="connsiteX3-87" fmla="*/ 3008982 w 3008982"/>
              <a:gd name="connsiteY3-88" fmla="*/ 0 h 3299167"/>
              <a:gd name="connsiteX4-89" fmla="*/ 2999150 w 3008982"/>
              <a:gd name="connsiteY4-90" fmla="*/ 3299167 h 3299167"/>
              <a:gd name="connsiteX5-91" fmla="*/ 742780 w 3008982"/>
              <a:gd name="connsiteY5-92" fmla="*/ 2011141 h 3299167"/>
              <a:gd name="connsiteX6-93" fmla="*/ 742780 w 3008982"/>
              <a:gd name="connsiteY6-94" fmla="*/ 2382531 h 3299167"/>
              <a:gd name="connsiteX7-95" fmla="*/ 0 w 3008982"/>
              <a:gd name="connsiteY7-96" fmla="*/ 1639751 h 3299167"/>
              <a:gd name="connsiteX0-97" fmla="*/ 0 w 3008982"/>
              <a:gd name="connsiteY0-98" fmla="*/ 1639751 h 3299167"/>
              <a:gd name="connsiteX1-99" fmla="*/ 742780 w 3008982"/>
              <a:gd name="connsiteY1-100" fmla="*/ 896971 h 3299167"/>
              <a:gd name="connsiteX2-101" fmla="*/ 742780 w 3008982"/>
              <a:gd name="connsiteY2-102" fmla="*/ 1268361 h 3299167"/>
              <a:gd name="connsiteX3-103" fmla="*/ 3008982 w 3008982"/>
              <a:gd name="connsiteY3-104" fmla="*/ 0 h 3299167"/>
              <a:gd name="connsiteX4-105" fmla="*/ 2999150 w 3008982"/>
              <a:gd name="connsiteY4-106" fmla="*/ 3299167 h 3299167"/>
              <a:gd name="connsiteX5-107" fmla="*/ 742780 w 3008982"/>
              <a:gd name="connsiteY5-108" fmla="*/ 2011141 h 3299167"/>
              <a:gd name="connsiteX6-109" fmla="*/ 742780 w 3008982"/>
              <a:gd name="connsiteY6-110" fmla="*/ 2382531 h 3299167"/>
              <a:gd name="connsiteX7-111" fmla="*/ 0 w 3008982"/>
              <a:gd name="connsiteY7-112" fmla="*/ 1639751 h 329916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3008982" h="3299167">
                <a:moveTo>
                  <a:pt x="0" y="1639751"/>
                </a:moveTo>
                <a:lnTo>
                  <a:pt x="742780" y="896971"/>
                </a:lnTo>
                <a:lnTo>
                  <a:pt x="742780" y="1268361"/>
                </a:lnTo>
                <a:cubicBezTo>
                  <a:pt x="1360529" y="1150374"/>
                  <a:pt x="2332239" y="1042219"/>
                  <a:pt x="3008982" y="0"/>
                </a:cubicBezTo>
                <a:cubicBezTo>
                  <a:pt x="3005705" y="670380"/>
                  <a:pt x="3002427" y="2628787"/>
                  <a:pt x="2999150" y="3299167"/>
                </a:cubicBezTo>
                <a:cubicBezTo>
                  <a:pt x="2335517" y="2220896"/>
                  <a:pt x="1347419" y="2125851"/>
                  <a:pt x="742780" y="2011141"/>
                </a:cubicBezTo>
                <a:lnTo>
                  <a:pt x="742780" y="2382531"/>
                </a:lnTo>
                <a:lnTo>
                  <a:pt x="0" y="1639751"/>
                </a:lnTo>
                <a:close/>
              </a:path>
            </a:pathLst>
          </a:custGeom>
          <a:gradFill flip="none" rotWithShape="1">
            <a:gsLst>
              <a:gs pos="0">
                <a:srgbClr val="3982FF"/>
              </a:gs>
              <a:gs pos="100000">
                <a:srgbClr val="3982FF">
                  <a:alpha val="37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23" name="文本框 22">
            <a:extLst>
              <a:ext uri="{FF2B5EF4-FFF2-40B4-BE49-F238E27FC236}">
                <a16:creationId xmlns:a16="http://schemas.microsoft.com/office/drawing/2014/main" id="{30FE47DF-565F-52E5-941B-0C18C4C20FFC}"/>
              </a:ext>
            </a:extLst>
          </p:cNvPr>
          <p:cNvSpPr txBox="1"/>
          <p:nvPr/>
        </p:nvSpPr>
        <p:spPr>
          <a:xfrm>
            <a:off x="930025" y="1203576"/>
            <a:ext cx="3926075" cy="853567"/>
          </a:xfrm>
          <a:prstGeom prst="rect">
            <a:avLst/>
          </a:prstGeom>
          <a:noFill/>
        </p:spPr>
        <p:txBody>
          <a:bodyPr wrap="none" rtlCol="0" anchor="t">
            <a:spAutoFit/>
          </a:bodyPr>
          <a:lstStyle/>
          <a:p>
            <a:pPr marR="0" defTabSz="457200" fontAlgn="auto">
              <a:lnSpc>
                <a:spcPct val="130000"/>
              </a:lnSpc>
              <a:spcBef>
                <a:spcPts val="0"/>
              </a:spcBef>
              <a:spcAft>
                <a:spcPts val="0"/>
              </a:spcAft>
              <a:buClrTx/>
              <a:buSzTx/>
              <a:buFontTx/>
              <a:buNone/>
              <a:defRPr/>
            </a:pPr>
            <a:r>
              <a:rPr lang="zh-CN" altLang="en-US" sz="2000" b="1" dirty="0">
                <a:solidFill>
                  <a:srgbClr val="44546A"/>
                </a:solidFill>
                <a:latin typeface="微软雅黑" panose="020B0503020204020204" pitchFamily="34" charset="-122"/>
                <a:ea typeface="微软雅黑" panose="020B0503020204020204" pitchFamily="34" charset="-122"/>
                <a:sym typeface="+mn-ea"/>
              </a:rPr>
              <a:t>（</a:t>
            </a:r>
            <a:r>
              <a:rPr lang="en-US" altLang="zh-CN" sz="2000" b="1" dirty="0">
                <a:solidFill>
                  <a:srgbClr val="44546A"/>
                </a:solidFill>
                <a:latin typeface="微软雅黑" panose="020B0503020204020204" pitchFamily="34" charset="-122"/>
                <a:ea typeface="微软雅黑" panose="020B0503020204020204" pitchFamily="34" charset="-122"/>
                <a:sym typeface="+mn-ea"/>
              </a:rPr>
              <a:t>2</a:t>
            </a:r>
            <a:r>
              <a:rPr lang="zh-CN" altLang="en-US" sz="2000" b="1" dirty="0">
                <a:solidFill>
                  <a:srgbClr val="44546A"/>
                </a:solidFill>
                <a:latin typeface="微软雅黑" panose="020B0503020204020204" pitchFamily="34" charset="-122"/>
                <a:ea typeface="微软雅黑" panose="020B0503020204020204" pitchFamily="34" charset="-122"/>
                <a:sym typeface="+mn-ea"/>
              </a:rPr>
              <a:t>）属性</a:t>
            </a:r>
            <a:r>
              <a:rPr lang="en-US" altLang="zh-CN" sz="2000" b="1" dirty="0">
                <a:solidFill>
                  <a:srgbClr val="44546A"/>
                </a:solidFill>
                <a:latin typeface="微软雅黑" panose="020B0503020204020204" pitchFamily="34" charset="-122"/>
                <a:ea typeface="微软雅黑" panose="020B0503020204020204" pitchFamily="34" charset="-122"/>
                <a:sym typeface="+mn-ea"/>
              </a:rPr>
              <a:t>(Attribute)</a:t>
            </a:r>
            <a:r>
              <a:rPr lang="zh-CN" altLang="zh-CN" sz="2000" b="1" dirty="0">
                <a:solidFill>
                  <a:srgbClr val="44546A"/>
                </a:solidFill>
                <a:latin typeface="微软雅黑" panose="020B0503020204020204" pitchFamily="34" charset="-122"/>
                <a:ea typeface="微软雅黑" panose="020B0503020204020204" pitchFamily="34" charset="-122"/>
                <a:sym typeface="+mn-ea"/>
              </a:rPr>
              <a:t>：</a:t>
            </a:r>
          </a:p>
          <a:p>
            <a:pPr marR="0" defTabSz="457200" eaLnBrk="0" hangingPunct="0">
              <a:lnSpc>
                <a:spcPct val="130000"/>
              </a:lnSpc>
              <a:buClrTx/>
              <a:buSzTx/>
              <a:buFontTx/>
              <a:buNone/>
              <a:defRPr/>
            </a:pPr>
            <a:r>
              <a:rPr kumimoji="0" lang="zh-CN" altLang="zh-CN" sz="2000" kern="1200" cap="none" spc="0" normalizeH="0" baseline="0" noProof="0" dirty="0">
                <a:solidFill>
                  <a:srgbClr val="F0882E"/>
                </a:solidFill>
                <a:latin typeface="微软雅黑" pitchFamily="34" charset="-122"/>
                <a:ea typeface="微软雅黑" pitchFamily="34" charset="-122"/>
                <a:cs typeface="+mn-cs"/>
                <a:sym typeface="+mn-ea"/>
              </a:rPr>
              <a:t> </a:t>
            </a:r>
            <a:r>
              <a:rPr kumimoji="0" lang="en-US" altLang="zh-CN" sz="2000" kern="1200" cap="none" spc="0" normalizeH="0" baseline="0" noProof="0" dirty="0">
                <a:solidFill>
                  <a:srgbClr val="F0882E"/>
                </a:solidFill>
                <a:latin typeface="微软雅黑" pitchFamily="34" charset="-122"/>
                <a:ea typeface="微软雅黑" pitchFamily="34" charset="-122"/>
                <a:cs typeface="+mn-cs"/>
                <a:sym typeface="+mn-ea"/>
              </a:rPr>
              <a:t> </a:t>
            </a:r>
            <a:r>
              <a:rPr lang="zh-CN" altLang="en-US" sz="2000" dirty="0">
                <a:solidFill>
                  <a:srgbClr val="44546A"/>
                </a:solidFill>
                <a:latin typeface="微软雅黑" panose="020B0503020204020204" pitchFamily="34" charset="-122"/>
                <a:ea typeface="微软雅黑" panose="020B0503020204020204" pitchFamily="34" charset="-122"/>
                <a:sym typeface="+mn-ea"/>
              </a:rPr>
              <a:t>是指实体的所具有的某一特性。</a:t>
            </a:r>
          </a:p>
        </p:txBody>
      </p:sp>
      <p:sp>
        <p:nvSpPr>
          <p:cNvPr id="29" name="椭圆 28">
            <a:extLst>
              <a:ext uri="{FF2B5EF4-FFF2-40B4-BE49-F238E27FC236}">
                <a16:creationId xmlns:a16="http://schemas.microsoft.com/office/drawing/2014/main" id="{7EFD669F-60FC-59F0-AE1C-6ED3183CCC1E}"/>
              </a:ext>
            </a:extLst>
          </p:cNvPr>
          <p:cNvSpPr/>
          <p:nvPr/>
        </p:nvSpPr>
        <p:spPr>
          <a:xfrm>
            <a:off x="348343" y="-2318753"/>
            <a:ext cx="11495314" cy="11495313"/>
          </a:xfrm>
          <a:prstGeom prst="ellipse">
            <a:avLst/>
          </a:prstGeom>
          <a:gradFill>
            <a:gsLst>
              <a:gs pos="100000">
                <a:srgbClr val="3982FF">
                  <a:alpha val="8000"/>
                </a:srgbClr>
              </a:gs>
              <a:gs pos="0">
                <a:srgbClr val="3982FF">
                  <a:alpha val="8000"/>
                </a:srgbClr>
              </a:gs>
              <a:gs pos="50000">
                <a:srgbClr val="3982FF">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Tree>
    <p:extLst>
      <p:ext uri="{BB962C8B-B14F-4D97-AF65-F5344CB8AC3E}">
        <p14:creationId xmlns:p14="http://schemas.microsoft.com/office/powerpoint/2010/main" val="4242671912"/>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概念模型的表示方法</a:t>
            </a:r>
            <a:endParaRPr lang="en-US" altLang="zh-CN" b="1" dirty="0">
              <a:solidFill>
                <a:srgbClr val="44546A"/>
              </a:solidFill>
              <a:latin typeface="微软雅黑" panose="020B0503020204020204" pitchFamily="34" charset="-122"/>
              <a:ea typeface="微软雅黑" panose="020B0503020204020204" pitchFamily="34" charset="-122"/>
            </a:endParaRPr>
          </a:p>
        </p:txBody>
      </p:sp>
      <p:grpSp>
        <p:nvGrpSpPr>
          <p:cNvPr id="3" name="组合 12">
            <a:extLst>
              <a:ext uri="{FF2B5EF4-FFF2-40B4-BE49-F238E27FC236}">
                <a16:creationId xmlns:a16="http://schemas.microsoft.com/office/drawing/2014/main" id="{1F369B3B-126F-54C9-4B04-470A35881A3F}"/>
              </a:ext>
            </a:extLst>
          </p:cNvPr>
          <p:cNvGrpSpPr/>
          <p:nvPr/>
        </p:nvGrpSpPr>
        <p:grpSpPr>
          <a:xfrm>
            <a:off x="4959350" y="1258467"/>
            <a:ext cx="2273300" cy="2805113"/>
            <a:chOff x="1111647" y="2412034"/>
            <a:chExt cx="2274266" cy="2803977"/>
          </a:xfrm>
        </p:grpSpPr>
        <p:grpSp>
          <p:nvGrpSpPr>
            <p:cNvPr id="4" name="组合 10">
              <a:extLst>
                <a:ext uri="{FF2B5EF4-FFF2-40B4-BE49-F238E27FC236}">
                  <a16:creationId xmlns:a16="http://schemas.microsoft.com/office/drawing/2014/main" id="{86BA5E96-77D4-0CFA-BFBF-8302F0822303}"/>
                </a:ext>
              </a:extLst>
            </p:cNvPr>
            <p:cNvGrpSpPr/>
            <p:nvPr/>
          </p:nvGrpSpPr>
          <p:grpSpPr>
            <a:xfrm>
              <a:off x="1111647" y="2412034"/>
              <a:ext cx="2274266" cy="2274266"/>
              <a:chOff x="1289447" y="2412034"/>
              <a:chExt cx="2274266" cy="2274266"/>
            </a:xfrm>
          </p:grpSpPr>
          <p:sp>
            <p:nvSpPr>
              <p:cNvPr id="6" name="椭圆 5">
                <a:extLst>
                  <a:ext uri="{FF2B5EF4-FFF2-40B4-BE49-F238E27FC236}">
                    <a16:creationId xmlns:a16="http://schemas.microsoft.com/office/drawing/2014/main" id="{1C497B83-883D-601A-ACC1-84B870CE25D2}"/>
                  </a:ext>
                </a:extLst>
              </p:cNvPr>
              <p:cNvSpPr/>
              <p:nvPr/>
            </p:nvSpPr>
            <p:spPr>
              <a:xfrm>
                <a:off x="1289447" y="2412034"/>
                <a:ext cx="2274266" cy="2274266"/>
              </a:xfrm>
              <a:prstGeom prst="ellipse">
                <a:avLst/>
              </a:prstGeom>
              <a:gradFill flip="none" rotWithShape="1">
                <a:gsLst>
                  <a:gs pos="1000">
                    <a:srgbClr val="3982FF"/>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grpSp>
            <p:nvGrpSpPr>
              <p:cNvPr id="7" name="组合 7">
                <a:extLst>
                  <a:ext uri="{FF2B5EF4-FFF2-40B4-BE49-F238E27FC236}">
                    <a16:creationId xmlns:a16="http://schemas.microsoft.com/office/drawing/2014/main" id="{676C8632-0123-7A04-8BA0-81984B7481B2}"/>
                  </a:ext>
                </a:extLst>
              </p:cNvPr>
              <p:cNvGrpSpPr/>
              <p:nvPr/>
            </p:nvGrpSpPr>
            <p:grpSpPr>
              <a:xfrm>
                <a:off x="1296733" y="3226768"/>
                <a:ext cx="2259694" cy="693259"/>
                <a:chOff x="1027113" y="1268429"/>
                <a:chExt cx="2259694" cy="693259"/>
              </a:xfrm>
            </p:grpSpPr>
            <p:sp>
              <p:nvSpPr>
                <p:cNvPr id="8" name="文本框 8">
                  <a:extLst>
                    <a:ext uri="{FF2B5EF4-FFF2-40B4-BE49-F238E27FC236}">
                      <a16:creationId xmlns:a16="http://schemas.microsoft.com/office/drawing/2014/main" id="{3E2E57FC-BDAD-EDA4-1FB4-A82B3755BE82}"/>
                    </a:ext>
                  </a:extLst>
                </p:cNvPr>
                <p:cNvSpPr txBox="1"/>
                <p:nvPr/>
              </p:nvSpPr>
              <p:spPr>
                <a:xfrm>
                  <a:off x="1027113" y="1268429"/>
                  <a:ext cx="2259694" cy="398780"/>
                </a:xfrm>
                <a:prstGeom prst="rect">
                  <a:avLst/>
                </a:prstGeom>
                <a:noFill/>
                <a:ln w="9525">
                  <a:noFill/>
                </a:ln>
              </p:spPr>
              <p:txBody>
                <a:bodyPr>
                  <a:spAutoFit/>
                </a:bodyPr>
                <a:lstStyle/>
                <a:p>
                  <a:pPr algn="ctr">
                    <a:buNone/>
                  </a:pPr>
                  <a:r>
                    <a:rPr lang="zh-CN" altLang="en-US" sz="2000" b="1" dirty="0">
                      <a:solidFill>
                        <a:schemeClr val="bg1"/>
                      </a:solidFill>
                      <a:latin typeface="微软雅黑" pitchFamily="34" charset="-122"/>
                      <a:ea typeface="微软雅黑" pitchFamily="34" charset="-122"/>
                    </a:rPr>
                    <a:t>域</a:t>
                  </a:r>
                </a:p>
              </p:txBody>
            </p:sp>
            <p:sp>
              <p:nvSpPr>
                <p:cNvPr id="9" name="文本框 8">
                  <a:extLst>
                    <a:ext uri="{FF2B5EF4-FFF2-40B4-BE49-F238E27FC236}">
                      <a16:creationId xmlns:a16="http://schemas.microsoft.com/office/drawing/2014/main" id="{F6F5E8EE-0CCD-1075-5881-90F3A8908EB8}"/>
                    </a:ext>
                  </a:extLst>
                </p:cNvPr>
                <p:cNvSpPr txBox="1"/>
                <p:nvPr/>
              </p:nvSpPr>
              <p:spPr>
                <a:xfrm>
                  <a:off x="1030535" y="1645261"/>
                  <a:ext cx="2252850" cy="31642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900" kern="100" cap="none" spc="0" normalizeH="0" baseline="0" noProof="0" dirty="0">
                      <a:solidFill>
                        <a:schemeClr val="bg1"/>
                      </a:solidFill>
                      <a:latin typeface="微软雅黑" pitchFamily="34" charset="-122"/>
                      <a:ea typeface="微软雅黑" pitchFamily="34" charset="-122"/>
                      <a:cs typeface="+mn-cs"/>
                      <a:sym typeface="+mn-ea"/>
                    </a:rPr>
                    <a:t>Domain</a:t>
                  </a:r>
                  <a:endParaRPr kumimoji="1" lang="en-US" altLang="zh-CN" sz="900" i="1" kern="100" cap="none" spc="0" normalizeH="0" baseline="0" noProof="0" dirty="0">
                    <a:solidFill>
                      <a:schemeClr val="bg1"/>
                    </a:solidFill>
                    <a:latin typeface="微软雅黑" pitchFamily="34" charset="-122"/>
                    <a:ea typeface="微软雅黑" pitchFamily="34" charset="-122"/>
                    <a:cs typeface="+mn-cs"/>
                    <a:sym typeface="+mn-ea"/>
                  </a:endParaRPr>
                </a:p>
              </p:txBody>
            </p:sp>
          </p:grpSp>
        </p:grpSp>
        <p:sp>
          <p:nvSpPr>
            <p:cNvPr id="5" name="椭圆 4">
              <a:extLst>
                <a:ext uri="{FF2B5EF4-FFF2-40B4-BE49-F238E27FC236}">
                  <a16:creationId xmlns:a16="http://schemas.microsoft.com/office/drawing/2014/main" id="{2E038EF4-CC9F-9AEF-8149-F62AF48ECBE7}"/>
                </a:ext>
              </a:extLst>
            </p:cNvPr>
            <p:cNvSpPr/>
            <p:nvPr/>
          </p:nvSpPr>
          <p:spPr>
            <a:xfrm>
              <a:off x="1607430" y="4771511"/>
              <a:ext cx="1282700" cy="444500"/>
            </a:xfrm>
            <a:prstGeom prst="ellipse">
              <a:avLst/>
            </a:prstGeom>
            <a:solidFill>
              <a:srgbClr val="3982FF">
                <a:alpha val="34000"/>
              </a:srgb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10" name="组合 15">
            <a:extLst>
              <a:ext uri="{FF2B5EF4-FFF2-40B4-BE49-F238E27FC236}">
                <a16:creationId xmlns:a16="http://schemas.microsoft.com/office/drawing/2014/main" id="{AFC81A2D-72F9-D43F-CF6F-4A038465DCC2}"/>
              </a:ext>
            </a:extLst>
          </p:cNvPr>
          <p:cNvGrpSpPr/>
          <p:nvPr/>
        </p:nvGrpSpPr>
        <p:grpSpPr>
          <a:xfrm>
            <a:off x="2109788" y="1412455"/>
            <a:ext cx="2293937" cy="2711450"/>
            <a:chOff x="1084255" y="2376063"/>
            <a:chExt cx="2294372" cy="2711401"/>
          </a:xfrm>
        </p:grpSpPr>
        <p:grpSp>
          <p:nvGrpSpPr>
            <p:cNvPr id="11" name="组合 16">
              <a:extLst>
                <a:ext uri="{FF2B5EF4-FFF2-40B4-BE49-F238E27FC236}">
                  <a16:creationId xmlns:a16="http://schemas.microsoft.com/office/drawing/2014/main" id="{DF5CA6C7-FB84-65FB-4CE8-C38126A618F3}"/>
                </a:ext>
              </a:extLst>
            </p:cNvPr>
            <p:cNvGrpSpPr/>
            <p:nvPr/>
          </p:nvGrpSpPr>
          <p:grpSpPr>
            <a:xfrm>
              <a:off x="1084255" y="2376063"/>
              <a:ext cx="2294372" cy="1844129"/>
              <a:chOff x="1262055" y="2376063"/>
              <a:chExt cx="2294372" cy="1844129"/>
            </a:xfrm>
          </p:grpSpPr>
          <p:sp>
            <p:nvSpPr>
              <p:cNvPr id="13" name="椭圆 12">
                <a:extLst>
                  <a:ext uri="{FF2B5EF4-FFF2-40B4-BE49-F238E27FC236}">
                    <a16:creationId xmlns:a16="http://schemas.microsoft.com/office/drawing/2014/main" id="{E54FA192-DE89-A628-90F5-C8C678346ED0}"/>
                  </a:ext>
                </a:extLst>
              </p:cNvPr>
              <p:cNvSpPr/>
              <p:nvPr/>
            </p:nvSpPr>
            <p:spPr>
              <a:xfrm>
                <a:off x="1491815" y="2376063"/>
                <a:ext cx="1844129" cy="1844129"/>
              </a:xfrm>
              <a:prstGeom prst="ellipse">
                <a:avLst/>
              </a:prstGeom>
              <a:gradFill flip="none" rotWithShape="1">
                <a:gsLst>
                  <a:gs pos="1000">
                    <a:srgbClr val="3982FF"/>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grpSp>
            <p:nvGrpSpPr>
              <p:cNvPr id="14" name="组合 19">
                <a:extLst>
                  <a:ext uri="{FF2B5EF4-FFF2-40B4-BE49-F238E27FC236}">
                    <a16:creationId xmlns:a16="http://schemas.microsoft.com/office/drawing/2014/main" id="{620EC665-99BF-986F-B935-8EC427B9C6A1}"/>
                  </a:ext>
                </a:extLst>
              </p:cNvPr>
              <p:cNvGrpSpPr/>
              <p:nvPr/>
            </p:nvGrpSpPr>
            <p:grpSpPr>
              <a:xfrm>
                <a:off x="1262055" y="3061209"/>
                <a:ext cx="2294372" cy="606200"/>
                <a:chOff x="992435" y="1102870"/>
                <a:chExt cx="2294372" cy="606200"/>
              </a:xfrm>
            </p:grpSpPr>
            <p:sp>
              <p:nvSpPr>
                <p:cNvPr id="15" name="文本框 14">
                  <a:extLst>
                    <a:ext uri="{FF2B5EF4-FFF2-40B4-BE49-F238E27FC236}">
                      <a16:creationId xmlns:a16="http://schemas.microsoft.com/office/drawing/2014/main" id="{FB1ABC14-8919-B7BE-F2C8-DAB777E630F8}"/>
                    </a:ext>
                  </a:extLst>
                </p:cNvPr>
                <p:cNvSpPr txBox="1"/>
                <p:nvPr/>
              </p:nvSpPr>
              <p:spPr>
                <a:xfrm>
                  <a:off x="1027113" y="1102870"/>
                  <a:ext cx="2259694" cy="460375"/>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400" b="1" kern="100" cap="none" spc="0" normalizeH="0" baseline="0" noProof="0" dirty="0">
                      <a:solidFill>
                        <a:schemeClr val="bg1"/>
                      </a:solidFill>
                      <a:latin typeface="微软雅黑" pitchFamily="34" charset="-122"/>
                      <a:ea typeface="微软雅黑" pitchFamily="34" charset="-122"/>
                      <a:cs typeface="+mn-cs"/>
                      <a:sym typeface="+mn-ea"/>
                    </a:rPr>
                    <a:t>码</a:t>
                  </a:r>
                  <a:endParaRPr kumimoji="1" lang="zh-CN" altLang="zh-CN" sz="2400" b="1" kern="100" cap="none" spc="0" normalizeH="0" baseline="0" noProof="0" dirty="0">
                    <a:solidFill>
                      <a:schemeClr val="bg1"/>
                    </a:solidFill>
                    <a:latin typeface="微软雅黑" pitchFamily="34" charset="-122"/>
                    <a:ea typeface="微软雅黑" pitchFamily="34" charset="-122"/>
                    <a:cs typeface="+mn-cs"/>
                    <a:sym typeface="+mn-ea"/>
                  </a:endParaRPr>
                </a:p>
              </p:txBody>
            </p:sp>
            <p:sp>
              <p:nvSpPr>
                <p:cNvPr id="16" name="文本框 21">
                  <a:extLst>
                    <a:ext uri="{FF2B5EF4-FFF2-40B4-BE49-F238E27FC236}">
                      <a16:creationId xmlns:a16="http://schemas.microsoft.com/office/drawing/2014/main" id="{5E6A1935-D5B6-2B3B-5016-EDBE224F3586}"/>
                    </a:ext>
                  </a:extLst>
                </p:cNvPr>
                <p:cNvSpPr txBox="1"/>
                <p:nvPr/>
              </p:nvSpPr>
              <p:spPr>
                <a:xfrm>
                  <a:off x="992435" y="1479702"/>
                  <a:ext cx="2252850" cy="229368"/>
                </a:xfrm>
                <a:prstGeom prst="rect">
                  <a:avLst/>
                </a:prstGeom>
                <a:noFill/>
                <a:ln w="9525">
                  <a:noFill/>
                </a:ln>
              </p:spPr>
              <p:txBody>
                <a:bodyPr>
                  <a:spAutoFit/>
                </a:bodyPr>
                <a:lstStyle/>
                <a:p>
                  <a:pPr algn="ctr">
                    <a:buNone/>
                  </a:pPr>
                  <a:r>
                    <a:rPr lang="en-US" altLang="en-GB" sz="900" dirty="0">
                      <a:solidFill>
                        <a:schemeClr val="bg1"/>
                      </a:solidFill>
                      <a:latin typeface="微软雅黑" pitchFamily="34" charset="-122"/>
                      <a:ea typeface="YouSheBiaoTiHei"/>
                    </a:rPr>
                    <a:t>KEY</a:t>
                  </a:r>
                </a:p>
              </p:txBody>
            </p:sp>
          </p:grpSp>
        </p:grpSp>
        <p:sp>
          <p:nvSpPr>
            <p:cNvPr id="12" name="椭圆 11">
              <a:extLst>
                <a:ext uri="{FF2B5EF4-FFF2-40B4-BE49-F238E27FC236}">
                  <a16:creationId xmlns:a16="http://schemas.microsoft.com/office/drawing/2014/main" id="{E543417B-E9E9-1725-537E-C78966C4E2AF}"/>
                </a:ext>
              </a:extLst>
            </p:cNvPr>
            <p:cNvSpPr/>
            <p:nvPr/>
          </p:nvSpPr>
          <p:spPr>
            <a:xfrm>
              <a:off x="1594729" y="4642964"/>
              <a:ext cx="1282700" cy="444500"/>
            </a:xfrm>
            <a:prstGeom prst="ellipse">
              <a:avLst/>
            </a:prstGeom>
            <a:solidFill>
              <a:srgbClr val="3982FF">
                <a:alpha val="34000"/>
              </a:srgb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17" name="组合 22">
            <a:extLst>
              <a:ext uri="{FF2B5EF4-FFF2-40B4-BE49-F238E27FC236}">
                <a16:creationId xmlns:a16="http://schemas.microsoft.com/office/drawing/2014/main" id="{A5420043-6912-E72A-5876-1322A0D96D0D}"/>
              </a:ext>
            </a:extLst>
          </p:cNvPr>
          <p:cNvGrpSpPr/>
          <p:nvPr/>
        </p:nvGrpSpPr>
        <p:grpSpPr>
          <a:xfrm>
            <a:off x="7788275" y="1453730"/>
            <a:ext cx="2259013" cy="2711450"/>
            <a:chOff x="1118933" y="2376063"/>
            <a:chExt cx="2259694" cy="2711401"/>
          </a:xfrm>
        </p:grpSpPr>
        <p:grpSp>
          <p:nvGrpSpPr>
            <p:cNvPr id="18" name="组合 23">
              <a:extLst>
                <a:ext uri="{FF2B5EF4-FFF2-40B4-BE49-F238E27FC236}">
                  <a16:creationId xmlns:a16="http://schemas.microsoft.com/office/drawing/2014/main" id="{30643C74-1A1A-76EA-7402-70FD74CC5B45}"/>
                </a:ext>
              </a:extLst>
            </p:cNvPr>
            <p:cNvGrpSpPr/>
            <p:nvPr/>
          </p:nvGrpSpPr>
          <p:grpSpPr>
            <a:xfrm>
              <a:off x="1118933" y="2376063"/>
              <a:ext cx="2259694" cy="1844129"/>
              <a:chOff x="1296733" y="2376063"/>
              <a:chExt cx="2259694" cy="1844129"/>
            </a:xfrm>
          </p:grpSpPr>
          <p:sp>
            <p:nvSpPr>
              <p:cNvPr id="20" name="椭圆 19">
                <a:extLst>
                  <a:ext uri="{FF2B5EF4-FFF2-40B4-BE49-F238E27FC236}">
                    <a16:creationId xmlns:a16="http://schemas.microsoft.com/office/drawing/2014/main" id="{CEEE92B5-A0BC-0219-8A14-1E31D401C359}"/>
                  </a:ext>
                </a:extLst>
              </p:cNvPr>
              <p:cNvSpPr/>
              <p:nvPr/>
            </p:nvSpPr>
            <p:spPr>
              <a:xfrm>
                <a:off x="1491815" y="2376063"/>
                <a:ext cx="1844129" cy="1844129"/>
              </a:xfrm>
              <a:prstGeom prst="ellipse">
                <a:avLst/>
              </a:prstGeom>
              <a:gradFill flip="none" rotWithShape="1">
                <a:gsLst>
                  <a:gs pos="1000">
                    <a:srgbClr val="3982FF"/>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grpSp>
            <p:nvGrpSpPr>
              <p:cNvPr id="21" name="组合 26">
                <a:extLst>
                  <a:ext uri="{FF2B5EF4-FFF2-40B4-BE49-F238E27FC236}">
                    <a16:creationId xmlns:a16="http://schemas.microsoft.com/office/drawing/2014/main" id="{2B9A63D9-FED4-31EA-718B-4E05F7FD3CC4}"/>
                  </a:ext>
                </a:extLst>
              </p:cNvPr>
              <p:cNvGrpSpPr/>
              <p:nvPr/>
            </p:nvGrpSpPr>
            <p:grpSpPr>
              <a:xfrm>
                <a:off x="1296733" y="3061209"/>
                <a:ext cx="2259694" cy="693259"/>
                <a:chOff x="1027113" y="1102870"/>
                <a:chExt cx="2259694" cy="693259"/>
              </a:xfrm>
            </p:grpSpPr>
            <p:sp>
              <p:nvSpPr>
                <p:cNvPr id="22" name="文本框 21">
                  <a:extLst>
                    <a:ext uri="{FF2B5EF4-FFF2-40B4-BE49-F238E27FC236}">
                      <a16:creationId xmlns:a16="http://schemas.microsoft.com/office/drawing/2014/main" id="{37C71E13-6135-BEA2-B1C3-725AF3681263}"/>
                    </a:ext>
                  </a:extLst>
                </p:cNvPr>
                <p:cNvSpPr txBox="1"/>
                <p:nvPr/>
              </p:nvSpPr>
              <p:spPr>
                <a:xfrm>
                  <a:off x="1027113" y="1102870"/>
                  <a:ext cx="2259694" cy="398780"/>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000" b="1" kern="100" cap="none" spc="0" normalizeH="0" baseline="0" noProof="0" dirty="0">
                      <a:solidFill>
                        <a:schemeClr val="bg1"/>
                      </a:solidFill>
                      <a:latin typeface="微软雅黑" pitchFamily="34" charset="-122"/>
                      <a:ea typeface="微软雅黑" pitchFamily="34" charset="-122"/>
                      <a:cs typeface="+mn-cs"/>
                      <a:sym typeface="+mn-ea"/>
                    </a:rPr>
                    <a:t>实体型</a:t>
                  </a:r>
                  <a:endParaRPr kumimoji="1" lang="zh-CN" altLang="zh-CN" sz="2000" b="1" kern="100" cap="none" spc="0" normalizeH="0" baseline="0" noProof="0" dirty="0">
                    <a:solidFill>
                      <a:schemeClr val="bg1"/>
                    </a:solidFill>
                    <a:latin typeface="微软雅黑" pitchFamily="34" charset="-122"/>
                    <a:ea typeface="微软雅黑" pitchFamily="34" charset="-122"/>
                    <a:cs typeface="+mn-cs"/>
                    <a:sym typeface="+mn-ea"/>
                  </a:endParaRPr>
                </a:p>
              </p:txBody>
            </p:sp>
            <p:sp>
              <p:nvSpPr>
                <p:cNvPr id="23" name="文本框 22">
                  <a:extLst>
                    <a:ext uri="{FF2B5EF4-FFF2-40B4-BE49-F238E27FC236}">
                      <a16:creationId xmlns:a16="http://schemas.microsoft.com/office/drawing/2014/main" id="{9412A0E9-8991-E345-B5C6-B5FB72879251}"/>
                    </a:ext>
                  </a:extLst>
                </p:cNvPr>
                <p:cNvSpPr txBox="1"/>
                <p:nvPr/>
              </p:nvSpPr>
              <p:spPr>
                <a:xfrm>
                  <a:off x="1030535" y="1479702"/>
                  <a:ext cx="2252850" cy="31642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900" kern="100" cap="none" spc="0" normalizeH="0" baseline="0" noProof="0" dirty="0">
                      <a:solidFill>
                        <a:schemeClr val="bg1"/>
                      </a:solidFill>
                      <a:latin typeface="微软雅黑" pitchFamily="34" charset="-122"/>
                      <a:ea typeface="微软雅黑" pitchFamily="34" charset="-122"/>
                      <a:cs typeface="+mn-cs"/>
                      <a:sym typeface="+mn-ea"/>
                    </a:rPr>
                    <a:t>Entity Type</a:t>
                  </a:r>
                  <a:endParaRPr kumimoji="1" lang="en-US" altLang="zh-CN" sz="900" i="1" kern="100" cap="none" spc="0" normalizeH="0" baseline="0" noProof="0" dirty="0">
                    <a:solidFill>
                      <a:schemeClr val="bg1"/>
                    </a:solidFill>
                    <a:latin typeface="微软雅黑" pitchFamily="34" charset="-122"/>
                    <a:ea typeface="微软雅黑" pitchFamily="34" charset="-122"/>
                    <a:cs typeface="+mn-cs"/>
                    <a:sym typeface="+mn-ea"/>
                  </a:endParaRPr>
                </a:p>
              </p:txBody>
            </p:sp>
          </p:grpSp>
        </p:grpSp>
        <p:sp>
          <p:nvSpPr>
            <p:cNvPr id="19" name="椭圆 18">
              <a:extLst>
                <a:ext uri="{FF2B5EF4-FFF2-40B4-BE49-F238E27FC236}">
                  <a16:creationId xmlns:a16="http://schemas.microsoft.com/office/drawing/2014/main" id="{8D3668A0-94A4-2741-613D-F0EBF35D7CB1}"/>
                </a:ext>
              </a:extLst>
            </p:cNvPr>
            <p:cNvSpPr/>
            <p:nvPr/>
          </p:nvSpPr>
          <p:spPr>
            <a:xfrm>
              <a:off x="1594729" y="4642964"/>
              <a:ext cx="1282700" cy="444500"/>
            </a:xfrm>
            <a:prstGeom prst="ellipse">
              <a:avLst/>
            </a:prstGeom>
            <a:solidFill>
              <a:srgbClr val="3982FF">
                <a:alpha val="34000"/>
              </a:srgb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4" name="矩形 23">
            <a:extLst>
              <a:ext uri="{FF2B5EF4-FFF2-40B4-BE49-F238E27FC236}">
                <a16:creationId xmlns:a16="http://schemas.microsoft.com/office/drawing/2014/main" id="{9EA12C70-8EC8-9882-BF0D-E2FF6B0F4EFE}"/>
              </a:ext>
            </a:extLst>
          </p:cNvPr>
          <p:cNvSpPr/>
          <p:nvPr/>
        </p:nvSpPr>
        <p:spPr>
          <a:xfrm>
            <a:off x="1411288" y="4350917"/>
            <a:ext cx="9369425" cy="2120902"/>
          </a:xfrm>
          <a:prstGeom prst="rect">
            <a:avLst/>
          </a:prstGeom>
        </p:spPr>
        <p:txBody>
          <a:bodyPr wrap="square">
            <a:spAutoFit/>
          </a:bodyPr>
          <a:lstStyle/>
          <a:p>
            <a:pPr marL="0" marR="0" lvl="0" indent="266700" algn="l" defTabSz="457200" rtl="0" eaLnBrk="0" fontAlgn="base" latinLnBrk="0" hangingPunct="0">
              <a:lnSpc>
                <a:spcPct val="150000"/>
              </a:lnSpc>
              <a:spcBef>
                <a:spcPct val="0"/>
              </a:spcBef>
              <a:spcAft>
                <a:spcPts val="0"/>
              </a:spcAft>
              <a:buClrTx/>
              <a:buSzTx/>
              <a:buFontTx/>
              <a:buNone/>
              <a:defRPr/>
            </a:pPr>
            <a:r>
              <a:rPr lang="zh-CN" altLang="zh-CN" dirty="0">
                <a:solidFill>
                  <a:srgbClr val="44546A"/>
                </a:solidFill>
                <a:latin typeface="微软雅黑" panose="020B0503020204020204" pitchFamily="34" charset="-122"/>
                <a:ea typeface="微软雅黑" panose="020B0503020204020204" pitchFamily="34" charset="-122"/>
                <a:sym typeface="+mn-ea"/>
              </a:rPr>
              <a:t>（</a:t>
            </a:r>
            <a:r>
              <a:rPr lang="en-US" altLang="zh-CN" dirty="0">
                <a:solidFill>
                  <a:srgbClr val="44546A"/>
                </a:solidFill>
                <a:latin typeface="微软雅黑" panose="020B0503020204020204" pitchFamily="34" charset="-122"/>
                <a:ea typeface="微软雅黑" panose="020B0503020204020204" pitchFamily="34" charset="-122"/>
                <a:sym typeface="+mn-ea"/>
              </a:rPr>
              <a:t>3</a:t>
            </a:r>
            <a:r>
              <a:rPr lang="zh-CN" altLang="zh-CN" dirty="0">
                <a:solidFill>
                  <a:srgbClr val="44546A"/>
                </a:solidFill>
                <a:latin typeface="微软雅黑" panose="020B0503020204020204" pitchFamily="34" charset="-122"/>
                <a:ea typeface="微软雅黑" panose="020B0503020204020204" pitchFamily="34" charset="-122"/>
                <a:sym typeface="+mn-ea"/>
              </a:rPr>
              <a:t>）码（ </a:t>
            </a:r>
            <a:r>
              <a:rPr lang="en-US" altLang="zh-CN" dirty="0">
                <a:solidFill>
                  <a:srgbClr val="44546A"/>
                </a:solidFill>
                <a:latin typeface="微软雅黑" panose="020B0503020204020204" pitchFamily="34" charset="-122"/>
                <a:ea typeface="微软雅黑" panose="020B0503020204020204" pitchFamily="34" charset="-122"/>
                <a:sym typeface="+mn-ea"/>
              </a:rPr>
              <a:t>Key</a:t>
            </a:r>
            <a:r>
              <a:rPr lang="zh-CN" altLang="zh-CN" dirty="0">
                <a:solidFill>
                  <a:srgbClr val="44546A"/>
                </a:solidFill>
                <a:latin typeface="微软雅黑" panose="020B0503020204020204" pitchFamily="34" charset="-122"/>
                <a:ea typeface="微软雅黑" panose="020B0503020204020204" pitchFamily="34" charset="-122"/>
                <a:sym typeface="+mn-ea"/>
              </a:rPr>
              <a:t> ） ：是指唯一标识实体的属性集。例如，职工号是职工实体的码。</a:t>
            </a:r>
            <a:endParaRPr lang="zh-CN" altLang="zh-CN" dirty="0">
              <a:solidFill>
                <a:srgbClr val="44546A"/>
              </a:solidFill>
              <a:latin typeface="微软雅黑" panose="020B0503020204020204" pitchFamily="34" charset="-122"/>
              <a:ea typeface="微软雅黑" panose="020B0503020204020204" pitchFamily="34" charset="-122"/>
            </a:endParaRPr>
          </a:p>
          <a:p>
            <a:pPr marL="0" marR="0" lvl="0" indent="266700" algn="l" defTabSz="457200" rtl="0" eaLnBrk="0" fontAlgn="base" latinLnBrk="0" hangingPunct="0">
              <a:lnSpc>
                <a:spcPct val="150000"/>
              </a:lnSpc>
              <a:spcBef>
                <a:spcPct val="0"/>
              </a:spcBef>
              <a:spcAft>
                <a:spcPts val="0"/>
              </a:spcAft>
              <a:buClrTx/>
              <a:buSzTx/>
              <a:buFontTx/>
              <a:buNone/>
              <a:defRPr/>
            </a:pPr>
            <a:r>
              <a:rPr lang="zh-CN" altLang="zh-CN" dirty="0">
                <a:solidFill>
                  <a:srgbClr val="44546A"/>
                </a:solidFill>
                <a:latin typeface="微软雅黑" panose="020B0503020204020204" pitchFamily="34" charset="-122"/>
                <a:ea typeface="微软雅黑" panose="020B0503020204020204" pitchFamily="34" charset="-122"/>
                <a:sym typeface="+mn-ea"/>
              </a:rPr>
              <a:t>（</a:t>
            </a:r>
            <a:r>
              <a:rPr lang="en-US" altLang="zh-CN" dirty="0">
                <a:solidFill>
                  <a:srgbClr val="44546A"/>
                </a:solidFill>
                <a:latin typeface="微软雅黑" panose="020B0503020204020204" pitchFamily="34" charset="-122"/>
                <a:ea typeface="微软雅黑" panose="020B0503020204020204" pitchFamily="34" charset="-122"/>
                <a:sym typeface="+mn-ea"/>
              </a:rPr>
              <a:t>4</a:t>
            </a:r>
            <a:r>
              <a:rPr lang="zh-CN" altLang="zh-CN" dirty="0">
                <a:solidFill>
                  <a:srgbClr val="44546A"/>
                </a:solidFill>
                <a:latin typeface="微软雅黑" panose="020B0503020204020204" pitchFamily="34" charset="-122"/>
                <a:ea typeface="微软雅黑" panose="020B0503020204020204" pitchFamily="34" charset="-122"/>
                <a:sym typeface="+mn-ea"/>
              </a:rPr>
              <a:t>）域（</a:t>
            </a:r>
            <a:r>
              <a:rPr lang="en-US" altLang="zh-CN" dirty="0">
                <a:solidFill>
                  <a:srgbClr val="44546A"/>
                </a:solidFill>
                <a:latin typeface="微软雅黑" panose="020B0503020204020204" pitchFamily="34" charset="-122"/>
                <a:ea typeface="微软雅黑" panose="020B0503020204020204" pitchFamily="34" charset="-122"/>
                <a:sym typeface="+mn-ea"/>
              </a:rPr>
              <a:t>Domain</a:t>
            </a:r>
            <a:r>
              <a:rPr lang="zh-CN" altLang="zh-CN" dirty="0">
                <a:solidFill>
                  <a:srgbClr val="44546A"/>
                </a:solidFill>
                <a:latin typeface="微软雅黑" panose="020B0503020204020204" pitchFamily="34" charset="-122"/>
                <a:ea typeface="微软雅黑" panose="020B0503020204020204" pitchFamily="34" charset="-122"/>
                <a:sym typeface="+mn-ea"/>
              </a:rPr>
              <a:t>）：是指属性的取值范围。例如，职工号的域为</a:t>
            </a:r>
            <a:r>
              <a:rPr lang="en-US" altLang="zh-CN" dirty="0">
                <a:solidFill>
                  <a:srgbClr val="44546A"/>
                </a:solidFill>
                <a:latin typeface="微软雅黑" panose="020B0503020204020204" pitchFamily="34" charset="-122"/>
                <a:ea typeface="微软雅黑" panose="020B0503020204020204" pitchFamily="34" charset="-122"/>
                <a:sym typeface="+mn-ea"/>
              </a:rPr>
              <a:t>4</a:t>
            </a:r>
            <a:r>
              <a:rPr lang="zh-CN" altLang="zh-CN" dirty="0">
                <a:solidFill>
                  <a:srgbClr val="44546A"/>
                </a:solidFill>
                <a:latin typeface="微软雅黑" panose="020B0503020204020204" pitchFamily="34" charset="-122"/>
                <a:ea typeface="微软雅黑" panose="020B0503020204020204" pitchFamily="34" charset="-122"/>
                <a:sym typeface="+mn-ea"/>
              </a:rPr>
              <a:t>位整数。</a:t>
            </a:r>
            <a:endParaRPr lang="en-US" altLang="zh-CN" dirty="0">
              <a:solidFill>
                <a:srgbClr val="44546A"/>
              </a:solidFill>
              <a:latin typeface="微软雅黑" panose="020B0503020204020204" pitchFamily="34" charset="-122"/>
              <a:ea typeface="微软雅黑" panose="020B0503020204020204" pitchFamily="34" charset="-122"/>
            </a:endParaRPr>
          </a:p>
          <a:p>
            <a:pPr marL="0" marR="0" lvl="0" indent="266700" algn="l" defTabSz="457200" rtl="0" eaLnBrk="0" fontAlgn="base" latinLnBrk="0" hangingPunct="0">
              <a:lnSpc>
                <a:spcPct val="150000"/>
              </a:lnSpc>
              <a:spcBef>
                <a:spcPct val="0"/>
              </a:spcBef>
              <a:spcAft>
                <a:spcPts val="0"/>
              </a:spcAft>
              <a:buClrTx/>
              <a:buSzTx/>
              <a:buFontTx/>
              <a:buNone/>
              <a:defRPr/>
            </a:pPr>
            <a:r>
              <a:rPr lang="zh-CN" altLang="zh-CN" dirty="0">
                <a:solidFill>
                  <a:srgbClr val="44546A"/>
                </a:solidFill>
                <a:latin typeface="微软雅黑" panose="020B0503020204020204" pitchFamily="34" charset="-122"/>
                <a:ea typeface="微软雅黑" panose="020B0503020204020204" pitchFamily="34" charset="-122"/>
                <a:sym typeface="+mn-ea"/>
              </a:rPr>
              <a:t>（</a:t>
            </a:r>
            <a:r>
              <a:rPr lang="en-US" altLang="zh-CN" dirty="0">
                <a:solidFill>
                  <a:srgbClr val="44546A"/>
                </a:solidFill>
                <a:latin typeface="微软雅黑" panose="020B0503020204020204" pitchFamily="34" charset="-122"/>
                <a:ea typeface="微软雅黑" panose="020B0503020204020204" pitchFamily="34" charset="-122"/>
                <a:sym typeface="+mn-ea"/>
              </a:rPr>
              <a:t>5</a:t>
            </a:r>
            <a:r>
              <a:rPr lang="zh-CN" altLang="zh-CN" dirty="0">
                <a:solidFill>
                  <a:srgbClr val="44546A"/>
                </a:solidFill>
                <a:latin typeface="微软雅黑" panose="020B0503020204020204" pitchFamily="34" charset="-122"/>
                <a:ea typeface="微软雅黑" panose="020B0503020204020204" pitchFamily="34" charset="-122"/>
                <a:sym typeface="+mn-ea"/>
              </a:rPr>
              <a:t>）实体型（</a:t>
            </a:r>
            <a:r>
              <a:rPr lang="en-US" altLang="zh-CN" dirty="0">
                <a:solidFill>
                  <a:srgbClr val="44546A"/>
                </a:solidFill>
                <a:latin typeface="微软雅黑" panose="020B0503020204020204" pitchFamily="34" charset="-122"/>
                <a:ea typeface="微软雅黑" panose="020B0503020204020204" pitchFamily="34" charset="-122"/>
                <a:sym typeface="+mn-ea"/>
              </a:rPr>
              <a:t>Entity Type</a:t>
            </a:r>
            <a:r>
              <a:rPr lang="zh-CN" altLang="zh-CN" dirty="0">
                <a:solidFill>
                  <a:srgbClr val="44546A"/>
                </a:solidFill>
                <a:latin typeface="微软雅黑" panose="020B0503020204020204" pitchFamily="34" charset="-122"/>
                <a:ea typeface="微软雅黑" panose="020B0503020204020204" pitchFamily="34" charset="-122"/>
                <a:sym typeface="+mn-ea"/>
              </a:rPr>
              <a:t>）：具有相同属性的实体必然具有共同的特征和性质，  用实体名及其属性名集合来抽象和刻画这些实体，称为实体型。例如，职工 （职工号，姓名，性别，年龄，学历，部门）就是一个实体型。</a:t>
            </a:r>
            <a:endParaRPr lang="zh-CN" altLang="en-US" dirty="0">
              <a:solidFill>
                <a:srgbClr val="44546A"/>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21827239"/>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sym typeface="+mn-ea"/>
              </a:rPr>
              <a:t>学生实体及属性</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椭圆 2">
            <a:extLst>
              <a:ext uri="{FF2B5EF4-FFF2-40B4-BE49-F238E27FC236}">
                <a16:creationId xmlns:a16="http://schemas.microsoft.com/office/drawing/2014/main" id="{4DE50B34-28FC-C3FB-9FC9-BD261F6B9DCE}"/>
              </a:ext>
            </a:extLst>
          </p:cNvPr>
          <p:cNvSpPr/>
          <p:nvPr/>
        </p:nvSpPr>
        <p:spPr>
          <a:xfrm>
            <a:off x="2495647" y="1687195"/>
            <a:ext cx="6967026" cy="6967026"/>
          </a:xfrm>
          <a:prstGeom prst="ellipse">
            <a:avLst/>
          </a:prstGeom>
          <a:gradFill>
            <a:gsLst>
              <a:gs pos="100000">
                <a:srgbClr val="3982FF">
                  <a:alpha val="8000"/>
                </a:srgbClr>
              </a:gs>
              <a:gs pos="0">
                <a:srgbClr val="3982FF">
                  <a:alpha val="8000"/>
                </a:srgbClr>
              </a:gs>
              <a:gs pos="50000">
                <a:srgbClr val="3982FF">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4" name="椭圆 3">
            <a:extLst>
              <a:ext uri="{FF2B5EF4-FFF2-40B4-BE49-F238E27FC236}">
                <a16:creationId xmlns:a16="http://schemas.microsoft.com/office/drawing/2014/main" id="{B3BD7B4E-0D90-7656-A1C9-E1A31CAB42D0}"/>
              </a:ext>
            </a:extLst>
          </p:cNvPr>
          <p:cNvSpPr/>
          <p:nvPr/>
        </p:nvSpPr>
        <p:spPr>
          <a:xfrm>
            <a:off x="3221355" y="3520440"/>
            <a:ext cx="5282565" cy="5093335"/>
          </a:xfrm>
          <a:prstGeom prst="ellipse">
            <a:avLst/>
          </a:prstGeom>
          <a:gradFill flip="none" rotWithShape="1">
            <a:gsLst>
              <a:gs pos="1000">
                <a:srgbClr val="3982FF"/>
              </a:gs>
              <a:gs pos="100000">
                <a:srgbClr val="3982FF">
                  <a:alpha val="32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grpSp>
        <p:nvGrpSpPr>
          <p:cNvPr id="5" name="组合 11">
            <a:extLst>
              <a:ext uri="{FF2B5EF4-FFF2-40B4-BE49-F238E27FC236}">
                <a16:creationId xmlns:a16="http://schemas.microsoft.com/office/drawing/2014/main" id="{F05FE903-2EDE-A656-1319-03D2EC18781C}"/>
              </a:ext>
            </a:extLst>
          </p:cNvPr>
          <p:cNvGrpSpPr/>
          <p:nvPr/>
        </p:nvGrpSpPr>
        <p:grpSpPr>
          <a:xfrm>
            <a:off x="4997450" y="1114425"/>
            <a:ext cx="2014538" cy="2041525"/>
            <a:chOff x="4387588" y="283439"/>
            <a:chExt cx="3029235" cy="3158980"/>
          </a:xfrm>
        </p:grpSpPr>
        <p:sp>
          <p:nvSpPr>
            <p:cNvPr id="6" name="椭圆 5">
              <a:extLst>
                <a:ext uri="{FF2B5EF4-FFF2-40B4-BE49-F238E27FC236}">
                  <a16:creationId xmlns:a16="http://schemas.microsoft.com/office/drawing/2014/main" id="{FFED4A20-F63A-1C32-A510-EFCFA5F163B9}"/>
                </a:ext>
              </a:extLst>
            </p:cNvPr>
            <p:cNvSpPr/>
            <p:nvPr/>
          </p:nvSpPr>
          <p:spPr>
            <a:xfrm>
              <a:off x="4387588" y="283439"/>
              <a:ext cx="2536897" cy="2537789"/>
            </a:xfrm>
            <a:prstGeom prst="ellipse">
              <a:avLst/>
            </a:prstGeom>
            <a:gradFill flip="none" rotWithShape="1">
              <a:gsLst>
                <a:gs pos="100000">
                  <a:srgbClr val="3982FF"/>
                </a:gs>
                <a:gs pos="0">
                  <a:srgbClr val="3982FF">
                    <a:alpha val="32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grpSp>
          <p:nvGrpSpPr>
            <p:cNvPr id="7" name="图形 36">
              <a:extLst>
                <a:ext uri="{FF2B5EF4-FFF2-40B4-BE49-F238E27FC236}">
                  <a16:creationId xmlns:a16="http://schemas.microsoft.com/office/drawing/2014/main" id="{B3ADE5E4-168C-FC9B-EBD6-34625B7A65A0}"/>
                </a:ext>
              </a:extLst>
            </p:cNvPr>
            <p:cNvGrpSpPr/>
            <p:nvPr/>
          </p:nvGrpSpPr>
          <p:grpSpPr>
            <a:xfrm>
              <a:off x="7166755" y="3096171"/>
              <a:ext cx="250068" cy="346248"/>
              <a:chOff x="3061268" y="2833448"/>
              <a:chExt cx="250068" cy="346248"/>
            </a:xfrm>
          </p:grpSpPr>
          <p:sp>
            <p:nvSpPr>
              <p:cNvPr id="9" name="任意形状 23">
                <a:extLst>
                  <a:ext uri="{FF2B5EF4-FFF2-40B4-BE49-F238E27FC236}">
                    <a16:creationId xmlns:a16="http://schemas.microsoft.com/office/drawing/2014/main" id="{A427B19C-E599-EC8B-385D-E593DBC931CE}"/>
                  </a:ext>
                </a:extLst>
              </p:cNvPr>
              <p:cNvSpPr/>
              <p:nvPr/>
            </p:nvSpPr>
            <p:spPr>
              <a:xfrm>
                <a:off x="3061268" y="2968100"/>
                <a:ext cx="19236" cy="115416"/>
              </a:xfrm>
              <a:custGeom>
                <a:avLst/>
                <a:gdLst/>
                <a:ahLst/>
                <a:cxnLst>
                  <a:cxn ang="0">
                    <a:pos x="0" y="0"/>
                  </a:cxn>
                  <a:cxn ang="0">
                    <a:pos x="0" y="115416"/>
                  </a:cxn>
                </a:cxnLst>
                <a:rect l="0" t="0" r="0" b="0"/>
                <a:pathLst>
                  <a:path w="19236" h="115416">
                    <a:moveTo>
                      <a:pt x="0" y="0"/>
                    </a:moveTo>
                    <a:lnTo>
                      <a:pt x="0" y="115416"/>
                    </a:lnTo>
                  </a:path>
                </a:pathLst>
              </a:custGeom>
              <a:noFill/>
              <a:ln w="38100" cap="flat" cmpd="sng">
                <a:solidFill>
                  <a:schemeClr val="bg1">
                    <a:alpha val="100000"/>
                  </a:schemeClr>
                </a:solidFill>
                <a:prstDash val="solid"/>
                <a:round/>
                <a:headEnd type="none" w="med" len="med"/>
                <a:tailEnd type="none" w="med" len="med"/>
              </a:ln>
            </p:spPr>
            <p:txBody>
              <a:bodyPr/>
              <a:lstStyle/>
              <a:p>
                <a:endParaRPr lang="zh-CN" altLang="en-US"/>
              </a:p>
            </p:txBody>
          </p:sp>
          <p:sp>
            <p:nvSpPr>
              <p:cNvPr id="10" name="任意形状 26">
                <a:extLst>
                  <a:ext uri="{FF2B5EF4-FFF2-40B4-BE49-F238E27FC236}">
                    <a16:creationId xmlns:a16="http://schemas.microsoft.com/office/drawing/2014/main" id="{8299063F-7C55-70F9-549C-C5F95128E9CC}"/>
                  </a:ext>
                </a:extLst>
              </p:cNvPr>
              <p:cNvSpPr/>
              <p:nvPr/>
            </p:nvSpPr>
            <p:spPr>
              <a:xfrm>
                <a:off x="3157448" y="2833448"/>
                <a:ext cx="19236" cy="38472"/>
              </a:xfrm>
              <a:custGeom>
                <a:avLst/>
                <a:gdLst/>
                <a:ahLst/>
                <a:cxnLst>
                  <a:cxn ang="0">
                    <a:pos x="0" y="0"/>
                  </a:cxn>
                  <a:cxn ang="0">
                    <a:pos x="19236" y="38472"/>
                  </a:cxn>
                </a:cxnLst>
                <a:rect l="0" t="0" r="0" b="0"/>
                <a:pathLst>
                  <a:path w="19236" h="38472">
                    <a:moveTo>
                      <a:pt x="0" y="0"/>
                    </a:moveTo>
                    <a:lnTo>
                      <a:pt x="19236" y="38472"/>
                    </a:lnTo>
                  </a:path>
                </a:pathLst>
              </a:custGeom>
              <a:noFill/>
              <a:ln w="38100" cap="flat" cmpd="sng">
                <a:solidFill>
                  <a:schemeClr val="bg1">
                    <a:alpha val="100000"/>
                  </a:schemeClr>
                </a:solidFill>
                <a:prstDash val="solid"/>
                <a:round/>
                <a:headEnd type="none" w="med" len="med"/>
                <a:tailEnd type="none" w="med" len="med"/>
              </a:ln>
            </p:spPr>
            <p:txBody>
              <a:bodyPr/>
              <a:lstStyle/>
              <a:p>
                <a:endParaRPr lang="zh-CN" altLang="en-US"/>
              </a:p>
            </p:txBody>
          </p:sp>
          <p:sp>
            <p:nvSpPr>
              <p:cNvPr id="11" name="任意形状 27">
                <a:extLst>
                  <a:ext uri="{FF2B5EF4-FFF2-40B4-BE49-F238E27FC236}">
                    <a16:creationId xmlns:a16="http://schemas.microsoft.com/office/drawing/2014/main" id="{6EB5C04F-EBBD-F098-A0DB-67235E31EBE5}"/>
                  </a:ext>
                </a:extLst>
              </p:cNvPr>
              <p:cNvSpPr/>
              <p:nvPr/>
            </p:nvSpPr>
            <p:spPr>
              <a:xfrm>
                <a:off x="3292100" y="2833448"/>
                <a:ext cx="19236" cy="38472"/>
              </a:xfrm>
              <a:custGeom>
                <a:avLst/>
                <a:gdLst/>
                <a:ahLst/>
                <a:cxnLst>
                  <a:cxn ang="0">
                    <a:pos x="19236" y="0"/>
                  </a:cxn>
                  <a:cxn ang="0">
                    <a:pos x="0" y="38472"/>
                  </a:cxn>
                </a:cxnLst>
                <a:rect l="0" t="0" r="0" b="0"/>
                <a:pathLst>
                  <a:path w="19236" h="38472">
                    <a:moveTo>
                      <a:pt x="19236" y="0"/>
                    </a:moveTo>
                    <a:lnTo>
                      <a:pt x="0" y="38472"/>
                    </a:lnTo>
                  </a:path>
                </a:pathLst>
              </a:custGeom>
              <a:noFill/>
              <a:ln w="38100" cap="flat" cmpd="sng">
                <a:solidFill>
                  <a:schemeClr val="bg1">
                    <a:alpha val="100000"/>
                  </a:schemeClr>
                </a:solidFill>
                <a:prstDash val="solid"/>
                <a:round/>
                <a:headEnd type="none" w="med" len="med"/>
                <a:tailEnd type="none" w="med" len="med"/>
              </a:ln>
            </p:spPr>
            <p:txBody>
              <a:bodyPr/>
              <a:lstStyle/>
              <a:p>
                <a:endParaRPr lang="zh-CN" altLang="en-US"/>
              </a:p>
            </p:txBody>
          </p:sp>
          <p:sp>
            <p:nvSpPr>
              <p:cNvPr id="12" name="任意形状 28">
                <a:extLst>
                  <a:ext uri="{FF2B5EF4-FFF2-40B4-BE49-F238E27FC236}">
                    <a16:creationId xmlns:a16="http://schemas.microsoft.com/office/drawing/2014/main" id="{9600FF46-11AE-25F7-2A76-7CB4BBCFA2CB}"/>
                  </a:ext>
                </a:extLst>
              </p:cNvPr>
              <p:cNvSpPr/>
              <p:nvPr/>
            </p:nvSpPr>
            <p:spPr>
              <a:xfrm>
                <a:off x="3176684" y="3121988"/>
                <a:ext cx="19236" cy="57708"/>
              </a:xfrm>
              <a:custGeom>
                <a:avLst/>
                <a:gdLst/>
                <a:ahLst/>
                <a:cxnLst>
                  <a:cxn ang="0">
                    <a:pos x="0" y="0"/>
                  </a:cxn>
                  <a:cxn ang="0">
                    <a:pos x="0" y="57708"/>
                  </a:cxn>
                </a:cxnLst>
                <a:rect l="0" t="0" r="0" b="0"/>
                <a:pathLst>
                  <a:path w="19236" h="57708">
                    <a:moveTo>
                      <a:pt x="0" y="0"/>
                    </a:moveTo>
                    <a:lnTo>
                      <a:pt x="0" y="57708"/>
                    </a:lnTo>
                  </a:path>
                </a:pathLst>
              </a:custGeom>
              <a:noFill/>
              <a:ln w="38100" cap="flat" cmpd="sng">
                <a:solidFill>
                  <a:schemeClr val="bg1">
                    <a:alpha val="100000"/>
                  </a:schemeClr>
                </a:solidFill>
                <a:prstDash val="solid"/>
                <a:round/>
                <a:headEnd type="none" w="med" len="med"/>
                <a:tailEnd type="none" w="med" len="med"/>
              </a:ln>
            </p:spPr>
            <p:txBody>
              <a:bodyPr/>
              <a:lstStyle/>
              <a:p>
                <a:endParaRPr lang="zh-CN" altLang="en-US"/>
              </a:p>
            </p:txBody>
          </p:sp>
          <p:sp>
            <p:nvSpPr>
              <p:cNvPr id="13" name="任意形状 29">
                <a:extLst>
                  <a:ext uri="{FF2B5EF4-FFF2-40B4-BE49-F238E27FC236}">
                    <a16:creationId xmlns:a16="http://schemas.microsoft.com/office/drawing/2014/main" id="{37F2F0E0-A810-8123-4E96-642F2A3BEBE4}"/>
                  </a:ext>
                </a:extLst>
              </p:cNvPr>
              <p:cNvSpPr/>
              <p:nvPr/>
            </p:nvSpPr>
            <p:spPr>
              <a:xfrm>
                <a:off x="3292100" y="3121988"/>
                <a:ext cx="19236" cy="57708"/>
              </a:xfrm>
              <a:custGeom>
                <a:avLst/>
                <a:gdLst/>
                <a:ahLst/>
                <a:cxnLst>
                  <a:cxn ang="0">
                    <a:pos x="0" y="0"/>
                  </a:cxn>
                  <a:cxn ang="0">
                    <a:pos x="0" y="57708"/>
                  </a:cxn>
                </a:cxnLst>
                <a:rect l="0" t="0" r="0" b="0"/>
                <a:pathLst>
                  <a:path w="19236" h="57708">
                    <a:moveTo>
                      <a:pt x="0" y="0"/>
                    </a:moveTo>
                    <a:lnTo>
                      <a:pt x="0" y="57708"/>
                    </a:lnTo>
                  </a:path>
                </a:pathLst>
              </a:custGeom>
              <a:noFill/>
              <a:ln w="38100" cap="flat" cmpd="sng">
                <a:solidFill>
                  <a:schemeClr val="bg1">
                    <a:alpha val="100000"/>
                  </a:schemeClr>
                </a:solidFill>
                <a:prstDash val="solid"/>
                <a:round/>
                <a:headEnd type="none" w="med" len="med"/>
                <a:tailEnd type="none" w="med" len="med"/>
              </a:ln>
            </p:spPr>
            <p:txBody>
              <a:bodyPr/>
              <a:lstStyle/>
              <a:p>
                <a:endParaRPr lang="zh-CN" altLang="en-US"/>
              </a:p>
            </p:txBody>
          </p:sp>
        </p:grpSp>
        <p:sp>
          <p:nvSpPr>
            <p:cNvPr id="8" name="文本框 31">
              <a:extLst>
                <a:ext uri="{FF2B5EF4-FFF2-40B4-BE49-F238E27FC236}">
                  <a16:creationId xmlns:a16="http://schemas.microsoft.com/office/drawing/2014/main" id="{37B04DED-FD87-249F-A48D-96C1CFF10863}"/>
                </a:ext>
              </a:extLst>
            </p:cNvPr>
            <p:cNvSpPr txBox="1"/>
            <p:nvPr/>
          </p:nvSpPr>
          <p:spPr>
            <a:xfrm>
              <a:off x="4416232" y="1168670"/>
              <a:ext cx="2461468" cy="807612"/>
            </a:xfrm>
            <a:prstGeom prst="rect">
              <a:avLst/>
            </a:prstGeom>
            <a:noFill/>
            <a:ln w="9525">
              <a:noFill/>
            </a:ln>
          </p:spPr>
          <p:txBody>
            <a:bodyPr>
              <a:spAutoFit/>
            </a:bodyPr>
            <a:lstStyle/>
            <a:p>
              <a:pPr algn="ctr">
                <a:buNone/>
              </a:pPr>
              <a:r>
                <a:rPr lang="zh-CN" altLang="en-US" sz="2800" b="1" dirty="0">
                  <a:solidFill>
                    <a:schemeClr val="bg1"/>
                  </a:solidFill>
                  <a:latin typeface="微软雅黑" pitchFamily="34" charset="-122"/>
                  <a:ea typeface="微软雅黑" pitchFamily="34" charset="-122"/>
                </a:rPr>
                <a:t>学生</a:t>
              </a:r>
            </a:p>
          </p:txBody>
        </p:sp>
      </p:grpSp>
      <p:sp>
        <p:nvSpPr>
          <p:cNvPr id="14" name="矩形 13">
            <a:extLst>
              <a:ext uri="{FF2B5EF4-FFF2-40B4-BE49-F238E27FC236}">
                <a16:creationId xmlns:a16="http://schemas.microsoft.com/office/drawing/2014/main" id="{ADDCDA47-DB84-C8A5-05E3-83172BEF904F}"/>
              </a:ext>
            </a:extLst>
          </p:cNvPr>
          <p:cNvSpPr/>
          <p:nvPr/>
        </p:nvSpPr>
        <p:spPr>
          <a:xfrm>
            <a:off x="3817938" y="4818063"/>
            <a:ext cx="1300162" cy="768350"/>
          </a:xfrm>
          <a:prstGeom prst="rect">
            <a:avLst/>
          </a:prstGeom>
          <a:noFill/>
          <a:ln w="9525">
            <a:noFill/>
          </a:ln>
        </p:spPr>
        <p:txBody>
          <a:bodyPr wrap="none">
            <a:spAutoFit/>
          </a:bodyPr>
          <a:lstStyle/>
          <a:p>
            <a:pPr>
              <a:buNone/>
            </a:pPr>
            <a:r>
              <a:rPr lang="zh-CN" altLang="en-US" sz="4400" b="1" dirty="0">
                <a:solidFill>
                  <a:schemeClr val="bg1"/>
                </a:solidFill>
                <a:latin typeface="微软雅黑" pitchFamily="34" charset="-122"/>
                <a:ea typeface="微软雅黑" pitchFamily="34" charset="-122"/>
              </a:rPr>
              <a:t>姓名</a:t>
            </a:r>
          </a:p>
        </p:txBody>
      </p:sp>
      <p:sp>
        <p:nvSpPr>
          <p:cNvPr id="15" name="矩形 14">
            <a:extLst>
              <a:ext uri="{FF2B5EF4-FFF2-40B4-BE49-F238E27FC236}">
                <a16:creationId xmlns:a16="http://schemas.microsoft.com/office/drawing/2014/main" id="{65B0BF46-B2CE-0F85-CFE5-704C334FDFC1}"/>
              </a:ext>
            </a:extLst>
          </p:cNvPr>
          <p:cNvSpPr/>
          <p:nvPr/>
        </p:nvSpPr>
        <p:spPr>
          <a:xfrm>
            <a:off x="4749800" y="3817938"/>
            <a:ext cx="1200150" cy="708025"/>
          </a:xfrm>
          <a:prstGeom prst="rect">
            <a:avLst/>
          </a:prstGeom>
          <a:noFill/>
          <a:ln w="9525">
            <a:noFill/>
          </a:ln>
        </p:spPr>
        <p:txBody>
          <a:bodyPr wrap="none">
            <a:spAutoFit/>
          </a:bodyPr>
          <a:lstStyle/>
          <a:p>
            <a:pPr>
              <a:buNone/>
            </a:pPr>
            <a:r>
              <a:rPr lang="zh-CN" altLang="en-US" sz="4000" b="1" dirty="0">
                <a:solidFill>
                  <a:schemeClr val="bg1"/>
                </a:solidFill>
                <a:latin typeface="微软雅黑" pitchFamily="34" charset="-122"/>
                <a:ea typeface="微软雅黑" pitchFamily="34" charset="-122"/>
              </a:rPr>
              <a:t>学号</a:t>
            </a:r>
          </a:p>
        </p:txBody>
      </p:sp>
      <p:sp>
        <p:nvSpPr>
          <p:cNvPr id="16" name="矩形 15">
            <a:extLst>
              <a:ext uri="{FF2B5EF4-FFF2-40B4-BE49-F238E27FC236}">
                <a16:creationId xmlns:a16="http://schemas.microsoft.com/office/drawing/2014/main" id="{8EAA1F8F-5113-8AF9-3771-5548103A474B}"/>
              </a:ext>
            </a:extLst>
          </p:cNvPr>
          <p:cNvSpPr/>
          <p:nvPr/>
        </p:nvSpPr>
        <p:spPr>
          <a:xfrm>
            <a:off x="6845300" y="4878388"/>
            <a:ext cx="996950" cy="584200"/>
          </a:xfrm>
          <a:prstGeom prst="rect">
            <a:avLst/>
          </a:prstGeom>
          <a:noFill/>
          <a:ln w="9525">
            <a:noFill/>
          </a:ln>
        </p:spPr>
        <p:txBody>
          <a:bodyPr>
            <a:spAutoFit/>
          </a:bodyPr>
          <a:lstStyle/>
          <a:p>
            <a:pPr>
              <a:buNone/>
            </a:pPr>
            <a:r>
              <a:rPr lang="zh-CN" altLang="en-US" sz="3200" b="1" dirty="0">
                <a:solidFill>
                  <a:schemeClr val="bg1"/>
                </a:solidFill>
                <a:latin typeface="微软雅黑" pitchFamily="34" charset="-122"/>
                <a:ea typeface="微软雅黑" pitchFamily="34" charset="-122"/>
              </a:rPr>
              <a:t>年龄</a:t>
            </a:r>
          </a:p>
        </p:txBody>
      </p:sp>
      <p:sp>
        <p:nvSpPr>
          <p:cNvPr id="17" name="矩形 16">
            <a:extLst>
              <a:ext uri="{FF2B5EF4-FFF2-40B4-BE49-F238E27FC236}">
                <a16:creationId xmlns:a16="http://schemas.microsoft.com/office/drawing/2014/main" id="{66AC3C32-DBEF-5212-1819-DC7B4E4F6057}"/>
              </a:ext>
            </a:extLst>
          </p:cNvPr>
          <p:cNvSpPr/>
          <p:nvPr/>
        </p:nvSpPr>
        <p:spPr>
          <a:xfrm>
            <a:off x="5376863" y="5775325"/>
            <a:ext cx="1204913" cy="644525"/>
          </a:xfrm>
          <a:prstGeom prst="rect">
            <a:avLst/>
          </a:prstGeom>
          <a:noFill/>
          <a:ln w="9525">
            <a:no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chemeClr val="accent6">
                    <a:lumMod val="60000"/>
                    <a:lumOff val="40000"/>
                  </a:schemeClr>
                </a:solidFill>
                <a:effectLst/>
                <a:uLnTx/>
                <a:uFillTx/>
                <a:latin typeface="微软雅黑" pitchFamily="34" charset="-122"/>
                <a:ea typeface="微软雅黑" pitchFamily="34" charset="-122"/>
                <a:cs typeface="+mn-cs"/>
              </a:rPr>
              <a:t>班级</a:t>
            </a:r>
          </a:p>
        </p:txBody>
      </p:sp>
      <p:sp>
        <p:nvSpPr>
          <p:cNvPr id="18" name="矩形 17">
            <a:extLst>
              <a:ext uri="{FF2B5EF4-FFF2-40B4-BE49-F238E27FC236}">
                <a16:creationId xmlns:a16="http://schemas.microsoft.com/office/drawing/2014/main" id="{FBD07A17-24FC-78D3-0376-1C34D2F340E7}"/>
              </a:ext>
            </a:extLst>
          </p:cNvPr>
          <p:cNvSpPr/>
          <p:nvPr/>
        </p:nvSpPr>
        <p:spPr>
          <a:xfrm>
            <a:off x="5434013" y="4827588"/>
            <a:ext cx="1096963" cy="644525"/>
          </a:xfrm>
          <a:prstGeom prst="rect">
            <a:avLst/>
          </a:prstGeom>
          <a:noFill/>
          <a:ln w="9525">
            <a:noFill/>
          </a:ln>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chemeClr val="bg1">
                    <a:lumMod val="85000"/>
                  </a:schemeClr>
                </a:solidFill>
                <a:effectLst/>
                <a:uLnTx/>
                <a:uFillTx/>
                <a:latin typeface="微软雅黑" pitchFamily="34" charset="-122"/>
                <a:ea typeface="微软雅黑" pitchFamily="34" charset="-122"/>
                <a:cs typeface="+mn-cs"/>
              </a:rPr>
              <a:t>性别</a:t>
            </a:r>
          </a:p>
        </p:txBody>
      </p:sp>
      <p:sp>
        <p:nvSpPr>
          <p:cNvPr id="19" name="箭头: 左 69">
            <a:extLst>
              <a:ext uri="{FF2B5EF4-FFF2-40B4-BE49-F238E27FC236}">
                <a16:creationId xmlns:a16="http://schemas.microsoft.com/office/drawing/2014/main" id="{3E2F74B0-4866-A6CD-54AF-49959F085702}"/>
              </a:ext>
            </a:extLst>
          </p:cNvPr>
          <p:cNvSpPr/>
          <p:nvPr/>
        </p:nvSpPr>
        <p:spPr>
          <a:xfrm rot="16200000">
            <a:off x="5511006" y="2897981"/>
            <a:ext cx="703263" cy="552450"/>
          </a:xfrm>
          <a:custGeom>
            <a:avLst/>
            <a:gdLst>
              <a:gd name="connsiteX0" fmla="*/ 0 w 2999150"/>
              <a:gd name="connsiteY0" fmla="*/ 742780 h 1485560"/>
              <a:gd name="connsiteX1" fmla="*/ 742780 w 2999150"/>
              <a:gd name="connsiteY1" fmla="*/ 0 h 1485560"/>
              <a:gd name="connsiteX2" fmla="*/ 742780 w 2999150"/>
              <a:gd name="connsiteY2" fmla="*/ 371390 h 1485560"/>
              <a:gd name="connsiteX3" fmla="*/ 2999150 w 2999150"/>
              <a:gd name="connsiteY3" fmla="*/ 371390 h 1485560"/>
              <a:gd name="connsiteX4" fmla="*/ 2999150 w 2999150"/>
              <a:gd name="connsiteY4" fmla="*/ 1114170 h 1485560"/>
              <a:gd name="connsiteX5" fmla="*/ 742780 w 2999150"/>
              <a:gd name="connsiteY5" fmla="*/ 1114170 h 1485560"/>
              <a:gd name="connsiteX6" fmla="*/ 742780 w 2999150"/>
              <a:gd name="connsiteY6" fmla="*/ 1485560 h 1485560"/>
              <a:gd name="connsiteX7" fmla="*/ 0 w 2999150"/>
              <a:gd name="connsiteY7" fmla="*/ 742780 h 1485560"/>
              <a:gd name="connsiteX0-1" fmla="*/ 0 w 3008982"/>
              <a:gd name="connsiteY0-2" fmla="*/ 1639751 h 2382531"/>
              <a:gd name="connsiteX1-3" fmla="*/ 742780 w 3008982"/>
              <a:gd name="connsiteY1-4" fmla="*/ 896971 h 2382531"/>
              <a:gd name="connsiteX2-5" fmla="*/ 742780 w 3008982"/>
              <a:gd name="connsiteY2-6" fmla="*/ 1268361 h 2382531"/>
              <a:gd name="connsiteX3-7" fmla="*/ 3008982 w 3008982"/>
              <a:gd name="connsiteY3-8" fmla="*/ 0 h 2382531"/>
              <a:gd name="connsiteX4-9" fmla="*/ 2999150 w 3008982"/>
              <a:gd name="connsiteY4-10" fmla="*/ 2011141 h 2382531"/>
              <a:gd name="connsiteX5-11" fmla="*/ 742780 w 3008982"/>
              <a:gd name="connsiteY5-12" fmla="*/ 2011141 h 2382531"/>
              <a:gd name="connsiteX6-13" fmla="*/ 742780 w 3008982"/>
              <a:gd name="connsiteY6-14" fmla="*/ 2382531 h 2382531"/>
              <a:gd name="connsiteX7-15" fmla="*/ 0 w 3008982"/>
              <a:gd name="connsiteY7-16" fmla="*/ 1639751 h 2382531"/>
              <a:gd name="connsiteX0-17" fmla="*/ 0 w 3008982"/>
              <a:gd name="connsiteY0-18" fmla="*/ 1639751 h 3279502"/>
              <a:gd name="connsiteX1-19" fmla="*/ 742780 w 3008982"/>
              <a:gd name="connsiteY1-20" fmla="*/ 896971 h 3279502"/>
              <a:gd name="connsiteX2-21" fmla="*/ 742780 w 3008982"/>
              <a:gd name="connsiteY2-22" fmla="*/ 1268361 h 3279502"/>
              <a:gd name="connsiteX3-23" fmla="*/ 3008982 w 3008982"/>
              <a:gd name="connsiteY3-24" fmla="*/ 0 h 3279502"/>
              <a:gd name="connsiteX4-25" fmla="*/ 2979486 w 3008982"/>
              <a:gd name="connsiteY4-26" fmla="*/ 3279502 h 3279502"/>
              <a:gd name="connsiteX5-27" fmla="*/ 742780 w 3008982"/>
              <a:gd name="connsiteY5-28" fmla="*/ 2011141 h 3279502"/>
              <a:gd name="connsiteX6-29" fmla="*/ 742780 w 3008982"/>
              <a:gd name="connsiteY6-30" fmla="*/ 2382531 h 3279502"/>
              <a:gd name="connsiteX7-31" fmla="*/ 0 w 3008982"/>
              <a:gd name="connsiteY7-32" fmla="*/ 1639751 h 3279502"/>
              <a:gd name="connsiteX0-33" fmla="*/ 0 w 3008982"/>
              <a:gd name="connsiteY0-34" fmla="*/ 1639751 h 3299167"/>
              <a:gd name="connsiteX1-35" fmla="*/ 742780 w 3008982"/>
              <a:gd name="connsiteY1-36" fmla="*/ 896971 h 3299167"/>
              <a:gd name="connsiteX2-37" fmla="*/ 742780 w 3008982"/>
              <a:gd name="connsiteY2-38" fmla="*/ 1268361 h 3299167"/>
              <a:gd name="connsiteX3-39" fmla="*/ 3008982 w 3008982"/>
              <a:gd name="connsiteY3-40" fmla="*/ 0 h 3299167"/>
              <a:gd name="connsiteX4-41" fmla="*/ 2999150 w 3008982"/>
              <a:gd name="connsiteY4-42" fmla="*/ 3299167 h 3299167"/>
              <a:gd name="connsiteX5-43" fmla="*/ 742780 w 3008982"/>
              <a:gd name="connsiteY5-44" fmla="*/ 2011141 h 3299167"/>
              <a:gd name="connsiteX6-45" fmla="*/ 742780 w 3008982"/>
              <a:gd name="connsiteY6-46" fmla="*/ 2382531 h 3299167"/>
              <a:gd name="connsiteX7-47" fmla="*/ 0 w 3008982"/>
              <a:gd name="connsiteY7-48" fmla="*/ 1639751 h 3299167"/>
              <a:gd name="connsiteX0-49" fmla="*/ 0 w 3008982"/>
              <a:gd name="connsiteY0-50" fmla="*/ 1639751 h 3299167"/>
              <a:gd name="connsiteX1-51" fmla="*/ 742780 w 3008982"/>
              <a:gd name="connsiteY1-52" fmla="*/ 896971 h 3299167"/>
              <a:gd name="connsiteX2-53" fmla="*/ 742780 w 3008982"/>
              <a:gd name="connsiteY2-54" fmla="*/ 1268361 h 3299167"/>
              <a:gd name="connsiteX3-55" fmla="*/ 3008982 w 3008982"/>
              <a:gd name="connsiteY3-56" fmla="*/ 0 h 3299167"/>
              <a:gd name="connsiteX4-57" fmla="*/ 2999150 w 3008982"/>
              <a:gd name="connsiteY4-58" fmla="*/ 3299167 h 3299167"/>
              <a:gd name="connsiteX5-59" fmla="*/ 742780 w 3008982"/>
              <a:gd name="connsiteY5-60" fmla="*/ 2011141 h 3299167"/>
              <a:gd name="connsiteX6-61" fmla="*/ 742780 w 3008982"/>
              <a:gd name="connsiteY6-62" fmla="*/ 2382531 h 3299167"/>
              <a:gd name="connsiteX7-63" fmla="*/ 0 w 3008982"/>
              <a:gd name="connsiteY7-64" fmla="*/ 1639751 h 3299167"/>
              <a:gd name="connsiteX0-65" fmla="*/ 0 w 3008982"/>
              <a:gd name="connsiteY0-66" fmla="*/ 1639751 h 3299167"/>
              <a:gd name="connsiteX1-67" fmla="*/ 742780 w 3008982"/>
              <a:gd name="connsiteY1-68" fmla="*/ 896971 h 3299167"/>
              <a:gd name="connsiteX2-69" fmla="*/ 742780 w 3008982"/>
              <a:gd name="connsiteY2-70" fmla="*/ 1268361 h 3299167"/>
              <a:gd name="connsiteX3-71" fmla="*/ 3008982 w 3008982"/>
              <a:gd name="connsiteY3-72" fmla="*/ 0 h 3299167"/>
              <a:gd name="connsiteX4-73" fmla="*/ 2999150 w 3008982"/>
              <a:gd name="connsiteY4-74" fmla="*/ 3299167 h 3299167"/>
              <a:gd name="connsiteX5-75" fmla="*/ 742780 w 3008982"/>
              <a:gd name="connsiteY5-76" fmla="*/ 2011141 h 3299167"/>
              <a:gd name="connsiteX6-77" fmla="*/ 742780 w 3008982"/>
              <a:gd name="connsiteY6-78" fmla="*/ 2382531 h 3299167"/>
              <a:gd name="connsiteX7-79" fmla="*/ 0 w 3008982"/>
              <a:gd name="connsiteY7-80" fmla="*/ 1639751 h 3299167"/>
              <a:gd name="connsiteX0-81" fmla="*/ 0 w 3008982"/>
              <a:gd name="connsiteY0-82" fmla="*/ 1639751 h 3299167"/>
              <a:gd name="connsiteX1-83" fmla="*/ 742780 w 3008982"/>
              <a:gd name="connsiteY1-84" fmla="*/ 896971 h 3299167"/>
              <a:gd name="connsiteX2-85" fmla="*/ 742780 w 3008982"/>
              <a:gd name="connsiteY2-86" fmla="*/ 1268361 h 3299167"/>
              <a:gd name="connsiteX3-87" fmla="*/ 3008982 w 3008982"/>
              <a:gd name="connsiteY3-88" fmla="*/ 0 h 3299167"/>
              <a:gd name="connsiteX4-89" fmla="*/ 2999150 w 3008982"/>
              <a:gd name="connsiteY4-90" fmla="*/ 3299167 h 3299167"/>
              <a:gd name="connsiteX5-91" fmla="*/ 742780 w 3008982"/>
              <a:gd name="connsiteY5-92" fmla="*/ 2011141 h 3299167"/>
              <a:gd name="connsiteX6-93" fmla="*/ 742780 w 3008982"/>
              <a:gd name="connsiteY6-94" fmla="*/ 2382531 h 3299167"/>
              <a:gd name="connsiteX7-95" fmla="*/ 0 w 3008982"/>
              <a:gd name="connsiteY7-96" fmla="*/ 1639751 h 3299167"/>
              <a:gd name="connsiteX0-97" fmla="*/ 0 w 3008982"/>
              <a:gd name="connsiteY0-98" fmla="*/ 1639751 h 3299167"/>
              <a:gd name="connsiteX1-99" fmla="*/ 742780 w 3008982"/>
              <a:gd name="connsiteY1-100" fmla="*/ 896971 h 3299167"/>
              <a:gd name="connsiteX2-101" fmla="*/ 742780 w 3008982"/>
              <a:gd name="connsiteY2-102" fmla="*/ 1268361 h 3299167"/>
              <a:gd name="connsiteX3-103" fmla="*/ 3008982 w 3008982"/>
              <a:gd name="connsiteY3-104" fmla="*/ 0 h 3299167"/>
              <a:gd name="connsiteX4-105" fmla="*/ 2999150 w 3008982"/>
              <a:gd name="connsiteY4-106" fmla="*/ 3299167 h 3299167"/>
              <a:gd name="connsiteX5-107" fmla="*/ 742780 w 3008982"/>
              <a:gd name="connsiteY5-108" fmla="*/ 2011141 h 3299167"/>
              <a:gd name="connsiteX6-109" fmla="*/ 742780 w 3008982"/>
              <a:gd name="connsiteY6-110" fmla="*/ 2382531 h 3299167"/>
              <a:gd name="connsiteX7-111" fmla="*/ 0 w 3008982"/>
              <a:gd name="connsiteY7-112" fmla="*/ 1639751 h 329916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3008982" h="3299167">
                <a:moveTo>
                  <a:pt x="0" y="1639751"/>
                </a:moveTo>
                <a:lnTo>
                  <a:pt x="742780" y="896971"/>
                </a:lnTo>
                <a:lnTo>
                  <a:pt x="742780" y="1268361"/>
                </a:lnTo>
                <a:cubicBezTo>
                  <a:pt x="1360529" y="1150374"/>
                  <a:pt x="2332239" y="1042219"/>
                  <a:pt x="3008982" y="0"/>
                </a:cubicBezTo>
                <a:cubicBezTo>
                  <a:pt x="3005705" y="670380"/>
                  <a:pt x="3002427" y="2628787"/>
                  <a:pt x="2999150" y="3299167"/>
                </a:cubicBezTo>
                <a:cubicBezTo>
                  <a:pt x="2335517" y="2220896"/>
                  <a:pt x="1347419" y="2125851"/>
                  <a:pt x="742780" y="2011141"/>
                </a:cubicBezTo>
                <a:lnTo>
                  <a:pt x="742780" y="2382531"/>
                </a:lnTo>
                <a:lnTo>
                  <a:pt x="0" y="1639751"/>
                </a:lnTo>
                <a:close/>
              </a:path>
            </a:pathLst>
          </a:custGeom>
          <a:gradFill flip="none" rotWithShape="1">
            <a:gsLst>
              <a:gs pos="0">
                <a:srgbClr val="3982FF"/>
              </a:gs>
              <a:gs pos="100000">
                <a:srgbClr val="3982FF">
                  <a:alpha val="37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24" name="椭圆 23">
            <a:extLst>
              <a:ext uri="{FF2B5EF4-FFF2-40B4-BE49-F238E27FC236}">
                <a16:creationId xmlns:a16="http://schemas.microsoft.com/office/drawing/2014/main" id="{2D4F1009-0051-0F84-CEA4-EEFBF93F0C7B}"/>
              </a:ext>
            </a:extLst>
          </p:cNvPr>
          <p:cNvSpPr/>
          <p:nvPr/>
        </p:nvSpPr>
        <p:spPr>
          <a:xfrm>
            <a:off x="348343" y="-2318753"/>
            <a:ext cx="11495314" cy="11495313"/>
          </a:xfrm>
          <a:prstGeom prst="ellipse">
            <a:avLst/>
          </a:prstGeom>
          <a:gradFill>
            <a:gsLst>
              <a:gs pos="100000">
                <a:srgbClr val="3982FF">
                  <a:alpha val="8000"/>
                </a:srgbClr>
              </a:gs>
              <a:gs pos="0">
                <a:srgbClr val="3982FF">
                  <a:alpha val="8000"/>
                </a:srgbClr>
              </a:gs>
              <a:gs pos="50000">
                <a:srgbClr val="3982FF">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Tree>
    <p:extLst>
      <p:ext uri="{BB962C8B-B14F-4D97-AF65-F5344CB8AC3E}">
        <p14:creationId xmlns:p14="http://schemas.microsoft.com/office/powerpoint/2010/main" val="2873250926"/>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学生实体及属性</a:t>
            </a:r>
            <a:endParaRPr lang="en-US" altLang="zh-CN" b="1" dirty="0">
              <a:solidFill>
                <a:srgbClr val="44546A"/>
              </a:solidFill>
              <a:latin typeface="微软雅黑" panose="020B0503020204020204" pitchFamily="34" charset="-122"/>
              <a:ea typeface="微软雅黑" panose="020B0503020204020204" pitchFamily="34" charset="-122"/>
            </a:endParaRPr>
          </a:p>
        </p:txBody>
      </p:sp>
      <p:grpSp>
        <p:nvGrpSpPr>
          <p:cNvPr id="3" name="组合 15">
            <a:extLst>
              <a:ext uri="{FF2B5EF4-FFF2-40B4-BE49-F238E27FC236}">
                <a16:creationId xmlns:a16="http://schemas.microsoft.com/office/drawing/2014/main" id="{D545B1C6-3135-80CE-1913-368A83CA5474}"/>
              </a:ext>
            </a:extLst>
          </p:cNvPr>
          <p:cNvGrpSpPr/>
          <p:nvPr/>
        </p:nvGrpSpPr>
        <p:grpSpPr>
          <a:xfrm>
            <a:off x="3062288" y="1388389"/>
            <a:ext cx="2293937" cy="2711450"/>
            <a:chOff x="2036755" y="2376063"/>
            <a:chExt cx="2294372" cy="2711401"/>
          </a:xfrm>
        </p:grpSpPr>
        <p:grpSp>
          <p:nvGrpSpPr>
            <p:cNvPr id="4" name="组合 16">
              <a:extLst>
                <a:ext uri="{FF2B5EF4-FFF2-40B4-BE49-F238E27FC236}">
                  <a16:creationId xmlns:a16="http://schemas.microsoft.com/office/drawing/2014/main" id="{173A2FBB-BF77-EE33-CAF7-7342D4941A4F}"/>
                </a:ext>
              </a:extLst>
            </p:cNvPr>
            <p:cNvGrpSpPr/>
            <p:nvPr/>
          </p:nvGrpSpPr>
          <p:grpSpPr>
            <a:xfrm>
              <a:off x="2036755" y="2376063"/>
              <a:ext cx="2294372" cy="1844129"/>
              <a:chOff x="2214555" y="2376063"/>
              <a:chExt cx="2294372" cy="1844129"/>
            </a:xfrm>
          </p:grpSpPr>
          <p:sp>
            <p:nvSpPr>
              <p:cNvPr id="6" name="椭圆 5">
                <a:extLst>
                  <a:ext uri="{FF2B5EF4-FFF2-40B4-BE49-F238E27FC236}">
                    <a16:creationId xmlns:a16="http://schemas.microsoft.com/office/drawing/2014/main" id="{4B26423E-B3A1-F532-7674-E67A612015CF}"/>
                  </a:ext>
                </a:extLst>
              </p:cNvPr>
              <p:cNvSpPr/>
              <p:nvPr/>
            </p:nvSpPr>
            <p:spPr>
              <a:xfrm>
                <a:off x="2444315" y="2376063"/>
                <a:ext cx="1844129" cy="1844129"/>
              </a:xfrm>
              <a:prstGeom prst="ellipse">
                <a:avLst/>
              </a:prstGeom>
              <a:gradFill flip="none" rotWithShape="1">
                <a:gsLst>
                  <a:gs pos="1000">
                    <a:srgbClr val="3982FF"/>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grpSp>
            <p:nvGrpSpPr>
              <p:cNvPr id="7" name="组合 19">
                <a:extLst>
                  <a:ext uri="{FF2B5EF4-FFF2-40B4-BE49-F238E27FC236}">
                    <a16:creationId xmlns:a16="http://schemas.microsoft.com/office/drawing/2014/main" id="{33AE7E57-35DB-A296-A0C8-75171CBD5E15}"/>
                  </a:ext>
                </a:extLst>
              </p:cNvPr>
              <p:cNvGrpSpPr/>
              <p:nvPr/>
            </p:nvGrpSpPr>
            <p:grpSpPr>
              <a:xfrm>
                <a:off x="2214555" y="3061209"/>
                <a:ext cx="2294372" cy="733067"/>
                <a:chOff x="1944935" y="1102870"/>
                <a:chExt cx="2294372" cy="733067"/>
              </a:xfrm>
            </p:grpSpPr>
            <p:sp>
              <p:nvSpPr>
                <p:cNvPr id="8" name="文本框 7">
                  <a:extLst>
                    <a:ext uri="{FF2B5EF4-FFF2-40B4-BE49-F238E27FC236}">
                      <a16:creationId xmlns:a16="http://schemas.microsoft.com/office/drawing/2014/main" id="{EB13F3FA-2342-A0FF-C590-E13717E5EF4B}"/>
                    </a:ext>
                  </a:extLst>
                </p:cNvPr>
                <p:cNvSpPr txBox="1"/>
                <p:nvPr/>
              </p:nvSpPr>
              <p:spPr>
                <a:xfrm>
                  <a:off x="1979613" y="1102870"/>
                  <a:ext cx="2259694" cy="460375"/>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400" b="1" kern="100" cap="none" spc="0" normalizeH="0" baseline="0" noProof="0" dirty="0">
                      <a:solidFill>
                        <a:schemeClr val="bg1"/>
                      </a:solidFill>
                      <a:latin typeface="微软雅黑" pitchFamily="34" charset="-122"/>
                      <a:ea typeface="微软雅黑" pitchFamily="34" charset="-122"/>
                      <a:cs typeface="+mn-cs"/>
                      <a:sym typeface="+mn-ea"/>
                    </a:rPr>
                    <a:t>实体集</a:t>
                  </a:r>
                </a:p>
              </p:txBody>
            </p:sp>
            <p:sp>
              <p:nvSpPr>
                <p:cNvPr id="9" name="文本框 8">
                  <a:extLst>
                    <a:ext uri="{FF2B5EF4-FFF2-40B4-BE49-F238E27FC236}">
                      <a16:creationId xmlns:a16="http://schemas.microsoft.com/office/drawing/2014/main" id="{A96C6C8A-A682-A1EB-4B45-85844CD70F84}"/>
                    </a:ext>
                  </a:extLst>
                </p:cNvPr>
                <p:cNvSpPr txBox="1"/>
                <p:nvPr/>
              </p:nvSpPr>
              <p:spPr>
                <a:xfrm>
                  <a:off x="1944935" y="1518325"/>
                  <a:ext cx="2252850" cy="317612"/>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900" kern="100" cap="none" spc="0" normalizeH="0" baseline="0" noProof="0" dirty="0">
                      <a:solidFill>
                        <a:schemeClr val="bg1"/>
                      </a:solidFill>
                      <a:latin typeface="微软雅黑" pitchFamily="34" charset="-122"/>
                      <a:ea typeface="微软雅黑" pitchFamily="34" charset="-122"/>
                      <a:cs typeface="+mn-cs"/>
                      <a:sym typeface="+mn-ea"/>
                    </a:rPr>
                    <a:t>Entity Set</a:t>
                  </a:r>
                  <a:endParaRPr kumimoji="1" lang="en-US" altLang="zh-CN" sz="900" i="1" kern="100" cap="none" spc="0" normalizeH="0" baseline="0" noProof="0" dirty="0">
                    <a:solidFill>
                      <a:schemeClr val="bg1"/>
                    </a:solidFill>
                    <a:latin typeface="微软雅黑" pitchFamily="34" charset="-122"/>
                    <a:ea typeface="微软雅黑" pitchFamily="34" charset="-122"/>
                    <a:cs typeface="+mn-cs"/>
                    <a:sym typeface="+mn-ea"/>
                  </a:endParaRPr>
                </a:p>
              </p:txBody>
            </p:sp>
          </p:grpSp>
        </p:grpSp>
        <p:sp>
          <p:nvSpPr>
            <p:cNvPr id="5" name="椭圆 4">
              <a:extLst>
                <a:ext uri="{FF2B5EF4-FFF2-40B4-BE49-F238E27FC236}">
                  <a16:creationId xmlns:a16="http://schemas.microsoft.com/office/drawing/2014/main" id="{A4DF9260-17DC-6C25-E395-B68F63A357AB}"/>
                </a:ext>
              </a:extLst>
            </p:cNvPr>
            <p:cNvSpPr/>
            <p:nvPr/>
          </p:nvSpPr>
          <p:spPr>
            <a:xfrm>
              <a:off x="2547229" y="4642964"/>
              <a:ext cx="1282700" cy="444500"/>
            </a:xfrm>
            <a:prstGeom prst="ellipse">
              <a:avLst/>
            </a:prstGeom>
            <a:solidFill>
              <a:srgbClr val="3982FF">
                <a:alpha val="34000"/>
              </a:srgb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10" name="组合 22">
            <a:extLst>
              <a:ext uri="{FF2B5EF4-FFF2-40B4-BE49-F238E27FC236}">
                <a16:creationId xmlns:a16="http://schemas.microsoft.com/office/drawing/2014/main" id="{65AA9E1D-79FE-1906-654C-1F7A920E9248}"/>
              </a:ext>
            </a:extLst>
          </p:cNvPr>
          <p:cNvGrpSpPr/>
          <p:nvPr/>
        </p:nvGrpSpPr>
        <p:grpSpPr>
          <a:xfrm>
            <a:off x="6626225" y="1429664"/>
            <a:ext cx="2259013" cy="2711450"/>
            <a:chOff x="-43117" y="2376063"/>
            <a:chExt cx="2259694" cy="2711401"/>
          </a:xfrm>
        </p:grpSpPr>
        <p:grpSp>
          <p:nvGrpSpPr>
            <p:cNvPr id="11" name="组合 23">
              <a:extLst>
                <a:ext uri="{FF2B5EF4-FFF2-40B4-BE49-F238E27FC236}">
                  <a16:creationId xmlns:a16="http://schemas.microsoft.com/office/drawing/2014/main" id="{E23A6DD2-33D5-A831-66EA-8B007945A7DC}"/>
                </a:ext>
              </a:extLst>
            </p:cNvPr>
            <p:cNvGrpSpPr/>
            <p:nvPr/>
          </p:nvGrpSpPr>
          <p:grpSpPr>
            <a:xfrm>
              <a:off x="-43117" y="2376063"/>
              <a:ext cx="2259694" cy="1844129"/>
              <a:chOff x="134683" y="2376063"/>
              <a:chExt cx="2259694" cy="1844129"/>
            </a:xfrm>
          </p:grpSpPr>
          <p:sp>
            <p:nvSpPr>
              <p:cNvPr id="13" name="椭圆 12">
                <a:extLst>
                  <a:ext uri="{FF2B5EF4-FFF2-40B4-BE49-F238E27FC236}">
                    <a16:creationId xmlns:a16="http://schemas.microsoft.com/office/drawing/2014/main" id="{1779920A-4E48-D3D4-9942-0C37A2397B65}"/>
                  </a:ext>
                </a:extLst>
              </p:cNvPr>
              <p:cNvSpPr/>
              <p:nvPr/>
            </p:nvSpPr>
            <p:spPr>
              <a:xfrm>
                <a:off x="329765" y="2376063"/>
                <a:ext cx="1844129" cy="1844129"/>
              </a:xfrm>
              <a:prstGeom prst="ellipse">
                <a:avLst/>
              </a:prstGeom>
              <a:gradFill flip="none" rotWithShape="1">
                <a:gsLst>
                  <a:gs pos="1000">
                    <a:srgbClr val="3982FF"/>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grpSp>
            <p:nvGrpSpPr>
              <p:cNvPr id="14" name="组合 26">
                <a:extLst>
                  <a:ext uri="{FF2B5EF4-FFF2-40B4-BE49-F238E27FC236}">
                    <a16:creationId xmlns:a16="http://schemas.microsoft.com/office/drawing/2014/main" id="{1FC28FA8-C9B9-F159-157C-D88C55DBFB05}"/>
                  </a:ext>
                </a:extLst>
              </p:cNvPr>
              <p:cNvGrpSpPr/>
              <p:nvPr/>
            </p:nvGrpSpPr>
            <p:grpSpPr>
              <a:xfrm>
                <a:off x="134683" y="3003488"/>
                <a:ext cx="2259694" cy="693094"/>
                <a:chOff x="-134937" y="1045149"/>
                <a:chExt cx="2259694" cy="693094"/>
              </a:xfrm>
            </p:grpSpPr>
            <p:sp>
              <p:nvSpPr>
                <p:cNvPr id="15" name="文本框 14">
                  <a:extLst>
                    <a:ext uri="{FF2B5EF4-FFF2-40B4-BE49-F238E27FC236}">
                      <a16:creationId xmlns:a16="http://schemas.microsoft.com/office/drawing/2014/main" id="{CF0B6DB5-806B-4FEF-A000-0CFC87006B7A}"/>
                    </a:ext>
                  </a:extLst>
                </p:cNvPr>
                <p:cNvSpPr txBox="1"/>
                <p:nvPr/>
              </p:nvSpPr>
              <p:spPr>
                <a:xfrm>
                  <a:off x="-134937" y="1045149"/>
                  <a:ext cx="2259694" cy="460375"/>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400" b="1" kern="100" cap="none" spc="0" normalizeH="0" baseline="0" noProof="0" dirty="0">
                      <a:solidFill>
                        <a:schemeClr val="bg1"/>
                      </a:solidFill>
                      <a:latin typeface="微软雅黑" pitchFamily="34" charset="-122"/>
                      <a:ea typeface="微软雅黑" pitchFamily="34" charset="-122"/>
                      <a:cs typeface="+mn-cs"/>
                      <a:sym typeface="+mn-ea"/>
                    </a:rPr>
                    <a:t>联系</a:t>
                  </a:r>
                </a:p>
              </p:txBody>
            </p:sp>
            <p:sp>
              <p:nvSpPr>
                <p:cNvPr id="16" name="文本框 15">
                  <a:extLst>
                    <a:ext uri="{FF2B5EF4-FFF2-40B4-BE49-F238E27FC236}">
                      <a16:creationId xmlns:a16="http://schemas.microsoft.com/office/drawing/2014/main" id="{7AE47756-F412-2378-EC45-102A5E713403}"/>
                    </a:ext>
                  </a:extLst>
                </p:cNvPr>
                <p:cNvSpPr txBox="1"/>
                <p:nvPr/>
              </p:nvSpPr>
              <p:spPr>
                <a:xfrm>
                  <a:off x="-131515" y="1479702"/>
                  <a:ext cx="2252850" cy="258541"/>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900" kern="100" cap="none" spc="0" normalizeH="0" baseline="0" noProof="0" dirty="0">
                      <a:solidFill>
                        <a:schemeClr val="bg1"/>
                      </a:solidFill>
                      <a:latin typeface="微软雅黑" pitchFamily="34" charset="-122"/>
                      <a:ea typeface="微软雅黑" pitchFamily="34" charset="-122"/>
                      <a:cs typeface="+mn-cs"/>
                      <a:sym typeface="+mn-ea"/>
                    </a:rPr>
                    <a:t>Relationship</a:t>
                  </a:r>
                  <a:endParaRPr kumimoji="1" lang="en-US" altLang="zh-CN" sz="900" i="1" kern="100" cap="none" spc="0" normalizeH="0" baseline="0" noProof="0" dirty="0">
                    <a:solidFill>
                      <a:schemeClr val="bg1"/>
                    </a:solidFill>
                    <a:latin typeface="微软雅黑" pitchFamily="34" charset="-122"/>
                    <a:ea typeface="微软雅黑" pitchFamily="34" charset="-122"/>
                    <a:cs typeface="+mn-cs"/>
                    <a:sym typeface="+mn-ea"/>
                  </a:endParaRPr>
                </a:p>
              </p:txBody>
            </p:sp>
          </p:grpSp>
        </p:grpSp>
        <p:sp>
          <p:nvSpPr>
            <p:cNvPr id="12" name="椭圆 11">
              <a:extLst>
                <a:ext uri="{FF2B5EF4-FFF2-40B4-BE49-F238E27FC236}">
                  <a16:creationId xmlns:a16="http://schemas.microsoft.com/office/drawing/2014/main" id="{E9BC3EA4-87EB-DD02-02FA-0FEDDC5A17DA}"/>
                </a:ext>
              </a:extLst>
            </p:cNvPr>
            <p:cNvSpPr/>
            <p:nvPr/>
          </p:nvSpPr>
          <p:spPr>
            <a:xfrm>
              <a:off x="432679" y="4642964"/>
              <a:ext cx="1282700" cy="444500"/>
            </a:xfrm>
            <a:prstGeom prst="ellipse">
              <a:avLst/>
            </a:prstGeom>
            <a:solidFill>
              <a:srgbClr val="3982FF">
                <a:alpha val="34000"/>
              </a:srgb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17" name="矩形 16">
            <a:extLst>
              <a:ext uri="{FF2B5EF4-FFF2-40B4-BE49-F238E27FC236}">
                <a16:creationId xmlns:a16="http://schemas.microsoft.com/office/drawing/2014/main" id="{FDFF3FA3-160C-3FF3-A36C-9DB93164C556}"/>
              </a:ext>
            </a:extLst>
          </p:cNvPr>
          <p:cNvSpPr/>
          <p:nvPr/>
        </p:nvSpPr>
        <p:spPr>
          <a:xfrm>
            <a:off x="1411288" y="4326851"/>
            <a:ext cx="9369425" cy="2120902"/>
          </a:xfrm>
          <a:prstGeom prst="rect">
            <a:avLst/>
          </a:prstGeom>
        </p:spPr>
        <p:txBody>
          <a:bodyPr wrap="square">
            <a:spAutoFit/>
          </a:bodyPr>
          <a:lstStyle/>
          <a:p>
            <a:pPr indent="266700" defTabSz="457200" eaLnBrk="0" fontAlgn="base" hangingPunct="0">
              <a:lnSpc>
                <a:spcPct val="150000"/>
              </a:lnSpc>
              <a:spcBef>
                <a:spcPct val="0"/>
              </a:spcBef>
              <a:defRPr/>
            </a:pPr>
            <a:r>
              <a:rPr lang="zh-CN" altLang="zh-CN" dirty="0">
                <a:solidFill>
                  <a:srgbClr val="44546A"/>
                </a:solidFill>
                <a:latin typeface="微软雅黑" panose="020B0503020204020204" pitchFamily="34" charset="-122"/>
                <a:ea typeface="微软雅黑" panose="020B0503020204020204" pitchFamily="34" charset="-122"/>
                <a:sym typeface="+mn-ea"/>
              </a:rPr>
              <a:t>（</a:t>
            </a:r>
            <a:r>
              <a:rPr lang="en-US" altLang="zh-CN" dirty="0">
                <a:solidFill>
                  <a:srgbClr val="44546A"/>
                </a:solidFill>
                <a:latin typeface="微软雅黑" panose="020B0503020204020204" pitchFamily="34" charset="-122"/>
                <a:ea typeface="微软雅黑" panose="020B0503020204020204" pitchFamily="34" charset="-122"/>
                <a:sym typeface="+mn-ea"/>
              </a:rPr>
              <a:t>6</a:t>
            </a:r>
            <a:r>
              <a:rPr lang="zh-CN" altLang="zh-CN" dirty="0">
                <a:solidFill>
                  <a:srgbClr val="44546A"/>
                </a:solidFill>
                <a:latin typeface="微软雅黑" panose="020B0503020204020204" pitchFamily="34" charset="-122"/>
                <a:ea typeface="微软雅黑" panose="020B0503020204020204" pitchFamily="34" charset="-122"/>
                <a:sym typeface="+mn-ea"/>
              </a:rPr>
              <a:t>）实体集（</a:t>
            </a:r>
            <a:r>
              <a:rPr lang="en-US" altLang="zh-CN" dirty="0">
                <a:solidFill>
                  <a:srgbClr val="44546A"/>
                </a:solidFill>
                <a:latin typeface="微软雅黑" panose="020B0503020204020204" pitchFamily="34" charset="-122"/>
                <a:ea typeface="微软雅黑" panose="020B0503020204020204" pitchFamily="34" charset="-122"/>
                <a:sym typeface="+mn-ea"/>
              </a:rPr>
              <a:t>Entity Set</a:t>
            </a:r>
            <a:r>
              <a:rPr lang="zh-CN" altLang="zh-CN" dirty="0">
                <a:solidFill>
                  <a:srgbClr val="44546A"/>
                </a:solidFill>
                <a:latin typeface="微软雅黑" panose="020B0503020204020204" pitchFamily="34" charset="-122"/>
                <a:ea typeface="微软雅黑" panose="020B0503020204020204" pitchFamily="34" charset="-122"/>
                <a:sym typeface="+mn-ea"/>
              </a:rPr>
              <a:t>）：同型实体的集合称为实体集。例如，全体职工就是一个实体集。</a:t>
            </a:r>
            <a:endParaRPr lang="zh-CN" altLang="zh-CN" dirty="0">
              <a:solidFill>
                <a:srgbClr val="44546A"/>
              </a:solidFill>
              <a:latin typeface="微软雅黑" panose="020B0503020204020204" pitchFamily="34" charset="-122"/>
              <a:ea typeface="微软雅黑" panose="020B0503020204020204" pitchFamily="34" charset="-122"/>
            </a:endParaRPr>
          </a:p>
          <a:p>
            <a:pPr indent="266700" defTabSz="457200" eaLnBrk="0" fontAlgn="base" hangingPunct="0">
              <a:lnSpc>
                <a:spcPct val="150000"/>
              </a:lnSpc>
              <a:spcBef>
                <a:spcPct val="0"/>
              </a:spcBef>
              <a:defRPr/>
            </a:pPr>
            <a:r>
              <a:rPr lang="zh-CN" altLang="zh-CN" dirty="0">
                <a:solidFill>
                  <a:srgbClr val="44546A"/>
                </a:solidFill>
                <a:latin typeface="微软雅黑" panose="020B0503020204020204" pitchFamily="34" charset="-122"/>
                <a:ea typeface="微软雅黑" panose="020B0503020204020204" pitchFamily="34" charset="-122"/>
                <a:sym typeface="+mn-ea"/>
              </a:rPr>
              <a:t>（</a:t>
            </a:r>
            <a:r>
              <a:rPr lang="en-US" altLang="zh-CN" dirty="0">
                <a:solidFill>
                  <a:srgbClr val="44546A"/>
                </a:solidFill>
                <a:latin typeface="微软雅黑" panose="020B0503020204020204" pitchFamily="34" charset="-122"/>
                <a:ea typeface="微软雅黑" panose="020B0503020204020204" pitchFamily="34" charset="-122"/>
                <a:sym typeface="+mn-ea"/>
              </a:rPr>
              <a:t>7</a:t>
            </a:r>
            <a:r>
              <a:rPr lang="zh-CN" altLang="zh-CN" dirty="0">
                <a:solidFill>
                  <a:srgbClr val="44546A"/>
                </a:solidFill>
                <a:latin typeface="微软雅黑" panose="020B0503020204020204" pitchFamily="34" charset="-122"/>
                <a:ea typeface="微软雅黑" panose="020B0503020204020204" pitchFamily="34" charset="-122"/>
                <a:sym typeface="+mn-ea"/>
              </a:rPr>
              <a:t>）联系（</a:t>
            </a:r>
            <a:r>
              <a:rPr lang="en-US" altLang="zh-CN" dirty="0">
                <a:solidFill>
                  <a:srgbClr val="44546A"/>
                </a:solidFill>
                <a:latin typeface="微软雅黑" panose="020B0503020204020204" pitchFamily="34" charset="-122"/>
                <a:ea typeface="微软雅黑" panose="020B0503020204020204" pitchFamily="34" charset="-122"/>
                <a:sym typeface="+mn-ea"/>
              </a:rPr>
              <a:t>Relationship</a:t>
            </a:r>
            <a:r>
              <a:rPr lang="zh-CN" altLang="zh-CN" dirty="0">
                <a:solidFill>
                  <a:srgbClr val="44546A"/>
                </a:solidFill>
                <a:latin typeface="微软雅黑" panose="020B0503020204020204" pitchFamily="34" charset="-122"/>
                <a:ea typeface="微软雅黑" panose="020B0503020204020204" pitchFamily="34" charset="-122"/>
                <a:sym typeface="+mn-ea"/>
              </a:rPr>
              <a:t>）：在客观世界中，事物内部及事物之间是普遍存在联的，这些联系在信息世界中表现为实体</a:t>
            </a:r>
            <a:r>
              <a:rPr lang="zh-CN" altLang="en-US" dirty="0">
                <a:solidFill>
                  <a:srgbClr val="44546A"/>
                </a:solidFill>
                <a:latin typeface="微软雅黑" panose="020B0503020204020204" pitchFamily="34" charset="-122"/>
                <a:ea typeface="微软雅黑" panose="020B0503020204020204" pitchFamily="34" charset="-122"/>
                <a:sym typeface="+mn-ea"/>
              </a:rPr>
              <a:t>（</a:t>
            </a:r>
            <a:r>
              <a:rPr lang="zh-CN" altLang="zh-CN" dirty="0">
                <a:solidFill>
                  <a:srgbClr val="44546A"/>
                </a:solidFill>
                <a:latin typeface="微软雅黑" panose="020B0503020204020204" pitchFamily="34" charset="-122"/>
                <a:ea typeface="微软雅黑" panose="020B0503020204020204" pitchFamily="34" charset="-122"/>
                <a:sym typeface="+mn-ea"/>
              </a:rPr>
              <a:t>型</a:t>
            </a:r>
            <a:r>
              <a:rPr lang="zh-CN" altLang="en-US" dirty="0">
                <a:solidFill>
                  <a:srgbClr val="44546A"/>
                </a:solidFill>
                <a:latin typeface="微软雅黑" panose="020B0503020204020204" pitchFamily="34" charset="-122"/>
                <a:ea typeface="微软雅黑" panose="020B0503020204020204" pitchFamily="34" charset="-122"/>
                <a:sym typeface="+mn-ea"/>
              </a:rPr>
              <a:t>）</a:t>
            </a:r>
            <a:r>
              <a:rPr lang="zh-CN" altLang="zh-CN" dirty="0">
                <a:solidFill>
                  <a:srgbClr val="44546A"/>
                </a:solidFill>
                <a:latin typeface="微软雅黑" panose="020B0503020204020204" pitchFamily="34" charset="-122"/>
                <a:ea typeface="微软雅黑" panose="020B0503020204020204" pitchFamily="34" charset="-122"/>
                <a:sym typeface="+mn-ea"/>
              </a:rPr>
              <a:t>内部的联系和实体</a:t>
            </a:r>
            <a:r>
              <a:rPr lang="zh-CN" altLang="en-US" dirty="0">
                <a:solidFill>
                  <a:srgbClr val="44546A"/>
                </a:solidFill>
                <a:latin typeface="微软雅黑" panose="020B0503020204020204" pitchFamily="34" charset="-122"/>
                <a:ea typeface="微软雅黑" panose="020B0503020204020204" pitchFamily="34" charset="-122"/>
                <a:sym typeface="+mn-ea"/>
              </a:rPr>
              <a:t>（</a:t>
            </a:r>
            <a:r>
              <a:rPr lang="zh-CN" altLang="zh-CN" dirty="0">
                <a:solidFill>
                  <a:srgbClr val="44546A"/>
                </a:solidFill>
                <a:latin typeface="微软雅黑" panose="020B0503020204020204" pitchFamily="34" charset="-122"/>
                <a:ea typeface="微软雅黑" panose="020B0503020204020204" pitchFamily="34" charset="-122"/>
                <a:sym typeface="+mn-ea"/>
              </a:rPr>
              <a:t>型</a:t>
            </a:r>
            <a:r>
              <a:rPr lang="zh-CN" altLang="en-US" dirty="0">
                <a:solidFill>
                  <a:srgbClr val="44546A"/>
                </a:solidFill>
                <a:latin typeface="微软雅黑" panose="020B0503020204020204" pitchFamily="34" charset="-122"/>
                <a:ea typeface="微软雅黑" panose="020B0503020204020204" pitchFamily="34" charset="-122"/>
                <a:sym typeface="+mn-ea"/>
              </a:rPr>
              <a:t>）</a:t>
            </a:r>
            <a:r>
              <a:rPr lang="zh-CN" altLang="zh-CN" dirty="0">
                <a:solidFill>
                  <a:srgbClr val="44546A"/>
                </a:solidFill>
                <a:latin typeface="微软雅黑" panose="020B0503020204020204" pitchFamily="34" charset="-122"/>
                <a:ea typeface="微软雅黑" panose="020B0503020204020204" pitchFamily="34" charset="-122"/>
                <a:sym typeface="+mn-ea"/>
              </a:rPr>
              <a:t>之的联系。实体内部的联系通常是指组成实体的各属性之间的联系。实体之间的联系通常是指不同实体型之间的联系。</a:t>
            </a:r>
            <a:endParaRPr lang="zh-CN" altLang="en-US" dirty="0">
              <a:solidFill>
                <a:srgbClr val="44546A"/>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38002064"/>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概念模型</a:t>
            </a:r>
            <a:endParaRPr lang="en-US" altLang="zh-CN" b="1" dirty="0">
              <a:solidFill>
                <a:srgbClr val="44546A"/>
              </a:solidFill>
              <a:latin typeface="微软雅黑" panose="020B0503020204020204" pitchFamily="34" charset="-122"/>
              <a:ea typeface="微软雅黑" panose="020B0503020204020204" pitchFamily="34" charset="-122"/>
            </a:endParaRPr>
          </a:p>
        </p:txBody>
      </p:sp>
      <p:grpSp>
        <p:nvGrpSpPr>
          <p:cNvPr id="3" name="组合 47">
            <a:extLst>
              <a:ext uri="{FF2B5EF4-FFF2-40B4-BE49-F238E27FC236}">
                <a16:creationId xmlns:a16="http://schemas.microsoft.com/office/drawing/2014/main" id="{C9BEC423-D8AC-3236-1956-843CF93083F8}"/>
              </a:ext>
            </a:extLst>
          </p:cNvPr>
          <p:cNvGrpSpPr/>
          <p:nvPr/>
        </p:nvGrpSpPr>
        <p:grpSpPr>
          <a:xfrm>
            <a:off x="9113838" y="2582440"/>
            <a:ext cx="1689100" cy="946150"/>
            <a:chOff x="1640914" y="3218091"/>
            <a:chExt cx="1689100" cy="946151"/>
          </a:xfrm>
        </p:grpSpPr>
        <p:grpSp>
          <p:nvGrpSpPr>
            <p:cNvPr id="4" name="组合 48">
              <a:extLst>
                <a:ext uri="{FF2B5EF4-FFF2-40B4-BE49-F238E27FC236}">
                  <a16:creationId xmlns:a16="http://schemas.microsoft.com/office/drawing/2014/main" id="{CEB5C1DC-F354-0376-3BF8-791BD80CDD24}"/>
                </a:ext>
              </a:extLst>
            </p:cNvPr>
            <p:cNvGrpSpPr/>
            <p:nvPr/>
          </p:nvGrpSpPr>
          <p:grpSpPr>
            <a:xfrm>
              <a:off x="1640914" y="3218091"/>
              <a:ext cx="1689100" cy="946151"/>
              <a:chOff x="1619587" y="3122294"/>
              <a:chExt cx="1689100" cy="946151"/>
            </a:xfrm>
          </p:grpSpPr>
          <p:sp>
            <p:nvSpPr>
              <p:cNvPr id="6" name="矩形 5">
                <a:extLst>
                  <a:ext uri="{FF2B5EF4-FFF2-40B4-BE49-F238E27FC236}">
                    <a16:creationId xmlns:a16="http://schemas.microsoft.com/office/drawing/2014/main" id="{78A13DA5-9DF0-AC86-86DC-90867D1FF55E}"/>
                  </a:ext>
                </a:extLst>
              </p:cNvPr>
              <p:cNvSpPr/>
              <p:nvPr/>
            </p:nvSpPr>
            <p:spPr>
              <a:xfrm>
                <a:off x="1746587" y="3246120"/>
                <a:ext cx="1350645" cy="631190"/>
              </a:xfrm>
              <a:prstGeom prst="rect">
                <a:avLst/>
              </a:prstGeom>
              <a:gradFill flip="none" rotWithShape="1">
                <a:gsLst>
                  <a:gs pos="0">
                    <a:srgbClr val="3982FF"/>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7" name="矩形 6">
                <a:extLst>
                  <a:ext uri="{FF2B5EF4-FFF2-40B4-BE49-F238E27FC236}">
                    <a16:creationId xmlns:a16="http://schemas.microsoft.com/office/drawing/2014/main" id="{287FD966-CCF8-361C-A48F-EB2CC142E200}"/>
                  </a:ext>
                </a:extLst>
              </p:cNvPr>
              <p:cNvSpPr/>
              <p:nvPr/>
            </p:nvSpPr>
            <p:spPr>
              <a:xfrm>
                <a:off x="1938780" y="3122294"/>
                <a:ext cx="1158239" cy="563146"/>
              </a:xfrm>
              <a:prstGeom prst="rect">
                <a:avLst/>
              </a:prstGeom>
              <a:solidFill>
                <a:srgbClr val="1467FF">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8" name="矩形 7">
                <a:extLst>
                  <a:ext uri="{FF2B5EF4-FFF2-40B4-BE49-F238E27FC236}">
                    <a16:creationId xmlns:a16="http://schemas.microsoft.com/office/drawing/2014/main" id="{5952D832-ABE0-C39E-7832-5568D2428C5D}"/>
                  </a:ext>
                </a:extLst>
              </p:cNvPr>
              <p:cNvSpPr/>
              <p:nvPr/>
            </p:nvSpPr>
            <p:spPr>
              <a:xfrm>
                <a:off x="1619587" y="3122295"/>
                <a:ext cx="1689100" cy="946150"/>
              </a:xfrm>
              <a:prstGeom prst="rect">
                <a:avLst/>
              </a:prstGeom>
              <a:noFill/>
              <a:ln w="3175">
                <a:gradFill flip="none" rotWithShape="1">
                  <a:gsLst>
                    <a:gs pos="50000">
                      <a:srgbClr val="3982FF">
                        <a:alpha val="0"/>
                      </a:srgbClr>
                    </a:gs>
                    <a:gs pos="100000">
                      <a:srgbClr val="3982FF">
                        <a:alpha val="24000"/>
                      </a:srgb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grpSp>
        <p:sp>
          <p:nvSpPr>
            <p:cNvPr id="5" name="矩形 52">
              <a:extLst>
                <a:ext uri="{FF2B5EF4-FFF2-40B4-BE49-F238E27FC236}">
                  <a16:creationId xmlns:a16="http://schemas.microsoft.com/office/drawing/2014/main" id="{5B1B0CC4-1DBE-1540-931B-72DE6B47C36B}"/>
                </a:ext>
              </a:extLst>
            </p:cNvPr>
            <p:cNvSpPr/>
            <p:nvPr/>
          </p:nvSpPr>
          <p:spPr>
            <a:xfrm>
              <a:off x="1982233" y="3506144"/>
              <a:ext cx="868680" cy="368300"/>
            </a:xfrm>
            <a:prstGeom prst="rect">
              <a:avLst/>
            </a:prstGeom>
            <a:noFill/>
            <a:ln w="9525">
              <a:noFill/>
            </a:ln>
          </p:spPr>
          <p:txBody>
            <a:bodyPr wrap="none">
              <a:spAutoFit/>
            </a:bodyPr>
            <a:lstStyle/>
            <a:p>
              <a:pPr>
                <a:buNone/>
              </a:pPr>
              <a:r>
                <a:rPr lang="zh-CN" altLang="en-US" b="1" dirty="0">
                  <a:solidFill>
                    <a:schemeClr val="bg1"/>
                  </a:solidFill>
                  <a:latin typeface="微软雅黑" pitchFamily="34" charset="-122"/>
                  <a:ea typeface="微软雅黑" pitchFamily="34" charset="-122"/>
                </a:rPr>
                <a:t>联系名</a:t>
              </a:r>
            </a:p>
          </p:txBody>
        </p:sp>
      </p:grpSp>
      <p:sp>
        <p:nvSpPr>
          <p:cNvPr id="9" name="箭头: 左 69">
            <a:extLst>
              <a:ext uri="{FF2B5EF4-FFF2-40B4-BE49-F238E27FC236}">
                <a16:creationId xmlns:a16="http://schemas.microsoft.com/office/drawing/2014/main" id="{BD6F14E8-D75A-39CC-C841-998A622AB890}"/>
              </a:ext>
            </a:extLst>
          </p:cNvPr>
          <p:cNvSpPr/>
          <p:nvPr/>
        </p:nvSpPr>
        <p:spPr>
          <a:xfrm rot="16200000">
            <a:off x="5557044" y="3440484"/>
            <a:ext cx="1147763" cy="1257300"/>
          </a:xfrm>
          <a:custGeom>
            <a:avLst/>
            <a:gdLst>
              <a:gd name="connsiteX0" fmla="*/ 0 w 2999150"/>
              <a:gd name="connsiteY0" fmla="*/ 742780 h 1485560"/>
              <a:gd name="connsiteX1" fmla="*/ 742780 w 2999150"/>
              <a:gd name="connsiteY1" fmla="*/ 0 h 1485560"/>
              <a:gd name="connsiteX2" fmla="*/ 742780 w 2999150"/>
              <a:gd name="connsiteY2" fmla="*/ 371390 h 1485560"/>
              <a:gd name="connsiteX3" fmla="*/ 2999150 w 2999150"/>
              <a:gd name="connsiteY3" fmla="*/ 371390 h 1485560"/>
              <a:gd name="connsiteX4" fmla="*/ 2999150 w 2999150"/>
              <a:gd name="connsiteY4" fmla="*/ 1114170 h 1485560"/>
              <a:gd name="connsiteX5" fmla="*/ 742780 w 2999150"/>
              <a:gd name="connsiteY5" fmla="*/ 1114170 h 1485560"/>
              <a:gd name="connsiteX6" fmla="*/ 742780 w 2999150"/>
              <a:gd name="connsiteY6" fmla="*/ 1485560 h 1485560"/>
              <a:gd name="connsiteX7" fmla="*/ 0 w 2999150"/>
              <a:gd name="connsiteY7" fmla="*/ 742780 h 1485560"/>
              <a:gd name="connsiteX0-1" fmla="*/ 0 w 3008982"/>
              <a:gd name="connsiteY0-2" fmla="*/ 1639751 h 2382531"/>
              <a:gd name="connsiteX1-3" fmla="*/ 742780 w 3008982"/>
              <a:gd name="connsiteY1-4" fmla="*/ 896971 h 2382531"/>
              <a:gd name="connsiteX2-5" fmla="*/ 742780 w 3008982"/>
              <a:gd name="connsiteY2-6" fmla="*/ 1268361 h 2382531"/>
              <a:gd name="connsiteX3-7" fmla="*/ 3008982 w 3008982"/>
              <a:gd name="connsiteY3-8" fmla="*/ 0 h 2382531"/>
              <a:gd name="connsiteX4-9" fmla="*/ 2999150 w 3008982"/>
              <a:gd name="connsiteY4-10" fmla="*/ 2011141 h 2382531"/>
              <a:gd name="connsiteX5-11" fmla="*/ 742780 w 3008982"/>
              <a:gd name="connsiteY5-12" fmla="*/ 2011141 h 2382531"/>
              <a:gd name="connsiteX6-13" fmla="*/ 742780 w 3008982"/>
              <a:gd name="connsiteY6-14" fmla="*/ 2382531 h 2382531"/>
              <a:gd name="connsiteX7-15" fmla="*/ 0 w 3008982"/>
              <a:gd name="connsiteY7-16" fmla="*/ 1639751 h 2382531"/>
              <a:gd name="connsiteX0-17" fmla="*/ 0 w 3008982"/>
              <a:gd name="connsiteY0-18" fmla="*/ 1639751 h 3279502"/>
              <a:gd name="connsiteX1-19" fmla="*/ 742780 w 3008982"/>
              <a:gd name="connsiteY1-20" fmla="*/ 896971 h 3279502"/>
              <a:gd name="connsiteX2-21" fmla="*/ 742780 w 3008982"/>
              <a:gd name="connsiteY2-22" fmla="*/ 1268361 h 3279502"/>
              <a:gd name="connsiteX3-23" fmla="*/ 3008982 w 3008982"/>
              <a:gd name="connsiteY3-24" fmla="*/ 0 h 3279502"/>
              <a:gd name="connsiteX4-25" fmla="*/ 2979486 w 3008982"/>
              <a:gd name="connsiteY4-26" fmla="*/ 3279502 h 3279502"/>
              <a:gd name="connsiteX5-27" fmla="*/ 742780 w 3008982"/>
              <a:gd name="connsiteY5-28" fmla="*/ 2011141 h 3279502"/>
              <a:gd name="connsiteX6-29" fmla="*/ 742780 w 3008982"/>
              <a:gd name="connsiteY6-30" fmla="*/ 2382531 h 3279502"/>
              <a:gd name="connsiteX7-31" fmla="*/ 0 w 3008982"/>
              <a:gd name="connsiteY7-32" fmla="*/ 1639751 h 3279502"/>
              <a:gd name="connsiteX0-33" fmla="*/ 0 w 3008982"/>
              <a:gd name="connsiteY0-34" fmla="*/ 1639751 h 3299167"/>
              <a:gd name="connsiteX1-35" fmla="*/ 742780 w 3008982"/>
              <a:gd name="connsiteY1-36" fmla="*/ 896971 h 3299167"/>
              <a:gd name="connsiteX2-37" fmla="*/ 742780 w 3008982"/>
              <a:gd name="connsiteY2-38" fmla="*/ 1268361 h 3299167"/>
              <a:gd name="connsiteX3-39" fmla="*/ 3008982 w 3008982"/>
              <a:gd name="connsiteY3-40" fmla="*/ 0 h 3299167"/>
              <a:gd name="connsiteX4-41" fmla="*/ 2999150 w 3008982"/>
              <a:gd name="connsiteY4-42" fmla="*/ 3299167 h 3299167"/>
              <a:gd name="connsiteX5-43" fmla="*/ 742780 w 3008982"/>
              <a:gd name="connsiteY5-44" fmla="*/ 2011141 h 3299167"/>
              <a:gd name="connsiteX6-45" fmla="*/ 742780 w 3008982"/>
              <a:gd name="connsiteY6-46" fmla="*/ 2382531 h 3299167"/>
              <a:gd name="connsiteX7-47" fmla="*/ 0 w 3008982"/>
              <a:gd name="connsiteY7-48" fmla="*/ 1639751 h 3299167"/>
              <a:gd name="connsiteX0-49" fmla="*/ 0 w 3008982"/>
              <a:gd name="connsiteY0-50" fmla="*/ 1639751 h 3299167"/>
              <a:gd name="connsiteX1-51" fmla="*/ 742780 w 3008982"/>
              <a:gd name="connsiteY1-52" fmla="*/ 896971 h 3299167"/>
              <a:gd name="connsiteX2-53" fmla="*/ 742780 w 3008982"/>
              <a:gd name="connsiteY2-54" fmla="*/ 1268361 h 3299167"/>
              <a:gd name="connsiteX3-55" fmla="*/ 3008982 w 3008982"/>
              <a:gd name="connsiteY3-56" fmla="*/ 0 h 3299167"/>
              <a:gd name="connsiteX4-57" fmla="*/ 2999150 w 3008982"/>
              <a:gd name="connsiteY4-58" fmla="*/ 3299167 h 3299167"/>
              <a:gd name="connsiteX5-59" fmla="*/ 742780 w 3008982"/>
              <a:gd name="connsiteY5-60" fmla="*/ 2011141 h 3299167"/>
              <a:gd name="connsiteX6-61" fmla="*/ 742780 w 3008982"/>
              <a:gd name="connsiteY6-62" fmla="*/ 2382531 h 3299167"/>
              <a:gd name="connsiteX7-63" fmla="*/ 0 w 3008982"/>
              <a:gd name="connsiteY7-64" fmla="*/ 1639751 h 3299167"/>
              <a:gd name="connsiteX0-65" fmla="*/ 0 w 3008982"/>
              <a:gd name="connsiteY0-66" fmla="*/ 1639751 h 3299167"/>
              <a:gd name="connsiteX1-67" fmla="*/ 742780 w 3008982"/>
              <a:gd name="connsiteY1-68" fmla="*/ 896971 h 3299167"/>
              <a:gd name="connsiteX2-69" fmla="*/ 742780 w 3008982"/>
              <a:gd name="connsiteY2-70" fmla="*/ 1268361 h 3299167"/>
              <a:gd name="connsiteX3-71" fmla="*/ 3008982 w 3008982"/>
              <a:gd name="connsiteY3-72" fmla="*/ 0 h 3299167"/>
              <a:gd name="connsiteX4-73" fmla="*/ 2999150 w 3008982"/>
              <a:gd name="connsiteY4-74" fmla="*/ 3299167 h 3299167"/>
              <a:gd name="connsiteX5-75" fmla="*/ 742780 w 3008982"/>
              <a:gd name="connsiteY5-76" fmla="*/ 2011141 h 3299167"/>
              <a:gd name="connsiteX6-77" fmla="*/ 742780 w 3008982"/>
              <a:gd name="connsiteY6-78" fmla="*/ 2382531 h 3299167"/>
              <a:gd name="connsiteX7-79" fmla="*/ 0 w 3008982"/>
              <a:gd name="connsiteY7-80" fmla="*/ 1639751 h 3299167"/>
              <a:gd name="connsiteX0-81" fmla="*/ 0 w 3008982"/>
              <a:gd name="connsiteY0-82" fmla="*/ 1639751 h 3299167"/>
              <a:gd name="connsiteX1-83" fmla="*/ 742780 w 3008982"/>
              <a:gd name="connsiteY1-84" fmla="*/ 896971 h 3299167"/>
              <a:gd name="connsiteX2-85" fmla="*/ 742780 w 3008982"/>
              <a:gd name="connsiteY2-86" fmla="*/ 1268361 h 3299167"/>
              <a:gd name="connsiteX3-87" fmla="*/ 3008982 w 3008982"/>
              <a:gd name="connsiteY3-88" fmla="*/ 0 h 3299167"/>
              <a:gd name="connsiteX4-89" fmla="*/ 2999150 w 3008982"/>
              <a:gd name="connsiteY4-90" fmla="*/ 3299167 h 3299167"/>
              <a:gd name="connsiteX5-91" fmla="*/ 742780 w 3008982"/>
              <a:gd name="connsiteY5-92" fmla="*/ 2011141 h 3299167"/>
              <a:gd name="connsiteX6-93" fmla="*/ 742780 w 3008982"/>
              <a:gd name="connsiteY6-94" fmla="*/ 2382531 h 3299167"/>
              <a:gd name="connsiteX7-95" fmla="*/ 0 w 3008982"/>
              <a:gd name="connsiteY7-96" fmla="*/ 1639751 h 3299167"/>
              <a:gd name="connsiteX0-97" fmla="*/ 0 w 3008982"/>
              <a:gd name="connsiteY0-98" fmla="*/ 1639751 h 3299167"/>
              <a:gd name="connsiteX1-99" fmla="*/ 742780 w 3008982"/>
              <a:gd name="connsiteY1-100" fmla="*/ 896971 h 3299167"/>
              <a:gd name="connsiteX2-101" fmla="*/ 742780 w 3008982"/>
              <a:gd name="connsiteY2-102" fmla="*/ 1268361 h 3299167"/>
              <a:gd name="connsiteX3-103" fmla="*/ 3008982 w 3008982"/>
              <a:gd name="connsiteY3-104" fmla="*/ 0 h 3299167"/>
              <a:gd name="connsiteX4-105" fmla="*/ 2999150 w 3008982"/>
              <a:gd name="connsiteY4-106" fmla="*/ 3299167 h 3299167"/>
              <a:gd name="connsiteX5-107" fmla="*/ 742780 w 3008982"/>
              <a:gd name="connsiteY5-108" fmla="*/ 2011141 h 3299167"/>
              <a:gd name="connsiteX6-109" fmla="*/ 742780 w 3008982"/>
              <a:gd name="connsiteY6-110" fmla="*/ 2382531 h 3299167"/>
              <a:gd name="connsiteX7-111" fmla="*/ 0 w 3008982"/>
              <a:gd name="connsiteY7-112" fmla="*/ 1639751 h 329916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3008982" h="3299167">
                <a:moveTo>
                  <a:pt x="0" y="1639751"/>
                </a:moveTo>
                <a:lnTo>
                  <a:pt x="742780" y="896971"/>
                </a:lnTo>
                <a:lnTo>
                  <a:pt x="742780" y="1268361"/>
                </a:lnTo>
                <a:cubicBezTo>
                  <a:pt x="1360529" y="1150374"/>
                  <a:pt x="2332239" y="1042219"/>
                  <a:pt x="3008982" y="0"/>
                </a:cubicBezTo>
                <a:cubicBezTo>
                  <a:pt x="3005705" y="670380"/>
                  <a:pt x="3002427" y="2628787"/>
                  <a:pt x="2999150" y="3299167"/>
                </a:cubicBezTo>
                <a:cubicBezTo>
                  <a:pt x="2335517" y="2220896"/>
                  <a:pt x="1347419" y="2125851"/>
                  <a:pt x="742780" y="2011141"/>
                </a:cubicBezTo>
                <a:lnTo>
                  <a:pt x="742780" y="2382531"/>
                </a:lnTo>
                <a:lnTo>
                  <a:pt x="0" y="1639751"/>
                </a:lnTo>
                <a:close/>
              </a:path>
            </a:pathLst>
          </a:custGeom>
          <a:gradFill flip="none" rotWithShape="1">
            <a:gsLst>
              <a:gs pos="0">
                <a:srgbClr val="3982FF"/>
              </a:gs>
              <a:gs pos="100000">
                <a:srgbClr val="3982FF">
                  <a:alpha val="58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grpSp>
        <p:nvGrpSpPr>
          <p:cNvPr id="10" name="组合 73">
            <a:extLst>
              <a:ext uri="{FF2B5EF4-FFF2-40B4-BE49-F238E27FC236}">
                <a16:creationId xmlns:a16="http://schemas.microsoft.com/office/drawing/2014/main" id="{D7B9D690-6A55-C615-EA23-2D424F562144}"/>
              </a:ext>
            </a:extLst>
          </p:cNvPr>
          <p:cNvGrpSpPr/>
          <p:nvPr/>
        </p:nvGrpSpPr>
        <p:grpSpPr>
          <a:xfrm rot="10800000">
            <a:off x="7300913" y="2244303"/>
            <a:ext cx="1481137" cy="1624012"/>
            <a:chOff x="-240666" y="2894241"/>
            <a:chExt cx="1927612" cy="2113510"/>
          </a:xfrm>
        </p:grpSpPr>
        <p:sp>
          <p:nvSpPr>
            <p:cNvPr id="11" name="箭头: 左 69">
              <a:extLst>
                <a:ext uri="{FF2B5EF4-FFF2-40B4-BE49-F238E27FC236}">
                  <a16:creationId xmlns:a16="http://schemas.microsoft.com/office/drawing/2014/main" id="{1F919CEA-785A-CDDA-2E54-832EE374C0A1}"/>
                </a:ext>
              </a:extLst>
            </p:cNvPr>
            <p:cNvSpPr/>
            <p:nvPr/>
          </p:nvSpPr>
          <p:spPr>
            <a:xfrm>
              <a:off x="-240666" y="2894241"/>
              <a:ext cx="1927612" cy="2113510"/>
            </a:xfrm>
            <a:custGeom>
              <a:avLst/>
              <a:gdLst>
                <a:gd name="connsiteX0" fmla="*/ 0 w 2999150"/>
                <a:gd name="connsiteY0" fmla="*/ 742780 h 1485560"/>
                <a:gd name="connsiteX1" fmla="*/ 742780 w 2999150"/>
                <a:gd name="connsiteY1" fmla="*/ 0 h 1485560"/>
                <a:gd name="connsiteX2" fmla="*/ 742780 w 2999150"/>
                <a:gd name="connsiteY2" fmla="*/ 371390 h 1485560"/>
                <a:gd name="connsiteX3" fmla="*/ 2999150 w 2999150"/>
                <a:gd name="connsiteY3" fmla="*/ 371390 h 1485560"/>
                <a:gd name="connsiteX4" fmla="*/ 2999150 w 2999150"/>
                <a:gd name="connsiteY4" fmla="*/ 1114170 h 1485560"/>
                <a:gd name="connsiteX5" fmla="*/ 742780 w 2999150"/>
                <a:gd name="connsiteY5" fmla="*/ 1114170 h 1485560"/>
                <a:gd name="connsiteX6" fmla="*/ 742780 w 2999150"/>
                <a:gd name="connsiteY6" fmla="*/ 1485560 h 1485560"/>
                <a:gd name="connsiteX7" fmla="*/ 0 w 2999150"/>
                <a:gd name="connsiteY7" fmla="*/ 742780 h 1485560"/>
                <a:gd name="connsiteX0-1" fmla="*/ 0 w 3008982"/>
                <a:gd name="connsiteY0-2" fmla="*/ 1639751 h 2382531"/>
                <a:gd name="connsiteX1-3" fmla="*/ 742780 w 3008982"/>
                <a:gd name="connsiteY1-4" fmla="*/ 896971 h 2382531"/>
                <a:gd name="connsiteX2-5" fmla="*/ 742780 w 3008982"/>
                <a:gd name="connsiteY2-6" fmla="*/ 1268361 h 2382531"/>
                <a:gd name="connsiteX3-7" fmla="*/ 3008982 w 3008982"/>
                <a:gd name="connsiteY3-8" fmla="*/ 0 h 2382531"/>
                <a:gd name="connsiteX4-9" fmla="*/ 2999150 w 3008982"/>
                <a:gd name="connsiteY4-10" fmla="*/ 2011141 h 2382531"/>
                <a:gd name="connsiteX5-11" fmla="*/ 742780 w 3008982"/>
                <a:gd name="connsiteY5-12" fmla="*/ 2011141 h 2382531"/>
                <a:gd name="connsiteX6-13" fmla="*/ 742780 w 3008982"/>
                <a:gd name="connsiteY6-14" fmla="*/ 2382531 h 2382531"/>
                <a:gd name="connsiteX7-15" fmla="*/ 0 w 3008982"/>
                <a:gd name="connsiteY7-16" fmla="*/ 1639751 h 2382531"/>
                <a:gd name="connsiteX0-17" fmla="*/ 0 w 3008982"/>
                <a:gd name="connsiteY0-18" fmla="*/ 1639751 h 3279502"/>
                <a:gd name="connsiteX1-19" fmla="*/ 742780 w 3008982"/>
                <a:gd name="connsiteY1-20" fmla="*/ 896971 h 3279502"/>
                <a:gd name="connsiteX2-21" fmla="*/ 742780 w 3008982"/>
                <a:gd name="connsiteY2-22" fmla="*/ 1268361 h 3279502"/>
                <a:gd name="connsiteX3-23" fmla="*/ 3008982 w 3008982"/>
                <a:gd name="connsiteY3-24" fmla="*/ 0 h 3279502"/>
                <a:gd name="connsiteX4-25" fmla="*/ 2979486 w 3008982"/>
                <a:gd name="connsiteY4-26" fmla="*/ 3279502 h 3279502"/>
                <a:gd name="connsiteX5-27" fmla="*/ 742780 w 3008982"/>
                <a:gd name="connsiteY5-28" fmla="*/ 2011141 h 3279502"/>
                <a:gd name="connsiteX6-29" fmla="*/ 742780 w 3008982"/>
                <a:gd name="connsiteY6-30" fmla="*/ 2382531 h 3279502"/>
                <a:gd name="connsiteX7-31" fmla="*/ 0 w 3008982"/>
                <a:gd name="connsiteY7-32" fmla="*/ 1639751 h 3279502"/>
                <a:gd name="connsiteX0-33" fmla="*/ 0 w 3008982"/>
                <a:gd name="connsiteY0-34" fmla="*/ 1639751 h 3299167"/>
                <a:gd name="connsiteX1-35" fmla="*/ 742780 w 3008982"/>
                <a:gd name="connsiteY1-36" fmla="*/ 896971 h 3299167"/>
                <a:gd name="connsiteX2-37" fmla="*/ 742780 w 3008982"/>
                <a:gd name="connsiteY2-38" fmla="*/ 1268361 h 3299167"/>
                <a:gd name="connsiteX3-39" fmla="*/ 3008982 w 3008982"/>
                <a:gd name="connsiteY3-40" fmla="*/ 0 h 3299167"/>
                <a:gd name="connsiteX4-41" fmla="*/ 2999150 w 3008982"/>
                <a:gd name="connsiteY4-42" fmla="*/ 3299167 h 3299167"/>
                <a:gd name="connsiteX5-43" fmla="*/ 742780 w 3008982"/>
                <a:gd name="connsiteY5-44" fmla="*/ 2011141 h 3299167"/>
                <a:gd name="connsiteX6-45" fmla="*/ 742780 w 3008982"/>
                <a:gd name="connsiteY6-46" fmla="*/ 2382531 h 3299167"/>
                <a:gd name="connsiteX7-47" fmla="*/ 0 w 3008982"/>
                <a:gd name="connsiteY7-48" fmla="*/ 1639751 h 3299167"/>
                <a:gd name="connsiteX0-49" fmla="*/ 0 w 3008982"/>
                <a:gd name="connsiteY0-50" fmla="*/ 1639751 h 3299167"/>
                <a:gd name="connsiteX1-51" fmla="*/ 742780 w 3008982"/>
                <a:gd name="connsiteY1-52" fmla="*/ 896971 h 3299167"/>
                <a:gd name="connsiteX2-53" fmla="*/ 742780 w 3008982"/>
                <a:gd name="connsiteY2-54" fmla="*/ 1268361 h 3299167"/>
                <a:gd name="connsiteX3-55" fmla="*/ 3008982 w 3008982"/>
                <a:gd name="connsiteY3-56" fmla="*/ 0 h 3299167"/>
                <a:gd name="connsiteX4-57" fmla="*/ 2999150 w 3008982"/>
                <a:gd name="connsiteY4-58" fmla="*/ 3299167 h 3299167"/>
                <a:gd name="connsiteX5-59" fmla="*/ 742780 w 3008982"/>
                <a:gd name="connsiteY5-60" fmla="*/ 2011141 h 3299167"/>
                <a:gd name="connsiteX6-61" fmla="*/ 742780 w 3008982"/>
                <a:gd name="connsiteY6-62" fmla="*/ 2382531 h 3299167"/>
                <a:gd name="connsiteX7-63" fmla="*/ 0 w 3008982"/>
                <a:gd name="connsiteY7-64" fmla="*/ 1639751 h 3299167"/>
                <a:gd name="connsiteX0-65" fmla="*/ 0 w 3008982"/>
                <a:gd name="connsiteY0-66" fmla="*/ 1639751 h 3299167"/>
                <a:gd name="connsiteX1-67" fmla="*/ 742780 w 3008982"/>
                <a:gd name="connsiteY1-68" fmla="*/ 896971 h 3299167"/>
                <a:gd name="connsiteX2-69" fmla="*/ 742780 w 3008982"/>
                <a:gd name="connsiteY2-70" fmla="*/ 1268361 h 3299167"/>
                <a:gd name="connsiteX3-71" fmla="*/ 3008982 w 3008982"/>
                <a:gd name="connsiteY3-72" fmla="*/ 0 h 3299167"/>
                <a:gd name="connsiteX4-73" fmla="*/ 2999150 w 3008982"/>
                <a:gd name="connsiteY4-74" fmla="*/ 3299167 h 3299167"/>
                <a:gd name="connsiteX5-75" fmla="*/ 742780 w 3008982"/>
                <a:gd name="connsiteY5-76" fmla="*/ 2011141 h 3299167"/>
                <a:gd name="connsiteX6-77" fmla="*/ 742780 w 3008982"/>
                <a:gd name="connsiteY6-78" fmla="*/ 2382531 h 3299167"/>
                <a:gd name="connsiteX7-79" fmla="*/ 0 w 3008982"/>
                <a:gd name="connsiteY7-80" fmla="*/ 1639751 h 3299167"/>
                <a:gd name="connsiteX0-81" fmla="*/ 0 w 3008982"/>
                <a:gd name="connsiteY0-82" fmla="*/ 1639751 h 3299167"/>
                <a:gd name="connsiteX1-83" fmla="*/ 742780 w 3008982"/>
                <a:gd name="connsiteY1-84" fmla="*/ 896971 h 3299167"/>
                <a:gd name="connsiteX2-85" fmla="*/ 742780 w 3008982"/>
                <a:gd name="connsiteY2-86" fmla="*/ 1268361 h 3299167"/>
                <a:gd name="connsiteX3-87" fmla="*/ 3008982 w 3008982"/>
                <a:gd name="connsiteY3-88" fmla="*/ 0 h 3299167"/>
                <a:gd name="connsiteX4-89" fmla="*/ 2999150 w 3008982"/>
                <a:gd name="connsiteY4-90" fmla="*/ 3299167 h 3299167"/>
                <a:gd name="connsiteX5-91" fmla="*/ 742780 w 3008982"/>
                <a:gd name="connsiteY5-92" fmla="*/ 2011141 h 3299167"/>
                <a:gd name="connsiteX6-93" fmla="*/ 742780 w 3008982"/>
                <a:gd name="connsiteY6-94" fmla="*/ 2382531 h 3299167"/>
                <a:gd name="connsiteX7-95" fmla="*/ 0 w 3008982"/>
                <a:gd name="connsiteY7-96" fmla="*/ 1639751 h 3299167"/>
                <a:gd name="connsiteX0-97" fmla="*/ 0 w 3008982"/>
                <a:gd name="connsiteY0-98" fmla="*/ 1639751 h 3299167"/>
                <a:gd name="connsiteX1-99" fmla="*/ 742780 w 3008982"/>
                <a:gd name="connsiteY1-100" fmla="*/ 896971 h 3299167"/>
                <a:gd name="connsiteX2-101" fmla="*/ 742780 w 3008982"/>
                <a:gd name="connsiteY2-102" fmla="*/ 1268361 h 3299167"/>
                <a:gd name="connsiteX3-103" fmla="*/ 3008982 w 3008982"/>
                <a:gd name="connsiteY3-104" fmla="*/ 0 h 3299167"/>
                <a:gd name="connsiteX4-105" fmla="*/ 2999150 w 3008982"/>
                <a:gd name="connsiteY4-106" fmla="*/ 3299167 h 3299167"/>
                <a:gd name="connsiteX5-107" fmla="*/ 742780 w 3008982"/>
                <a:gd name="connsiteY5-108" fmla="*/ 2011141 h 3299167"/>
                <a:gd name="connsiteX6-109" fmla="*/ 742780 w 3008982"/>
                <a:gd name="connsiteY6-110" fmla="*/ 2382531 h 3299167"/>
                <a:gd name="connsiteX7-111" fmla="*/ 0 w 3008982"/>
                <a:gd name="connsiteY7-112" fmla="*/ 1639751 h 329916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3008982" h="3299167">
                  <a:moveTo>
                    <a:pt x="0" y="1639751"/>
                  </a:moveTo>
                  <a:lnTo>
                    <a:pt x="742780" y="896971"/>
                  </a:lnTo>
                  <a:lnTo>
                    <a:pt x="742780" y="1268361"/>
                  </a:lnTo>
                  <a:cubicBezTo>
                    <a:pt x="1360529" y="1150374"/>
                    <a:pt x="2332239" y="1042219"/>
                    <a:pt x="3008982" y="0"/>
                  </a:cubicBezTo>
                  <a:cubicBezTo>
                    <a:pt x="3005705" y="670380"/>
                    <a:pt x="3002427" y="2628787"/>
                    <a:pt x="2999150" y="3299167"/>
                  </a:cubicBezTo>
                  <a:cubicBezTo>
                    <a:pt x="2335517" y="2220896"/>
                    <a:pt x="1347419" y="2125851"/>
                    <a:pt x="742780" y="2011141"/>
                  </a:cubicBezTo>
                  <a:lnTo>
                    <a:pt x="742780" y="2382531"/>
                  </a:lnTo>
                  <a:lnTo>
                    <a:pt x="0" y="1639751"/>
                  </a:lnTo>
                  <a:close/>
                </a:path>
              </a:pathLst>
            </a:custGeom>
            <a:gradFill flip="none" rotWithShape="1">
              <a:gsLst>
                <a:gs pos="0">
                  <a:srgbClr val="3982FF"/>
                </a:gs>
                <a:gs pos="100000">
                  <a:srgbClr val="3982FF">
                    <a:alpha val="58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12" name="文本框 75">
              <a:extLst>
                <a:ext uri="{FF2B5EF4-FFF2-40B4-BE49-F238E27FC236}">
                  <a16:creationId xmlns:a16="http://schemas.microsoft.com/office/drawing/2014/main" id="{6113142E-F3C3-1D82-B3AC-D598ADEB0D4B}"/>
                </a:ext>
              </a:extLst>
            </p:cNvPr>
            <p:cNvSpPr txBox="1"/>
            <p:nvPr/>
          </p:nvSpPr>
          <p:spPr>
            <a:xfrm rot="10800000">
              <a:off x="-72114" y="3677512"/>
              <a:ext cx="1744187" cy="479216"/>
            </a:xfrm>
            <a:prstGeom prst="rect">
              <a:avLst/>
            </a:prstGeom>
            <a:noFill/>
            <a:ln w="9525">
              <a:noFill/>
            </a:ln>
          </p:spPr>
          <p:txBody>
            <a:bodyPr>
              <a:spAutoFit/>
            </a:bodyPr>
            <a:lstStyle/>
            <a:p>
              <a:pPr>
                <a:buNone/>
              </a:pPr>
              <a:r>
                <a:rPr lang="zh-CN" altLang="en-US" b="1" dirty="0">
                  <a:solidFill>
                    <a:schemeClr val="bg1"/>
                  </a:solidFill>
                  <a:latin typeface="微软雅黑" pitchFamily="34" charset="-122"/>
                  <a:ea typeface="微软雅黑" pitchFamily="34" charset="-122"/>
                </a:rPr>
                <a:t>联系类型</a:t>
              </a:r>
            </a:p>
          </p:txBody>
        </p:sp>
      </p:grpSp>
      <p:sp>
        <p:nvSpPr>
          <p:cNvPr id="13" name="矩形 12">
            <a:extLst>
              <a:ext uri="{FF2B5EF4-FFF2-40B4-BE49-F238E27FC236}">
                <a16:creationId xmlns:a16="http://schemas.microsoft.com/office/drawing/2014/main" id="{63F48D2C-513D-7F83-9BEE-528EB38FE76B}"/>
              </a:ext>
            </a:extLst>
          </p:cNvPr>
          <p:cNvSpPr/>
          <p:nvPr/>
        </p:nvSpPr>
        <p:spPr>
          <a:xfrm>
            <a:off x="911225" y="1925170"/>
            <a:ext cx="8689975" cy="3782895"/>
          </a:xfrm>
          <a:prstGeom prst="rect">
            <a:avLst/>
          </a:prstGeom>
        </p:spPr>
        <p:txBody>
          <a:bodyPr wrap="square">
            <a:spAutoFit/>
          </a:bodyPr>
          <a:lstStyle/>
          <a:p>
            <a:pPr marL="0" marR="0" lvl="0" indent="0" algn="l" defTabSz="457200" rtl="0" eaLnBrk="0" fontAlgn="base" latinLnBrk="0" hangingPunct="0">
              <a:lnSpc>
                <a:spcPct val="150000"/>
              </a:lnSpc>
              <a:spcBef>
                <a:spcPts val="0"/>
              </a:spcBef>
              <a:spcAft>
                <a:spcPct val="0"/>
              </a:spcAft>
              <a:buClrTx/>
              <a:buSzTx/>
              <a:buFontTx/>
              <a:buNone/>
              <a:defRPr/>
            </a:pPr>
            <a:r>
              <a:rPr lang="zh-CN" altLang="zh-CN" dirty="0">
                <a:solidFill>
                  <a:srgbClr val="44546A"/>
                </a:solidFill>
                <a:latin typeface="微软雅黑" panose="020B0503020204020204" pitchFamily="34" charset="-122"/>
                <a:ea typeface="微软雅黑" panose="020B0503020204020204" pitchFamily="34" charset="-122"/>
              </a:rPr>
              <a:t>概念模型的表示方法有很多，</a:t>
            </a:r>
          </a:p>
          <a:p>
            <a:pPr marL="0" marR="0" lvl="0" indent="0" algn="l" defTabSz="457200" rtl="0" eaLnBrk="0" fontAlgn="base" latinLnBrk="0" hangingPunct="0">
              <a:lnSpc>
                <a:spcPct val="150000"/>
              </a:lnSpc>
              <a:spcBef>
                <a:spcPts val="0"/>
              </a:spcBef>
              <a:spcAft>
                <a:spcPct val="0"/>
              </a:spcAft>
              <a:buClrTx/>
              <a:buSzTx/>
              <a:buFontTx/>
              <a:buNone/>
              <a:defRPr/>
            </a:pPr>
            <a:r>
              <a:rPr lang="zh-CN" altLang="zh-CN" dirty="0">
                <a:solidFill>
                  <a:srgbClr val="44546A"/>
                </a:solidFill>
                <a:latin typeface="微软雅黑" panose="020B0503020204020204" pitchFamily="34" charset="-122"/>
                <a:ea typeface="微软雅黑" panose="020B0503020204020204" pitchFamily="34" charset="-122"/>
              </a:rPr>
              <a:t>但最常用的方法为</a:t>
            </a:r>
            <a:r>
              <a:rPr lang="zh-CN" altLang="zh-CN" u="sng" dirty="0">
                <a:solidFill>
                  <a:srgbClr val="44546A"/>
                </a:solidFill>
                <a:latin typeface="微软雅黑" panose="020B0503020204020204" pitchFamily="34" charset="-122"/>
                <a:ea typeface="微软雅黑" panose="020B0503020204020204" pitchFamily="34" charset="-122"/>
              </a:rPr>
              <a:t>实体</a:t>
            </a:r>
            <a:r>
              <a:rPr lang="en-US" altLang="zh-CN" u="sng" dirty="0">
                <a:solidFill>
                  <a:srgbClr val="44546A"/>
                </a:solidFill>
                <a:latin typeface="微软雅黑" panose="020B0503020204020204" pitchFamily="34" charset="-122"/>
                <a:ea typeface="微软雅黑" panose="020B0503020204020204" pitchFamily="34" charset="-122"/>
              </a:rPr>
              <a:t>-</a:t>
            </a:r>
            <a:r>
              <a:rPr lang="zh-CN" altLang="zh-CN" u="sng" dirty="0">
                <a:solidFill>
                  <a:srgbClr val="44546A"/>
                </a:solidFill>
                <a:latin typeface="微软雅黑" panose="020B0503020204020204" pitchFamily="34" charset="-122"/>
                <a:ea typeface="微软雅黑" panose="020B0503020204020204" pitchFamily="34" charset="-122"/>
              </a:rPr>
              <a:t>联系</a:t>
            </a:r>
          </a:p>
          <a:p>
            <a:pPr marL="0" marR="0" lvl="0" indent="0" algn="l" defTabSz="457200" rtl="0" eaLnBrk="0" fontAlgn="base" latinLnBrk="0" hangingPunct="0">
              <a:lnSpc>
                <a:spcPct val="150000"/>
              </a:lnSpc>
              <a:spcBef>
                <a:spcPts val="0"/>
              </a:spcBef>
              <a:spcAft>
                <a:spcPct val="0"/>
              </a:spcAft>
              <a:buClrTx/>
              <a:buSzTx/>
              <a:buFontTx/>
              <a:buNone/>
              <a:defRPr/>
            </a:pPr>
            <a:r>
              <a:rPr lang="zh-CN" altLang="zh-CN" u="sng" dirty="0">
                <a:solidFill>
                  <a:srgbClr val="44546A"/>
                </a:solidFill>
                <a:latin typeface="微软雅黑" panose="020B0503020204020204" pitchFamily="34" charset="-122"/>
                <a:ea typeface="微软雅黑" panose="020B0503020204020204" pitchFamily="34" charset="-122"/>
              </a:rPr>
              <a:t>方法</a:t>
            </a:r>
            <a:r>
              <a:rPr lang="zh-CN" altLang="zh-CN" dirty="0">
                <a:solidFill>
                  <a:srgbClr val="44546A"/>
                </a:solidFill>
                <a:latin typeface="微软雅黑" panose="020B0503020204020204" pitchFamily="34" charset="-122"/>
                <a:ea typeface="微软雅黑" panose="020B0503020204020204" pitchFamily="34" charset="-122"/>
              </a:rPr>
              <a:t>（</a:t>
            </a:r>
            <a:r>
              <a:rPr lang="en-US" altLang="zh-CN" dirty="0">
                <a:solidFill>
                  <a:srgbClr val="44546A"/>
                </a:solidFill>
                <a:latin typeface="微软雅黑" panose="020B0503020204020204" pitchFamily="34" charset="-122"/>
                <a:ea typeface="微软雅黑" panose="020B0503020204020204" pitchFamily="34" charset="-122"/>
              </a:rPr>
              <a:t>Entity-Relationship</a:t>
            </a:r>
          </a:p>
          <a:p>
            <a:pPr marL="0" marR="0" lvl="0" indent="0" algn="l" defTabSz="457200" rtl="0" eaLnBrk="0" fontAlgn="base" latinLnBrk="0" hangingPunct="0">
              <a:lnSpc>
                <a:spcPct val="150000"/>
              </a:lnSpc>
              <a:spcBef>
                <a:spcPts val="0"/>
              </a:spcBef>
              <a:spcAft>
                <a:spcPct val="0"/>
              </a:spcAft>
              <a:buClrTx/>
              <a:buSzTx/>
              <a:buFontTx/>
              <a:buNone/>
              <a:defRPr/>
            </a:pPr>
            <a:r>
              <a:rPr lang="en-US" altLang="zh-CN" dirty="0">
                <a:solidFill>
                  <a:srgbClr val="44546A"/>
                </a:solidFill>
                <a:latin typeface="微软雅黑" panose="020B0503020204020204" pitchFamily="34" charset="-122"/>
                <a:ea typeface="微软雅黑" panose="020B0503020204020204" pitchFamily="34" charset="-122"/>
              </a:rPr>
              <a:t> Approach</a:t>
            </a:r>
            <a:r>
              <a:rPr lang="zh-CN" altLang="zh-CN" dirty="0">
                <a:solidFill>
                  <a:srgbClr val="44546A"/>
                </a:solidFill>
                <a:latin typeface="微软雅黑" panose="020B0503020204020204" pitchFamily="34" charset="-122"/>
                <a:ea typeface="微软雅黑" panose="020B0503020204020204" pitchFamily="34" charset="-122"/>
              </a:rPr>
              <a:t>），简称</a:t>
            </a:r>
            <a:r>
              <a:rPr lang="en-US" altLang="zh-CN" dirty="0">
                <a:solidFill>
                  <a:srgbClr val="44546A"/>
                </a:solidFill>
                <a:latin typeface="微软雅黑" panose="020B0503020204020204" pitchFamily="34" charset="-122"/>
                <a:ea typeface="微软雅黑" panose="020B0503020204020204" pitchFamily="34" charset="-122"/>
              </a:rPr>
              <a:t>E-R</a:t>
            </a:r>
            <a:r>
              <a:rPr lang="zh-CN" altLang="zh-CN" dirty="0">
                <a:solidFill>
                  <a:srgbClr val="44546A"/>
                </a:solidFill>
                <a:latin typeface="微软雅黑" panose="020B0503020204020204" pitchFamily="34" charset="-122"/>
                <a:ea typeface="微软雅黑" panose="020B0503020204020204" pitchFamily="34" charset="-122"/>
              </a:rPr>
              <a:t>方法</a:t>
            </a:r>
            <a:r>
              <a:rPr lang="zh-CN" altLang="en-US" dirty="0">
                <a:solidFill>
                  <a:srgbClr val="44546A"/>
                </a:solidFill>
                <a:latin typeface="微软雅黑" panose="020B0503020204020204" pitchFamily="34" charset="-122"/>
                <a:ea typeface="微软雅黑" panose="020B0503020204020204" pitchFamily="34" charset="-122"/>
              </a:rPr>
              <a:t>。</a:t>
            </a:r>
            <a:endParaRPr lang="en-US" altLang="zh-CN" dirty="0">
              <a:solidFill>
                <a:srgbClr val="44546A"/>
              </a:solidFill>
              <a:latin typeface="微软雅黑" panose="020B0503020204020204" pitchFamily="34" charset="-122"/>
              <a:ea typeface="微软雅黑" panose="020B0503020204020204" pitchFamily="34" charset="-122"/>
            </a:endParaRPr>
          </a:p>
          <a:p>
            <a:pPr marL="0" marR="0" lvl="0" indent="0" algn="l" defTabSz="457200" rtl="0" eaLnBrk="0" fontAlgn="base" latinLnBrk="0" hangingPunct="0">
              <a:lnSpc>
                <a:spcPct val="150000"/>
              </a:lnSpc>
              <a:spcBef>
                <a:spcPts val="0"/>
              </a:spcBef>
              <a:spcAft>
                <a:spcPct val="0"/>
              </a:spcAft>
              <a:buClrTx/>
              <a:buSzTx/>
              <a:buFontTx/>
              <a:buNone/>
              <a:defRPr/>
            </a:pPr>
            <a:endParaRPr lang="zh-CN" altLang="zh-CN" dirty="0">
              <a:solidFill>
                <a:srgbClr val="44546A"/>
              </a:solidFill>
              <a:latin typeface="微软雅黑" panose="020B0503020204020204" pitchFamily="34" charset="-122"/>
              <a:ea typeface="微软雅黑" panose="020B0503020204020204" pitchFamily="34" charset="-122"/>
            </a:endParaRPr>
          </a:p>
          <a:p>
            <a:pPr marL="0" marR="0" lvl="0" indent="0" algn="l" defTabSz="457200" rtl="0" eaLnBrk="0" fontAlgn="base" latinLnBrk="0" hangingPunct="0">
              <a:lnSpc>
                <a:spcPct val="150000"/>
              </a:lnSpc>
              <a:spcBef>
                <a:spcPts val="0"/>
              </a:spcBef>
              <a:spcAft>
                <a:spcPct val="0"/>
              </a:spcAft>
              <a:buClrTx/>
              <a:buSzTx/>
              <a:buFontTx/>
              <a:buNone/>
              <a:defRPr/>
            </a:pPr>
            <a:r>
              <a:rPr lang="zh-CN" altLang="zh-CN" dirty="0">
                <a:solidFill>
                  <a:srgbClr val="44546A"/>
                </a:solidFill>
                <a:latin typeface="微软雅黑" panose="020B0503020204020204" pitchFamily="34" charset="-122"/>
                <a:ea typeface="微软雅黑" panose="020B0503020204020204" pitchFamily="34" charset="-122"/>
              </a:rPr>
              <a:t>该方法用</a:t>
            </a:r>
            <a:r>
              <a:rPr lang="en-US" altLang="zh-CN" dirty="0">
                <a:solidFill>
                  <a:srgbClr val="44546A"/>
                </a:solidFill>
                <a:latin typeface="微软雅黑" panose="020B0503020204020204" pitchFamily="34" charset="-122"/>
                <a:ea typeface="微软雅黑" panose="020B0503020204020204" pitchFamily="34" charset="-122"/>
              </a:rPr>
              <a:t>E-R</a:t>
            </a:r>
            <a:r>
              <a:rPr lang="zh-CN" altLang="zh-CN" dirty="0">
                <a:solidFill>
                  <a:srgbClr val="44546A"/>
                </a:solidFill>
                <a:latin typeface="微软雅黑" panose="020B0503020204020204" pitchFamily="34" charset="-122"/>
                <a:ea typeface="微软雅黑" panose="020B0503020204020204" pitchFamily="34" charset="-122"/>
              </a:rPr>
              <a:t>图（实体</a:t>
            </a:r>
            <a:r>
              <a:rPr lang="en-US" altLang="zh-CN" dirty="0">
                <a:solidFill>
                  <a:srgbClr val="44546A"/>
                </a:solidFill>
                <a:latin typeface="微软雅黑" panose="020B0503020204020204" pitchFamily="34" charset="-122"/>
                <a:ea typeface="微软雅黑" panose="020B0503020204020204" pitchFamily="34" charset="-122"/>
              </a:rPr>
              <a:t>-</a:t>
            </a:r>
            <a:r>
              <a:rPr lang="zh-CN" altLang="zh-CN" dirty="0">
                <a:solidFill>
                  <a:srgbClr val="44546A"/>
                </a:solidFill>
                <a:latin typeface="微软雅黑" panose="020B0503020204020204" pitchFamily="34" charset="-122"/>
                <a:ea typeface="微软雅黑" panose="020B0503020204020204" pitchFamily="34" charset="-122"/>
              </a:rPr>
              <a:t>联系图）</a:t>
            </a:r>
            <a:r>
              <a:rPr lang="zh-CN" altLang="en-US" dirty="0">
                <a:solidFill>
                  <a:srgbClr val="44546A"/>
                </a:solidFill>
                <a:latin typeface="微软雅黑" panose="020B0503020204020204" pitchFamily="34" charset="-122"/>
                <a:ea typeface="微软雅黑" panose="020B0503020204020204" pitchFamily="34" charset="-122"/>
              </a:rPr>
              <a:t>、</a:t>
            </a:r>
            <a:endParaRPr lang="en-US" altLang="zh-CN" dirty="0">
              <a:solidFill>
                <a:srgbClr val="44546A"/>
              </a:solidFill>
              <a:latin typeface="微软雅黑" panose="020B0503020204020204" pitchFamily="34" charset="-122"/>
              <a:ea typeface="微软雅黑" panose="020B0503020204020204" pitchFamily="34" charset="-122"/>
            </a:endParaRPr>
          </a:p>
          <a:p>
            <a:pPr marL="0" marR="0" lvl="0" indent="0" algn="l" defTabSz="457200" rtl="0" eaLnBrk="0" fontAlgn="base" latinLnBrk="0" hangingPunct="0">
              <a:lnSpc>
                <a:spcPct val="150000"/>
              </a:lnSpc>
              <a:spcBef>
                <a:spcPts val="0"/>
              </a:spcBef>
              <a:spcAft>
                <a:spcPct val="0"/>
              </a:spcAft>
              <a:buClrTx/>
              <a:buSzTx/>
              <a:buFontTx/>
              <a:buNone/>
              <a:defRPr/>
            </a:pPr>
            <a:r>
              <a:rPr lang="zh-CN" altLang="zh-CN" dirty="0">
                <a:solidFill>
                  <a:srgbClr val="44546A"/>
                </a:solidFill>
                <a:latin typeface="微软雅黑" panose="020B0503020204020204" pitchFamily="34" charset="-122"/>
                <a:ea typeface="微软雅黑" panose="020B0503020204020204" pitchFamily="34" charset="-122"/>
              </a:rPr>
              <a:t>来描述现实世界的</a:t>
            </a:r>
          </a:p>
          <a:p>
            <a:pPr marL="0" marR="0" lvl="0" indent="0" algn="l" defTabSz="457200" rtl="0" eaLnBrk="0" fontAlgn="base" latinLnBrk="0" hangingPunct="0">
              <a:lnSpc>
                <a:spcPct val="150000"/>
              </a:lnSpc>
              <a:spcBef>
                <a:spcPts val="0"/>
              </a:spcBef>
              <a:spcAft>
                <a:spcPct val="0"/>
              </a:spcAft>
              <a:buClrTx/>
              <a:buSzTx/>
              <a:buFontTx/>
              <a:buNone/>
              <a:defRPr/>
            </a:pPr>
            <a:r>
              <a:rPr lang="zh-CN" altLang="zh-CN" dirty="0">
                <a:solidFill>
                  <a:srgbClr val="44546A"/>
                </a:solidFill>
                <a:latin typeface="微软雅黑" panose="020B0503020204020204" pitchFamily="34" charset="-122"/>
                <a:ea typeface="微软雅黑" panose="020B0503020204020204" pitchFamily="34" charset="-122"/>
              </a:rPr>
              <a:t>概念模型，</a:t>
            </a:r>
            <a:r>
              <a:rPr lang="en-US" altLang="zh-CN" dirty="0">
                <a:solidFill>
                  <a:srgbClr val="44546A"/>
                </a:solidFill>
                <a:latin typeface="微软雅黑" panose="020B0503020204020204" pitchFamily="34" charset="-122"/>
                <a:ea typeface="微软雅黑" panose="020B0503020204020204" pitchFamily="34" charset="-122"/>
              </a:rPr>
              <a:t>E-R</a:t>
            </a:r>
            <a:r>
              <a:rPr lang="zh-CN" altLang="zh-CN" dirty="0">
                <a:solidFill>
                  <a:srgbClr val="44546A"/>
                </a:solidFill>
                <a:latin typeface="微软雅黑" panose="020B0503020204020204" pitchFamily="34" charset="-122"/>
                <a:ea typeface="微软雅黑" panose="020B0503020204020204" pitchFamily="34" charset="-122"/>
              </a:rPr>
              <a:t>方法也称为</a:t>
            </a:r>
            <a:endParaRPr lang="en-US" altLang="zh-CN" dirty="0">
              <a:solidFill>
                <a:srgbClr val="44546A"/>
              </a:solidFill>
              <a:latin typeface="微软雅黑" panose="020B0503020204020204" pitchFamily="34" charset="-122"/>
              <a:ea typeface="微软雅黑" panose="020B0503020204020204" pitchFamily="34" charset="-122"/>
            </a:endParaRPr>
          </a:p>
          <a:p>
            <a:pPr marL="0" marR="0" lvl="0" indent="0" algn="l" defTabSz="457200" rtl="0" eaLnBrk="0" fontAlgn="base" latinLnBrk="0" hangingPunct="0">
              <a:lnSpc>
                <a:spcPct val="150000"/>
              </a:lnSpc>
              <a:spcBef>
                <a:spcPts val="0"/>
              </a:spcBef>
              <a:spcAft>
                <a:spcPct val="0"/>
              </a:spcAft>
              <a:buClrTx/>
              <a:buSzTx/>
              <a:buFontTx/>
              <a:buNone/>
              <a:defRPr/>
            </a:pPr>
            <a:r>
              <a:rPr lang="en-US" altLang="zh-CN" dirty="0">
                <a:solidFill>
                  <a:srgbClr val="44546A"/>
                </a:solidFill>
                <a:latin typeface="微软雅黑" panose="020B0503020204020204" pitchFamily="34" charset="-122"/>
                <a:ea typeface="微软雅黑" panose="020B0503020204020204" pitchFamily="34" charset="-122"/>
              </a:rPr>
              <a:t>E-R</a:t>
            </a:r>
            <a:r>
              <a:rPr lang="zh-CN" altLang="zh-CN" dirty="0">
                <a:solidFill>
                  <a:srgbClr val="44546A"/>
                </a:solidFill>
                <a:latin typeface="微软雅黑" panose="020B0503020204020204" pitchFamily="34" charset="-122"/>
                <a:ea typeface="微软雅黑" panose="020B0503020204020204" pitchFamily="34" charset="-122"/>
              </a:rPr>
              <a:t>模型。</a:t>
            </a:r>
          </a:p>
        </p:txBody>
      </p:sp>
      <p:sp>
        <p:nvSpPr>
          <p:cNvPr id="14" name="矩形 13">
            <a:extLst>
              <a:ext uri="{FF2B5EF4-FFF2-40B4-BE49-F238E27FC236}">
                <a16:creationId xmlns:a16="http://schemas.microsoft.com/office/drawing/2014/main" id="{AE7820FD-ACA5-C5A4-C7D2-FD00B6F55115}"/>
              </a:ext>
            </a:extLst>
          </p:cNvPr>
          <p:cNvSpPr/>
          <p:nvPr/>
        </p:nvSpPr>
        <p:spPr>
          <a:xfrm>
            <a:off x="5489218" y="4885739"/>
            <a:ext cx="1350645" cy="631190"/>
          </a:xfrm>
          <a:prstGeom prst="rect">
            <a:avLst/>
          </a:prstGeom>
          <a:gradFill flip="none" rotWithShape="1">
            <a:gsLst>
              <a:gs pos="0">
                <a:srgbClr val="3982FF"/>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15" name="矩形 14">
            <a:extLst>
              <a:ext uri="{FF2B5EF4-FFF2-40B4-BE49-F238E27FC236}">
                <a16:creationId xmlns:a16="http://schemas.microsoft.com/office/drawing/2014/main" id="{B2CF5554-2F8E-C910-F2E0-6F4BBC4E9945}"/>
              </a:ext>
            </a:extLst>
          </p:cNvPr>
          <p:cNvSpPr/>
          <p:nvPr/>
        </p:nvSpPr>
        <p:spPr>
          <a:xfrm>
            <a:off x="5681663" y="4762078"/>
            <a:ext cx="1157288" cy="563563"/>
          </a:xfrm>
          <a:prstGeom prst="rect">
            <a:avLst/>
          </a:prstGeom>
          <a:solidFill>
            <a:srgbClr val="1467FF">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16" name="矩形 15">
            <a:extLst>
              <a:ext uri="{FF2B5EF4-FFF2-40B4-BE49-F238E27FC236}">
                <a16:creationId xmlns:a16="http://schemas.microsoft.com/office/drawing/2014/main" id="{2C103760-CEC7-3579-F094-45E3392CB564}"/>
              </a:ext>
            </a:extLst>
          </p:cNvPr>
          <p:cNvSpPr/>
          <p:nvPr/>
        </p:nvSpPr>
        <p:spPr>
          <a:xfrm>
            <a:off x="5703888" y="5049415"/>
            <a:ext cx="868362" cy="368300"/>
          </a:xfrm>
          <a:prstGeom prst="rect">
            <a:avLst/>
          </a:prstGeom>
          <a:noFill/>
          <a:ln w="9525">
            <a:noFill/>
          </a:ln>
        </p:spPr>
        <p:txBody>
          <a:bodyPr wrap="none">
            <a:spAutoFit/>
          </a:bodyPr>
          <a:lstStyle/>
          <a:p>
            <a:pPr>
              <a:buNone/>
            </a:pPr>
            <a:r>
              <a:rPr lang="zh-CN" altLang="en-US" b="1" dirty="0">
                <a:solidFill>
                  <a:schemeClr val="bg1"/>
                </a:solidFill>
                <a:latin typeface="微软雅黑" pitchFamily="34" charset="-122"/>
                <a:ea typeface="微软雅黑" pitchFamily="34" charset="-122"/>
              </a:rPr>
              <a:t>属性名</a:t>
            </a:r>
          </a:p>
        </p:txBody>
      </p:sp>
      <p:sp>
        <p:nvSpPr>
          <p:cNvPr id="17" name="矩形 16">
            <a:extLst>
              <a:ext uri="{FF2B5EF4-FFF2-40B4-BE49-F238E27FC236}">
                <a16:creationId xmlns:a16="http://schemas.microsoft.com/office/drawing/2014/main" id="{C12D97E4-EB75-9CB0-060B-28ED1A289D71}"/>
              </a:ext>
            </a:extLst>
          </p:cNvPr>
          <p:cNvSpPr/>
          <p:nvPr/>
        </p:nvSpPr>
        <p:spPr>
          <a:xfrm>
            <a:off x="5320308" y="4761915"/>
            <a:ext cx="1689100" cy="946150"/>
          </a:xfrm>
          <a:prstGeom prst="rect">
            <a:avLst/>
          </a:prstGeom>
          <a:noFill/>
          <a:ln w="3175">
            <a:gradFill flip="none" rotWithShape="1">
              <a:gsLst>
                <a:gs pos="50000">
                  <a:srgbClr val="3982FF">
                    <a:alpha val="0"/>
                  </a:srgbClr>
                </a:gs>
                <a:gs pos="100000">
                  <a:srgbClr val="3982FF">
                    <a:alpha val="24000"/>
                  </a:srgb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18" name="椭圆 17">
            <a:extLst>
              <a:ext uri="{FF2B5EF4-FFF2-40B4-BE49-F238E27FC236}">
                <a16:creationId xmlns:a16="http://schemas.microsoft.com/office/drawing/2014/main" id="{A8099FB6-B651-20B3-D0D5-9FE7B3C01745}"/>
              </a:ext>
            </a:extLst>
          </p:cNvPr>
          <p:cNvSpPr/>
          <p:nvPr/>
        </p:nvSpPr>
        <p:spPr>
          <a:xfrm>
            <a:off x="5394325" y="1952203"/>
            <a:ext cx="1425575" cy="1423988"/>
          </a:xfrm>
          <a:prstGeom prst="ellipse">
            <a:avLst/>
          </a:prstGeom>
          <a:gradFill flip="none" rotWithShape="1">
            <a:gsLst>
              <a:gs pos="1000">
                <a:srgbClr val="3982FF"/>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19" name="文本框 18">
            <a:extLst>
              <a:ext uri="{FF2B5EF4-FFF2-40B4-BE49-F238E27FC236}">
                <a16:creationId xmlns:a16="http://schemas.microsoft.com/office/drawing/2014/main" id="{8EC3BC77-9312-9C20-C0A4-15283057B68B}"/>
              </a:ext>
            </a:extLst>
          </p:cNvPr>
          <p:cNvSpPr txBox="1"/>
          <p:nvPr/>
        </p:nvSpPr>
        <p:spPr>
          <a:xfrm>
            <a:off x="5256213" y="2472903"/>
            <a:ext cx="1749425" cy="398463"/>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000" b="1" kern="100" cap="none" spc="0" normalizeH="0" baseline="0" noProof="0" dirty="0">
                <a:solidFill>
                  <a:schemeClr val="bg1"/>
                </a:solidFill>
                <a:latin typeface="微软雅黑" pitchFamily="34" charset="-122"/>
                <a:ea typeface="微软雅黑" pitchFamily="34" charset="-122"/>
                <a:cs typeface="+mn-cs"/>
                <a:sym typeface="+mn-ea"/>
              </a:rPr>
              <a:t>实体名</a:t>
            </a:r>
          </a:p>
        </p:txBody>
      </p:sp>
      <p:sp>
        <p:nvSpPr>
          <p:cNvPr id="20" name="矩形 19">
            <a:extLst>
              <a:ext uri="{FF2B5EF4-FFF2-40B4-BE49-F238E27FC236}">
                <a16:creationId xmlns:a16="http://schemas.microsoft.com/office/drawing/2014/main" id="{CF360964-54D9-E6BA-2A47-43F8B2ED96C4}"/>
              </a:ext>
            </a:extLst>
          </p:cNvPr>
          <p:cNvSpPr/>
          <p:nvPr/>
        </p:nvSpPr>
        <p:spPr>
          <a:xfrm rot="5400000">
            <a:off x="3970298" y="2472740"/>
            <a:ext cx="1350645" cy="631190"/>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21" name="文本框 21">
            <a:extLst>
              <a:ext uri="{FF2B5EF4-FFF2-40B4-BE49-F238E27FC236}">
                <a16:creationId xmlns:a16="http://schemas.microsoft.com/office/drawing/2014/main" id="{DE9DB04C-C196-93E4-052F-3F62CAE797B0}"/>
              </a:ext>
            </a:extLst>
          </p:cNvPr>
          <p:cNvSpPr txBox="1"/>
          <p:nvPr/>
        </p:nvSpPr>
        <p:spPr>
          <a:xfrm>
            <a:off x="4321175" y="2341140"/>
            <a:ext cx="612775" cy="876300"/>
          </a:xfrm>
          <a:prstGeom prst="rect">
            <a:avLst/>
          </a:prstGeom>
          <a:noFill/>
          <a:ln w="9525">
            <a:noFill/>
          </a:ln>
        </p:spPr>
        <p:txBody>
          <a:bodyPr vert="eaVert">
            <a:spAutoFit/>
          </a:bodyPr>
          <a:lstStyle/>
          <a:p>
            <a:pPr algn="dist">
              <a:buNone/>
            </a:pPr>
            <a:r>
              <a:rPr lang="zh-CN" altLang="en-US" sz="2800" b="1" dirty="0">
                <a:solidFill>
                  <a:schemeClr val="bg1"/>
                </a:solidFill>
                <a:latin typeface="微软雅黑" pitchFamily="34" charset="-122"/>
                <a:ea typeface="微软雅黑" pitchFamily="34" charset="-122"/>
              </a:rPr>
              <a:t>实体</a:t>
            </a:r>
          </a:p>
        </p:txBody>
      </p:sp>
      <p:sp>
        <p:nvSpPr>
          <p:cNvPr id="22" name="矩形 21">
            <a:extLst>
              <a:ext uri="{FF2B5EF4-FFF2-40B4-BE49-F238E27FC236}">
                <a16:creationId xmlns:a16="http://schemas.microsoft.com/office/drawing/2014/main" id="{CB309D6B-DEB2-997D-E064-F20CC9BCB866}"/>
              </a:ext>
            </a:extLst>
          </p:cNvPr>
          <p:cNvSpPr/>
          <p:nvPr/>
        </p:nvSpPr>
        <p:spPr>
          <a:xfrm rot="5400000">
            <a:off x="3996968" y="4580305"/>
            <a:ext cx="1350644" cy="631190"/>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23" name="文本框 23">
            <a:extLst>
              <a:ext uri="{FF2B5EF4-FFF2-40B4-BE49-F238E27FC236}">
                <a16:creationId xmlns:a16="http://schemas.microsoft.com/office/drawing/2014/main" id="{5326FB9E-792D-C450-CBEC-41A7DE6F1ABF}"/>
              </a:ext>
            </a:extLst>
          </p:cNvPr>
          <p:cNvSpPr txBox="1"/>
          <p:nvPr/>
        </p:nvSpPr>
        <p:spPr>
          <a:xfrm>
            <a:off x="4346575" y="4449340"/>
            <a:ext cx="614363" cy="876300"/>
          </a:xfrm>
          <a:prstGeom prst="rect">
            <a:avLst/>
          </a:prstGeom>
          <a:noFill/>
          <a:ln w="9525">
            <a:noFill/>
          </a:ln>
        </p:spPr>
        <p:txBody>
          <a:bodyPr vert="eaVert">
            <a:spAutoFit/>
          </a:bodyPr>
          <a:lstStyle/>
          <a:p>
            <a:pPr algn="dist">
              <a:buNone/>
            </a:pPr>
            <a:r>
              <a:rPr lang="zh-CN" altLang="en-US" sz="2800" b="1" dirty="0">
                <a:solidFill>
                  <a:schemeClr val="bg1"/>
                </a:solidFill>
                <a:latin typeface="微软雅黑" pitchFamily="34" charset="-122"/>
                <a:ea typeface="微软雅黑" pitchFamily="34" charset="-122"/>
              </a:rPr>
              <a:t>属性</a:t>
            </a:r>
          </a:p>
        </p:txBody>
      </p:sp>
    </p:spTree>
    <p:extLst>
      <p:ext uri="{BB962C8B-B14F-4D97-AF65-F5344CB8AC3E}">
        <p14:creationId xmlns:p14="http://schemas.microsoft.com/office/powerpoint/2010/main" val="1982405680"/>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概念模型</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61206176-5201-80EF-F03E-072D294361E2}"/>
              </a:ext>
            </a:extLst>
          </p:cNvPr>
          <p:cNvSpPr/>
          <p:nvPr/>
        </p:nvSpPr>
        <p:spPr>
          <a:xfrm>
            <a:off x="8432800" y="1975433"/>
            <a:ext cx="4017963" cy="398463"/>
          </a:xfrm>
          <a:prstGeom prst="rect">
            <a:avLst/>
          </a:prstGeom>
        </p:spPr>
        <p:txBody>
          <a:bodyPr wrap="square">
            <a:noAutofit/>
          </a:bodyPr>
          <a:lstStyle/>
          <a:p>
            <a:pPr marL="0" marR="0" lvl="0" indent="0" algn="l" defTabSz="457200" rtl="0" eaLnBrk="0" fontAlgn="base" latinLnBrk="0" hangingPunct="0">
              <a:lnSpc>
                <a:spcPct val="100000"/>
              </a:lnSpc>
              <a:spcBef>
                <a:spcPct val="0"/>
              </a:spcBef>
              <a:spcAft>
                <a:spcPct val="0"/>
              </a:spcAft>
              <a:buClrTx/>
              <a:buSzTx/>
              <a:buFontTx/>
              <a:buNone/>
              <a:defRPr/>
            </a:pPr>
            <a:r>
              <a:rPr lang="zh-CN" altLang="zh-CN" b="1" dirty="0">
                <a:solidFill>
                  <a:srgbClr val="44546A"/>
                </a:solidFill>
                <a:latin typeface="微软雅黑" panose="020B0503020204020204" pitchFamily="34" charset="-122"/>
                <a:ea typeface="微软雅黑" panose="020B0503020204020204" pitchFamily="34" charset="-122"/>
                <a:sym typeface="+mn-ea"/>
              </a:rPr>
              <a:t>两个实体型之间的联系通常有</a:t>
            </a:r>
            <a:r>
              <a:rPr lang="en-US" altLang="zh-CN" b="1" dirty="0">
                <a:solidFill>
                  <a:srgbClr val="44546A"/>
                </a:solidFill>
                <a:latin typeface="微软雅黑" panose="020B0503020204020204" pitchFamily="34" charset="-122"/>
                <a:ea typeface="微软雅黑" panose="020B0503020204020204" pitchFamily="34" charset="-122"/>
                <a:sym typeface="+mn-ea"/>
              </a:rPr>
              <a:t>3</a:t>
            </a:r>
            <a:r>
              <a:rPr lang="zh-CN" altLang="zh-CN" b="1" dirty="0">
                <a:solidFill>
                  <a:srgbClr val="44546A"/>
                </a:solidFill>
                <a:latin typeface="微软雅黑" panose="020B0503020204020204" pitchFamily="34" charset="-122"/>
                <a:ea typeface="微软雅黑" panose="020B0503020204020204" pitchFamily="34" charset="-122"/>
                <a:sym typeface="+mn-ea"/>
              </a:rPr>
              <a:t>种：</a:t>
            </a:r>
          </a:p>
        </p:txBody>
      </p:sp>
      <p:grpSp>
        <p:nvGrpSpPr>
          <p:cNvPr id="4" name="组合 9">
            <a:extLst>
              <a:ext uri="{FF2B5EF4-FFF2-40B4-BE49-F238E27FC236}">
                <a16:creationId xmlns:a16="http://schemas.microsoft.com/office/drawing/2014/main" id="{7F52EE4A-A9D8-C4F1-9881-306EFE0230A1}"/>
              </a:ext>
            </a:extLst>
          </p:cNvPr>
          <p:cNvGrpSpPr/>
          <p:nvPr/>
        </p:nvGrpSpPr>
        <p:grpSpPr>
          <a:xfrm>
            <a:off x="3879850" y="1848433"/>
            <a:ext cx="1749425" cy="608012"/>
            <a:chOff x="5119" y="4351"/>
            <a:chExt cx="2754" cy="956"/>
          </a:xfrm>
        </p:grpSpPr>
        <p:sp>
          <p:nvSpPr>
            <p:cNvPr id="5" name="矩形 4">
              <a:extLst>
                <a:ext uri="{FF2B5EF4-FFF2-40B4-BE49-F238E27FC236}">
                  <a16:creationId xmlns:a16="http://schemas.microsoft.com/office/drawing/2014/main" id="{B0FAE480-6D9C-3F9D-890C-FFB8172E834B}"/>
                </a:ext>
              </a:extLst>
            </p:cNvPr>
            <p:cNvSpPr/>
            <p:nvPr/>
          </p:nvSpPr>
          <p:spPr>
            <a:xfrm rot="5400000">
              <a:off x="6022" y="3516"/>
              <a:ext cx="956" cy="2627"/>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6" name="文本框 5">
              <a:extLst>
                <a:ext uri="{FF2B5EF4-FFF2-40B4-BE49-F238E27FC236}">
                  <a16:creationId xmlns:a16="http://schemas.microsoft.com/office/drawing/2014/main" id="{F7A5CC2D-A277-07E3-194D-5C391E23B27D}"/>
                </a:ext>
              </a:extLst>
            </p:cNvPr>
            <p:cNvSpPr txBox="1"/>
            <p:nvPr/>
          </p:nvSpPr>
          <p:spPr>
            <a:xfrm>
              <a:off x="5119" y="4472"/>
              <a:ext cx="2754" cy="67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200" b="1" kern="100" cap="none" spc="0" normalizeH="0" baseline="0" noProof="0" dirty="0">
                  <a:solidFill>
                    <a:schemeClr val="bg1"/>
                  </a:solidFill>
                  <a:latin typeface="微软雅黑" pitchFamily="34" charset="-122"/>
                  <a:ea typeface="微软雅黑" pitchFamily="34" charset="-122"/>
                  <a:cs typeface="+mn-cs"/>
                  <a:sym typeface="+mn-ea"/>
                </a:rPr>
                <a:t>实体集</a:t>
              </a:r>
              <a:r>
                <a:rPr kumimoji="0" lang="en-US" altLang="zh-CN" sz="2200" b="1" kern="100" cap="none" spc="0" normalizeH="0" baseline="0" noProof="0" dirty="0">
                  <a:solidFill>
                    <a:schemeClr val="bg1"/>
                  </a:solidFill>
                  <a:latin typeface="微软雅黑" pitchFamily="34" charset="-122"/>
                  <a:ea typeface="微软雅黑" pitchFamily="34" charset="-122"/>
                  <a:cs typeface="+mn-cs"/>
                  <a:sym typeface="+mn-ea"/>
                </a:rPr>
                <a:t>A</a:t>
              </a:r>
            </a:p>
          </p:txBody>
        </p:sp>
      </p:grpSp>
      <p:grpSp>
        <p:nvGrpSpPr>
          <p:cNvPr id="7" name="组合 27">
            <a:extLst>
              <a:ext uri="{FF2B5EF4-FFF2-40B4-BE49-F238E27FC236}">
                <a16:creationId xmlns:a16="http://schemas.microsoft.com/office/drawing/2014/main" id="{D423E421-6564-1494-CA6A-E7510C861448}"/>
              </a:ext>
            </a:extLst>
          </p:cNvPr>
          <p:cNvGrpSpPr/>
          <p:nvPr/>
        </p:nvGrpSpPr>
        <p:grpSpPr>
          <a:xfrm>
            <a:off x="3879850" y="4659895"/>
            <a:ext cx="1749425" cy="606425"/>
            <a:chOff x="5119" y="4352"/>
            <a:chExt cx="2754" cy="956"/>
          </a:xfrm>
        </p:grpSpPr>
        <p:sp>
          <p:nvSpPr>
            <p:cNvPr id="8" name="矩形 7">
              <a:extLst>
                <a:ext uri="{FF2B5EF4-FFF2-40B4-BE49-F238E27FC236}">
                  <a16:creationId xmlns:a16="http://schemas.microsoft.com/office/drawing/2014/main" id="{68DD9C37-6DB7-898E-90D9-A6C6D7DA8220}"/>
                </a:ext>
              </a:extLst>
            </p:cNvPr>
            <p:cNvSpPr/>
            <p:nvPr/>
          </p:nvSpPr>
          <p:spPr>
            <a:xfrm rot="5400000">
              <a:off x="6022" y="3516"/>
              <a:ext cx="956" cy="2627"/>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9" name="文本框 8">
              <a:extLst>
                <a:ext uri="{FF2B5EF4-FFF2-40B4-BE49-F238E27FC236}">
                  <a16:creationId xmlns:a16="http://schemas.microsoft.com/office/drawing/2014/main" id="{216115C5-A4B1-4086-6D6B-CAC88B58EB1E}"/>
                </a:ext>
              </a:extLst>
            </p:cNvPr>
            <p:cNvSpPr txBox="1"/>
            <p:nvPr/>
          </p:nvSpPr>
          <p:spPr>
            <a:xfrm>
              <a:off x="5119" y="4472"/>
              <a:ext cx="2754" cy="67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200" b="1" kern="100" cap="none" spc="0" normalizeH="0" baseline="0" noProof="0" dirty="0">
                  <a:solidFill>
                    <a:schemeClr val="bg1"/>
                  </a:solidFill>
                  <a:latin typeface="微软雅黑" pitchFamily="34" charset="-122"/>
                  <a:ea typeface="微软雅黑" pitchFamily="34" charset="-122"/>
                  <a:cs typeface="+mn-cs"/>
                  <a:sym typeface="+mn-ea"/>
                </a:rPr>
                <a:t>实体集</a:t>
              </a:r>
              <a:r>
                <a:rPr kumimoji="0" lang="en-US" altLang="zh-CN" sz="2200" b="1" kern="100" cap="none" spc="0" normalizeH="0" baseline="0" noProof="0" dirty="0">
                  <a:solidFill>
                    <a:schemeClr val="bg1"/>
                  </a:solidFill>
                  <a:latin typeface="微软雅黑" pitchFamily="34" charset="-122"/>
                  <a:ea typeface="微软雅黑" pitchFamily="34" charset="-122"/>
                  <a:cs typeface="+mn-cs"/>
                  <a:sym typeface="+mn-ea"/>
                </a:rPr>
                <a:t>B</a:t>
              </a:r>
            </a:p>
          </p:txBody>
        </p:sp>
      </p:grpSp>
      <p:grpSp>
        <p:nvGrpSpPr>
          <p:cNvPr id="10" name="组合 30">
            <a:extLst>
              <a:ext uri="{FF2B5EF4-FFF2-40B4-BE49-F238E27FC236}">
                <a16:creationId xmlns:a16="http://schemas.microsoft.com/office/drawing/2014/main" id="{3B0FFBC9-609E-7642-3ECD-78364DA871AC}"/>
              </a:ext>
            </a:extLst>
          </p:cNvPr>
          <p:cNvGrpSpPr/>
          <p:nvPr/>
        </p:nvGrpSpPr>
        <p:grpSpPr>
          <a:xfrm>
            <a:off x="3879850" y="2788233"/>
            <a:ext cx="1749425" cy="1425575"/>
            <a:chOff x="2860" y="6218"/>
            <a:chExt cx="2754" cy="2244"/>
          </a:xfrm>
        </p:grpSpPr>
        <p:sp>
          <p:nvSpPr>
            <p:cNvPr id="11" name="椭圆 10">
              <a:extLst>
                <a:ext uri="{FF2B5EF4-FFF2-40B4-BE49-F238E27FC236}">
                  <a16:creationId xmlns:a16="http://schemas.microsoft.com/office/drawing/2014/main" id="{C7CF531A-A4B3-6772-FC2E-3F27E9929CD4}"/>
                </a:ext>
              </a:extLst>
            </p:cNvPr>
            <p:cNvSpPr/>
            <p:nvPr/>
          </p:nvSpPr>
          <p:spPr>
            <a:xfrm>
              <a:off x="3077" y="6218"/>
              <a:ext cx="2244" cy="2244"/>
            </a:xfrm>
            <a:prstGeom prst="ellipse">
              <a:avLst/>
            </a:prstGeom>
            <a:gradFill flip="none" rotWithShape="1">
              <a:gsLst>
                <a:gs pos="1000">
                  <a:srgbClr val="3982FF"/>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12" name="文本框 11">
              <a:extLst>
                <a:ext uri="{FF2B5EF4-FFF2-40B4-BE49-F238E27FC236}">
                  <a16:creationId xmlns:a16="http://schemas.microsoft.com/office/drawing/2014/main" id="{DF3B7617-317E-D486-6EB4-8FA25140434B}"/>
                </a:ext>
              </a:extLst>
            </p:cNvPr>
            <p:cNvSpPr txBox="1"/>
            <p:nvPr/>
          </p:nvSpPr>
          <p:spPr>
            <a:xfrm>
              <a:off x="2860" y="7038"/>
              <a:ext cx="2754" cy="628"/>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000" b="1" kern="100" cap="none" spc="0" normalizeH="0" baseline="0" noProof="0" dirty="0">
                  <a:solidFill>
                    <a:schemeClr val="bg1"/>
                  </a:solidFill>
                  <a:latin typeface="微软雅黑" pitchFamily="34" charset="-122"/>
                  <a:ea typeface="微软雅黑" pitchFamily="34" charset="-122"/>
                  <a:cs typeface="+mn-cs"/>
                  <a:sym typeface="+mn-ea"/>
                </a:rPr>
                <a:t>联系名</a:t>
              </a:r>
            </a:p>
          </p:txBody>
        </p:sp>
      </p:grpSp>
      <p:grpSp>
        <p:nvGrpSpPr>
          <p:cNvPr id="13" name="组合 33">
            <a:extLst>
              <a:ext uri="{FF2B5EF4-FFF2-40B4-BE49-F238E27FC236}">
                <a16:creationId xmlns:a16="http://schemas.microsoft.com/office/drawing/2014/main" id="{AF33E244-86D3-2E60-A900-FF87348B7099}"/>
              </a:ext>
            </a:extLst>
          </p:cNvPr>
          <p:cNvGrpSpPr/>
          <p:nvPr/>
        </p:nvGrpSpPr>
        <p:grpSpPr>
          <a:xfrm>
            <a:off x="1316038" y="1848433"/>
            <a:ext cx="1749425" cy="608012"/>
            <a:chOff x="5119" y="4351"/>
            <a:chExt cx="2754" cy="956"/>
          </a:xfrm>
        </p:grpSpPr>
        <p:sp>
          <p:nvSpPr>
            <p:cNvPr id="14" name="矩形 13">
              <a:extLst>
                <a:ext uri="{FF2B5EF4-FFF2-40B4-BE49-F238E27FC236}">
                  <a16:creationId xmlns:a16="http://schemas.microsoft.com/office/drawing/2014/main" id="{97B6062C-7EAE-7E97-A50B-E9B9E6A0469C}"/>
                </a:ext>
              </a:extLst>
            </p:cNvPr>
            <p:cNvSpPr/>
            <p:nvPr/>
          </p:nvSpPr>
          <p:spPr>
            <a:xfrm rot="5400000">
              <a:off x="6022" y="3516"/>
              <a:ext cx="956" cy="2627"/>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15" name="文本框 14">
              <a:extLst>
                <a:ext uri="{FF2B5EF4-FFF2-40B4-BE49-F238E27FC236}">
                  <a16:creationId xmlns:a16="http://schemas.microsoft.com/office/drawing/2014/main" id="{45F8D0E7-C086-2D6F-E0A5-86A33E421191}"/>
                </a:ext>
              </a:extLst>
            </p:cNvPr>
            <p:cNvSpPr txBox="1"/>
            <p:nvPr/>
          </p:nvSpPr>
          <p:spPr>
            <a:xfrm>
              <a:off x="5119" y="4472"/>
              <a:ext cx="2754" cy="67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200" b="1" kern="100" cap="none" spc="0" normalizeH="0" baseline="0" noProof="0" dirty="0">
                  <a:solidFill>
                    <a:schemeClr val="bg1"/>
                  </a:solidFill>
                  <a:latin typeface="微软雅黑" pitchFamily="34" charset="-122"/>
                  <a:ea typeface="微软雅黑" pitchFamily="34" charset="-122"/>
                  <a:cs typeface="+mn-cs"/>
                  <a:sym typeface="+mn-ea"/>
                </a:rPr>
                <a:t>实体集</a:t>
              </a:r>
              <a:r>
                <a:rPr kumimoji="0" lang="en-US" altLang="zh-CN" sz="2200" b="1" kern="100" cap="none" spc="0" normalizeH="0" baseline="0" noProof="0" dirty="0">
                  <a:solidFill>
                    <a:schemeClr val="bg1"/>
                  </a:solidFill>
                  <a:latin typeface="微软雅黑" pitchFamily="34" charset="-122"/>
                  <a:ea typeface="微软雅黑" pitchFamily="34" charset="-122"/>
                  <a:cs typeface="+mn-cs"/>
                  <a:sym typeface="+mn-ea"/>
                </a:rPr>
                <a:t>A</a:t>
              </a:r>
            </a:p>
          </p:txBody>
        </p:sp>
      </p:grpSp>
      <p:grpSp>
        <p:nvGrpSpPr>
          <p:cNvPr id="16" name="组合 36">
            <a:extLst>
              <a:ext uri="{FF2B5EF4-FFF2-40B4-BE49-F238E27FC236}">
                <a16:creationId xmlns:a16="http://schemas.microsoft.com/office/drawing/2014/main" id="{0FAF43AF-A911-CBCA-3387-4EB5CBCFCB5C}"/>
              </a:ext>
            </a:extLst>
          </p:cNvPr>
          <p:cNvGrpSpPr/>
          <p:nvPr/>
        </p:nvGrpSpPr>
        <p:grpSpPr>
          <a:xfrm>
            <a:off x="1316038" y="4659895"/>
            <a:ext cx="1749425" cy="606425"/>
            <a:chOff x="5119" y="4352"/>
            <a:chExt cx="2754" cy="956"/>
          </a:xfrm>
        </p:grpSpPr>
        <p:sp>
          <p:nvSpPr>
            <p:cNvPr id="17" name="矩形 16">
              <a:extLst>
                <a:ext uri="{FF2B5EF4-FFF2-40B4-BE49-F238E27FC236}">
                  <a16:creationId xmlns:a16="http://schemas.microsoft.com/office/drawing/2014/main" id="{B18B2E49-A184-A7D4-4A83-24A340E40E94}"/>
                </a:ext>
              </a:extLst>
            </p:cNvPr>
            <p:cNvSpPr/>
            <p:nvPr/>
          </p:nvSpPr>
          <p:spPr>
            <a:xfrm rot="5400000">
              <a:off x="6022" y="3516"/>
              <a:ext cx="956" cy="2627"/>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18" name="文本框 17">
              <a:extLst>
                <a:ext uri="{FF2B5EF4-FFF2-40B4-BE49-F238E27FC236}">
                  <a16:creationId xmlns:a16="http://schemas.microsoft.com/office/drawing/2014/main" id="{178BAF5A-5A25-71C6-FC20-8858E5A7CAEF}"/>
                </a:ext>
              </a:extLst>
            </p:cNvPr>
            <p:cNvSpPr txBox="1"/>
            <p:nvPr/>
          </p:nvSpPr>
          <p:spPr>
            <a:xfrm>
              <a:off x="5119" y="4472"/>
              <a:ext cx="2754" cy="67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200" b="1" kern="100" cap="none" spc="0" normalizeH="0" baseline="0" noProof="0" dirty="0">
                  <a:solidFill>
                    <a:schemeClr val="bg1"/>
                  </a:solidFill>
                  <a:latin typeface="微软雅黑" pitchFamily="34" charset="-122"/>
                  <a:ea typeface="微软雅黑" pitchFamily="34" charset="-122"/>
                  <a:cs typeface="+mn-cs"/>
                  <a:sym typeface="+mn-ea"/>
                </a:rPr>
                <a:t>实体集</a:t>
              </a:r>
              <a:r>
                <a:rPr kumimoji="0" lang="en-US" altLang="zh-CN" sz="2200" b="1" kern="100" cap="none" spc="0" normalizeH="0" baseline="0" noProof="0" dirty="0">
                  <a:solidFill>
                    <a:schemeClr val="bg1"/>
                  </a:solidFill>
                  <a:latin typeface="微软雅黑" pitchFamily="34" charset="-122"/>
                  <a:ea typeface="微软雅黑" pitchFamily="34" charset="-122"/>
                  <a:cs typeface="+mn-cs"/>
                  <a:sym typeface="+mn-ea"/>
                </a:rPr>
                <a:t>B</a:t>
              </a:r>
            </a:p>
          </p:txBody>
        </p:sp>
      </p:grpSp>
      <p:grpSp>
        <p:nvGrpSpPr>
          <p:cNvPr id="19" name="组合 39">
            <a:extLst>
              <a:ext uri="{FF2B5EF4-FFF2-40B4-BE49-F238E27FC236}">
                <a16:creationId xmlns:a16="http://schemas.microsoft.com/office/drawing/2014/main" id="{07372733-CD30-828D-5CE5-4FFAFA5AF1AB}"/>
              </a:ext>
            </a:extLst>
          </p:cNvPr>
          <p:cNvGrpSpPr/>
          <p:nvPr/>
        </p:nvGrpSpPr>
        <p:grpSpPr>
          <a:xfrm>
            <a:off x="1316038" y="2788233"/>
            <a:ext cx="1749425" cy="1425575"/>
            <a:chOff x="2860" y="6218"/>
            <a:chExt cx="2754" cy="2244"/>
          </a:xfrm>
        </p:grpSpPr>
        <p:sp>
          <p:nvSpPr>
            <p:cNvPr id="20" name="椭圆 19">
              <a:extLst>
                <a:ext uri="{FF2B5EF4-FFF2-40B4-BE49-F238E27FC236}">
                  <a16:creationId xmlns:a16="http://schemas.microsoft.com/office/drawing/2014/main" id="{355F7EF1-C336-68DB-1BF7-758E4D30568C}"/>
                </a:ext>
              </a:extLst>
            </p:cNvPr>
            <p:cNvSpPr/>
            <p:nvPr/>
          </p:nvSpPr>
          <p:spPr>
            <a:xfrm>
              <a:off x="3077" y="6218"/>
              <a:ext cx="2244" cy="2244"/>
            </a:xfrm>
            <a:prstGeom prst="ellipse">
              <a:avLst/>
            </a:prstGeom>
            <a:gradFill flip="none" rotWithShape="1">
              <a:gsLst>
                <a:gs pos="1000">
                  <a:srgbClr val="3982FF"/>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21" name="文本框 20">
              <a:extLst>
                <a:ext uri="{FF2B5EF4-FFF2-40B4-BE49-F238E27FC236}">
                  <a16:creationId xmlns:a16="http://schemas.microsoft.com/office/drawing/2014/main" id="{2F7B6322-B64A-4E99-9EB1-683600E3378E}"/>
                </a:ext>
              </a:extLst>
            </p:cNvPr>
            <p:cNvSpPr txBox="1"/>
            <p:nvPr/>
          </p:nvSpPr>
          <p:spPr>
            <a:xfrm>
              <a:off x="2860" y="7038"/>
              <a:ext cx="2754" cy="628"/>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000" b="1" kern="100" cap="none" spc="0" normalizeH="0" baseline="0" noProof="0" dirty="0">
                  <a:solidFill>
                    <a:schemeClr val="bg1"/>
                  </a:solidFill>
                  <a:latin typeface="微软雅黑" pitchFamily="34" charset="-122"/>
                  <a:ea typeface="微软雅黑" pitchFamily="34" charset="-122"/>
                  <a:cs typeface="+mn-cs"/>
                  <a:sym typeface="+mn-ea"/>
                </a:rPr>
                <a:t>联系名</a:t>
              </a:r>
            </a:p>
          </p:txBody>
        </p:sp>
      </p:grpSp>
      <p:grpSp>
        <p:nvGrpSpPr>
          <p:cNvPr id="22" name="组合 42">
            <a:extLst>
              <a:ext uri="{FF2B5EF4-FFF2-40B4-BE49-F238E27FC236}">
                <a16:creationId xmlns:a16="http://schemas.microsoft.com/office/drawing/2014/main" id="{86F0C1C9-DDCF-1138-353C-17711A3F4540}"/>
              </a:ext>
            </a:extLst>
          </p:cNvPr>
          <p:cNvGrpSpPr/>
          <p:nvPr/>
        </p:nvGrpSpPr>
        <p:grpSpPr>
          <a:xfrm>
            <a:off x="6394450" y="1867483"/>
            <a:ext cx="1749425" cy="608012"/>
            <a:chOff x="5119" y="4351"/>
            <a:chExt cx="2754" cy="956"/>
          </a:xfrm>
        </p:grpSpPr>
        <p:sp>
          <p:nvSpPr>
            <p:cNvPr id="23" name="矩形 22">
              <a:extLst>
                <a:ext uri="{FF2B5EF4-FFF2-40B4-BE49-F238E27FC236}">
                  <a16:creationId xmlns:a16="http://schemas.microsoft.com/office/drawing/2014/main" id="{46A6E7A3-6574-3F2E-9847-074AA15C9439}"/>
                </a:ext>
              </a:extLst>
            </p:cNvPr>
            <p:cNvSpPr/>
            <p:nvPr/>
          </p:nvSpPr>
          <p:spPr>
            <a:xfrm rot="5400000">
              <a:off x="6022" y="3516"/>
              <a:ext cx="956" cy="2627"/>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24" name="文本框 23">
              <a:extLst>
                <a:ext uri="{FF2B5EF4-FFF2-40B4-BE49-F238E27FC236}">
                  <a16:creationId xmlns:a16="http://schemas.microsoft.com/office/drawing/2014/main" id="{33100B1A-BFDC-3C41-9DD3-DEE5CB439BA4}"/>
                </a:ext>
              </a:extLst>
            </p:cNvPr>
            <p:cNvSpPr txBox="1"/>
            <p:nvPr/>
          </p:nvSpPr>
          <p:spPr>
            <a:xfrm>
              <a:off x="5119" y="4472"/>
              <a:ext cx="2754" cy="67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200" b="1" kern="100" cap="none" spc="0" normalizeH="0" baseline="0" noProof="0" dirty="0">
                  <a:solidFill>
                    <a:schemeClr val="bg1"/>
                  </a:solidFill>
                  <a:latin typeface="微软雅黑" pitchFamily="34" charset="-122"/>
                  <a:ea typeface="微软雅黑" pitchFamily="34" charset="-122"/>
                  <a:cs typeface="+mn-cs"/>
                  <a:sym typeface="+mn-ea"/>
                </a:rPr>
                <a:t>实体集</a:t>
              </a:r>
              <a:r>
                <a:rPr kumimoji="0" lang="en-US" altLang="zh-CN" sz="2200" b="1" kern="100" cap="none" spc="0" normalizeH="0" baseline="0" noProof="0" dirty="0">
                  <a:solidFill>
                    <a:schemeClr val="bg1"/>
                  </a:solidFill>
                  <a:latin typeface="微软雅黑" pitchFamily="34" charset="-122"/>
                  <a:ea typeface="微软雅黑" pitchFamily="34" charset="-122"/>
                  <a:cs typeface="+mn-cs"/>
                  <a:sym typeface="+mn-ea"/>
                </a:rPr>
                <a:t>A</a:t>
              </a:r>
            </a:p>
          </p:txBody>
        </p:sp>
      </p:grpSp>
      <p:grpSp>
        <p:nvGrpSpPr>
          <p:cNvPr id="25" name="组合 45">
            <a:extLst>
              <a:ext uri="{FF2B5EF4-FFF2-40B4-BE49-F238E27FC236}">
                <a16:creationId xmlns:a16="http://schemas.microsoft.com/office/drawing/2014/main" id="{715CB4C3-ACCA-F135-CC1E-98CF04923E9A}"/>
              </a:ext>
            </a:extLst>
          </p:cNvPr>
          <p:cNvGrpSpPr/>
          <p:nvPr/>
        </p:nvGrpSpPr>
        <p:grpSpPr>
          <a:xfrm>
            <a:off x="6394450" y="4678945"/>
            <a:ext cx="1749425" cy="606425"/>
            <a:chOff x="5119" y="4352"/>
            <a:chExt cx="2754" cy="956"/>
          </a:xfrm>
        </p:grpSpPr>
        <p:sp>
          <p:nvSpPr>
            <p:cNvPr id="26" name="矩形 25">
              <a:extLst>
                <a:ext uri="{FF2B5EF4-FFF2-40B4-BE49-F238E27FC236}">
                  <a16:creationId xmlns:a16="http://schemas.microsoft.com/office/drawing/2014/main" id="{EC319BB4-CA65-5B1A-5ECC-1A1A955A7B87}"/>
                </a:ext>
              </a:extLst>
            </p:cNvPr>
            <p:cNvSpPr/>
            <p:nvPr/>
          </p:nvSpPr>
          <p:spPr>
            <a:xfrm rot="5400000">
              <a:off x="6022" y="3516"/>
              <a:ext cx="956" cy="2627"/>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27" name="文本框 26">
              <a:extLst>
                <a:ext uri="{FF2B5EF4-FFF2-40B4-BE49-F238E27FC236}">
                  <a16:creationId xmlns:a16="http://schemas.microsoft.com/office/drawing/2014/main" id="{02A297E7-33EA-A0B2-7162-86E8E88A3762}"/>
                </a:ext>
              </a:extLst>
            </p:cNvPr>
            <p:cNvSpPr txBox="1"/>
            <p:nvPr/>
          </p:nvSpPr>
          <p:spPr>
            <a:xfrm>
              <a:off x="5119" y="4472"/>
              <a:ext cx="2754" cy="67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200" b="1" kern="100" cap="none" spc="0" normalizeH="0" baseline="0" noProof="0" dirty="0">
                  <a:solidFill>
                    <a:schemeClr val="bg1"/>
                  </a:solidFill>
                  <a:latin typeface="微软雅黑" pitchFamily="34" charset="-122"/>
                  <a:ea typeface="微软雅黑" pitchFamily="34" charset="-122"/>
                  <a:cs typeface="+mn-cs"/>
                  <a:sym typeface="+mn-ea"/>
                </a:rPr>
                <a:t>实体集</a:t>
              </a:r>
              <a:r>
                <a:rPr kumimoji="0" lang="en-US" altLang="zh-CN" sz="2200" b="1" kern="100" cap="none" spc="0" normalizeH="0" baseline="0" noProof="0" dirty="0">
                  <a:solidFill>
                    <a:schemeClr val="bg1"/>
                  </a:solidFill>
                  <a:latin typeface="微软雅黑" pitchFamily="34" charset="-122"/>
                  <a:ea typeface="微软雅黑" pitchFamily="34" charset="-122"/>
                  <a:cs typeface="+mn-cs"/>
                  <a:sym typeface="+mn-ea"/>
                </a:rPr>
                <a:t>B</a:t>
              </a:r>
            </a:p>
          </p:txBody>
        </p:sp>
      </p:grpSp>
      <p:grpSp>
        <p:nvGrpSpPr>
          <p:cNvPr id="28" name="组合 50">
            <a:extLst>
              <a:ext uri="{FF2B5EF4-FFF2-40B4-BE49-F238E27FC236}">
                <a16:creationId xmlns:a16="http://schemas.microsoft.com/office/drawing/2014/main" id="{E531A80A-4D1B-0C0C-C120-488BAB36502F}"/>
              </a:ext>
            </a:extLst>
          </p:cNvPr>
          <p:cNvGrpSpPr/>
          <p:nvPr/>
        </p:nvGrpSpPr>
        <p:grpSpPr>
          <a:xfrm>
            <a:off x="6394450" y="2807283"/>
            <a:ext cx="1749425" cy="1425575"/>
            <a:chOff x="2860" y="6218"/>
            <a:chExt cx="2754" cy="2244"/>
          </a:xfrm>
        </p:grpSpPr>
        <p:sp>
          <p:nvSpPr>
            <p:cNvPr id="29" name="椭圆 28">
              <a:extLst>
                <a:ext uri="{FF2B5EF4-FFF2-40B4-BE49-F238E27FC236}">
                  <a16:creationId xmlns:a16="http://schemas.microsoft.com/office/drawing/2014/main" id="{144AE691-DBCB-4D7F-848B-D2D9A5370E3E}"/>
                </a:ext>
              </a:extLst>
            </p:cNvPr>
            <p:cNvSpPr/>
            <p:nvPr/>
          </p:nvSpPr>
          <p:spPr>
            <a:xfrm>
              <a:off x="3077" y="6218"/>
              <a:ext cx="2244" cy="2244"/>
            </a:xfrm>
            <a:prstGeom prst="ellipse">
              <a:avLst/>
            </a:prstGeom>
            <a:gradFill flip="none" rotWithShape="1">
              <a:gsLst>
                <a:gs pos="1000">
                  <a:srgbClr val="3982FF"/>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30" name="文本框 29">
              <a:extLst>
                <a:ext uri="{FF2B5EF4-FFF2-40B4-BE49-F238E27FC236}">
                  <a16:creationId xmlns:a16="http://schemas.microsoft.com/office/drawing/2014/main" id="{724DCEDF-A488-9C4C-BCBB-078FBC4B8035}"/>
                </a:ext>
              </a:extLst>
            </p:cNvPr>
            <p:cNvSpPr txBox="1"/>
            <p:nvPr/>
          </p:nvSpPr>
          <p:spPr>
            <a:xfrm>
              <a:off x="2860" y="7038"/>
              <a:ext cx="2754" cy="628"/>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000" b="1" kern="100" cap="none" spc="0" normalizeH="0" baseline="0" noProof="0" dirty="0">
                  <a:solidFill>
                    <a:schemeClr val="bg1"/>
                  </a:solidFill>
                  <a:latin typeface="微软雅黑" pitchFamily="34" charset="-122"/>
                  <a:ea typeface="微软雅黑" pitchFamily="34" charset="-122"/>
                  <a:cs typeface="+mn-cs"/>
                  <a:sym typeface="+mn-ea"/>
                </a:rPr>
                <a:t>联系名</a:t>
              </a:r>
            </a:p>
          </p:txBody>
        </p:sp>
      </p:grpSp>
      <p:sp>
        <p:nvSpPr>
          <p:cNvPr id="31" name="文本框 55">
            <a:extLst>
              <a:ext uri="{FF2B5EF4-FFF2-40B4-BE49-F238E27FC236}">
                <a16:creationId xmlns:a16="http://schemas.microsoft.com/office/drawing/2014/main" id="{5AD16D72-84CC-1C62-D48D-F064E55B4C6F}"/>
              </a:ext>
            </a:extLst>
          </p:cNvPr>
          <p:cNvSpPr txBox="1"/>
          <p:nvPr/>
        </p:nvSpPr>
        <p:spPr>
          <a:xfrm>
            <a:off x="941388" y="1824620"/>
            <a:ext cx="1262062" cy="460375"/>
          </a:xfrm>
          <a:prstGeom prst="rect">
            <a:avLst/>
          </a:prstGeom>
          <a:noFill/>
          <a:ln w="9525">
            <a:noFill/>
          </a:ln>
        </p:spPr>
        <p:txBody>
          <a:bodyPr>
            <a:spAutoFit/>
          </a:bodyPr>
          <a:lstStyle/>
          <a:p>
            <a:pPr>
              <a:buNone/>
            </a:pPr>
            <a:r>
              <a:rPr lang="en-US" altLang="zh-CN" sz="2400" b="1" dirty="0">
                <a:solidFill>
                  <a:srgbClr val="3982FF"/>
                </a:solidFill>
                <a:latin typeface="微软雅黑" pitchFamily="34" charset="-122"/>
                <a:ea typeface="YouSheBiaoTiHei"/>
              </a:rPr>
              <a:t>a.</a:t>
            </a:r>
          </a:p>
        </p:txBody>
      </p:sp>
      <p:sp>
        <p:nvSpPr>
          <p:cNvPr id="32" name="文本框 56">
            <a:extLst>
              <a:ext uri="{FF2B5EF4-FFF2-40B4-BE49-F238E27FC236}">
                <a16:creationId xmlns:a16="http://schemas.microsoft.com/office/drawing/2014/main" id="{63E5B462-6D33-0EAF-48BF-AA88B4E90D45}"/>
              </a:ext>
            </a:extLst>
          </p:cNvPr>
          <p:cNvSpPr txBox="1"/>
          <p:nvPr/>
        </p:nvSpPr>
        <p:spPr>
          <a:xfrm>
            <a:off x="3438525" y="1878595"/>
            <a:ext cx="1263650" cy="460375"/>
          </a:xfrm>
          <a:prstGeom prst="rect">
            <a:avLst/>
          </a:prstGeom>
          <a:noFill/>
          <a:ln w="9525">
            <a:noFill/>
          </a:ln>
        </p:spPr>
        <p:txBody>
          <a:bodyPr>
            <a:spAutoFit/>
          </a:bodyPr>
          <a:lstStyle/>
          <a:p>
            <a:pPr>
              <a:buNone/>
            </a:pPr>
            <a:r>
              <a:rPr lang="en-US" altLang="zh-CN" sz="2400" b="1" dirty="0">
                <a:solidFill>
                  <a:srgbClr val="3982FF"/>
                </a:solidFill>
                <a:latin typeface="微软雅黑" pitchFamily="34" charset="-122"/>
                <a:ea typeface="YouSheBiaoTiHei"/>
              </a:rPr>
              <a:t>b.</a:t>
            </a:r>
          </a:p>
        </p:txBody>
      </p:sp>
      <p:sp>
        <p:nvSpPr>
          <p:cNvPr id="33" name="文本框 57">
            <a:extLst>
              <a:ext uri="{FF2B5EF4-FFF2-40B4-BE49-F238E27FC236}">
                <a16:creationId xmlns:a16="http://schemas.microsoft.com/office/drawing/2014/main" id="{D529CC50-994E-0897-574B-47A2F2F5B6ED}"/>
              </a:ext>
            </a:extLst>
          </p:cNvPr>
          <p:cNvSpPr txBox="1"/>
          <p:nvPr/>
        </p:nvSpPr>
        <p:spPr>
          <a:xfrm>
            <a:off x="5973763" y="1862720"/>
            <a:ext cx="1263650" cy="460375"/>
          </a:xfrm>
          <a:prstGeom prst="rect">
            <a:avLst/>
          </a:prstGeom>
          <a:noFill/>
          <a:ln w="9525">
            <a:noFill/>
          </a:ln>
        </p:spPr>
        <p:txBody>
          <a:bodyPr>
            <a:spAutoFit/>
          </a:bodyPr>
          <a:lstStyle/>
          <a:p>
            <a:pPr>
              <a:buNone/>
            </a:pPr>
            <a:r>
              <a:rPr lang="en-US" altLang="zh-CN" sz="2400" b="1" dirty="0">
                <a:solidFill>
                  <a:srgbClr val="3982FF"/>
                </a:solidFill>
                <a:latin typeface="微软雅黑" pitchFamily="34" charset="-122"/>
                <a:ea typeface="YouSheBiaoTiHei"/>
              </a:rPr>
              <a:t>c.</a:t>
            </a:r>
          </a:p>
        </p:txBody>
      </p:sp>
      <p:sp>
        <p:nvSpPr>
          <p:cNvPr id="34" name="文本框 33">
            <a:extLst>
              <a:ext uri="{FF2B5EF4-FFF2-40B4-BE49-F238E27FC236}">
                <a16:creationId xmlns:a16="http://schemas.microsoft.com/office/drawing/2014/main" id="{5CAC8BD4-C01D-FA2A-57C2-8663E566F309}"/>
              </a:ext>
            </a:extLst>
          </p:cNvPr>
          <p:cNvSpPr txBox="1"/>
          <p:nvPr/>
        </p:nvSpPr>
        <p:spPr>
          <a:xfrm>
            <a:off x="8991600" y="3026358"/>
            <a:ext cx="2730500" cy="369332"/>
          </a:xfrm>
          <a:prstGeom prst="rect">
            <a:avLst/>
          </a:prstGeom>
          <a:noFill/>
        </p:spPr>
        <p:txBody>
          <a:bodyPr wrap="square" rtlCol="0">
            <a:spAutoFit/>
          </a:bodyPr>
          <a:lstStyle/>
          <a:p>
            <a:pPr marR="0" defTabSz="457200" fontAlgn="auto">
              <a:spcBef>
                <a:spcPts val="0"/>
              </a:spcBef>
              <a:spcAft>
                <a:spcPts val="0"/>
              </a:spcAft>
              <a:buClrTx/>
              <a:buSzTx/>
              <a:buFontTx/>
              <a:buNone/>
              <a:defRPr/>
            </a:pPr>
            <a:r>
              <a:rPr lang="en-US" altLang="zh-CN" dirty="0">
                <a:solidFill>
                  <a:srgbClr val="44546A"/>
                </a:solidFill>
                <a:latin typeface="微软雅黑" panose="020B0503020204020204" pitchFamily="34" charset="-122"/>
                <a:ea typeface="微软雅黑" panose="020B0503020204020204" pitchFamily="34" charset="-122"/>
              </a:rPr>
              <a:t>a.</a:t>
            </a:r>
            <a:r>
              <a:rPr lang="zh-CN" altLang="en-US" dirty="0">
                <a:solidFill>
                  <a:srgbClr val="44546A"/>
                </a:solidFill>
                <a:latin typeface="微软雅黑" panose="020B0503020204020204" pitchFamily="34" charset="-122"/>
                <a:ea typeface="微软雅黑" panose="020B0503020204020204" pitchFamily="34" charset="-122"/>
              </a:rPr>
              <a:t>图</a:t>
            </a:r>
            <a:r>
              <a:rPr lang="en-US" altLang="zh-CN" dirty="0">
                <a:solidFill>
                  <a:srgbClr val="44546A"/>
                </a:solidFill>
                <a:latin typeface="微软雅黑" panose="020B0503020204020204" pitchFamily="34" charset="-122"/>
                <a:ea typeface="微软雅黑" panose="020B0503020204020204" pitchFamily="34" charset="-122"/>
              </a:rPr>
              <a:t> 1</a:t>
            </a:r>
            <a:r>
              <a:rPr lang="zh-CN" altLang="en-US" dirty="0">
                <a:solidFill>
                  <a:srgbClr val="44546A"/>
                </a:solidFill>
                <a:latin typeface="微软雅黑" panose="020B0503020204020204" pitchFamily="34" charset="-122"/>
                <a:ea typeface="微软雅黑" panose="020B0503020204020204" pitchFamily="34" charset="-122"/>
              </a:rPr>
              <a:t>：</a:t>
            </a:r>
            <a:r>
              <a:rPr lang="en-US" altLang="zh-CN" dirty="0">
                <a:solidFill>
                  <a:srgbClr val="44546A"/>
                </a:solidFill>
                <a:latin typeface="微软雅黑" panose="020B0503020204020204" pitchFamily="34" charset="-122"/>
                <a:ea typeface="微软雅黑" panose="020B0503020204020204" pitchFamily="34" charset="-122"/>
              </a:rPr>
              <a:t>1</a:t>
            </a:r>
            <a:r>
              <a:rPr lang="zh-CN" altLang="en-US" dirty="0">
                <a:solidFill>
                  <a:srgbClr val="44546A"/>
                </a:solidFill>
                <a:latin typeface="微软雅黑" panose="020B0503020204020204" pitchFamily="34" charset="-122"/>
                <a:ea typeface="微软雅黑" panose="020B0503020204020204" pitchFamily="34" charset="-122"/>
              </a:rPr>
              <a:t>联系</a:t>
            </a:r>
            <a:r>
              <a:rPr lang="en-US" altLang="zh-CN" dirty="0">
                <a:solidFill>
                  <a:srgbClr val="44546A"/>
                </a:solidFill>
                <a:latin typeface="微软雅黑" panose="020B0503020204020204" pitchFamily="34" charset="-122"/>
                <a:ea typeface="微软雅黑" panose="020B0503020204020204" pitchFamily="34" charset="-122"/>
              </a:rPr>
              <a:t>  </a:t>
            </a:r>
          </a:p>
        </p:txBody>
      </p:sp>
      <p:sp>
        <p:nvSpPr>
          <p:cNvPr id="35" name="文本框 34">
            <a:extLst>
              <a:ext uri="{FF2B5EF4-FFF2-40B4-BE49-F238E27FC236}">
                <a16:creationId xmlns:a16="http://schemas.microsoft.com/office/drawing/2014/main" id="{4029C891-3A93-8276-2F89-746E38775C1C}"/>
              </a:ext>
            </a:extLst>
          </p:cNvPr>
          <p:cNvSpPr txBox="1"/>
          <p:nvPr/>
        </p:nvSpPr>
        <p:spPr>
          <a:xfrm>
            <a:off x="9047163" y="4015370"/>
            <a:ext cx="2730500" cy="369332"/>
          </a:xfrm>
          <a:prstGeom prst="rect">
            <a:avLst/>
          </a:prstGeom>
          <a:noFill/>
        </p:spPr>
        <p:txBody>
          <a:bodyPr wrap="square" rtlCol="0">
            <a:spAutoFit/>
          </a:bodyPr>
          <a:lstStyle/>
          <a:p>
            <a:pPr defTabSz="457200">
              <a:defRPr/>
            </a:pPr>
            <a:r>
              <a:rPr lang="en-US" altLang="zh-CN" dirty="0">
                <a:solidFill>
                  <a:srgbClr val="44546A"/>
                </a:solidFill>
                <a:latin typeface="微软雅黑" panose="020B0503020204020204" pitchFamily="34" charset="-122"/>
                <a:ea typeface="微软雅黑" panose="020B0503020204020204" pitchFamily="34" charset="-122"/>
              </a:rPr>
              <a:t>b.</a:t>
            </a:r>
            <a:r>
              <a:rPr lang="zh-CN" altLang="en-US" dirty="0">
                <a:solidFill>
                  <a:srgbClr val="44546A"/>
                </a:solidFill>
                <a:latin typeface="微软雅黑" panose="020B0503020204020204" pitchFamily="34" charset="-122"/>
                <a:ea typeface="微软雅黑" panose="020B0503020204020204" pitchFamily="34" charset="-122"/>
              </a:rPr>
              <a:t>图</a:t>
            </a:r>
            <a:r>
              <a:rPr lang="en-US" altLang="zh-CN" dirty="0">
                <a:solidFill>
                  <a:srgbClr val="44546A"/>
                </a:solidFill>
                <a:latin typeface="微软雅黑" panose="020B0503020204020204" pitchFamily="34" charset="-122"/>
                <a:ea typeface="微软雅黑" panose="020B0503020204020204" pitchFamily="34" charset="-122"/>
              </a:rPr>
              <a:t>  1</a:t>
            </a:r>
            <a:r>
              <a:rPr lang="zh-CN" altLang="en-US" dirty="0">
                <a:solidFill>
                  <a:srgbClr val="44546A"/>
                </a:solidFill>
                <a:latin typeface="微软雅黑" panose="020B0503020204020204" pitchFamily="34" charset="-122"/>
                <a:ea typeface="微软雅黑" panose="020B0503020204020204" pitchFamily="34" charset="-122"/>
              </a:rPr>
              <a:t>：</a:t>
            </a:r>
            <a:r>
              <a:rPr lang="en-US" altLang="zh-CN" dirty="0">
                <a:solidFill>
                  <a:srgbClr val="44546A"/>
                </a:solidFill>
                <a:latin typeface="微软雅黑" panose="020B0503020204020204" pitchFamily="34" charset="-122"/>
                <a:ea typeface="微软雅黑" panose="020B0503020204020204" pitchFamily="34" charset="-122"/>
              </a:rPr>
              <a:t>n</a:t>
            </a:r>
            <a:r>
              <a:rPr lang="zh-CN" altLang="en-US" dirty="0">
                <a:solidFill>
                  <a:srgbClr val="44546A"/>
                </a:solidFill>
                <a:latin typeface="微软雅黑" panose="020B0503020204020204" pitchFamily="34" charset="-122"/>
                <a:ea typeface="微软雅黑" panose="020B0503020204020204" pitchFamily="34" charset="-122"/>
              </a:rPr>
              <a:t>联系</a:t>
            </a:r>
            <a:r>
              <a:rPr lang="en-US" altLang="zh-CN" dirty="0">
                <a:solidFill>
                  <a:srgbClr val="44546A"/>
                </a:solidFill>
                <a:latin typeface="微软雅黑" panose="020B0503020204020204" pitchFamily="34" charset="-122"/>
                <a:ea typeface="微软雅黑" panose="020B0503020204020204" pitchFamily="34" charset="-122"/>
              </a:rPr>
              <a:t>  </a:t>
            </a:r>
          </a:p>
        </p:txBody>
      </p:sp>
      <p:sp>
        <p:nvSpPr>
          <p:cNvPr id="36" name="文本框 35">
            <a:extLst>
              <a:ext uri="{FF2B5EF4-FFF2-40B4-BE49-F238E27FC236}">
                <a16:creationId xmlns:a16="http://schemas.microsoft.com/office/drawing/2014/main" id="{DEAC8EF7-5077-5C0B-970F-159AF8943531}"/>
              </a:ext>
            </a:extLst>
          </p:cNvPr>
          <p:cNvSpPr txBox="1"/>
          <p:nvPr/>
        </p:nvSpPr>
        <p:spPr>
          <a:xfrm>
            <a:off x="8991600" y="4907545"/>
            <a:ext cx="2730500" cy="369332"/>
          </a:xfrm>
          <a:prstGeom prst="rect">
            <a:avLst/>
          </a:prstGeom>
          <a:noFill/>
        </p:spPr>
        <p:txBody>
          <a:bodyPr wrap="square" rtlCol="0">
            <a:spAutoFit/>
          </a:bodyPr>
          <a:lstStyle/>
          <a:p>
            <a:pPr marR="0" defTabSz="457200" fontAlgn="auto">
              <a:spcBef>
                <a:spcPts val="0"/>
              </a:spcBef>
              <a:spcAft>
                <a:spcPts val="0"/>
              </a:spcAft>
              <a:buClrTx/>
              <a:buSzTx/>
              <a:buFontTx/>
              <a:buNone/>
              <a:defRPr/>
            </a:pPr>
            <a:r>
              <a:rPr lang="en-US" altLang="zh-CN" dirty="0">
                <a:solidFill>
                  <a:srgbClr val="44546A"/>
                </a:solidFill>
                <a:latin typeface="微软雅黑" panose="020B0503020204020204" pitchFamily="34" charset="-122"/>
                <a:ea typeface="微软雅黑" panose="020B0503020204020204" pitchFamily="34" charset="-122"/>
              </a:rPr>
              <a:t>c.</a:t>
            </a:r>
            <a:r>
              <a:rPr lang="zh-CN" altLang="en-US" dirty="0">
                <a:solidFill>
                  <a:srgbClr val="44546A"/>
                </a:solidFill>
                <a:latin typeface="微软雅黑" panose="020B0503020204020204" pitchFamily="34" charset="-122"/>
                <a:ea typeface="微软雅黑" panose="020B0503020204020204" pitchFamily="34" charset="-122"/>
              </a:rPr>
              <a:t>图</a:t>
            </a:r>
            <a:r>
              <a:rPr lang="en-US" altLang="zh-CN" dirty="0">
                <a:solidFill>
                  <a:srgbClr val="44546A"/>
                </a:solidFill>
                <a:latin typeface="微软雅黑" panose="020B0503020204020204" pitchFamily="34" charset="-122"/>
                <a:ea typeface="微软雅黑" panose="020B0503020204020204" pitchFamily="34" charset="-122"/>
              </a:rPr>
              <a:t>  m</a:t>
            </a:r>
            <a:r>
              <a:rPr lang="zh-CN" altLang="en-US" dirty="0">
                <a:solidFill>
                  <a:srgbClr val="44546A"/>
                </a:solidFill>
                <a:latin typeface="微软雅黑" panose="020B0503020204020204" pitchFamily="34" charset="-122"/>
                <a:ea typeface="微软雅黑" panose="020B0503020204020204" pitchFamily="34" charset="-122"/>
              </a:rPr>
              <a:t>：</a:t>
            </a:r>
            <a:r>
              <a:rPr lang="en-US" altLang="zh-CN" dirty="0">
                <a:solidFill>
                  <a:srgbClr val="44546A"/>
                </a:solidFill>
                <a:latin typeface="微软雅黑" panose="020B0503020204020204" pitchFamily="34" charset="-122"/>
                <a:ea typeface="微软雅黑" panose="020B0503020204020204" pitchFamily="34" charset="-122"/>
              </a:rPr>
              <a:t>n</a:t>
            </a:r>
            <a:r>
              <a:rPr lang="zh-CN" altLang="en-US" dirty="0">
                <a:solidFill>
                  <a:srgbClr val="44546A"/>
                </a:solidFill>
                <a:latin typeface="微软雅黑" panose="020B0503020204020204" pitchFamily="34" charset="-122"/>
                <a:ea typeface="微软雅黑" panose="020B0503020204020204" pitchFamily="34" charset="-122"/>
              </a:rPr>
              <a:t>联系</a:t>
            </a:r>
            <a:r>
              <a:rPr lang="en-US" altLang="zh-CN" dirty="0">
                <a:solidFill>
                  <a:srgbClr val="44546A"/>
                </a:solidFill>
                <a:latin typeface="微软雅黑" panose="020B0503020204020204" pitchFamily="34" charset="-122"/>
                <a:ea typeface="微软雅黑" panose="020B0503020204020204" pitchFamily="34" charset="-122"/>
              </a:rPr>
              <a:t>  </a:t>
            </a:r>
          </a:p>
        </p:txBody>
      </p:sp>
      <p:grpSp>
        <p:nvGrpSpPr>
          <p:cNvPr id="37" name="组合 66">
            <a:extLst>
              <a:ext uri="{FF2B5EF4-FFF2-40B4-BE49-F238E27FC236}">
                <a16:creationId xmlns:a16="http://schemas.microsoft.com/office/drawing/2014/main" id="{FEFB9E2F-8660-B8B5-ABE1-56A403BBB0C8}"/>
              </a:ext>
            </a:extLst>
          </p:cNvPr>
          <p:cNvGrpSpPr/>
          <p:nvPr/>
        </p:nvGrpSpPr>
        <p:grpSpPr>
          <a:xfrm>
            <a:off x="2152610" y="2459620"/>
            <a:ext cx="13277" cy="2212976"/>
            <a:chOff x="3389" y="3869"/>
            <a:chExt cx="23" cy="3483"/>
          </a:xfrm>
        </p:grpSpPr>
        <p:cxnSp>
          <p:nvCxnSpPr>
            <p:cNvPr id="38" name="直接连接符 37">
              <a:extLst>
                <a:ext uri="{FF2B5EF4-FFF2-40B4-BE49-F238E27FC236}">
                  <a16:creationId xmlns:a16="http://schemas.microsoft.com/office/drawing/2014/main" id="{283389A1-3A33-1250-F981-384E6E371D20}"/>
                </a:ext>
              </a:extLst>
            </p:cNvPr>
            <p:cNvCxnSpPr>
              <a:endCxn id="20" idx="0"/>
            </p:cNvCxnSpPr>
            <p:nvPr/>
          </p:nvCxnSpPr>
          <p:spPr>
            <a:xfrm>
              <a:off x="3389" y="3869"/>
              <a:ext cx="23" cy="5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53B27AEC-81E3-C096-B6F6-72099BC38113}"/>
                </a:ext>
              </a:extLst>
            </p:cNvPr>
            <p:cNvCxnSpPr>
              <a:stCxn id="20" idx="4"/>
            </p:cNvCxnSpPr>
            <p:nvPr/>
          </p:nvCxnSpPr>
          <p:spPr>
            <a:xfrm flipH="1">
              <a:off x="3389" y="6630"/>
              <a:ext cx="23" cy="72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0" name="组合 67">
            <a:extLst>
              <a:ext uri="{FF2B5EF4-FFF2-40B4-BE49-F238E27FC236}">
                <a16:creationId xmlns:a16="http://schemas.microsoft.com/office/drawing/2014/main" id="{FB8DF6EF-06D0-F865-676F-093235FA9397}"/>
              </a:ext>
            </a:extLst>
          </p:cNvPr>
          <p:cNvGrpSpPr/>
          <p:nvPr/>
        </p:nvGrpSpPr>
        <p:grpSpPr>
          <a:xfrm>
            <a:off x="4699000" y="2464383"/>
            <a:ext cx="12700" cy="2211387"/>
            <a:chOff x="3389" y="5106"/>
            <a:chExt cx="22" cy="3483"/>
          </a:xfrm>
        </p:grpSpPr>
        <p:cxnSp>
          <p:nvCxnSpPr>
            <p:cNvPr id="41" name="直接连接符 40">
              <a:extLst>
                <a:ext uri="{FF2B5EF4-FFF2-40B4-BE49-F238E27FC236}">
                  <a16:creationId xmlns:a16="http://schemas.microsoft.com/office/drawing/2014/main" id="{C73A41FB-559B-92BA-63D5-CCD8FFE1AFDA}"/>
                </a:ext>
              </a:extLst>
            </p:cNvPr>
            <p:cNvCxnSpPr/>
            <p:nvPr/>
          </p:nvCxnSpPr>
          <p:spPr>
            <a:xfrm>
              <a:off x="3389" y="5106"/>
              <a:ext cx="23" cy="517"/>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D2E59905-5470-DEB6-6E49-CCC9DF1FDD89}"/>
                </a:ext>
              </a:extLst>
            </p:cNvPr>
            <p:cNvCxnSpPr/>
            <p:nvPr/>
          </p:nvCxnSpPr>
          <p:spPr>
            <a:xfrm flipH="1">
              <a:off x="3389" y="7867"/>
              <a:ext cx="23" cy="72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3" name="组合 76">
            <a:extLst>
              <a:ext uri="{FF2B5EF4-FFF2-40B4-BE49-F238E27FC236}">
                <a16:creationId xmlns:a16="http://schemas.microsoft.com/office/drawing/2014/main" id="{10051C27-458E-0232-09EC-D480A900122E}"/>
              </a:ext>
            </a:extLst>
          </p:cNvPr>
          <p:cNvGrpSpPr/>
          <p:nvPr/>
        </p:nvGrpSpPr>
        <p:grpSpPr>
          <a:xfrm>
            <a:off x="7245350" y="2477083"/>
            <a:ext cx="12700" cy="2211387"/>
            <a:chOff x="3389" y="5106"/>
            <a:chExt cx="22" cy="3483"/>
          </a:xfrm>
        </p:grpSpPr>
        <p:cxnSp>
          <p:nvCxnSpPr>
            <p:cNvPr id="44" name="直接连接符 43">
              <a:extLst>
                <a:ext uri="{FF2B5EF4-FFF2-40B4-BE49-F238E27FC236}">
                  <a16:creationId xmlns:a16="http://schemas.microsoft.com/office/drawing/2014/main" id="{CE103082-506F-7821-A1D2-8D3A39BAC619}"/>
                </a:ext>
              </a:extLst>
            </p:cNvPr>
            <p:cNvCxnSpPr/>
            <p:nvPr/>
          </p:nvCxnSpPr>
          <p:spPr>
            <a:xfrm>
              <a:off x="3389" y="5106"/>
              <a:ext cx="23" cy="517"/>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68C19CBD-B0AF-3F0B-31E6-14F604488E17}"/>
                </a:ext>
              </a:extLst>
            </p:cNvPr>
            <p:cNvCxnSpPr/>
            <p:nvPr/>
          </p:nvCxnSpPr>
          <p:spPr>
            <a:xfrm flipH="1">
              <a:off x="3389" y="7867"/>
              <a:ext cx="23" cy="722"/>
            </a:xfrm>
            <a:prstGeom prst="line">
              <a:avLst/>
            </a:prstGeom>
          </p:spPr>
          <p:style>
            <a:lnRef idx="1">
              <a:schemeClr val="accent1"/>
            </a:lnRef>
            <a:fillRef idx="0">
              <a:schemeClr val="accent1"/>
            </a:fillRef>
            <a:effectRef idx="0">
              <a:schemeClr val="accent1"/>
            </a:effectRef>
            <a:fontRef idx="minor">
              <a:schemeClr val="tx1"/>
            </a:fontRef>
          </p:style>
        </p:cxnSp>
      </p:grpSp>
      <p:sp>
        <p:nvSpPr>
          <p:cNvPr id="46" name="文本框 45">
            <a:extLst>
              <a:ext uri="{FF2B5EF4-FFF2-40B4-BE49-F238E27FC236}">
                <a16:creationId xmlns:a16="http://schemas.microsoft.com/office/drawing/2014/main" id="{4A3D8757-634A-0A1D-A69D-0E80A51B0192}"/>
              </a:ext>
            </a:extLst>
          </p:cNvPr>
          <p:cNvSpPr txBox="1"/>
          <p:nvPr/>
        </p:nvSpPr>
        <p:spPr>
          <a:xfrm>
            <a:off x="2597150" y="2504070"/>
            <a:ext cx="1263650" cy="460375"/>
          </a:xfrm>
          <a:prstGeom prst="rect">
            <a:avLst/>
          </a:prstGeom>
          <a:noFill/>
        </p:spPr>
        <p:txBody>
          <a:bodyPr wrap="square" rtlCol="0">
            <a:spAutoFit/>
          </a:bodyPr>
          <a:lstStyle/>
          <a:p>
            <a:pPr marR="0" defTabSz="457200" fontAlgn="auto">
              <a:spcBef>
                <a:spcPts val="0"/>
              </a:spcBef>
              <a:spcAft>
                <a:spcPts val="0"/>
              </a:spcAft>
              <a:buClrTx/>
              <a:buSzTx/>
              <a:buFontTx/>
              <a:buNone/>
              <a:defRPr/>
            </a:pPr>
            <a:r>
              <a:rPr kumimoji="1" lang="en-US" altLang="zh-CN" sz="2400" b="1" kern="1200" cap="none" spc="0" normalizeH="0" baseline="0" noProof="0" dirty="0">
                <a:solidFill>
                  <a:schemeClr val="tx1">
                    <a:lumMod val="65000"/>
                    <a:lumOff val="35000"/>
                  </a:schemeClr>
                </a:solidFill>
                <a:latin typeface="微软雅黑" pitchFamily="34" charset="-122"/>
                <a:ea typeface="YouSheBiaoTiHei" pitchFamily="2" charset="-122"/>
                <a:cs typeface="+mn-cs"/>
              </a:rPr>
              <a:t>1</a:t>
            </a:r>
          </a:p>
        </p:txBody>
      </p:sp>
      <p:sp>
        <p:nvSpPr>
          <p:cNvPr id="47" name="文本框 46">
            <a:extLst>
              <a:ext uri="{FF2B5EF4-FFF2-40B4-BE49-F238E27FC236}">
                <a16:creationId xmlns:a16="http://schemas.microsoft.com/office/drawing/2014/main" id="{CFD95479-6EC1-2561-B22F-42A08F22B1BA}"/>
              </a:ext>
            </a:extLst>
          </p:cNvPr>
          <p:cNvSpPr txBox="1"/>
          <p:nvPr/>
        </p:nvSpPr>
        <p:spPr>
          <a:xfrm>
            <a:off x="2616200" y="4136020"/>
            <a:ext cx="1262063" cy="460375"/>
          </a:xfrm>
          <a:prstGeom prst="rect">
            <a:avLst/>
          </a:prstGeom>
          <a:noFill/>
        </p:spPr>
        <p:txBody>
          <a:bodyPr wrap="square" rtlCol="0">
            <a:spAutoFit/>
          </a:bodyPr>
          <a:lstStyle/>
          <a:p>
            <a:pPr marR="0" defTabSz="457200" fontAlgn="auto">
              <a:spcBef>
                <a:spcPts val="0"/>
              </a:spcBef>
              <a:spcAft>
                <a:spcPts val="0"/>
              </a:spcAft>
              <a:buClrTx/>
              <a:buSzTx/>
              <a:buFontTx/>
              <a:buNone/>
              <a:defRPr/>
            </a:pPr>
            <a:r>
              <a:rPr kumimoji="1" lang="en-US" altLang="zh-CN" sz="2400" b="1" kern="1200" cap="none" spc="0" normalizeH="0" baseline="0" noProof="0" dirty="0">
                <a:solidFill>
                  <a:schemeClr val="tx1">
                    <a:lumMod val="65000"/>
                    <a:lumOff val="35000"/>
                  </a:schemeClr>
                </a:solidFill>
                <a:latin typeface="微软雅黑" pitchFamily="34" charset="-122"/>
                <a:ea typeface="YouSheBiaoTiHei" pitchFamily="2" charset="-122"/>
                <a:cs typeface="+mn-cs"/>
              </a:rPr>
              <a:t>1</a:t>
            </a:r>
          </a:p>
        </p:txBody>
      </p:sp>
      <p:sp>
        <p:nvSpPr>
          <p:cNvPr id="48" name="文本框 47">
            <a:extLst>
              <a:ext uri="{FF2B5EF4-FFF2-40B4-BE49-F238E27FC236}">
                <a16:creationId xmlns:a16="http://schemas.microsoft.com/office/drawing/2014/main" id="{CF74A6E6-0283-3CE5-DCE5-FDD0BD6D30F1}"/>
              </a:ext>
            </a:extLst>
          </p:cNvPr>
          <p:cNvSpPr txBox="1"/>
          <p:nvPr/>
        </p:nvSpPr>
        <p:spPr>
          <a:xfrm>
            <a:off x="4991100" y="2494545"/>
            <a:ext cx="1263650" cy="460375"/>
          </a:xfrm>
          <a:prstGeom prst="rect">
            <a:avLst/>
          </a:prstGeom>
          <a:noFill/>
        </p:spPr>
        <p:txBody>
          <a:bodyPr wrap="square" rtlCol="0">
            <a:spAutoFit/>
          </a:bodyPr>
          <a:lstStyle/>
          <a:p>
            <a:pPr marR="0" defTabSz="457200" fontAlgn="auto">
              <a:spcBef>
                <a:spcPts val="0"/>
              </a:spcBef>
              <a:spcAft>
                <a:spcPts val="0"/>
              </a:spcAft>
              <a:buClrTx/>
              <a:buSzTx/>
              <a:buFontTx/>
              <a:buNone/>
              <a:defRPr/>
            </a:pPr>
            <a:r>
              <a:rPr kumimoji="1" lang="en-US" altLang="zh-CN" sz="2400" b="1" kern="1200" cap="none" spc="0" normalizeH="0" baseline="0" noProof="0" dirty="0">
                <a:solidFill>
                  <a:schemeClr val="tx1">
                    <a:lumMod val="65000"/>
                    <a:lumOff val="35000"/>
                  </a:schemeClr>
                </a:solidFill>
                <a:latin typeface="微软雅黑" pitchFamily="34" charset="-122"/>
                <a:ea typeface="YouSheBiaoTiHei" pitchFamily="2" charset="-122"/>
                <a:cs typeface="+mn-cs"/>
              </a:rPr>
              <a:t>1</a:t>
            </a:r>
          </a:p>
        </p:txBody>
      </p:sp>
      <p:sp>
        <p:nvSpPr>
          <p:cNvPr id="49" name="文本框 48">
            <a:extLst>
              <a:ext uri="{FF2B5EF4-FFF2-40B4-BE49-F238E27FC236}">
                <a16:creationId xmlns:a16="http://schemas.microsoft.com/office/drawing/2014/main" id="{CAB2BF0D-0C74-BB38-C816-0588DAFBC48C}"/>
              </a:ext>
            </a:extLst>
          </p:cNvPr>
          <p:cNvSpPr txBox="1"/>
          <p:nvPr/>
        </p:nvSpPr>
        <p:spPr>
          <a:xfrm>
            <a:off x="4991100" y="4126495"/>
            <a:ext cx="1262063" cy="460375"/>
          </a:xfrm>
          <a:prstGeom prst="rect">
            <a:avLst/>
          </a:prstGeom>
          <a:noFill/>
        </p:spPr>
        <p:txBody>
          <a:bodyPr wrap="square" rtlCol="0">
            <a:spAutoFit/>
          </a:bodyPr>
          <a:lstStyle/>
          <a:p>
            <a:pPr marR="0" defTabSz="457200" fontAlgn="auto">
              <a:spcBef>
                <a:spcPts val="0"/>
              </a:spcBef>
              <a:spcAft>
                <a:spcPts val="0"/>
              </a:spcAft>
              <a:buClrTx/>
              <a:buSzTx/>
              <a:buFontTx/>
              <a:buNone/>
              <a:defRPr/>
            </a:pPr>
            <a:r>
              <a:rPr kumimoji="1" lang="en-US" altLang="zh-CN" sz="2400" b="1" kern="1200" cap="none" spc="0" normalizeH="0" baseline="0" noProof="0" dirty="0">
                <a:solidFill>
                  <a:schemeClr val="tx1">
                    <a:lumMod val="65000"/>
                    <a:lumOff val="35000"/>
                  </a:schemeClr>
                </a:solidFill>
                <a:latin typeface="微软雅黑" pitchFamily="34" charset="-122"/>
                <a:ea typeface="YouSheBiaoTiHei" pitchFamily="2" charset="-122"/>
                <a:cs typeface="+mn-cs"/>
              </a:rPr>
              <a:t>n</a:t>
            </a:r>
          </a:p>
        </p:txBody>
      </p:sp>
      <p:sp>
        <p:nvSpPr>
          <p:cNvPr id="50" name="文本框 49">
            <a:extLst>
              <a:ext uri="{FF2B5EF4-FFF2-40B4-BE49-F238E27FC236}">
                <a16:creationId xmlns:a16="http://schemas.microsoft.com/office/drawing/2014/main" id="{66E46B89-F5C2-4DAB-1D87-1E5AE5845284}"/>
              </a:ext>
            </a:extLst>
          </p:cNvPr>
          <p:cNvSpPr txBox="1"/>
          <p:nvPr/>
        </p:nvSpPr>
        <p:spPr>
          <a:xfrm>
            <a:off x="7575550" y="2486608"/>
            <a:ext cx="1263650" cy="460375"/>
          </a:xfrm>
          <a:prstGeom prst="rect">
            <a:avLst/>
          </a:prstGeom>
          <a:noFill/>
        </p:spPr>
        <p:txBody>
          <a:bodyPr wrap="square" rtlCol="0">
            <a:spAutoFit/>
          </a:bodyPr>
          <a:lstStyle/>
          <a:p>
            <a:pPr marR="0" defTabSz="457200" fontAlgn="auto">
              <a:spcBef>
                <a:spcPts val="0"/>
              </a:spcBef>
              <a:spcAft>
                <a:spcPts val="0"/>
              </a:spcAft>
              <a:buClrTx/>
              <a:buSzTx/>
              <a:buFontTx/>
              <a:buNone/>
              <a:defRPr/>
            </a:pPr>
            <a:r>
              <a:rPr kumimoji="1" lang="en-US" altLang="zh-CN" sz="2400" b="1" kern="1200" cap="none" spc="0" normalizeH="0" baseline="0" noProof="0" dirty="0">
                <a:solidFill>
                  <a:schemeClr val="tx1">
                    <a:lumMod val="65000"/>
                    <a:lumOff val="35000"/>
                  </a:schemeClr>
                </a:solidFill>
                <a:latin typeface="微软雅黑" pitchFamily="34" charset="-122"/>
                <a:ea typeface="YouSheBiaoTiHei" pitchFamily="2" charset="-122"/>
                <a:cs typeface="+mn-cs"/>
              </a:rPr>
              <a:t>m</a:t>
            </a:r>
          </a:p>
        </p:txBody>
      </p:sp>
      <p:sp>
        <p:nvSpPr>
          <p:cNvPr id="51" name="文本框 50">
            <a:extLst>
              <a:ext uri="{FF2B5EF4-FFF2-40B4-BE49-F238E27FC236}">
                <a16:creationId xmlns:a16="http://schemas.microsoft.com/office/drawing/2014/main" id="{965A58F0-390C-29DD-C548-16EAC513F830}"/>
              </a:ext>
            </a:extLst>
          </p:cNvPr>
          <p:cNvSpPr txBox="1"/>
          <p:nvPr/>
        </p:nvSpPr>
        <p:spPr>
          <a:xfrm>
            <a:off x="7575550" y="4156658"/>
            <a:ext cx="1262063" cy="460375"/>
          </a:xfrm>
          <a:prstGeom prst="rect">
            <a:avLst/>
          </a:prstGeom>
          <a:noFill/>
        </p:spPr>
        <p:txBody>
          <a:bodyPr wrap="square" rtlCol="0">
            <a:spAutoFit/>
          </a:bodyPr>
          <a:lstStyle/>
          <a:p>
            <a:pPr marR="0" defTabSz="457200" fontAlgn="auto">
              <a:spcBef>
                <a:spcPts val="0"/>
              </a:spcBef>
              <a:spcAft>
                <a:spcPts val="0"/>
              </a:spcAft>
              <a:buClrTx/>
              <a:buSzTx/>
              <a:buFontTx/>
              <a:buNone/>
              <a:defRPr/>
            </a:pPr>
            <a:r>
              <a:rPr kumimoji="1" lang="en-US" altLang="zh-CN" sz="2400" b="1" kern="1200" cap="none" spc="0" normalizeH="0" baseline="0" noProof="0" dirty="0">
                <a:solidFill>
                  <a:schemeClr val="tx1">
                    <a:lumMod val="65000"/>
                    <a:lumOff val="35000"/>
                  </a:schemeClr>
                </a:solidFill>
                <a:latin typeface="微软雅黑" pitchFamily="34" charset="-122"/>
                <a:ea typeface="YouSheBiaoTiHei" pitchFamily="2" charset="-122"/>
                <a:cs typeface="+mn-cs"/>
              </a:rPr>
              <a:t>n</a:t>
            </a:r>
          </a:p>
        </p:txBody>
      </p:sp>
    </p:spTree>
    <p:extLst>
      <p:ext uri="{BB962C8B-B14F-4D97-AF65-F5344CB8AC3E}">
        <p14:creationId xmlns:p14="http://schemas.microsoft.com/office/powerpoint/2010/main" val="347590968"/>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概念模型</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1E857E1F-7EED-A8F0-E096-3C96A5B0C0F9}"/>
              </a:ext>
            </a:extLst>
          </p:cNvPr>
          <p:cNvSpPr/>
          <p:nvPr/>
        </p:nvSpPr>
        <p:spPr>
          <a:xfrm>
            <a:off x="8510588" y="1608052"/>
            <a:ext cx="3370263" cy="1239838"/>
          </a:xfrm>
          <a:prstGeom prst="rect">
            <a:avLst/>
          </a:prstGeom>
        </p:spPr>
        <p:txBody>
          <a:bodyPr wrap="square">
            <a:noAutofit/>
          </a:bodyPr>
          <a:lstStyle/>
          <a:p>
            <a:pPr defTabSz="457200" eaLnBrk="0" fontAlgn="base" hangingPunct="0">
              <a:spcBef>
                <a:spcPct val="0"/>
              </a:spcBef>
              <a:spcAft>
                <a:spcPct val="0"/>
              </a:spcAft>
              <a:defRPr/>
            </a:pPr>
            <a:r>
              <a:rPr lang="zh-CN" altLang="zh-CN" b="1" dirty="0">
                <a:solidFill>
                  <a:srgbClr val="44546A"/>
                </a:solidFill>
                <a:latin typeface="微软雅黑" panose="020B0503020204020204" pitchFamily="34" charset="-122"/>
                <a:ea typeface="微软雅黑" panose="020B0503020204020204" pitchFamily="34" charset="-122"/>
                <a:sym typeface="+mn-ea"/>
              </a:rPr>
              <a:t>两个以上的实体</a:t>
            </a:r>
            <a:r>
              <a:rPr lang="zh-CN" altLang="en-US" b="1" dirty="0">
                <a:solidFill>
                  <a:srgbClr val="44546A"/>
                </a:solidFill>
                <a:latin typeface="微软雅黑" panose="020B0503020204020204" pitchFamily="34" charset="-122"/>
                <a:ea typeface="微软雅黑" panose="020B0503020204020204" pitchFamily="34" charset="-122"/>
                <a:sym typeface="+mn-ea"/>
              </a:rPr>
              <a:t>集</a:t>
            </a:r>
            <a:r>
              <a:rPr lang="zh-CN" altLang="zh-CN" b="1" dirty="0">
                <a:solidFill>
                  <a:srgbClr val="44546A"/>
                </a:solidFill>
                <a:latin typeface="微软雅黑" panose="020B0503020204020204" pitchFamily="34" charset="-122"/>
                <a:ea typeface="微软雅黑" panose="020B0503020204020204" pitchFamily="34" charset="-122"/>
                <a:sym typeface="+mn-ea"/>
              </a:rPr>
              <a:t>之间也存在着一对一、一对多、多对多联系。</a:t>
            </a:r>
          </a:p>
        </p:txBody>
      </p:sp>
      <p:sp>
        <p:nvSpPr>
          <p:cNvPr id="4" name="文本框 55">
            <a:extLst>
              <a:ext uri="{FF2B5EF4-FFF2-40B4-BE49-F238E27FC236}">
                <a16:creationId xmlns:a16="http://schemas.microsoft.com/office/drawing/2014/main" id="{058F816D-1226-6743-D335-D4A827366095}"/>
              </a:ext>
            </a:extLst>
          </p:cNvPr>
          <p:cNvSpPr txBox="1"/>
          <p:nvPr/>
        </p:nvSpPr>
        <p:spPr>
          <a:xfrm>
            <a:off x="941388" y="1608052"/>
            <a:ext cx="1262062" cy="460375"/>
          </a:xfrm>
          <a:prstGeom prst="rect">
            <a:avLst/>
          </a:prstGeom>
          <a:noFill/>
          <a:ln w="9525">
            <a:noFill/>
          </a:ln>
        </p:spPr>
        <p:txBody>
          <a:bodyPr>
            <a:spAutoFit/>
          </a:bodyPr>
          <a:lstStyle/>
          <a:p>
            <a:pPr>
              <a:buNone/>
            </a:pPr>
            <a:r>
              <a:rPr lang="en-US" altLang="zh-CN" sz="2400" b="1" dirty="0">
                <a:solidFill>
                  <a:srgbClr val="3982FF"/>
                </a:solidFill>
                <a:latin typeface="微软雅黑" pitchFamily="34" charset="-122"/>
                <a:ea typeface="YouSheBiaoTiHei"/>
              </a:rPr>
              <a:t>a.</a:t>
            </a:r>
          </a:p>
        </p:txBody>
      </p:sp>
      <p:sp>
        <p:nvSpPr>
          <p:cNvPr id="5" name="文本框 57">
            <a:extLst>
              <a:ext uri="{FF2B5EF4-FFF2-40B4-BE49-F238E27FC236}">
                <a16:creationId xmlns:a16="http://schemas.microsoft.com/office/drawing/2014/main" id="{FC0D50FD-6B1A-A045-6DE7-24ECC5115AB9}"/>
              </a:ext>
            </a:extLst>
          </p:cNvPr>
          <p:cNvSpPr txBox="1"/>
          <p:nvPr/>
        </p:nvSpPr>
        <p:spPr>
          <a:xfrm>
            <a:off x="4672013" y="1689015"/>
            <a:ext cx="1262062" cy="460375"/>
          </a:xfrm>
          <a:prstGeom prst="rect">
            <a:avLst/>
          </a:prstGeom>
          <a:noFill/>
          <a:ln w="9525">
            <a:noFill/>
          </a:ln>
        </p:spPr>
        <p:txBody>
          <a:bodyPr>
            <a:spAutoFit/>
          </a:bodyPr>
          <a:lstStyle/>
          <a:p>
            <a:pPr>
              <a:buNone/>
            </a:pPr>
            <a:r>
              <a:rPr lang="en-US" altLang="zh-CN" sz="2400" b="1" dirty="0">
                <a:solidFill>
                  <a:srgbClr val="3982FF"/>
                </a:solidFill>
                <a:latin typeface="微软雅黑" pitchFamily="34" charset="-122"/>
                <a:ea typeface="YouSheBiaoTiHei"/>
              </a:rPr>
              <a:t>b.</a:t>
            </a:r>
          </a:p>
        </p:txBody>
      </p:sp>
      <p:sp>
        <p:nvSpPr>
          <p:cNvPr id="6" name="文本框 5">
            <a:extLst>
              <a:ext uri="{FF2B5EF4-FFF2-40B4-BE49-F238E27FC236}">
                <a16:creationId xmlns:a16="http://schemas.microsoft.com/office/drawing/2014/main" id="{8E8BF79E-6C6C-2D9F-285F-1AB61EBAF02F}"/>
              </a:ext>
            </a:extLst>
          </p:cNvPr>
          <p:cNvSpPr txBox="1"/>
          <p:nvPr/>
        </p:nvSpPr>
        <p:spPr>
          <a:xfrm>
            <a:off x="8829675" y="3238415"/>
            <a:ext cx="2730500" cy="646113"/>
          </a:xfrm>
          <a:prstGeom prst="rect">
            <a:avLst/>
          </a:prstGeom>
          <a:noFill/>
        </p:spPr>
        <p:txBody>
          <a:bodyPr wrap="square" rtlCol="0">
            <a:spAutoFit/>
          </a:bodyPr>
          <a:lstStyle/>
          <a:p>
            <a:pPr marR="0" defTabSz="457200" fontAlgn="auto">
              <a:spcBef>
                <a:spcPts val="0"/>
              </a:spcBef>
              <a:spcAft>
                <a:spcPts val="0"/>
              </a:spcAft>
              <a:buClrTx/>
              <a:buSzTx/>
              <a:buFontTx/>
              <a:buNone/>
              <a:defRPr/>
            </a:pPr>
            <a:r>
              <a:rPr lang="en-US" altLang="zh-CN" dirty="0">
                <a:solidFill>
                  <a:srgbClr val="44546A"/>
                </a:solidFill>
                <a:latin typeface="微软雅黑" panose="020B0503020204020204" pitchFamily="34" charset="-122"/>
                <a:ea typeface="微软雅黑" panose="020B0503020204020204" pitchFamily="34" charset="-122"/>
              </a:rPr>
              <a:t>a.</a:t>
            </a:r>
            <a:r>
              <a:rPr lang="zh-CN" altLang="en-US" dirty="0">
                <a:solidFill>
                  <a:srgbClr val="44546A"/>
                </a:solidFill>
                <a:latin typeface="微软雅黑" panose="020B0503020204020204" pitchFamily="34" charset="-122"/>
                <a:ea typeface="微软雅黑" panose="020B0503020204020204" pitchFamily="34" charset="-122"/>
              </a:rPr>
              <a:t>图</a:t>
            </a:r>
            <a:r>
              <a:rPr lang="en-US" altLang="zh-CN" dirty="0">
                <a:solidFill>
                  <a:srgbClr val="44546A"/>
                </a:solidFill>
                <a:latin typeface="微软雅黑" panose="020B0503020204020204" pitchFamily="34" charset="-122"/>
                <a:ea typeface="微软雅黑" panose="020B0503020204020204" pitchFamily="34" charset="-122"/>
              </a:rPr>
              <a:t>  </a:t>
            </a:r>
            <a:r>
              <a:rPr lang="zh-CN" altLang="en-US" dirty="0">
                <a:solidFill>
                  <a:srgbClr val="44546A"/>
                </a:solidFill>
                <a:latin typeface="微软雅黑" panose="020B0503020204020204" pitchFamily="34" charset="-122"/>
                <a:ea typeface="微软雅黑" panose="020B0503020204020204" pitchFamily="34" charset="-122"/>
              </a:rPr>
              <a:t>三个实体集之间一对多的联系</a:t>
            </a:r>
          </a:p>
        </p:txBody>
      </p:sp>
      <p:sp>
        <p:nvSpPr>
          <p:cNvPr id="7" name="文本框 6">
            <a:extLst>
              <a:ext uri="{FF2B5EF4-FFF2-40B4-BE49-F238E27FC236}">
                <a16:creationId xmlns:a16="http://schemas.microsoft.com/office/drawing/2014/main" id="{C6377FDA-2E4D-7FE9-A2F8-116831B39DDA}"/>
              </a:ext>
            </a:extLst>
          </p:cNvPr>
          <p:cNvSpPr txBox="1"/>
          <p:nvPr/>
        </p:nvSpPr>
        <p:spPr>
          <a:xfrm>
            <a:off x="8829675" y="4195677"/>
            <a:ext cx="2730500" cy="644525"/>
          </a:xfrm>
          <a:prstGeom prst="rect">
            <a:avLst/>
          </a:prstGeom>
          <a:noFill/>
        </p:spPr>
        <p:txBody>
          <a:bodyPr wrap="square" rtlCol="0">
            <a:spAutoFit/>
          </a:bodyPr>
          <a:lstStyle/>
          <a:p>
            <a:pPr defTabSz="457200">
              <a:defRPr/>
            </a:pPr>
            <a:r>
              <a:rPr lang="en-US" altLang="zh-CN" dirty="0">
                <a:solidFill>
                  <a:srgbClr val="44546A"/>
                </a:solidFill>
                <a:latin typeface="微软雅黑" panose="020B0503020204020204" pitchFamily="34" charset="-122"/>
                <a:ea typeface="微软雅黑" panose="020B0503020204020204" pitchFamily="34" charset="-122"/>
              </a:rPr>
              <a:t>b.</a:t>
            </a:r>
            <a:r>
              <a:rPr lang="zh-CN" altLang="en-US" dirty="0">
                <a:solidFill>
                  <a:srgbClr val="44546A"/>
                </a:solidFill>
                <a:latin typeface="微软雅黑" panose="020B0503020204020204" pitchFamily="34" charset="-122"/>
                <a:ea typeface="微软雅黑" panose="020B0503020204020204" pitchFamily="34" charset="-122"/>
              </a:rPr>
              <a:t>图</a:t>
            </a:r>
            <a:r>
              <a:rPr lang="en-US" altLang="zh-CN" dirty="0">
                <a:solidFill>
                  <a:srgbClr val="44546A"/>
                </a:solidFill>
                <a:latin typeface="微软雅黑" panose="020B0503020204020204" pitchFamily="34" charset="-122"/>
                <a:ea typeface="微软雅黑" panose="020B0503020204020204" pitchFamily="34" charset="-122"/>
              </a:rPr>
              <a:t>  </a:t>
            </a:r>
            <a:r>
              <a:rPr lang="zh-CN" altLang="en-US" dirty="0">
                <a:solidFill>
                  <a:srgbClr val="44546A"/>
                </a:solidFill>
                <a:latin typeface="微软雅黑" panose="020B0503020204020204" pitchFamily="34" charset="-122"/>
                <a:ea typeface="微软雅黑" panose="020B0503020204020204" pitchFamily="34" charset="-122"/>
              </a:rPr>
              <a:t>三个实体集直接多对多的联系</a:t>
            </a:r>
          </a:p>
        </p:txBody>
      </p:sp>
      <p:sp>
        <p:nvSpPr>
          <p:cNvPr id="8" name="文本框 7">
            <a:extLst>
              <a:ext uri="{FF2B5EF4-FFF2-40B4-BE49-F238E27FC236}">
                <a16:creationId xmlns:a16="http://schemas.microsoft.com/office/drawing/2014/main" id="{A9B9F4CA-5E96-C12E-52F8-2DDE0B48CD2B}"/>
              </a:ext>
            </a:extLst>
          </p:cNvPr>
          <p:cNvSpPr txBox="1"/>
          <p:nvPr/>
        </p:nvSpPr>
        <p:spPr>
          <a:xfrm>
            <a:off x="4697413" y="3625765"/>
            <a:ext cx="1262063" cy="400050"/>
          </a:xfrm>
          <a:prstGeom prst="rect">
            <a:avLst/>
          </a:prstGeom>
          <a:noFill/>
        </p:spPr>
        <p:txBody>
          <a:bodyPr wrap="square" rtlCol="0">
            <a:spAutoFit/>
          </a:bodyPr>
          <a:lstStyle/>
          <a:p>
            <a:pPr marR="0" defTabSz="457200" fontAlgn="auto">
              <a:spcBef>
                <a:spcPts val="0"/>
              </a:spcBef>
              <a:spcAft>
                <a:spcPts val="0"/>
              </a:spcAft>
              <a:buClrTx/>
              <a:buSzTx/>
              <a:buFontTx/>
              <a:buNone/>
              <a:defRPr/>
            </a:pPr>
            <a:r>
              <a:rPr kumimoji="1" lang="en-US" altLang="zh-CN" sz="2000" b="1" kern="1200" cap="none" spc="0" normalizeH="0" baseline="0" noProof="0" dirty="0">
                <a:solidFill>
                  <a:schemeClr val="tx1">
                    <a:lumMod val="65000"/>
                    <a:lumOff val="35000"/>
                  </a:schemeClr>
                </a:solidFill>
                <a:latin typeface="微软雅黑" pitchFamily="34" charset="-122"/>
                <a:ea typeface="YouSheBiaoTiHei" pitchFamily="2" charset="-122"/>
                <a:cs typeface="+mn-cs"/>
              </a:rPr>
              <a:t>m</a:t>
            </a:r>
          </a:p>
        </p:txBody>
      </p:sp>
      <p:sp>
        <p:nvSpPr>
          <p:cNvPr id="9" name="文本框 8">
            <a:extLst>
              <a:ext uri="{FF2B5EF4-FFF2-40B4-BE49-F238E27FC236}">
                <a16:creationId xmlns:a16="http://schemas.microsoft.com/office/drawing/2014/main" id="{FE704BB3-9653-33F5-93B3-EE29FFF29C0A}"/>
              </a:ext>
            </a:extLst>
          </p:cNvPr>
          <p:cNvSpPr txBox="1"/>
          <p:nvPr/>
        </p:nvSpPr>
        <p:spPr>
          <a:xfrm>
            <a:off x="7334250" y="3660690"/>
            <a:ext cx="1262063" cy="398463"/>
          </a:xfrm>
          <a:prstGeom prst="rect">
            <a:avLst/>
          </a:prstGeom>
          <a:noFill/>
        </p:spPr>
        <p:txBody>
          <a:bodyPr wrap="square" rtlCol="0">
            <a:spAutoFit/>
          </a:bodyPr>
          <a:lstStyle/>
          <a:p>
            <a:pPr marR="0" defTabSz="457200" fontAlgn="auto">
              <a:spcBef>
                <a:spcPts val="0"/>
              </a:spcBef>
              <a:spcAft>
                <a:spcPts val="0"/>
              </a:spcAft>
              <a:buClrTx/>
              <a:buSzTx/>
              <a:buFontTx/>
              <a:buNone/>
              <a:defRPr/>
            </a:pPr>
            <a:r>
              <a:rPr kumimoji="1" lang="en-US" altLang="zh-CN" sz="2000" b="1" kern="1200" cap="none" spc="0" normalizeH="0" baseline="0" noProof="0" dirty="0">
                <a:solidFill>
                  <a:schemeClr val="tx1">
                    <a:lumMod val="65000"/>
                    <a:lumOff val="35000"/>
                  </a:schemeClr>
                </a:solidFill>
                <a:latin typeface="微软雅黑" pitchFamily="34" charset="-122"/>
                <a:ea typeface="YouSheBiaoTiHei" pitchFamily="2" charset="-122"/>
                <a:cs typeface="+mn-cs"/>
              </a:rPr>
              <a:t>n</a:t>
            </a:r>
          </a:p>
        </p:txBody>
      </p:sp>
      <p:sp>
        <p:nvSpPr>
          <p:cNvPr id="10" name="文本框 9">
            <a:extLst>
              <a:ext uri="{FF2B5EF4-FFF2-40B4-BE49-F238E27FC236}">
                <a16:creationId xmlns:a16="http://schemas.microsoft.com/office/drawing/2014/main" id="{3B3BF78C-4C6D-78E3-6AF4-FFCE5AD574C4}"/>
              </a:ext>
            </a:extLst>
          </p:cNvPr>
          <p:cNvSpPr txBox="1"/>
          <p:nvPr/>
        </p:nvSpPr>
        <p:spPr>
          <a:xfrm>
            <a:off x="1217613" y="3608302"/>
            <a:ext cx="1262063" cy="398463"/>
          </a:xfrm>
          <a:prstGeom prst="rect">
            <a:avLst/>
          </a:prstGeom>
          <a:noFill/>
        </p:spPr>
        <p:txBody>
          <a:bodyPr wrap="square" rtlCol="0">
            <a:spAutoFit/>
          </a:bodyPr>
          <a:lstStyle/>
          <a:p>
            <a:pPr marR="0" defTabSz="457200" fontAlgn="auto">
              <a:spcBef>
                <a:spcPts val="0"/>
              </a:spcBef>
              <a:spcAft>
                <a:spcPts val="0"/>
              </a:spcAft>
              <a:buClrTx/>
              <a:buSzTx/>
              <a:buFontTx/>
              <a:buNone/>
              <a:defRPr/>
            </a:pPr>
            <a:r>
              <a:rPr kumimoji="1" lang="en-US" altLang="zh-CN" sz="2000" b="1" kern="1200" cap="none" spc="0" normalizeH="0" baseline="0" noProof="0" dirty="0">
                <a:solidFill>
                  <a:schemeClr val="tx1">
                    <a:lumMod val="65000"/>
                    <a:lumOff val="35000"/>
                  </a:schemeClr>
                </a:solidFill>
                <a:latin typeface="微软雅黑" pitchFamily="34" charset="-122"/>
                <a:ea typeface="YouSheBiaoTiHei" pitchFamily="2" charset="-122"/>
                <a:cs typeface="+mn-cs"/>
              </a:rPr>
              <a:t>m</a:t>
            </a:r>
          </a:p>
        </p:txBody>
      </p:sp>
      <p:grpSp>
        <p:nvGrpSpPr>
          <p:cNvPr id="11" name="组合 4">
            <a:extLst>
              <a:ext uri="{FF2B5EF4-FFF2-40B4-BE49-F238E27FC236}">
                <a16:creationId xmlns:a16="http://schemas.microsoft.com/office/drawing/2014/main" id="{1FD23B5B-2F1F-0F05-280D-549F4BD65127}"/>
              </a:ext>
            </a:extLst>
          </p:cNvPr>
          <p:cNvGrpSpPr/>
          <p:nvPr/>
        </p:nvGrpSpPr>
        <p:grpSpPr>
          <a:xfrm>
            <a:off x="723900" y="1704890"/>
            <a:ext cx="3409950" cy="3159125"/>
            <a:chOff x="1611" y="4257"/>
            <a:chExt cx="5370" cy="4975"/>
          </a:xfrm>
        </p:grpSpPr>
        <p:grpSp>
          <p:nvGrpSpPr>
            <p:cNvPr id="12" name="组合 27">
              <a:extLst>
                <a:ext uri="{FF2B5EF4-FFF2-40B4-BE49-F238E27FC236}">
                  <a16:creationId xmlns:a16="http://schemas.microsoft.com/office/drawing/2014/main" id="{7EAB0893-E008-2F66-B13E-7DEB49291D8F}"/>
                </a:ext>
              </a:extLst>
            </p:cNvPr>
            <p:cNvGrpSpPr/>
            <p:nvPr/>
          </p:nvGrpSpPr>
          <p:grpSpPr>
            <a:xfrm>
              <a:off x="4719" y="8427"/>
              <a:ext cx="2262" cy="785"/>
              <a:chOff x="5119" y="4352"/>
              <a:chExt cx="2754" cy="956"/>
            </a:xfrm>
          </p:grpSpPr>
          <p:sp>
            <p:nvSpPr>
              <p:cNvPr id="27" name="矩形 26">
                <a:extLst>
                  <a:ext uri="{FF2B5EF4-FFF2-40B4-BE49-F238E27FC236}">
                    <a16:creationId xmlns:a16="http://schemas.microsoft.com/office/drawing/2014/main" id="{CD1458D6-B3FE-AC41-D2AF-3908D3651886}"/>
                  </a:ext>
                </a:extLst>
              </p:cNvPr>
              <p:cNvSpPr/>
              <p:nvPr/>
            </p:nvSpPr>
            <p:spPr>
              <a:xfrm rot="5400000">
                <a:off x="6022" y="3516"/>
                <a:ext cx="956" cy="2627"/>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28" name="文本框 27">
                <a:extLst>
                  <a:ext uri="{FF2B5EF4-FFF2-40B4-BE49-F238E27FC236}">
                    <a16:creationId xmlns:a16="http://schemas.microsoft.com/office/drawing/2014/main" id="{0A20A93F-6003-9098-5FDF-AA6F6E276A59}"/>
                  </a:ext>
                </a:extLst>
              </p:cNvPr>
              <p:cNvSpPr txBox="1"/>
              <p:nvPr/>
            </p:nvSpPr>
            <p:spPr>
              <a:xfrm>
                <a:off x="5119" y="4432"/>
                <a:ext cx="2754" cy="824"/>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sz="2200" b="1" kern="100" cap="none" spc="0" normalizeH="0" baseline="0" noProof="0" dirty="0">
                    <a:solidFill>
                      <a:schemeClr val="bg1"/>
                    </a:solidFill>
                    <a:latin typeface="微软雅黑" pitchFamily="34" charset="-122"/>
                    <a:ea typeface="微软雅黑" pitchFamily="34" charset="-122"/>
                    <a:cs typeface="+mn-cs"/>
                    <a:sym typeface="+mn-ea"/>
                  </a:rPr>
                  <a:t>参考书</a:t>
                </a:r>
              </a:p>
            </p:txBody>
          </p:sp>
        </p:grpSp>
        <p:grpSp>
          <p:nvGrpSpPr>
            <p:cNvPr id="13" name="组合 33">
              <a:extLst>
                <a:ext uri="{FF2B5EF4-FFF2-40B4-BE49-F238E27FC236}">
                  <a16:creationId xmlns:a16="http://schemas.microsoft.com/office/drawing/2014/main" id="{7BD48044-A10D-328C-DFAA-BFFCA0242BBC}"/>
                </a:ext>
              </a:extLst>
            </p:cNvPr>
            <p:cNvGrpSpPr/>
            <p:nvPr/>
          </p:nvGrpSpPr>
          <p:grpSpPr>
            <a:xfrm>
              <a:off x="3222" y="4257"/>
              <a:ext cx="2094" cy="769"/>
              <a:chOff x="5119" y="4352"/>
              <a:chExt cx="2754" cy="998"/>
            </a:xfrm>
          </p:grpSpPr>
          <p:sp>
            <p:nvSpPr>
              <p:cNvPr id="25" name="矩形 24">
                <a:extLst>
                  <a:ext uri="{FF2B5EF4-FFF2-40B4-BE49-F238E27FC236}">
                    <a16:creationId xmlns:a16="http://schemas.microsoft.com/office/drawing/2014/main" id="{84909FCD-B8B5-0B82-59A4-FC59CEAC3DD7}"/>
                  </a:ext>
                </a:extLst>
              </p:cNvPr>
              <p:cNvSpPr/>
              <p:nvPr/>
            </p:nvSpPr>
            <p:spPr>
              <a:xfrm rot="5400000">
                <a:off x="6022" y="3516"/>
                <a:ext cx="956" cy="2627"/>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26" name="文本框 25">
                <a:extLst>
                  <a:ext uri="{FF2B5EF4-FFF2-40B4-BE49-F238E27FC236}">
                    <a16:creationId xmlns:a16="http://schemas.microsoft.com/office/drawing/2014/main" id="{AF89ECBE-B520-B009-B5B9-64BA129BC407}"/>
                  </a:ext>
                </a:extLst>
              </p:cNvPr>
              <p:cNvSpPr txBox="1"/>
              <p:nvPr/>
            </p:nvSpPr>
            <p:spPr>
              <a:xfrm>
                <a:off x="5119" y="4472"/>
                <a:ext cx="2754" cy="878"/>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sz="2200" b="1" kern="100" cap="none" spc="0" normalizeH="0" baseline="0" noProof="0" dirty="0">
                    <a:solidFill>
                      <a:schemeClr val="bg1"/>
                    </a:solidFill>
                    <a:latin typeface="微软雅黑" pitchFamily="34" charset="-122"/>
                    <a:ea typeface="微软雅黑" pitchFamily="34" charset="-122"/>
                    <a:cs typeface="+mn-cs"/>
                    <a:sym typeface="+mn-ea"/>
                  </a:rPr>
                  <a:t>课程</a:t>
                </a:r>
              </a:p>
            </p:txBody>
          </p:sp>
        </p:grpSp>
        <p:grpSp>
          <p:nvGrpSpPr>
            <p:cNvPr id="14" name="组合 36">
              <a:extLst>
                <a:ext uri="{FF2B5EF4-FFF2-40B4-BE49-F238E27FC236}">
                  <a16:creationId xmlns:a16="http://schemas.microsoft.com/office/drawing/2014/main" id="{CAEBB1DF-F4EE-EA0E-3EE3-5B83D473E551}"/>
                </a:ext>
              </a:extLst>
            </p:cNvPr>
            <p:cNvGrpSpPr/>
            <p:nvPr/>
          </p:nvGrpSpPr>
          <p:grpSpPr>
            <a:xfrm>
              <a:off x="1611" y="8427"/>
              <a:ext cx="2262" cy="805"/>
              <a:chOff x="5082" y="4352"/>
              <a:chExt cx="2754" cy="980"/>
            </a:xfrm>
          </p:grpSpPr>
          <p:sp>
            <p:nvSpPr>
              <p:cNvPr id="23" name="矩形 22">
                <a:extLst>
                  <a:ext uri="{FF2B5EF4-FFF2-40B4-BE49-F238E27FC236}">
                    <a16:creationId xmlns:a16="http://schemas.microsoft.com/office/drawing/2014/main" id="{AC800723-C308-0834-09B6-146728D7D995}"/>
                  </a:ext>
                </a:extLst>
              </p:cNvPr>
              <p:cNvSpPr/>
              <p:nvPr/>
            </p:nvSpPr>
            <p:spPr>
              <a:xfrm rot="5400000">
                <a:off x="6022" y="3516"/>
                <a:ext cx="956" cy="2627"/>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24" name="文本框 23">
                <a:extLst>
                  <a:ext uri="{FF2B5EF4-FFF2-40B4-BE49-F238E27FC236}">
                    <a16:creationId xmlns:a16="http://schemas.microsoft.com/office/drawing/2014/main" id="{9BB56093-112B-C9C6-79D5-42374E81850F}"/>
                  </a:ext>
                </a:extLst>
              </p:cNvPr>
              <p:cNvSpPr txBox="1"/>
              <p:nvPr/>
            </p:nvSpPr>
            <p:spPr>
              <a:xfrm>
                <a:off x="5082" y="4425"/>
                <a:ext cx="2754" cy="907"/>
              </a:xfrm>
              <a:prstGeom prst="rect">
                <a:avLst/>
              </a:prstGeom>
              <a:noFill/>
            </p:spPr>
            <p:txBody>
              <a:bodyPr wrap="square" rtlCol="0">
                <a:noAutofit/>
              </a:bodyPr>
              <a:lstStyle/>
              <a:p>
                <a:pPr marR="0" algn="ctr" defTabSz="457200" fontAlgn="auto">
                  <a:spcBef>
                    <a:spcPts val="0"/>
                  </a:spcBef>
                  <a:spcAft>
                    <a:spcPts val="0"/>
                  </a:spcAft>
                  <a:buClrTx/>
                  <a:buSzTx/>
                  <a:buFontTx/>
                  <a:buNone/>
                  <a:defRPr/>
                </a:pPr>
                <a:r>
                  <a:rPr kumimoji="0" lang="zh-CN" sz="2200" b="1" kern="100" cap="none" spc="0" normalizeH="0" baseline="0" noProof="0" dirty="0">
                    <a:solidFill>
                      <a:schemeClr val="bg1"/>
                    </a:solidFill>
                    <a:latin typeface="微软雅黑" pitchFamily="34" charset="-122"/>
                    <a:ea typeface="微软雅黑" pitchFamily="34" charset="-122"/>
                    <a:cs typeface="+mn-cs"/>
                    <a:sym typeface="+mn-ea"/>
                  </a:rPr>
                  <a:t>教师</a:t>
                </a:r>
              </a:p>
            </p:txBody>
          </p:sp>
        </p:grpSp>
        <p:grpSp>
          <p:nvGrpSpPr>
            <p:cNvPr id="15" name="组合 39">
              <a:extLst>
                <a:ext uri="{FF2B5EF4-FFF2-40B4-BE49-F238E27FC236}">
                  <a16:creationId xmlns:a16="http://schemas.microsoft.com/office/drawing/2014/main" id="{44A7FD64-52F6-E6BA-E764-9F2EBF206348}"/>
                </a:ext>
              </a:extLst>
            </p:cNvPr>
            <p:cNvGrpSpPr/>
            <p:nvPr/>
          </p:nvGrpSpPr>
          <p:grpSpPr>
            <a:xfrm>
              <a:off x="3098" y="5484"/>
              <a:ext cx="2334" cy="1902"/>
              <a:chOff x="2860" y="6218"/>
              <a:chExt cx="2754" cy="2244"/>
            </a:xfrm>
          </p:grpSpPr>
          <p:sp>
            <p:nvSpPr>
              <p:cNvPr id="21" name="椭圆 20">
                <a:extLst>
                  <a:ext uri="{FF2B5EF4-FFF2-40B4-BE49-F238E27FC236}">
                    <a16:creationId xmlns:a16="http://schemas.microsoft.com/office/drawing/2014/main" id="{8CC4D721-6B1B-A797-E0AB-40514EA642CE}"/>
                  </a:ext>
                </a:extLst>
              </p:cNvPr>
              <p:cNvSpPr/>
              <p:nvPr/>
            </p:nvSpPr>
            <p:spPr>
              <a:xfrm>
                <a:off x="3077" y="6218"/>
                <a:ext cx="2244" cy="2244"/>
              </a:xfrm>
              <a:prstGeom prst="ellipse">
                <a:avLst/>
              </a:prstGeom>
              <a:gradFill flip="none" rotWithShape="1">
                <a:gsLst>
                  <a:gs pos="1000">
                    <a:srgbClr val="3982FF"/>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22" name="文本框 21">
                <a:extLst>
                  <a:ext uri="{FF2B5EF4-FFF2-40B4-BE49-F238E27FC236}">
                    <a16:creationId xmlns:a16="http://schemas.microsoft.com/office/drawing/2014/main" id="{290FB089-0368-E10C-872D-F7D57EC456FE}"/>
                  </a:ext>
                </a:extLst>
              </p:cNvPr>
              <p:cNvSpPr txBox="1"/>
              <p:nvPr/>
            </p:nvSpPr>
            <p:spPr>
              <a:xfrm>
                <a:off x="2860" y="7038"/>
                <a:ext cx="2754" cy="741"/>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000" b="1" kern="100" cap="none" spc="0" normalizeH="0" baseline="0" noProof="0" dirty="0">
                    <a:solidFill>
                      <a:schemeClr val="bg1"/>
                    </a:solidFill>
                    <a:latin typeface="微软雅黑" pitchFamily="34" charset="-122"/>
                    <a:ea typeface="微软雅黑" pitchFamily="34" charset="-122"/>
                    <a:cs typeface="+mn-cs"/>
                    <a:sym typeface="+mn-ea"/>
                  </a:rPr>
                  <a:t>讲授</a:t>
                </a:r>
              </a:p>
            </p:txBody>
          </p:sp>
        </p:grpSp>
        <p:grpSp>
          <p:nvGrpSpPr>
            <p:cNvPr id="16" name="组合 66">
              <a:extLst>
                <a:ext uri="{FF2B5EF4-FFF2-40B4-BE49-F238E27FC236}">
                  <a16:creationId xmlns:a16="http://schemas.microsoft.com/office/drawing/2014/main" id="{EF2AFDE6-6BC2-2097-1507-50DFF5A4D342}"/>
                </a:ext>
              </a:extLst>
            </p:cNvPr>
            <p:cNvGrpSpPr/>
            <p:nvPr/>
          </p:nvGrpSpPr>
          <p:grpSpPr>
            <a:xfrm>
              <a:off x="2903" y="5027"/>
              <a:ext cx="1420" cy="3235"/>
              <a:chOff x="3450" y="5015"/>
              <a:chExt cx="1420" cy="3235"/>
            </a:xfrm>
          </p:grpSpPr>
          <p:cxnSp>
            <p:nvCxnSpPr>
              <p:cNvPr id="19" name="直接连接符 18">
                <a:extLst>
                  <a:ext uri="{FF2B5EF4-FFF2-40B4-BE49-F238E27FC236}">
                    <a16:creationId xmlns:a16="http://schemas.microsoft.com/office/drawing/2014/main" id="{D8112C36-8254-19DF-1374-D3E19C63763A}"/>
                  </a:ext>
                </a:extLst>
              </p:cNvPr>
              <p:cNvCxnSpPr/>
              <p:nvPr/>
            </p:nvCxnSpPr>
            <p:spPr>
              <a:xfrm>
                <a:off x="4864" y="5015"/>
                <a:ext cx="6" cy="39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F0B55477-9133-17C3-B75D-C5C3628EC0AA}"/>
                  </a:ext>
                </a:extLst>
              </p:cNvPr>
              <p:cNvCxnSpPr/>
              <p:nvPr/>
            </p:nvCxnSpPr>
            <p:spPr>
              <a:xfrm flipH="1">
                <a:off x="3450" y="7418"/>
                <a:ext cx="956" cy="832"/>
              </a:xfrm>
              <a:prstGeom prst="line">
                <a:avLst/>
              </a:prstGeom>
            </p:spPr>
            <p:style>
              <a:lnRef idx="1">
                <a:schemeClr val="accent1"/>
              </a:lnRef>
              <a:fillRef idx="0">
                <a:schemeClr val="accent1"/>
              </a:fillRef>
              <a:effectRef idx="0">
                <a:schemeClr val="accent1"/>
              </a:effectRef>
              <a:fontRef idx="minor">
                <a:schemeClr val="tx1"/>
              </a:fontRef>
            </p:style>
          </p:cxnSp>
        </p:grpSp>
        <p:sp>
          <p:nvSpPr>
            <p:cNvPr id="17" name="文本框 16">
              <a:extLst>
                <a:ext uri="{FF2B5EF4-FFF2-40B4-BE49-F238E27FC236}">
                  <a16:creationId xmlns:a16="http://schemas.microsoft.com/office/drawing/2014/main" id="{66B550FB-3A7E-8E11-1B4F-AA75DA88FAAD}"/>
                </a:ext>
              </a:extLst>
            </p:cNvPr>
            <p:cNvSpPr txBox="1"/>
            <p:nvPr/>
          </p:nvSpPr>
          <p:spPr>
            <a:xfrm>
              <a:off x="4327" y="4969"/>
              <a:ext cx="1989" cy="580"/>
            </a:xfrm>
            <a:prstGeom prst="rect">
              <a:avLst/>
            </a:prstGeom>
            <a:noFill/>
          </p:spPr>
          <p:txBody>
            <a:bodyPr wrap="square" rtlCol="0">
              <a:spAutoFit/>
            </a:bodyPr>
            <a:lstStyle/>
            <a:p>
              <a:pPr marR="0" defTabSz="457200" fontAlgn="auto">
                <a:spcBef>
                  <a:spcPts val="0"/>
                </a:spcBef>
                <a:spcAft>
                  <a:spcPts val="0"/>
                </a:spcAft>
                <a:buClrTx/>
                <a:buSzTx/>
                <a:buFontTx/>
                <a:buNone/>
                <a:defRPr/>
              </a:pPr>
              <a:r>
                <a:rPr kumimoji="1" lang="en-US" altLang="zh-CN" b="1" kern="1200" cap="none" spc="0" normalizeH="0" baseline="0" noProof="0" dirty="0">
                  <a:solidFill>
                    <a:schemeClr val="tx1">
                      <a:lumMod val="65000"/>
                      <a:lumOff val="35000"/>
                    </a:schemeClr>
                  </a:solidFill>
                  <a:latin typeface="微软雅黑" pitchFamily="34" charset="-122"/>
                  <a:ea typeface="YouSheBiaoTiHei" pitchFamily="2" charset="-122"/>
                  <a:cs typeface="+mn-cs"/>
                </a:rPr>
                <a:t>1</a:t>
              </a:r>
            </a:p>
          </p:txBody>
        </p:sp>
        <p:cxnSp>
          <p:nvCxnSpPr>
            <p:cNvPr id="18" name="直接连接符 17">
              <a:extLst>
                <a:ext uri="{FF2B5EF4-FFF2-40B4-BE49-F238E27FC236}">
                  <a16:creationId xmlns:a16="http://schemas.microsoft.com/office/drawing/2014/main" id="{E8D2513C-1156-FD4B-A6BE-530B471B7EAD}"/>
                </a:ext>
              </a:extLst>
            </p:cNvPr>
            <p:cNvCxnSpPr/>
            <p:nvPr/>
          </p:nvCxnSpPr>
          <p:spPr>
            <a:xfrm>
              <a:off x="4719" y="7442"/>
              <a:ext cx="1204" cy="82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9" name="文本框 28">
            <a:extLst>
              <a:ext uri="{FF2B5EF4-FFF2-40B4-BE49-F238E27FC236}">
                <a16:creationId xmlns:a16="http://schemas.microsoft.com/office/drawing/2014/main" id="{E9B52B09-538D-3F6A-A6EC-B36AB8ACE18E}"/>
              </a:ext>
            </a:extLst>
          </p:cNvPr>
          <p:cNvSpPr txBox="1"/>
          <p:nvPr/>
        </p:nvSpPr>
        <p:spPr>
          <a:xfrm>
            <a:off x="3214688" y="3616240"/>
            <a:ext cx="1262063" cy="398463"/>
          </a:xfrm>
          <a:prstGeom prst="rect">
            <a:avLst/>
          </a:prstGeom>
          <a:noFill/>
        </p:spPr>
        <p:txBody>
          <a:bodyPr wrap="square" rtlCol="0">
            <a:spAutoFit/>
          </a:bodyPr>
          <a:lstStyle/>
          <a:p>
            <a:pPr marR="0" defTabSz="457200" fontAlgn="auto">
              <a:spcBef>
                <a:spcPts val="0"/>
              </a:spcBef>
              <a:spcAft>
                <a:spcPts val="0"/>
              </a:spcAft>
              <a:buClrTx/>
              <a:buSzTx/>
              <a:buFontTx/>
              <a:buNone/>
              <a:defRPr/>
            </a:pPr>
            <a:r>
              <a:rPr kumimoji="1" lang="en-US" altLang="zh-CN" sz="2000" b="1" kern="1200" cap="none" spc="0" normalizeH="0" baseline="0" noProof="0" dirty="0">
                <a:solidFill>
                  <a:schemeClr val="tx1">
                    <a:lumMod val="65000"/>
                    <a:lumOff val="35000"/>
                  </a:schemeClr>
                </a:solidFill>
                <a:latin typeface="微软雅黑" pitchFamily="34" charset="-122"/>
                <a:ea typeface="YouSheBiaoTiHei" pitchFamily="2" charset="-122"/>
                <a:cs typeface="+mn-cs"/>
              </a:rPr>
              <a:t>n</a:t>
            </a:r>
          </a:p>
        </p:txBody>
      </p:sp>
      <p:grpSp>
        <p:nvGrpSpPr>
          <p:cNvPr id="30" name="组合 5">
            <a:extLst>
              <a:ext uri="{FF2B5EF4-FFF2-40B4-BE49-F238E27FC236}">
                <a16:creationId xmlns:a16="http://schemas.microsoft.com/office/drawing/2014/main" id="{5199998B-B583-8EFB-8860-602E10ADC99E}"/>
              </a:ext>
            </a:extLst>
          </p:cNvPr>
          <p:cNvGrpSpPr/>
          <p:nvPr/>
        </p:nvGrpSpPr>
        <p:grpSpPr>
          <a:xfrm>
            <a:off x="4672013" y="1692190"/>
            <a:ext cx="3409950" cy="3159125"/>
            <a:chOff x="1611" y="4257"/>
            <a:chExt cx="5370" cy="4975"/>
          </a:xfrm>
        </p:grpSpPr>
        <p:grpSp>
          <p:nvGrpSpPr>
            <p:cNvPr id="31" name="组合 11">
              <a:extLst>
                <a:ext uri="{FF2B5EF4-FFF2-40B4-BE49-F238E27FC236}">
                  <a16:creationId xmlns:a16="http://schemas.microsoft.com/office/drawing/2014/main" id="{177C38CF-96FA-A876-41B4-F86692C47F2B}"/>
                </a:ext>
              </a:extLst>
            </p:cNvPr>
            <p:cNvGrpSpPr/>
            <p:nvPr/>
          </p:nvGrpSpPr>
          <p:grpSpPr>
            <a:xfrm>
              <a:off x="4719" y="8427"/>
              <a:ext cx="2262" cy="785"/>
              <a:chOff x="5119" y="4352"/>
              <a:chExt cx="2754" cy="956"/>
            </a:xfrm>
          </p:grpSpPr>
          <p:sp>
            <p:nvSpPr>
              <p:cNvPr id="46" name="矩形 45">
                <a:extLst>
                  <a:ext uri="{FF2B5EF4-FFF2-40B4-BE49-F238E27FC236}">
                    <a16:creationId xmlns:a16="http://schemas.microsoft.com/office/drawing/2014/main" id="{841A3403-6116-FA07-7551-3B28511DDEA2}"/>
                  </a:ext>
                </a:extLst>
              </p:cNvPr>
              <p:cNvSpPr/>
              <p:nvPr/>
            </p:nvSpPr>
            <p:spPr>
              <a:xfrm rot="5400000">
                <a:off x="6022" y="3516"/>
                <a:ext cx="956" cy="2627"/>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47" name="文本框 46">
                <a:extLst>
                  <a:ext uri="{FF2B5EF4-FFF2-40B4-BE49-F238E27FC236}">
                    <a16:creationId xmlns:a16="http://schemas.microsoft.com/office/drawing/2014/main" id="{0E93F5D8-FF2E-1291-D882-A2CC16CE8B11}"/>
                  </a:ext>
                </a:extLst>
              </p:cNvPr>
              <p:cNvSpPr txBox="1"/>
              <p:nvPr/>
            </p:nvSpPr>
            <p:spPr>
              <a:xfrm>
                <a:off x="5119" y="4432"/>
                <a:ext cx="2754" cy="824"/>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sz="2200" b="1" kern="100" cap="none" spc="0" normalizeH="0" baseline="0" noProof="0" dirty="0">
                    <a:solidFill>
                      <a:schemeClr val="bg1"/>
                    </a:solidFill>
                    <a:latin typeface="微软雅黑" pitchFamily="34" charset="-122"/>
                    <a:ea typeface="微软雅黑" pitchFamily="34" charset="-122"/>
                    <a:cs typeface="+mn-cs"/>
                    <a:sym typeface="+mn-ea"/>
                  </a:rPr>
                  <a:t>材料</a:t>
                </a:r>
              </a:p>
            </p:txBody>
          </p:sp>
        </p:grpSp>
        <p:grpSp>
          <p:nvGrpSpPr>
            <p:cNvPr id="32" name="组合 16">
              <a:extLst>
                <a:ext uri="{FF2B5EF4-FFF2-40B4-BE49-F238E27FC236}">
                  <a16:creationId xmlns:a16="http://schemas.microsoft.com/office/drawing/2014/main" id="{0FC326A8-997F-FEA8-2B7A-1EF277EA5859}"/>
                </a:ext>
              </a:extLst>
            </p:cNvPr>
            <p:cNvGrpSpPr/>
            <p:nvPr/>
          </p:nvGrpSpPr>
          <p:grpSpPr>
            <a:xfrm>
              <a:off x="3222" y="4257"/>
              <a:ext cx="2094" cy="770"/>
              <a:chOff x="5119" y="4352"/>
              <a:chExt cx="2754" cy="999"/>
            </a:xfrm>
          </p:grpSpPr>
          <p:sp>
            <p:nvSpPr>
              <p:cNvPr id="44" name="矩形 43">
                <a:extLst>
                  <a:ext uri="{FF2B5EF4-FFF2-40B4-BE49-F238E27FC236}">
                    <a16:creationId xmlns:a16="http://schemas.microsoft.com/office/drawing/2014/main" id="{D8833ADF-432B-0303-6D1E-70308BBF562B}"/>
                  </a:ext>
                </a:extLst>
              </p:cNvPr>
              <p:cNvSpPr/>
              <p:nvPr/>
            </p:nvSpPr>
            <p:spPr>
              <a:xfrm rot="5400000">
                <a:off x="6022" y="3516"/>
                <a:ext cx="956" cy="2627"/>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45" name="文本框 44">
                <a:extLst>
                  <a:ext uri="{FF2B5EF4-FFF2-40B4-BE49-F238E27FC236}">
                    <a16:creationId xmlns:a16="http://schemas.microsoft.com/office/drawing/2014/main" id="{F23E5DBC-A4FE-9011-D667-5AD9BA3E700A}"/>
                  </a:ext>
                </a:extLst>
              </p:cNvPr>
              <p:cNvSpPr txBox="1"/>
              <p:nvPr/>
            </p:nvSpPr>
            <p:spPr>
              <a:xfrm>
                <a:off x="5119" y="4472"/>
                <a:ext cx="2754" cy="879"/>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sz="2200" b="1" kern="100" cap="none" spc="0" normalizeH="0" baseline="0" noProof="0" dirty="0">
                    <a:solidFill>
                      <a:schemeClr val="bg1"/>
                    </a:solidFill>
                    <a:latin typeface="微软雅黑" pitchFamily="34" charset="-122"/>
                    <a:ea typeface="微软雅黑" pitchFamily="34" charset="-122"/>
                    <a:cs typeface="+mn-cs"/>
                    <a:sym typeface="+mn-ea"/>
                  </a:rPr>
                  <a:t>供应商</a:t>
                </a:r>
              </a:p>
            </p:txBody>
          </p:sp>
        </p:grpSp>
        <p:grpSp>
          <p:nvGrpSpPr>
            <p:cNvPr id="33" name="组合 20">
              <a:extLst>
                <a:ext uri="{FF2B5EF4-FFF2-40B4-BE49-F238E27FC236}">
                  <a16:creationId xmlns:a16="http://schemas.microsoft.com/office/drawing/2014/main" id="{70FD35AB-E910-9E7C-D815-116E99A758E3}"/>
                </a:ext>
              </a:extLst>
            </p:cNvPr>
            <p:cNvGrpSpPr/>
            <p:nvPr/>
          </p:nvGrpSpPr>
          <p:grpSpPr>
            <a:xfrm>
              <a:off x="1611" y="8427"/>
              <a:ext cx="2262" cy="805"/>
              <a:chOff x="5082" y="4352"/>
              <a:chExt cx="2754" cy="980"/>
            </a:xfrm>
          </p:grpSpPr>
          <p:sp>
            <p:nvSpPr>
              <p:cNvPr id="42" name="矩形 41">
                <a:extLst>
                  <a:ext uri="{FF2B5EF4-FFF2-40B4-BE49-F238E27FC236}">
                    <a16:creationId xmlns:a16="http://schemas.microsoft.com/office/drawing/2014/main" id="{42424827-447B-AE38-ED3C-9463727AD2DB}"/>
                  </a:ext>
                </a:extLst>
              </p:cNvPr>
              <p:cNvSpPr/>
              <p:nvPr/>
            </p:nvSpPr>
            <p:spPr>
              <a:xfrm rot="5400000">
                <a:off x="6022" y="3516"/>
                <a:ext cx="956" cy="2627"/>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43" name="文本框 42">
                <a:extLst>
                  <a:ext uri="{FF2B5EF4-FFF2-40B4-BE49-F238E27FC236}">
                    <a16:creationId xmlns:a16="http://schemas.microsoft.com/office/drawing/2014/main" id="{052F6015-1437-599D-A8AD-FBAFF38F510E}"/>
                  </a:ext>
                </a:extLst>
              </p:cNvPr>
              <p:cNvSpPr txBox="1"/>
              <p:nvPr/>
            </p:nvSpPr>
            <p:spPr>
              <a:xfrm>
                <a:off x="5082" y="4425"/>
                <a:ext cx="2754" cy="907"/>
              </a:xfrm>
              <a:prstGeom prst="rect">
                <a:avLst/>
              </a:prstGeom>
              <a:noFill/>
            </p:spPr>
            <p:txBody>
              <a:bodyPr wrap="square" rtlCol="0">
                <a:noAutofit/>
              </a:bodyPr>
              <a:lstStyle/>
              <a:p>
                <a:pPr marR="0" algn="ctr" defTabSz="457200" fontAlgn="auto">
                  <a:spcBef>
                    <a:spcPts val="0"/>
                  </a:spcBef>
                  <a:spcAft>
                    <a:spcPts val="0"/>
                  </a:spcAft>
                  <a:buClrTx/>
                  <a:buSzTx/>
                  <a:buFontTx/>
                  <a:buNone/>
                  <a:defRPr/>
                </a:pPr>
                <a:r>
                  <a:rPr kumimoji="0" lang="zh-CN" sz="2200" b="1" kern="100" cap="none" spc="0" normalizeH="0" baseline="0" noProof="0" dirty="0">
                    <a:solidFill>
                      <a:schemeClr val="bg1"/>
                    </a:solidFill>
                    <a:latin typeface="微软雅黑" pitchFamily="34" charset="-122"/>
                    <a:ea typeface="微软雅黑" pitchFamily="34" charset="-122"/>
                    <a:cs typeface="+mn-cs"/>
                    <a:sym typeface="+mn-ea"/>
                  </a:rPr>
                  <a:t>工程</a:t>
                </a:r>
              </a:p>
            </p:txBody>
          </p:sp>
        </p:grpSp>
        <p:grpSp>
          <p:nvGrpSpPr>
            <p:cNvPr id="34" name="组合 23">
              <a:extLst>
                <a:ext uri="{FF2B5EF4-FFF2-40B4-BE49-F238E27FC236}">
                  <a16:creationId xmlns:a16="http://schemas.microsoft.com/office/drawing/2014/main" id="{E8057D59-E10F-96EF-6AE1-045B152F0746}"/>
                </a:ext>
              </a:extLst>
            </p:cNvPr>
            <p:cNvGrpSpPr/>
            <p:nvPr/>
          </p:nvGrpSpPr>
          <p:grpSpPr>
            <a:xfrm>
              <a:off x="3098" y="5432"/>
              <a:ext cx="2334" cy="1902"/>
              <a:chOff x="2860" y="6157"/>
              <a:chExt cx="2754" cy="2244"/>
            </a:xfrm>
          </p:grpSpPr>
          <p:sp>
            <p:nvSpPr>
              <p:cNvPr id="40" name="椭圆 39">
                <a:extLst>
                  <a:ext uri="{FF2B5EF4-FFF2-40B4-BE49-F238E27FC236}">
                    <a16:creationId xmlns:a16="http://schemas.microsoft.com/office/drawing/2014/main" id="{005206E8-FC7F-5F70-3437-C0E3C5F92B1B}"/>
                  </a:ext>
                </a:extLst>
              </p:cNvPr>
              <p:cNvSpPr/>
              <p:nvPr/>
            </p:nvSpPr>
            <p:spPr>
              <a:xfrm>
                <a:off x="3106" y="6157"/>
                <a:ext cx="2244" cy="2244"/>
              </a:xfrm>
              <a:prstGeom prst="ellipse">
                <a:avLst/>
              </a:prstGeom>
              <a:gradFill flip="none" rotWithShape="1">
                <a:gsLst>
                  <a:gs pos="1000">
                    <a:srgbClr val="3982FF"/>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41" name="文本框 40">
                <a:extLst>
                  <a:ext uri="{FF2B5EF4-FFF2-40B4-BE49-F238E27FC236}">
                    <a16:creationId xmlns:a16="http://schemas.microsoft.com/office/drawing/2014/main" id="{596B36EC-E270-D592-D932-91CF4D044E63}"/>
                  </a:ext>
                </a:extLst>
              </p:cNvPr>
              <p:cNvSpPr txBox="1"/>
              <p:nvPr/>
            </p:nvSpPr>
            <p:spPr>
              <a:xfrm>
                <a:off x="2860" y="7038"/>
                <a:ext cx="2754" cy="741"/>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000" b="1" kern="100" cap="none" spc="0" normalizeH="0" baseline="0" noProof="0" dirty="0">
                    <a:solidFill>
                      <a:schemeClr val="bg1"/>
                    </a:solidFill>
                    <a:latin typeface="微软雅黑" pitchFamily="34" charset="-122"/>
                    <a:ea typeface="微软雅黑" pitchFamily="34" charset="-122"/>
                    <a:cs typeface="+mn-cs"/>
                    <a:sym typeface="+mn-ea"/>
                  </a:rPr>
                  <a:t>供货</a:t>
                </a:r>
              </a:p>
            </p:txBody>
          </p:sp>
        </p:grpSp>
        <p:grpSp>
          <p:nvGrpSpPr>
            <p:cNvPr id="35" name="组合 48">
              <a:extLst>
                <a:ext uri="{FF2B5EF4-FFF2-40B4-BE49-F238E27FC236}">
                  <a16:creationId xmlns:a16="http://schemas.microsoft.com/office/drawing/2014/main" id="{7FCA6833-355E-9674-2642-6EC455A0EDC5}"/>
                </a:ext>
              </a:extLst>
            </p:cNvPr>
            <p:cNvGrpSpPr/>
            <p:nvPr/>
          </p:nvGrpSpPr>
          <p:grpSpPr>
            <a:xfrm>
              <a:off x="2903" y="5027"/>
              <a:ext cx="1420" cy="3235"/>
              <a:chOff x="3450" y="5015"/>
              <a:chExt cx="1420" cy="3235"/>
            </a:xfrm>
          </p:grpSpPr>
          <p:cxnSp>
            <p:nvCxnSpPr>
              <p:cNvPr id="38" name="直接连接符 37">
                <a:extLst>
                  <a:ext uri="{FF2B5EF4-FFF2-40B4-BE49-F238E27FC236}">
                    <a16:creationId xmlns:a16="http://schemas.microsoft.com/office/drawing/2014/main" id="{2418A0C7-650B-5F52-C0BC-1F7AA08AE877}"/>
                  </a:ext>
                </a:extLst>
              </p:cNvPr>
              <p:cNvCxnSpPr/>
              <p:nvPr/>
            </p:nvCxnSpPr>
            <p:spPr>
              <a:xfrm>
                <a:off x="4864" y="5015"/>
                <a:ext cx="6" cy="3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0D5A9009-62BF-F394-D909-03BEE9474357}"/>
                  </a:ext>
                </a:extLst>
              </p:cNvPr>
              <p:cNvCxnSpPr/>
              <p:nvPr/>
            </p:nvCxnSpPr>
            <p:spPr>
              <a:xfrm flipH="1">
                <a:off x="3450" y="7418"/>
                <a:ext cx="956" cy="832"/>
              </a:xfrm>
              <a:prstGeom prst="line">
                <a:avLst/>
              </a:prstGeom>
            </p:spPr>
            <p:style>
              <a:lnRef idx="1">
                <a:schemeClr val="accent1"/>
              </a:lnRef>
              <a:fillRef idx="0">
                <a:schemeClr val="accent1"/>
              </a:fillRef>
              <a:effectRef idx="0">
                <a:schemeClr val="accent1"/>
              </a:effectRef>
              <a:fontRef idx="minor">
                <a:schemeClr val="tx1"/>
              </a:fontRef>
            </p:style>
          </p:cxnSp>
        </p:grpSp>
        <p:sp>
          <p:nvSpPr>
            <p:cNvPr id="36" name="文本框 35">
              <a:extLst>
                <a:ext uri="{FF2B5EF4-FFF2-40B4-BE49-F238E27FC236}">
                  <a16:creationId xmlns:a16="http://schemas.microsoft.com/office/drawing/2014/main" id="{C397A784-E255-A4FC-9168-20821194EDC7}"/>
                </a:ext>
              </a:extLst>
            </p:cNvPr>
            <p:cNvSpPr txBox="1"/>
            <p:nvPr/>
          </p:nvSpPr>
          <p:spPr>
            <a:xfrm>
              <a:off x="4327" y="4969"/>
              <a:ext cx="1989" cy="580"/>
            </a:xfrm>
            <a:prstGeom prst="rect">
              <a:avLst/>
            </a:prstGeom>
            <a:noFill/>
          </p:spPr>
          <p:txBody>
            <a:bodyPr wrap="square" rtlCol="0">
              <a:spAutoFit/>
            </a:bodyPr>
            <a:lstStyle/>
            <a:p>
              <a:pPr marR="0" defTabSz="457200" fontAlgn="auto">
                <a:spcBef>
                  <a:spcPts val="0"/>
                </a:spcBef>
                <a:spcAft>
                  <a:spcPts val="0"/>
                </a:spcAft>
                <a:buClrTx/>
                <a:buSzTx/>
                <a:buFontTx/>
                <a:buNone/>
                <a:defRPr/>
              </a:pPr>
              <a:r>
                <a:rPr kumimoji="1" lang="en-US" altLang="zh-CN" b="1" kern="1200" cap="none" spc="0" normalizeH="0" baseline="0" noProof="0" dirty="0">
                  <a:solidFill>
                    <a:schemeClr val="tx1">
                      <a:lumMod val="65000"/>
                      <a:lumOff val="35000"/>
                    </a:schemeClr>
                  </a:solidFill>
                  <a:latin typeface="微软雅黑" pitchFamily="34" charset="-122"/>
                  <a:ea typeface="YouSheBiaoTiHei" pitchFamily="2" charset="-122"/>
                  <a:cs typeface="+mn-cs"/>
                </a:rPr>
                <a:t>1</a:t>
              </a:r>
            </a:p>
          </p:txBody>
        </p:sp>
        <p:cxnSp>
          <p:nvCxnSpPr>
            <p:cNvPr id="37" name="直接连接符 36">
              <a:extLst>
                <a:ext uri="{FF2B5EF4-FFF2-40B4-BE49-F238E27FC236}">
                  <a16:creationId xmlns:a16="http://schemas.microsoft.com/office/drawing/2014/main" id="{63C419A6-86ED-700E-0762-C592772E7D6B}"/>
                </a:ext>
              </a:extLst>
            </p:cNvPr>
            <p:cNvCxnSpPr/>
            <p:nvPr/>
          </p:nvCxnSpPr>
          <p:spPr>
            <a:xfrm>
              <a:off x="4719" y="7442"/>
              <a:ext cx="1204" cy="82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54703407"/>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概念模型</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7181F9B1-5737-52E5-163F-3408E15EDE22}"/>
              </a:ext>
            </a:extLst>
          </p:cNvPr>
          <p:cNvSpPr/>
          <p:nvPr/>
        </p:nvSpPr>
        <p:spPr>
          <a:xfrm>
            <a:off x="8061325" y="2782888"/>
            <a:ext cx="3371850" cy="1239838"/>
          </a:xfrm>
          <a:prstGeom prst="rect">
            <a:avLst/>
          </a:prstGeom>
        </p:spPr>
        <p:txBody>
          <a:bodyPr wrap="square">
            <a:noAutofit/>
          </a:bodyPr>
          <a:lstStyle/>
          <a:p>
            <a:pPr marL="0" marR="0" lvl="0" indent="0" algn="l" defTabSz="457200" rtl="0" eaLnBrk="0" fontAlgn="base" latinLnBrk="0" hangingPunct="0">
              <a:lnSpc>
                <a:spcPct val="150000"/>
              </a:lnSpc>
              <a:spcBef>
                <a:spcPct val="20000"/>
              </a:spcBef>
              <a:spcAft>
                <a:spcPct val="0"/>
              </a:spcAft>
              <a:buClrTx/>
              <a:buSzTx/>
              <a:buFontTx/>
              <a:buNone/>
              <a:defRPr/>
            </a:pPr>
            <a:r>
              <a:rPr lang="zh-CN" altLang="zh-CN" b="1" dirty="0">
                <a:solidFill>
                  <a:srgbClr val="44546A"/>
                </a:solidFill>
                <a:latin typeface="微软雅黑" panose="020B0503020204020204" pitchFamily="34" charset="-122"/>
                <a:ea typeface="微软雅黑" panose="020B0503020204020204" pitchFamily="34" charset="-122"/>
                <a:sym typeface="+mn-ea"/>
              </a:rPr>
              <a:t>同一个实体集内的各实体之间也存在一对一、一对多、多对多的联系。</a:t>
            </a:r>
          </a:p>
        </p:txBody>
      </p:sp>
      <p:sp>
        <p:nvSpPr>
          <p:cNvPr id="4" name="文本框 3">
            <a:extLst>
              <a:ext uri="{FF2B5EF4-FFF2-40B4-BE49-F238E27FC236}">
                <a16:creationId xmlns:a16="http://schemas.microsoft.com/office/drawing/2014/main" id="{4C88785E-AFBE-4851-4189-16BA6F16FE68}"/>
              </a:ext>
            </a:extLst>
          </p:cNvPr>
          <p:cNvSpPr txBox="1"/>
          <p:nvPr/>
        </p:nvSpPr>
        <p:spPr>
          <a:xfrm>
            <a:off x="7145338" y="4592638"/>
            <a:ext cx="4286250" cy="369332"/>
          </a:xfrm>
          <a:prstGeom prst="rect">
            <a:avLst/>
          </a:prstGeom>
          <a:noFill/>
        </p:spPr>
        <p:txBody>
          <a:bodyPr wrap="square" rtlCol="0">
            <a:spAutoFit/>
          </a:bodyPr>
          <a:lstStyle/>
          <a:p>
            <a:pPr marR="0" defTabSz="457200" fontAlgn="auto">
              <a:spcBef>
                <a:spcPts val="0"/>
              </a:spcBef>
              <a:spcAft>
                <a:spcPts val="0"/>
              </a:spcAft>
              <a:buClrTx/>
              <a:buSzTx/>
              <a:buFontTx/>
              <a:buNone/>
              <a:defRPr/>
            </a:pPr>
            <a:r>
              <a:rPr lang="zh-CN" altLang="en-US" dirty="0">
                <a:solidFill>
                  <a:srgbClr val="44546A"/>
                </a:solidFill>
                <a:latin typeface="微软雅黑" panose="020B0503020204020204" pitchFamily="34" charset="-122"/>
                <a:ea typeface="微软雅黑" panose="020B0503020204020204" pitchFamily="34" charset="-122"/>
              </a:rPr>
              <a:t>如图表示：</a:t>
            </a:r>
            <a:r>
              <a:rPr lang="en-US" altLang="zh-CN" dirty="0">
                <a:solidFill>
                  <a:srgbClr val="44546A"/>
                </a:solidFill>
                <a:latin typeface="微软雅黑" panose="020B0503020204020204" pitchFamily="34" charset="-122"/>
                <a:ea typeface="微软雅黑" panose="020B0503020204020204" pitchFamily="34" charset="-122"/>
              </a:rPr>
              <a:t>  </a:t>
            </a:r>
            <a:r>
              <a:rPr lang="zh-CN" altLang="en-US" dirty="0">
                <a:solidFill>
                  <a:srgbClr val="44546A"/>
                </a:solidFill>
                <a:latin typeface="微软雅黑" panose="020B0503020204020204" pitchFamily="34" charset="-122"/>
                <a:ea typeface="微软雅黑" panose="020B0503020204020204" pitchFamily="34" charset="-122"/>
              </a:rPr>
              <a:t>同一实体集内</a:t>
            </a:r>
            <a:r>
              <a:rPr lang="en-US" altLang="zh-CN" dirty="0">
                <a:solidFill>
                  <a:srgbClr val="44546A"/>
                </a:solidFill>
                <a:latin typeface="微软雅黑" panose="020B0503020204020204" pitchFamily="34" charset="-122"/>
                <a:ea typeface="微软雅黑" panose="020B0503020204020204" pitchFamily="34" charset="-122"/>
              </a:rPr>
              <a:t>1</a:t>
            </a:r>
            <a:r>
              <a:rPr lang="zh-CN" altLang="en-US" dirty="0">
                <a:solidFill>
                  <a:srgbClr val="44546A"/>
                </a:solidFill>
                <a:latin typeface="微软雅黑" panose="020B0503020204020204" pitchFamily="34" charset="-122"/>
                <a:ea typeface="微软雅黑" panose="020B0503020204020204" pitchFamily="34" charset="-122"/>
              </a:rPr>
              <a:t>：</a:t>
            </a:r>
            <a:r>
              <a:rPr lang="en-US" altLang="zh-CN" dirty="0">
                <a:solidFill>
                  <a:srgbClr val="44546A"/>
                </a:solidFill>
                <a:latin typeface="微软雅黑" panose="020B0503020204020204" pitchFamily="34" charset="-122"/>
                <a:ea typeface="微软雅黑" panose="020B0503020204020204" pitchFamily="34" charset="-122"/>
              </a:rPr>
              <a:t>n</a:t>
            </a:r>
            <a:r>
              <a:rPr lang="zh-CN" altLang="en-US" dirty="0">
                <a:solidFill>
                  <a:srgbClr val="44546A"/>
                </a:solidFill>
                <a:latin typeface="微软雅黑" panose="020B0503020204020204" pitchFamily="34" charset="-122"/>
                <a:ea typeface="微软雅黑" panose="020B0503020204020204" pitchFamily="34" charset="-122"/>
              </a:rPr>
              <a:t>联系</a:t>
            </a:r>
          </a:p>
        </p:txBody>
      </p:sp>
      <p:grpSp>
        <p:nvGrpSpPr>
          <p:cNvPr id="5" name="组合 4">
            <a:extLst>
              <a:ext uri="{FF2B5EF4-FFF2-40B4-BE49-F238E27FC236}">
                <a16:creationId xmlns:a16="http://schemas.microsoft.com/office/drawing/2014/main" id="{9C798DBE-437D-118D-4509-E20FFAD5B7F1}"/>
              </a:ext>
            </a:extLst>
          </p:cNvPr>
          <p:cNvGrpSpPr/>
          <p:nvPr/>
        </p:nvGrpSpPr>
        <p:grpSpPr>
          <a:xfrm>
            <a:off x="3811588" y="2782888"/>
            <a:ext cx="1830387" cy="3230562"/>
            <a:chOff x="2552" y="4420"/>
            <a:chExt cx="2881" cy="5087"/>
          </a:xfrm>
        </p:grpSpPr>
        <p:grpSp>
          <p:nvGrpSpPr>
            <p:cNvPr id="6" name="组合 33">
              <a:extLst>
                <a:ext uri="{FF2B5EF4-FFF2-40B4-BE49-F238E27FC236}">
                  <a16:creationId xmlns:a16="http://schemas.microsoft.com/office/drawing/2014/main" id="{1FC2DC39-C804-9D71-9B34-A2C67B1827C3}"/>
                </a:ext>
              </a:extLst>
            </p:cNvPr>
            <p:cNvGrpSpPr/>
            <p:nvPr/>
          </p:nvGrpSpPr>
          <p:grpSpPr>
            <a:xfrm>
              <a:off x="3177" y="4420"/>
              <a:ext cx="2094" cy="1073"/>
              <a:chOff x="5060" y="4563"/>
              <a:chExt cx="2754" cy="1393"/>
            </a:xfrm>
          </p:grpSpPr>
          <p:sp>
            <p:nvSpPr>
              <p:cNvPr id="13" name="矩形 12">
                <a:extLst>
                  <a:ext uri="{FF2B5EF4-FFF2-40B4-BE49-F238E27FC236}">
                    <a16:creationId xmlns:a16="http://schemas.microsoft.com/office/drawing/2014/main" id="{AEA318E5-A560-C645-9CA6-6E9F6D21ACDA}"/>
                  </a:ext>
                </a:extLst>
              </p:cNvPr>
              <p:cNvSpPr/>
              <p:nvPr/>
            </p:nvSpPr>
            <p:spPr>
              <a:xfrm rot="5400000">
                <a:off x="5709" y="3914"/>
                <a:ext cx="1393" cy="2691"/>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14" name="文本框 13">
                <a:extLst>
                  <a:ext uri="{FF2B5EF4-FFF2-40B4-BE49-F238E27FC236}">
                    <a16:creationId xmlns:a16="http://schemas.microsoft.com/office/drawing/2014/main" id="{A22CD9BA-1094-6B33-D6D9-00CBC4A6B7F1}"/>
                  </a:ext>
                </a:extLst>
              </p:cNvPr>
              <p:cNvSpPr txBox="1"/>
              <p:nvPr/>
            </p:nvSpPr>
            <p:spPr>
              <a:xfrm>
                <a:off x="5060" y="4760"/>
                <a:ext cx="2754" cy="941"/>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en-US" sz="2400" b="1" kern="100" cap="none" spc="0" normalizeH="0" baseline="0" noProof="0" dirty="0">
                    <a:solidFill>
                      <a:schemeClr val="bg1"/>
                    </a:solidFill>
                    <a:latin typeface="微软雅黑" pitchFamily="34" charset="-122"/>
                    <a:ea typeface="微软雅黑" pitchFamily="34" charset="-122"/>
                    <a:cs typeface="+mn-cs"/>
                    <a:sym typeface="+mn-ea"/>
                  </a:rPr>
                  <a:t>职工</a:t>
                </a:r>
              </a:p>
            </p:txBody>
          </p:sp>
        </p:grpSp>
        <p:grpSp>
          <p:nvGrpSpPr>
            <p:cNvPr id="7" name="组合 39">
              <a:extLst>
                <a:ext uri="{FF2B5EF4-FFF2-40B4-BE49-F238E27FC236}">
                  <a16:creationId xmlns:a16="http://schemas.microsoft.com/office/drawing/2014/main" id="{D1AB49CB-BF2B-362A-11C2-5B827D11A006}"/>
                </a:ext>
              </a:extLst>
            </p:cNvPr>
            <p:cNvGrpSpPr/>
            <p:nvPr/>
          </p:nvGrpSpPr>
          <p:grpSpPr>
            <a:xfrm>
              <a:off x="3098" y="7197"/>
              <a:ext cx="2335" cy="2310"/>
              <a:chOff x="2860" y="8239"/>
              <a:chExt cx="2755" cy="2725"/>
            </a:xfrm>
          </p:grpSpPr>
          <p:sp>
            <p:nvSpPr>
              <p:cNvPr id="11" name="椭圆 10">
                <a:extLst>
                  <a:ext uri="{FF2B5EF4-FFF2-40B4-BE49-F238E27FC236}">
                    <a16:creationId xmlns:a16="http://schemas.microsoft.com/office/drawing/2014/main" id="{80F8889E-14D6-B27B-CFC6-F9BA7C85150F}"/>
                  </a:ext>
                </a:extLst>
              </p:cNvPr>
              <p:cNvSpPr/>
              <p:nvPr/>
            </p:nvSpPr>
            <p:spPr>
              <a:xfrm>
                <a:off x="2889" y="8239"/>
                <a:ext cx="2726" cy="2725"/>
              </a:xfrm>
              <a:prstGeom prst="ellipse">
                <a:avLst/>
              </a:prstGeom>
              <a:gradFill flip="none" rotWithShape="1">
                <a:gsLst>
                  <a:gs pos="1000">
                    <a:srgbClr val="3982FF"/>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12" name="文本框 11">
                <a:extLst>
                  <a:ext uri="{FF2B5EF4-FFF2-40B4-BE49-F238E27FC236}">
                    <a16:creationId xmlns:a16="http://schemas.microsoft.com/office/drawing/2014/main" id="{25830304-DC73-529C-4DAB-484BEEDDAF50}"/>
                  </a:ext>
                </a:extLst>
              </p:cNvPr>
              <p:cNvSpPr txBox="1"/>
              <p:nvPr/>
            </p:nvSpPr>
            <p:spPr>
              <a:xfrm>
                <a:off x="2860" y="9182"/>
                <a:ext cx="2754" cy="855"/>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400" b="1" kern="100" cap="none" spc="0" normalizeH="0" baseline="0" noProof="0" dirty="0">
                    <a:solidFill>
                      <a:schemeClr val="bg1"/>
                    </a:solidFill>
                    <a:latin typeface="微软雅黑" pitchFamily="34" charset="-122"/>
                    <a:ea typeface="微软雅黑" pitchFamily="34" charset="-122"/>
                    <a:cs typeface="+mn-cs"/>
                    <a:sym typeface="+mn-ea"/>
                  </a:rPr>
                  <a:t>领导</a:t>
                </a:r>
              </a:p>
            </p:txBody>
          </p:sp>
        </p:grpSp>
        <p:cxnSp>
          <p:nvCxnSpPr>
            <p:cNvPr id="8" name="直接连接符 7">
              <a:extLst>
                <a:ext uri="{FF2B5EF4-FFF2-40B4-BE49-F238E27FC236}">
                  <a16:creationId xmlns:a16="http://schemas.microsoft.com/office/drawing/2014/main" id="{9B30FA57-9E62-9D9E-3785-C69ABA7C5431}"/>
                </a:ext>
              </a:extLst>
            </p:cNvPr>
            <p:cNvCxnSpPr/>
            <p:nvPr/>
          </p:nvCxnSpPr>
          <p:spPr>
            <a:xfrm>
              <a:off x="3543" y="5754"/>
              <a:ext cx="7" cy="1516"/>
            </a:xfrm>
            <a:prstGeom prst="line">
              <a:avLst/>
            </a:prstGeom>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B252FFFE-9608-BB3A-4BBF-960EDA7E6932}"/>
                </a:ext>
              </a:extLst>
            </p:cNvPr>
            <p:cNvSpPr txBox="1"/>
            <p:nvPr/>
          </p:nvSpPr>
          <p:spPr>
            <a:xfrm>
              <a:off x="2552" y="6144"/>
              <a:ext cx="1989" cy="580"/>
            </a:xfrm>
            <a:prstGeom prst="rect">
              <a:avLst/>
            </a:prstGeom>
            <a:noFill/>
          </p:spPr>
          <p:txBody>
            <a:bodyPr wrap="square" rtlCol="0">
              <a:spAutoFit/>
            </a:bodyPr>
            <a:lstStyle/>
            <a:p>
              <a:pPr marR="0" defTabSz="457200" fontAlgn="auto">
                <a:spcBef>
                  <a:spcPts val="0"/>
                </a:spcBef>
                <a:spcAft>
                  <a:spcPts val="0"/>
                </a:spcAft>
                <a:buClrTx/>
                <a:buSzTx/>
                <a:buFontTx/>
                <a:buNone/>
                <a:defRPr/>
              </a:pPr>
              <a:r>
                <a:rPr kumimoji="1" lang="en-US" altLang="zh-CN" b="1" kern="1200" cap="none" spc="0" normalizeH="0" baseline="0" noProof="0" dirty="0">
                  <a:solidFill>
                    <a:schemeClr val="tx1">
                      <a:lumMod val="65000"/>
                      <a:lumOff val="35000"/>
                    </a:schemeClr>
                  </a:solidFill>
                  <a:latin typeface="微软雅黑" pitchFamily="34" charset="-122"/>
                  <a:ea typeface="YouSheBiaoTiHei" pitchFamily="2" charset="-122"/>
                  <a:cs typeface="+mn-cs"/>
                </a:rPr>
                <a:t>1</a:t>
              </a:r>
            </a:p>
          </p:txBody>
        </p:sp>
        <p:cxnSp>
          <p:nvCxnSpPr>
            <p:cNvPr id="10" name="直接连接符 9">
              <a:extLst>
                <a:ext uri="{FF2B5EF4-FFF2-40B4-BE49-F238E27FC236}">
                  <a16:creationId xmlns:a16="http://schemas.microsoft.com/office/drawing/2014/main" id="{3EA9A7E3-976D-0BCD-28C7-533B29264727}"/>
                </a:ext>
              </a:extLst>
            </p:cNvPr>
            <p:cNvCxnSpPr/>
            <p:nvPr/>
          </p:nvCxnSpPr>
          <p:spPr>
            <a:xfrm flipH="1">
              <a:off x="4906" y="5753"/>
              <a:ext cx="24" cy="1516"/>
            </a:xfrm>
            <a:prstGeom prst="line">
              <a:avLst/>
            </a:prstGeom>
          </p:spPr>
          <p:style>
            <a:lnRef idx="1">
              <a:schemeClr val="accent1"/>
            </a:lnRef>
            <a:fillRef idx="0">
              <a:schemeClr val="accent1"/>
            </a:fillRef>
            <a:effectRef idx="0">
              <a:schemeClr val="accent1"/>
            </a:effectRef>
            <a:fontRef idx="minor">
              <a:schemeClr val="tx1"/>
            </a:fontRef>
          </p:style>
        </p:cxnSp>
      </p:grpSp>
      <p:sp>
        <p:nvSpPr>
          <p:cNvPr id="15" name="文本框 14">
            <a:extLst>
              <a:ext uri="{FF2B5EF4-FFF2-40B4-BE49-F238E27FC236}">
                <a16:creationId xmlns:a16="http://schemas.microsoft.com/office/drawing/2014/main" id="{4012FB1D-8770-B0CD-B876-26CA9E9A4CF1}"/>
              </a:ext>
            </a:extLst>
          </p:cNvPr>
          <p:cNvSpPr txBox="1"/>
          <p:nvPr/>
        </p:nvSpPr>
        <p:spPr>
          <a:xfrm>
            <a:off x="5622925" y="3884613"/>
            <a:ext cx="1262063" cy="368300"/>
          </a:xfrm>
          <a:prstGeom prst="rect">
            <a:avLst/>
          </a:prstGeom>
          <a:noFill/>
        </p:spPr>
        <p:txBody>
          <a:bodyPr wrap="square" rtlCol="0">
            <a:spAutoFit/>
          </a:bodyPr>
          <a:lstStyle/>
          <a:p>
            <a:pPr marR="0" defTabSz="457200" fontAlgn="auto">
              <a:spcBef>
                <a:spcPts val="0"/>
              </a:spcBef>
              <a:spcAft>
                <a:spcPts val="0"/>
              </a:spcAft>
              <a:buClrTx/>
              <a:buSzTx/>
              <a:buFontTx/>
              <a:buNone/>
              <a:defRPr/>
            </a:pPr>
            <a:r>
              <a:rPr kumimoji="1" lang="en-US" altLang="zh-CN" b="1" kern="1200" cap="none" spc="0" normalizeH="0" baseline="0" noProof="0" dirty="0">
                <a:solidFill>
                  <a:schemeClr val="tx1">
                    <a:lumMod val="65000"/>
                    <a:lumOff val="35000"/>
                  </a:schemeClr>
                </a:solidFill>
                <a:latin typeface="微软雅黑" pitchFamily="34" charset="-122"/>
                <a:ea typeface="YouSheBiaoTiHei" pitchFamily="2" charset="-122"/>
                <a:cs typeface="+mn-cs"/>
              </a:rPr>
              <a:t>n</a:t>
            </a:r>
          </a:p>
        </p:txBody>
      </p:sp>
    </p:spTree>
    <p:extLst>
      <p:ext uri="{BB962C8B-B14F-4D97-AF65-F5344CB8AC3E}">
        <p14:creationId xmlns:p14="http://schemas.microsoft.com/office/powerpoint/2010/main" val="2368429699"/>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概念模型</a:t>
            </a:r>
            <a:endParaRPr lang="en-US" altLang="zh-CN" b="1" dirty="0">
              <a:solidFill>
                <a:srgbClr val="44546A"/>
              </a:solidFill>
              <a:latin typeface="微软雅黑" panose="020B0503020204020204" pitchFamily="34" charset="-122"/>
              <a:ea typeface="微软雅黑" panose="020B0503020204020204" pitchFamily="34" charset="-122"/>
            </a:endParaRPr>
          </a:p>
        </p:txBody>
      </p:sp>
      <p:cxnSp>
        <p:nvCxnSpPr>
          <p:cNvPr id="3" name="直接连接符 2">
            <a:extLst>
              <a:ext uri="{FF2B5EF4-FFF2-40B4-BE49-F238E27FC236}">
                <a16:creationId xmlns:a16="http://schemas.microsoft.com/office/drawing/2014/main" id="{7063E686-529D-FED4-09F7-C56445F795C0}"/>
              </a:ext>
            </a:extLst>
          </p:cNvPr>
          <p:cNvCxnSpPr>
            <a:endCxn id="15" idx="0"/>
          </p:cNvCxnSpPr>
          <p:nvPr/>
        </p:nvCxnSpPr>
        <p:spPr>
          <a:xfrm>
            <a:off x="8809038" y="3246438"/>
            <a:ext cx="12700" cy="1490663"/>
          </a:xfrm>
          <a:prstGeom prst="line">
            <a:avLst/>
          </a:prstGeom>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D677F842-87A9-6784-93B6-040D3AD67032}"/>
              </a:ext>
            </a:extLst>
          </p:cNvPr>
          <p:cNvSpPr/>
          <p:nvPr/>
        </p:nvSpPr>
        <p:spPr>
          <a:xfrm>
            <a:off x="924718" y="1168780"/>
            <a:ext cx="4246563" cy="1963738"/>
          </a:xfrm>
          <a:prstGeom prst="rect">
            <a:avLst/>
          </a:prstGeom>
        </p:spPr>
        <p:txBody>
          <a:bodyPr wrap="square">
            <a:noAutofit/>
          </a:bodyPr>
          <a:lstStyle/>
          <a:p>
            <a:pPr marL="0" marR="0" lvl="0" indent="0" algn="l" defTabSz="457200" rtl="0" eaLnBrk="0" fontAlgn="base" latinLnBrk="0" hangingPunct="0">
              <a:lnSpc>
                <a:spcPct val="150000"/>
              </a:lnSpc>
              <a:spcBef>
                <a:spcPct val="20000"/>
              </a:spcBef>
              <a:spcAft>
                <a:spcPct val="0"/>
              </a:spcAft>
              <a:buClrTx/>
              <a:buSzTx/>
              <a:buFontTx/>
              <a:buNone/>
              <a:defRPr/>
            </a:pPr>
            <a:r>
              <a:rPr lang="zh-CN" altLang="zh-CN" b="1" dirty="0">
                <a:solidFill>
                  <a:srgbClr val="44546A"/>
                </a:solidFill>
                <a:latin typeface="微软雅黑" panose="020B0503020204020204" pitchFamily="34" charset="-122"/>
                <a:ea typeface="微软雅黑" panose="020B0503020204020204" pitchFamily="34" charset="-122"/>
                <a:sym typeface="+mn-ea"/>
              </a:rPr>
              <a:t>注意：</a:t>
            </a:r>
            <a:r>
              <a:rPr lang="zh-CN" altLang="zh-CN" dirty="0">
                <a:solidFill>
                  <a:srgbClr val="44546A"/>
                </a:solidFill>
                <a:latin typeface="微软雅黑" panose="020B0503020204020204" pitchFamily="34" charset="-122"/>
                <a:ea typeface="微软雅黑" panose="020B0503020204020204" pitchFamily="34" charset="-122"/>
                <a:sym typeface="+mn-ea"/>
              </a:rPr>
              <a:t>如果联系也具有属性，则这些属性也要用无向边与该联系连接起来。</a:t>
            </a:r>
            <a:endParaRPr lang="en-US" altLang="zh-CN" dirty="0">
              <a:solidFill>
                <a:srgbClr val="44546A"/>
              </a:solidFill>
              <a:latin typeface="微软雅黑" panose="020B0503020204020204" pitchFamily="34" charset="-122"/>
              <a:ea typeface="微软雅黑" panose="020B0503020204020204" pitchFamily="34" charset="-122"/>
            </a:endParaRPr>
          </a:p>
          <a:p>
            <a:pPr marL="0" marR="0" lvl="0" indent="0" algn="l" defTabSz="457200" rtl="0" eaLnBrk="0" fontAlgn="base" latinLnBrk="0" hangingPunct="0">
              <a:lnSpc>
                <a:spcPct val="150000"/>
              </a:lnSpc>
              <a:spcBef>
                <a:spcPct val="20000"/>
              </a:spcBef>
              <a:spcAft>
                <a:spcPct val="0"/>
              </a:spcAft>
              <a:buClrTx/>
              <a:buSzTx/>
              <a:buFontTx/>
              <a:buNone/>
              <a:defRPr/>
            </a:pPr>
            <a:r>
              <a:rPr lang="zh-CN" altLang="zh-CN" dirty="0">
                <a:solidFill>
                  <a:srgbClr val="44546A"/>
                </a:solidFill>
                <a:latin typeface="微软雅黑" panose="020B0503020204020204" pitchFamily="34" charset="-122"/>
                <a:ea typeface="微软雅黑" panose="020B0503020204020204" pitchFamily="34" charset="-122"/>
                <a:sym typeface="+mn-ea"/>
              </a:rPr>
              <a:t>例如学生与课程之间存在学习的联系，学习就有“成绩”这一属性。</a:t>
            </a:r>
            <a:endParaRPr lang="zh-CN" altLang="en-US" dirty="0">
              <a:solidFill>
                <a:srgbClr val="44546A"/>
              </a:solidFill>
              <a:latin typeface="微软雅黑" panose="020B0503020204020204" pitchFamily="34" charset="-122"/>
              <a:ea typeface="微软雅黑" panose="020B0503020204020204" pitchFamily="34" charset="-122"/>
            </a:endParaRPr>
          </a:p>
          <a:p>
            <a:pPr marL="0" marR="0" lvl="0" indent="0" algn="l" defTabSz="457200" rtl="0" eaLnBrk="0" fontAlgn="base" latinLnBrk="0" hangingPunct="0">
              <a:lnSpc>
                <a:spcPct val="150000"/>
              </a:lnSpc>
              <a:spcBef>
                <a:spcPct val="20000"/>
              </a:spcBef>
              <a:spcAft>
                <a:spcPct val="0"/>
              </a:spcAft>
              <a:buClrTx/>
              <a:buSzTx/>
              <a:buFontTx/>
              <a:buNone/>
              <a:defRPr/>
            </a:pPr>
            <a:endParaRPr kumimoji="0" lang="zh-CN" altLang="zh-CN" sz="1800" b="1" i="0" u="none" strike="noStrike" kern="0" cap="none" spc="0" normalizeH="0" baseline="0" noProof="0" dirty="0">
              <a:ln>
                <a:noFill/>
              </a:ln>
              <a:solidFill>
                <a:srgbClr val="3982FF"/>
              </a:solidFill>
              <a:effectLst/>
              <a:uLnTx/>
              <a:uFillTx/>
              <a:latin typeface="微软雅黑" pitchFamily="34" charset="-122"/>
              <a:ea typeface="微软雅黑" pitchFamily="34" charset="-122"/>
              <a:cs typeface="+mn-ea"/>
              <a:sym typeface="+mn-ea"/>
            </a:endParaRPr>
          </a:p>
        </p:txBody>
      </p:sp>
      <p:grpSp>
        <p:nvGrpSpPr>
          <p:cNvPr id="6" name="组合 33">
            <a:extLst>
              <a:ext uri="{FF2B5EF4-FFF2-40B4-BE49-F238E27FC236}">
                <a16:creationId xmlns:a16="http://schemas.microsoft.com/office/drawing/2014/main" id="{DF31BE90-2113-C516-DC9C-CF8266B449E1}"/>
              </a:ext>
            </a:extLst>
          </p:cNvPr>
          <p:cNvGrpSpPr/>
          <p:nvPr/>
        </p:nvGrpSpPr>
        <p:grpSpPr>
          <a:xfrm>
            <a:off x="8308975" y="2732088"/>
            <a:ext cx="1003300" cy="514350"/>
            <a:chOff x="5060" y="4563"/>
            <a:chExt cx="2754" cy="1393"/>
          </a:xfrm>
        </p:grpSpPr>
        <p:sp>
          <p:nvSpPr>
            <p:cNvPr id="7" name="矩形 6">
              <a:extLst>
                <a:ext uri="{FF2B5EF4-FFF2-40B4-BE49-F238E27FC236}">
                  <a16:creationId xmlns:a16="http://schemas.microsoft.com/office/drawing/2014/main" id="{F95B2601-DDCF-04F3-1E89-5A81A05EA19E}"/>
                </a:ext>
              </a:extLst>
            </p:cNvPr>
            <p:cNvSpPr/>
            <p:nvPr/>
          </p:nvSpPr>
          <p:spPr>
            <a:xfrm rot="5400000">
              <a:off x="5709" y="3914"/>
              <a:ext cx="1393" cy="2691"/>
            </a:xfrm>
            <a:prstGeom prst="rect">
              <a:avLst/>
            </a:prstGeom>
            <a:gradFill flip="none" rotWithShape="1">
              <a:gsLst>
                <a:gs pos="0">
                  <a:srgbClr val="3982FF"/>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8" name="文本框 7">
              <a:extLst>
                <a:ext uri="{FF2B5EF4-FFF2-40B4-BE49-F238E27FC236}">
                  <a16:creationId xmlns:a16="http://schemas.microsoft.com/office/drawing/2014/main" id="{A0D8D7E9-DA2F-3984-FC69-835672EDEE02}"/>
                </a:ext>
              </a:extLst>
            </p:cNvPr>
            <p:cNvSpPr txBox="1"/>
            <p:nvPr/>
          </p:nvSpPr>
          <p:spPr>
            <a:xfrm>
              <a:off x="5060" y="4760"/>
              <a:ext cx="2754" cy="1079"/>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en-US" sz="2000" b="1" kern="100" cap="none" spc="0" normalizeH="0" baseline="0" noProof="0" dirty="0">
                  <a:solidFill>
                    <a:schemeClr val="bg1"/>
                  </a:solidFill>
                  <a:latin typeface="微软雅黑" pitchFamily="34" charset="-122"/>
                  <a:ea typeface="微软雅黑" pitchFamily="34" charset="-122"/>
                  <a:cs typeface="+mn-cs"/>
                  <a:sym typeface="+mn-ea"/>
                </a:rPr>
                <a:t>课程</a:t>
              </a:r>
            </a:p>
          </p:txBody>
        </p:sp>
      </p:grpSp>
      <p:grpSp>
        <p:nvGrpSpPr>
          <p:cNvPr id="9" name="组合 39">
            <a:extLst>
              <a:ext uri="{FF2B5EF4-FFF2-40B4-BE49-F238E27FC236}">
                <a16:creationId xmlns:a16="http://schemas.microsoft.com/office/drawing/2014/main" id="{F1BDB4BB-0133-3C56-22CC-16A1E67BE9DA}"/>
              </a:ext>
            </a:extLst>
          </p:cNvPr>
          <p:cNvGrpSpPr/>
          <p:nvPr/>
        </p:nvGrpSpPr>
        <p:grpSpPr>
          <a:xfrm>
            <a:off x="8328025" y="3470275"/>
            <a:ext cx="958850" cy="950913"/>
            <a:chOff x="2889" y="8239"/>
            <a:chExt cx="2754" cy="2725"/>
          </a:xfrm>
        </p:grpSpPr>
        <p:sp>
          <p:nvSpPr>
            <p:cNvPr id="10" name="椭圆 9">
              <a:extLst>
                <a:ext uri="{FF2B5EF4-FFF2-40B4-BE49-F238E27FC236}">
                  <a16:creationId xmlns:a16="http://schemas.microsoft.com/office/drawing/2014/main" id="{945BB753-7433-C030-68E2-1099B4E759A0}"/>
                </a:ext>
              </a:extLst>
            </p:cNvPr>
            <p:cNvSpPr/>
            <p:nvPr/>
          </p:nvSpPr>
          <p:spPr>
            <a:xfrm>
              <a:off x="2889" y="8239"/>
              <a:ext cx="2726" cy="2725"/>
            </a:xfrm>
            <a:prstGeom prst="ellipse">
              <a:avLst/>
            </a:prstGeom>
            <a:solidFill>
              <a:srgbClr val="FAA35E"/>
            </a:soli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11" name="文本框 10">
              <a:extLst>
                <a:ext uri="{FF2B5EF4-FFF2-40B4-BE49-F238E27FC236}">
                  <a16:creationId xmlns:a16="http://schemas.microsoft.com/office/drawing/2014/main" id="{68DB66CA-DDC4-E816-EC29-8D54A99F926F}"/>
                </a:ext>
              </a:extLst>
            </p:cNvPr>
            <p:cNvSpPr txBox="1"/>
            <p:nvPr/>
          </p:nvSpPr>
          <p:spPr>
            <a:xfrm>
              <a:off x="2889" y="9030"/>
              <a:ext cx="2754" cy="1144"/>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000" b="1" kern="100" cap="none" spc="0" normalizeH="0" baseline="0" noProof="0" dirty="0">
                  <a:solidFill>
                    <a:schemeClr val="bg1"/>
                  </a:solidFill>
                  <a:latin typeface="微软雅黑" pitchFamily="34" charset="-122"/>
                  <a:ea typeface="微软雅黑" pitchFamily="34" charset="-122"/>
                  <a:cs typeface="+mn-cs"/>
                  <a:sym typeface="+mn-ea"/>
                </a:rPr>
                <a:t>学习</a:t>
              </a:r>
            </a:p>
          </p:txBody>
        </p:sp>
      </p:grpSp>
      <p:cxnSp>
        <p:nvCxnSpPr>
          <p:cNvPr id="12" name="直接连接符 11">
            <a:extLst>
              <a:ext uri="{FF2B5EF4-FFF2-40B4-BE49-F238E27FC236}">
                <a16:creationId xmlns:a16="http://schemas.microsoft.com/office/drawing/2014/main" id="{2821594D-65CD-3943-BD7C-ABC1002B9335}"/>
              </a:ext>
            </a:extLst>
          </p:cNvPr>
          <p:cNvCxnSpPr>
            <a:stCxn id="11" idx="3"/>
          </p:cNvCxnSpPr>
          <p:nvPr/>
        </p:nvCxnSpPr>
        <p:spPr>
          <a:xfrm flipV="1">
            <a:off x="9286875" y="3927475"/>
            <a:ext cx="690563" cy="19050"/>
          </a:xfrm>
          <a:prstGeom prst="line">
            <a:avLst/>
          </a:prstGeom>
        </p:spPr>
        <p:style>
          <a:lnRef idx="1">
            <a:schemeClr val="accent1"/>
          </a:lnRef>
          <a:fillRef idx="0">
            <a:schemeClr val="accent1"/>
          </a:fillRef>
          <a:effectRef idx="0">
            <a:schemeClr val="accent1"/>
          </a:effectRef>
          <a:fontRef idx="minor">
            <a:schemeClr val="tx1"/>
          </a:fontRef>
        </p:style>
      </p:cxnSp>
      <p:grpSp>
        <p:nvGrpSpPr>
          <p:cNvPr id="13" name="组合 2">
            <a:extLst>
              <a:ext uri="{FF2B5EF4-FFF2-40B4-BE49-F238E27FC236}">
                <a16:creationId xmlns:a16="http://schemas.microsoft.com/office/drawing/2014/main" id="{9D71093A-A4ED-88BC-59BF-9288EFA9B912}"/>
              </a:ext>
            </a:extLst>
          </p:cNvPr>
          <p:cNvGrpSpPr/>
          <p:nvPr/>
        </p:nvGrpSpPr>
        <p:grpSpPr>
          <a:xfrm>
            <a:off x="8318500" y="4664075"/>
            <a:ext cx="1004888" cy="514350"/>
            <a:chOff x="5060" y="4563"/>
            <a:chExt cx="2754" cy="1393"/>
          </a:xfrm>
        </p:grpSpPr>
        <p:sp>
          <p:nvSpPr>
            <p:cNvPr id="14" name="矩形 13">
              <a:extLst>
                <a:ext uri="{FF2B5EF4-FFF2-40B4-BE49-F238E27FC236}">
                  <a16:creationId xmlns:a16="http://schemas.microsoft.com/office/drawing/2014/main" id="{9F26095D-EBF9-EF45-9F94-3CF47452E368}"/>
                </a:ext>
              </a:extLst>
            </p:cNvPr>
            <p:cNvSpPr/>
            <p:nvPr/>
          </p:nvSpPr>
          <p:spPr>
            <a:xfrm rot="5400000">
              <a:off x="5709" y="3914"/>
              <a:ext cx="1393" cy="2691"/>
            </a:xfrm>
            <a:prstGeom prst="rect">
              <a:avLst/>
            </a:prstGeom>
            <a:gradFill flip="none" rotWithShape="1">
              <a:gsLst>
                <a:gs pos="0">
                  <a:srgbClr val="3982FF"/>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15" name="文本框 14">
              <a:extLst>
                <a:ext uri="{FF2B5EF4-FFF2-40B4-BE49-F238E27FC236}">
                  <a16:creationId xmlns:a16="http://schemas.microsoft.com/office/drawing/2014/main" id="{07DE1D05-EEBB-2D57-D505-60E6413E53F5}"/>
                </a:ext>
              </a:extLst>
            </p:cNvPr>
            <p:cNvSpPr txBox="1"/>
            <p:nvPr/>
          </p:nvSpPr>
          <p:spPr>
            <a:xfrm>
              <a:off x="5060" y="4760"/>
              <a:ext cx="2754" cy="1079"/>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en-US" sz="2000" b="1" kern="100" cap="none" spc="0" normalizeH="0" baseline="0" noProof="0" dirty="0">
                  <a:solidFill>
                    <a:schemeClr val="bg1"/>
                  </a:solidFill>
                  <a:latin typeface="微软雅黑" pitchFamily="34" charset="-122"/>
                  <a:ea typeface="微软雅黑" pitchFamily="34" charset="-122"/>
                  <a:cs typeface="+mn-cs"/>
                  <a:sym typeface="+mn-ea"/>
                </a:rPr>
                <a:t>学生</a:t>
              </a:r>
            </a:p>
          </p:txBody>
        </p:sp>
      </p:grpSp>
      <p:grpSp>
        <p:nvGrpSpPr>
          <p:cNvPr id="16" name="组合 11">
            <a:extLst>
              <a:ext uri="{FF2B5EF4-FFF2-40B4-BE49-F238E27FC236}">
                <a16:creationId xmlns:a16="http://schemas.microsoft.com/office/drawing/2014/main" id="{6FB0F356-623C-FF95-303E-3F5ACE98409E}"/>
              </a:ext>
            </a:extLst>
          </p:cNvPr>
          <p:cNvGrpSpPr/>
          <p:nvPr/>
        </p:nvGrpSpPr>
        <p:grpSpPr>
          <a:xfrm>
            <a:off x="10098088" y="3476625"/>
            <a:ext cx="960437" cy="950913"/>
            <a:chOff x="2889" y="8239"/>
            <a:chExt cx="2754" cy="2725"/>
          </a:xfrm>
        </p:grpSpPr>
        <p:sp>
          <p:nvSpPr>
            <p:cNvPr id="17" name="椭圆 16">
              <a:extLst>
                <a:ext uri="{FF2B5EF4-FFF2-40B4-BE49-F238E27FC236}">
                  <a16:creationId xmlns:a16="http://schemas.microsoft.com/office/drawing/2014/main" id="{07CF5F92-5514-DAAE-CCCF-C98729E670D2}"/>
                </a:ext>
              </a:extLst>
            </p:cNvPr>
            <p:cNvSpPr/>
            <p:nvPr/>
          </p:nvSpPr>
          <p:spPr>
            <a:xfrm>
              <a:off x="2889" y="8239"/>
              <a:ext cx="2726" cy="2725"/>
            </a:xfrm>
            <a:prstGeom prst="ellipse">
              <a:avLst/>
            </a:prstGeom>
            <a:gradFill flip="none" rotWithShape="1">
              <a:gsLst>
                <a:gs pos="1000">
                  <a:srgbClr val="E6E8F1"/>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18" name="文本框 17">
              <a:extLst>
                <a:ext uri="{FF2B5EF4-FFF2-40B4-BE49-F238E27FC236}">
                  <a16:creationId xmlns:a16="http://schemas.microsoft.com/office/drawing/2014/main" id="{8B70A873-2DDD-5AAF-689C-9E196DE7EE9A}"/>
                </a:ext>
              </a:extLst>
            </p:cNvPr>
            <p:cNvSpPr txBox="1"/>
            <p:nvPr/>
          </p:nvSpPr>
          <p:spPr>
            <a:xfrm>
              <a:off x="2889" y="9030"/>
              <a:ext cx="2754" cy="1144"/>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2000" b="1" kern="100" cap="none" spc="0" normalizeH="0" baseline="0" noProof="0" dirty="0">
                  <a:solidFill>
                    <a:schemeClr val="bg1"/>
                  </a:solidFill>
                  <a:latin typeface="微软雅黑" pitchFamily="34" charset="-122"/>
                  <a:ea typeface="微软雅黑" pitchFamily="34" charset="-122"/>
                  <a:cs typeface="+mn-cs"/>
                  <a:sym typeface="+mn-ea"/>
                </a:rPr>
                <a:t>成绩</a:t>
              </a:r>
            </a:p>
          </p:txBody>
        </p:sp>
      </p:grpSp>
      <p:grpSp>
        <p:nvGrpSpPr>
          <p:cNvPr id="19" name="组合 16">
            <a:extLst>
              <a:ext uri="{FF2B5EF4-FFF2-40B4-BE49-F238E27FC236}">
                <a16:creationId xmlns:a16="http://schemas.microsoft.com/office/drawing/2014/main" id="{E06DAC4F-AFFE-DDF7-A545-25EF5A159D9A}"/>
              </a:ext>
            </a:extLst>
          </p:cNvPr>
          <p:cNvGrpSpPr/>
          <p:nvPr/>
        </p:nvGrpSpPr>
        <p:grpSpPr>
          <a:xfrm>
            <a:off x="6350000" y="1389063"/>
            <a:ext cx="1349375" cy="950912"/>
            <a:chOff x="2370" y="8239"/>
            <a:chExt cx="3872" cy="2725"/>
          </a:xfrm>
        </p:grpSpPr>
        <p:sp>
          <p:nvSpPr>
            <p:cNvPr id="20" name="椭圆 19">
              <a:extLst>
                <a:ext uri="{FF2B5EF4-FFF2-40B4-BE49-F238E27FC236}">
                  <a16:creationId xmlns:a16="http://schemas.microsoft.com/office/drawing/2014/main" id="{E3642904-AE26-3B24-3075-1F7EF21284F5}"/>
                </a:ext>
              </a:extLst>
            </p:cNvPr>
            <p:cNvSpPr/>
            <p:nvPr/>
          </p:nvSpPr>
          <p:spPr>
            <a:xfrm>
              <a:off x="2889" y="8239"/>
              <a:ext cx="2726" cy="2725"/>
            </a:xfrm>
            <a:prstGeom prst="ellipse">
              <a:avLst/>
            </a:prstGeom>
            <a:gradFill flip="none" rotWithShape="1">
              <a:gsLst>
                <a:gs pos="1000">
                  <a:schemeClr val="accent6">
                    <a:lumMod val="60000"/>
                    <a:lumOff val="40000"/>
                  </a:schemeClr>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21" name="文本框 20">
              <a:extLst>
                <a:ext uri="{FF2B5EF4-FFF2-40B4-BE49-F238E27FC236}">
                  <a16:creationId xmlns:a16="http://schemas.microsoft.com/office/drawing/2014/main" id="{9DF4F500-4B19-E500-BB0D-2C99B9013938}"/>
                </a:ext>
              </a:extLst>
            </p:cNvPr>
            <p:cNvSpPr txBox="1"/>
            <p:nvPr/>
          </p:nvSpPr>
          <p:spPr>
            <a:xfrm>
              <a:off x="2370" y="9041"/>
              <a:ext cx="3872" cy="96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1600" b="1" kern="100" cap="none" spc="0" normalizeH="0" baseline="0" noProof="0" dirty="0">
                  <a:solidFill>
                    <a:schemeClr val="bg1"/>
                  </a:solidFill>
                  <a:latin typeface="微软雅黑" pitchFamily="34" charset="-122"/>
                  <a:ea typeface="微软雅黑" pitchFamily="34" charset="-122"/>
                  <a:cs typeface="+mn-cs"/>
                  <a:sym typeface="+mn-ea"/>
                </a:rPr>
                <a:t>课程编号</a:t>
              </a:r>
            </a:p>
          </p:txBody>
        </p:sp>
      </p:grpSp>
      <p:grpSp>
        <p:nvGrpSpPr>
          <p:cNvPr id="22" name="组合 20">
            <a:extLst>
              <a:ext uri="{FF2B5EF4-FFF2-40B4-BE49-F238E27FC236}">
                <a16:creationId xmlns:a16="http://schemas.microsoft.com/office/drawing/2014/main" id="{764DB469-8654-CAD7-499E-6EB241CBC958}"/>
              </a:ext>
            </a:extLst>
          </p:cNvPr>
          <p:cNvGrpSpPr/>
          <p:nvPr/>
        </p:nvGrpSpPr>
        <p:grpSpPr>
          <a:xfrm>
            <a:off x="8147050" y="1114425"/>
            <a:ext cx="1349375" cy="949325"/>
            <a:chOff x="2370" y="8239"/>
            <a:chExt cx="3872" cy="2725"/>
          </a:xfrm>
        </p:grpSpPr>
        <p:sp>
          <p:nvSpPr>
            <p:cNvPr id="23" name="椭圆 22">
              <a:extLst>
                <a:ext uri="{FF2B5EF4-FFF2-40B4-BE49-F238E27FC236}">
                  <a16:creationId xmlns:a16="http://schemas.microsoft.com/office/drawing/2014/main" id="{AE77CF86-328A-B266-FF51-B5C956BD1403}"/>
                </a:ext>
              </a:extLst>
            </p:cNvPr>
            <p:cNvSpPr/>
            <p:nvPr/>
          </p:nvSpPr>
          <p:spPr>
            <a:xfrm>
              <a:off x="2889" y="8239"/>
              <a:ext cx="2726" cy="2725"/>
            </a:xfrm>
            <a:prstGeom prst="ellipse">
              <a:avLst/>
            </a:prstGeom>
            <a:gradFill flip="none" rotWithShape="1">
              <a:gsLst>
                <a:gs pos="1000">
                  <a:schemeClr val="accent6">
                    <a:lumMod val="60000"/>
                    <a:lumOff val="40000"/>
                  </a:schemeClr>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24" name="文本框 23">
              <a:extLst>
                <a:ext uri="{FF2B5EF4-FFF2-40B4-BE49-F238E27FC236}">
                  <a16:creationId xmlns:a16="http://schemas.microsoft.com/office/drawing/2014/main" id="{1F440371-03CE-0D3A-1F6E-2CC773417D16}"/>
                </a:ext>
              </a:extLst>
            </p:cNvPr>
            <p:cNvSpPr txBox="1"/>
            <p:nvPr/>
          </p:nvSpPr>
          <p:spPr>
            <a:xfrm>
              <a:off x="2370" y="8986"/>
              <a:ext cx="3872" cy="96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1600" b="1" kern="100" cap="none" spc="0" normalizeH="0" baseline="0" noProof="0" dirty="0">
                  <a:solidFill>
                    <a:schemeClr val="bg1"/>
                  </a:solidFill>
                  <a:latin typeface="微软雅黑" pitchFamily="34" charset="-122"/>
                  <a:ea typeface="微软雅黑" pitchFamily="34" charset="-122"/>
                  <a:cs typeface="+mn-cs"/>
                  <a:sym typeface="+mn-ea"/>
                </a:rPr>
                <a:t>课程名称</a:t>
              </a:r>
            </a:p>
          </p:txBody>
        </p:sp>
      </p:grpSp>
      <p:grpSp>
        <p:nvGrpSpPr>
          <p:cNvPr id="25" name="组合 23">
            <a:extLst>
              <a:ext uri="{FF2B5EF4-FFF2-40B4-BE49-F238E27FC236}">
                <a16:creationId xmlns:a16="http://schemas.microsoft.com/office/drawing/2014/main" id="{CA73CB2B-AD71-3FDC-5043-FF30D4E969A4}"/>
              </a:ext>
            </a:extLst>
          </p:cNvPr>
          <p:cNvGrpSpPr/>
          <p:nvPr/>
        </p:nvGrpSpPr>
        <p:grpSpPr>
          <a:xfrm>
            <a:off x="9867900" y="1368425"/>
            <a:ext cx="1349375" cy="950913"/>
            <a:chOff x="2370" y="8239"/>
            <a:chExt cx="3872" cy="2725"/>
          </a:xfrm>
        </p:grpSpPr>
        <p:sp>
          <p:nvSpPr>
            <p:cNvPr id="26" name="椭圆 25">
              <a:extLst>
                <a:ext uri="{FF2B5EF4-FFF2-40B4-BE49-F238E27FC236}">
                  <a16:creationId xmlns:a16="http://schemas.microsoft.com/office/drawing/2014/main" id="{3175811F-98EA-8BD8-CC3E-1365DD3EA5AF}"/>
                </a:ext>
              </a:extLst>
            </p:cNvPr>
            <p:cNvSpPr/>
            <p:nvPr/>
          </p:nvSpPr>
          <p:spPr>
            <a:xfrm>
              <a:off x="2889" y="8239"/>
              <a:ext cx="2726" cy="2725"/>
            </a:xfrm>
            <a:prstGeom prst="ellipse">
              <a:avLst/>
            </a:prstGeom>
            <a:gradFill flip="none" rotWithShape="1">
              <a:gsLst>
                <a:gs pos="1000">
                  <a:schemeClr val="accent6">
                    <a:lumMod val="60000"/>
                    <a:lumOff val="40000"/>
                  </a:schemeClr>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27" name="文本框 26">
              <a:extLst>
                <a:ext uri="{FF2B5EF4-FFF2-40B4-BE49-F238E27FC236}">
                  <a16:creationId xmlns:a16="http://schemas.microsoft.com/office/drawing/2014/main" id="{300F5527-E6CB-D39D-9DB5-D76444ACD0E5}"/>
                </a:ext>
              </a:extLst>
            </p:cNvPr>
            <p:cNvSpPr txBox="1"/>
            <p:nvPr/>
          </p:nvSpPr>
          <p:spPr>
            <a:xfrm>
              <a:off x="2370" y="9041"/>
              <a:ext cx="3872" cy="96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1600" b="1" kern="100" cap="none" spc="0" normalizeH="0" baseline="0" noProof="0" dirty="0">
                  <a:solidFill>
                    <a:schemeClr val="bg1"/>
                  </a:solidFill>
                  <a:latin typeface="微软雅黑" pitchFamily="34" charset="-122"/>
                  <a:ea typeface="微软雅黑" pitchFamily="34" charset="-122"/>
                  <a:cs typeface="+mn-cs"/>
                  <a:sym typeface="+mn-ea"/>
                </a:rPr>
                <a:t>学期</a:t>
              </a:r>
            </a:p>
          </p:txBody>
        </p:sp>
      </p:grpSp>
      <p:grpSp>
        <p:nvGrpSpPr>
          <p:cNvPr id="28" name="组合 26">
            <a:extLst>
              <a:ext uri="{FF2B5EF4-FFF2-40B4-BE49-F238E27FC236}">
                <a16:creationId xmlns:a16="http://schemas.microsoft.com/office/drawing/2014/main" id="{52C23ADF-8FF4-5BD0-FBA0-54CFF50C1EE8}"/>
              </a:ext>
            </a:extLst>
          </p:cNvPr>
          <p:cNvGrpSpPr/>
          <p:nvPr/>
        </p:nvGrpSpPr>
        <p:grpSpPr>
          <a:xfrm>
            <a:off x="5754688" y="4754563"/>
            <a:ext cx="1349375" cy="949325"/>
            <a:chOff x="2370" y="8239"/>
            <a:chExt cx="3872" cy="2725"/>
          </a:xfrm>
        </p:grpSpPr>
        <p:sp>
          <p:nvSpPr>
            <p:cNvPr id="29" name="椭圆 28">
              <a:extLst>
                <a:ext uri="{FF2B5EF4-FFF2-40B4-BE49-F238E27FC236}">
                  <a16:creationId xmlns:a16="http://schemas.microsoft.com/office/drawing/2014/main" id="{D05CFD52-19D9-2934-EBCA-C6BE5A7A541F}"/>
                </a:ext>
              </a:extLst>
            </p:cNvPr>
            <p:cNvSpPr/>
            <p:nvPr/>
          </p:nvSpPr>
          <p:spPr>
            <a:xfrm>
              <a:off x="2889" y="8239"/>
              <a:ext cx="2726" cy="2725"/>
            </a:xfrm>
            <a:prstGeom prst="ellipse">
              <a:avLst/>
            </a:prstGeom>
            <a:gradFill flip="none" rotWithShape="1">
              <a:gsLst>
                <a:gs pos="1000">
                  <a:schemeClr val="accent6">
                    <a:lumMod val="60000"/>
                    <a:lumOff val="40000"/>
                  </a:schemeClr>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30" name="文本框 29">
              <a:extLst>
                <a:ext uri="{FF2B5EF4-FFF2-40B4-BE49-F238E27FC236}">
                  <a16:creationId xmlns:a16="http://schemas.microsoft.com/office/drawing/2014/main" id="{E71CF200-8CC3-829F-F2E7-27F8BEA14E6D}"/>
                </a:ext>
              </a:extLst>
            </p:cNvPr>
            <p:cNvSpPr txBox="1"/>
            <p:nvPr/>
          </p:nvSpPr>
          <p:spPr>
            <a:xfrm>
              <a:off x="2370" y="9041"/>
              <a:ext cx="3872" cy="96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1600" b="1" kern="100" cap="none" spc="0" normalizeH="0" baseline="0" noProof="0" dirty="0">
                  <a:solidFill>
                    <a:schemeClr val="bg1"/>
                  </a:solidFill>
                  <a:latin typeface="微软雅黑" pitchFamily="34" charset="-122"/>
                  <a:ea typeface="微软雅黑" pitchFamily="34" charset="-122"/>
                  <a:cs typeface="+mn-cs"/>
                  <a:sym typeface="+mn-ea"/>
                </a:rPr>
                <a:t>学号</a:t>
              </a:r>
            </a:p>
          </p:txBody>
        </p:sp>
      </p:grpSp>
      <p:grpSp>
        <p:nvGrpSpPr>
          <p:cNvPr id="31" name="组合 29">
            <a:extLst>
              <a:ext uri="{FF2B5EF4-FFF2-40B4-BE49-F238E27FC236}">
                <a16:creationId xmlns:a16="http://schemas.microsoft.com/office/drawing/2014/main" id="{642CD13D-EBBE-AFA5-1C51-6FEBDE74DABC}"/>
              </a:ext>
            </a:extLst>
          </p:cNvPr>
          <p:cNvGrpSpPr/>
          <p:nvPr/>
        </p:nvGrpSpPr>
        <p:grpSpPr>
          <a:xfrm>
            <a:off x="6923088" y="5424488"/>
            <a:ext cx="1349375" cy="950912"/>
            <a:chOff x="2370" y="8239"/>
            <a:chExt cx="3872" cy="2725"/>
          </a:xfrm>
        </p:grpSpPr>
        <p:sp>
          <p:nvSpPr>
            <p:cNvPr id="32" name="椭圆 31">
              <a:extLst>
                <a:ext uri="{FF2B5EF4-FFF2-40B4-BE49-F238E27FC236}">
                  <a16:creationId xmlns:a16="http://schemas.microsoft.com/office/drawing/2014/main" id="{22EA224C-A630-5792-D3B0-DD334985B1C0}"/>
                </a:ext>
              </a:extLst>
            </p:cNvPr>
            <p:cNvSpPr/>
            <p:nvPr/>
          </p:nvSpPr>
          <p:spPr>
            <a:xfrm>
              <a:off x="2889" y="8239"/>
              <a:ext cx="2726" cy="2725"/>
            </a:xfrm>
            <a:prstGeom prst="ellipse">
              <a:avLst/>
            </a:prstGeom>
            <a:gradFill flip="none" rotWithShape="1">
              <a:gsLst>
                <a:gs pos="1000">
                  <a:schemeClr val="accent6">
                    <a:lumMod val="60000"/>
                    <a:lumOff val="40000"/>
                  </a:schemeClr>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33" name="文本框 32">
              <a:extLst>
                <a:ext uri="{FF2B5EF4-FFF2-40B4-BE49-F238E27FC236}">
                  <a16:creationId xmlns:a16="http://schemas.microsoft.com/office/drawing/2014/main" id="{0E48958F-4678-C183-C7D3-B19C1B5520D4}"/>
                </a:ext>
              </a:extLst>
            </p:cNvPr>
            <p:cNvSpPr txBox="1"/>
            <p:nvPr/>
          </p:nvSpPr>
          <p:spPr>
            <a:xfrm>
              <a:off x="2370" y="9041"/>
              <a:ext cx="3872" cy="96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1600" b="1" kern="100" cap="none" spc="0" normalizeH="0" baseline="0" noProof="0" dirty="0">
                  <a:solidFill>
                    <a:schemeClr val="bg1"/>
                  </a:solidFill>
                  <a:latin typeface="微软雅黑" pitchFamily="34" charset="-122"/>
                  <a:ea typeface="微软雅黑" pitchFamily="34" charset="-122"/>
                  <a:cs typeface="+mn-cs"/>
                  <a:sym typeface="+mn-ea"/>
                </a:rPr>
                <a:t>姓名</a:t>
              </a:r>
            </a:p>
          </p:txBody>
        </p:sp>
      </p:grpSp>
      <p:grpSp>
        <p:nvGrpSpPr>
          <p:cNvPr id="34" name="组合 32">
            <a:extLst>
              <a:ext uri="{FF2B5EF4-FFF2-40B4-BE49-F238E27FC236}">
                <a16:creationId xmlns:a16="http://schemas.microsoft.com/office/drawing/2014/main" id="{968AD4A7-6A46-D026-3C20-8C201DF818ED}"/>
              </a:ext>
            </a:extLst>
          </p:cNvPr>
          <p:cNvGrpSpPr/>
          <p:nvPr/>
        </p:nvGrpSpPr>
        <p:grpSpPr>
          <a:xfrm>
            <a:off x="8235950" y="5697538"/>
            <a:ext cx="1349375" cy="950912"/>
            <a:chOff x="2370" y="8239"/>
            <a:chExt cx="3872" cy="2725"/>
          </a:xfrm>
        </p:grpSpPr>
        <p:sp>
          <p:nvSpPr>
            <p:cNvPr id="35" name="椭圆 34">
              <a:extLst>
                <a:ext uri="{FF2B5EF4-FFF2-40B4-BE49-F238E27FC236}">
                  <a16:creationId xmlns:a16="http://schemas.microsoft.com/office/drawing/2014/main" id="{FD459BCB-0EFA-4C01-30C0-0C7A71773DE0}"/>
                </a:ext>
              </a:extLst>
            </p:cNvPr>
            <p:cNvSpPr/>
            <p:nvPr/>
          </p:nvSpPr>
          <p:spPr>
            <a:xfrm>
              <a:off x="2889" y="8239"/>
              <a:ext cx="2726" cy="2725"/>
            </a:xfrm>
            <a:prstGeom prst="ellipse">
              <a:avLst/>
            </a:prstGeom>
            <a:gradFill flip="none" rotWithShape="1">
              <a:gsLst>
                <a:gs pos="1000">
                  <a:schemeClr val="accent6">
                    <a:lumMod val="60000"/>
                    <a:lumOff val="40000"/>
                  </a:schemeClr>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36" name="文本框 35">
              <a:extLst>
                <a:ext uri="{FF2B5EF4-FFF2-40B4-BE49-F238E27FC236}">
                  <a16:creationId xmlns:a16="http://schemas.microsoft.com/office/drawing/2014/main" id="{FBAF8A90-049E-066D-B556-BD89437B046F}"/>
                </a:ext>
              </a:extLst>
            </p:cNvPr>
            <p:cNvSpPr txBox="1"/>
            <p:nvPr/>
          </p:nvSpPr>
          <p:spPr>
            <a:xfrm>
              <a:off x="2370" y="9041"/>
              <a:ext cx="3872" cy="96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1600" b="1" kern="100" cap="none" spc="0" normalizeH="0" baseline="0" noProof="0" dirty="0">
                  <a:solidFill>
                    <a:schemeClr val="bg1"/>
                  </a:solidFill>
                  <a:latin typeface="微软雅黑" pitchFamily="34" charset="-122"/>
                  <a:ea typeface="微软雅黑" pitchFamily="34" charset="-122"/>
                  <a:cs typeface="+mn-cs"/>
                  <a:sym typeface="+mn-ea"/>
                </a:rPr>
                <a:t>性别</a:t>
              </a:r>
            </a:p>
          </p:txBody>
        </p:sp>
      </p:grpSp>
      <p:grpSp>
        <p:nvGrpSpPr>
          <p:cNvPr id="37" name="组合 38">
            <a:extLst>
              <a:ext uri="{FF2B5EF4-FFF2-40B4-BE49-F238E27FC236}">
                <a16:creationId xmlns:a16="http://schemas.microsoft.com/office/drawing/2014/main" id="{DCD2E452-3C33-008B-02AF-9F1B4427A516}"/>
              </a:ext>
            </a:extLst>
          </p:cNvPr>
          <p:cNvGrpSpPr/>
          <p:nvPr/>
        </p:nvGrpSpPr>
        <p:grpSpPr>
          <a:xfrm>
            <a:off x="9509125" y="5424488"/>
            <a:ext cx="1349375" cy="950912"/>
            <a:chOff x="2370" y="8239"/>
            <a:chExt cx="3872" cy="2725"/>
          </a:xfrm>
        </p:grpSpPr>
        <p:sp>
          <p:nvSpPr>
            <p:cNvPr id="38" name="椭圆 37">
              <a:extLst>
                <a:ext uri="{FF2B5EF4-FFF2-40B4-BE49-F238E27FC236}">
                  <a16:creationId xmlns:a16="http://schemas.microsoft.com/office/drawing/2014/main" id="{3A09770D-A9A6-484E-6239-8508A4B2A339}"/>
                </a:ext>
              </a:extLst>
            </p:cNvPr>
            <p:cNvSpPr/>
            <p:nvPr/>
          </p:nvSpPr>
          <p:spPr>
            <a:xfrm>
              <a:off x="2889" y="8239"/>
              <a:ext cx="2726" cy="2725"/>
            </a:xfrm>
            <a:prstGeom prst="ellipse">
              <a:avLst/>
            </a:prstGeom>
            <a:gradFill flip="none" rotWithShape="1">
              <a:gsLst>
                <a:gs pos="1000">
                  <a:schemeClr val="accent6">
                    <a:lumMod val="60000"/>
                    <a:lumOff val="40000"/>
                  </a:schemeClr>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39" name="文本框 38">
              <a:extLst>
                <a:ext uri="{FF2B5EF4-FFF2-40B4-BE49-F238E27FC236}">
                  <a16:creationId xmlns:a16="http://schemas.microsoft.com/office/drawing/2014/main" id="{FDD63337-5CE0-9B75-5D6B-090B2448B571}"/>
                </a:ext>
              </a:extLst>
            </p:cNvPr>
            <p:cNvSpPr txBox="1"/>
            <p:nvPr/>
          </p:nvSpPr>
          <p:spPr>
            <a:xfrm>
              <a:off x="2370" y="9041"/>
              <a:ext cx="3872" cy="96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1600" b="1" kern="100" cap="none" spc="0" normalizeH="0" baseline="0" noProof="0" dirty="0">
                  <a:solidFill>
                    <a:schemeClr val="bg1"/>
                  </a:solidFill>
                  <a:latin typeface="微软雅黑" pitchFamily="34" charset="-122"/>
                  <a:ea typeface="微软雅黑" pitchFamily="34" charset="-122"/>
                  <a:cs typeface="+mn-cs"/>
                  <a:sym typeface="+mn-ea"/>
                </a:rPr>
                <a:t>年龄</a:t>
              </a:r>
            </a:p>
          </p:txBody>
        </p:sp>
      </p:grpSp>
      <p:grpSp>
        <p:nvGrpSpPr>
          <p:cNvPr id="40" name="组合 44">
            <a:extLst>
              <a:ext uri="{FF2B5EF4-FFF2-40B4-BE49-F238E27FC236}">
                <a16:creationId xmlns:a16="http://schemas.microsoft.com/office/drawing/2014/main" id="{1F55E07B-D950-183D-9A95-9DCE871517F2}"/>
              </a:ext>
            </a:extLst>
          </p:cNvPr>
          <p:cNvGrpSpPr/>
          <p:nvPr/>
        </p:nvGrpSpPr>
        <p:grpSpPr>
          <a:xfrm>
            <a:off x="10633075" y="4932363"/>
            <a:ext cx="1349375" cy="950912"/>
            <a:chOff x="2370" y="8239"/>
            <a:chExt cx="3872" cy="2725"/>
          </a:xfrm>
        </p:grpSpPr>
        <p:sp>
          <p:nvSpPr>
            <p:cNvPr id="41" name="椭圆 40">
              <a:extLst>
                <a:ext uri="{FF2B5EF4-FFF2-40B4-BE49-F238E27FC236}">
                  <a16:creationId xmlns:a16="http://schemas.microsoft.com/office/drawing/2014/main" id="{A463F8A2-D982-1739-3E7F-6CB8F1BF9256}"/>
                </a:ext>
              </a:extLst>
            </p:cNvPr>
            <p:cNvSpPr/>
            <p:nvPr/>
          </p:nvSpPr>
          <p:spPr>
            <a:xfrm>
              <a:off x="2889" y="8239"/>
              <a:ext cx="2726" cy="2725"/>
            </a:xfrm>
            <a:prstGeom prst="ellipse">
              <a:avLst/>
            </a:prstGeom>
            <a:gradFill flip="none" rotWithShape="1">
              <a:gsLst>
                <a:gs pos="1000">
                  <a:schemeClr val="accent6">
                    <a:lumMod val="60000"/>
                    <a:lumOff val="40000"/>
                  </a:schemeClr>
                </a:gs>
                <a:gs pos="100000">
                  <a:srgbClr val="3982FF">
                    <a:alpha val="73000"/>
                  </a:srgbClr>
                </a:gs>
              </a:gsLst>
              <a:lin ang="2700000" scaled="1"/>
              <a:tileRect/>
            </a:gradFill>
            <a:ln>
              <a:noFill/>
            </a:ln>
            <a:effectLst>
              <a:outerShdw blurRad="3810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2F2F2"/>
                </a:solidFill>
                <a:effectLst/>
                <a:uLnTx/>
                <a:uFillTx/>
                <a:latin typeface="Arial" panose="020B0604020202090204" pitchFamily="34" charset="0"/>
                <a:ea typeface="微软雅黑 Light" pitchFamily="34" charset="-122"/>
                <a:cs typeface="+mn-cs"/>
              </a:endParaRPr>
            </a:p>
          </p:txBody>
        </p:sp>
        <p:sp>
          <p:nvSpPr>
            <p:cNvPr id="42" name="文本框 41">
              <a:extLst>
                <a:ext uri="{FF2B5EF4-FFF2-40B4-BE49-F238E27FC236}">
                  <a16:creationId xmlns:a16="http://schemas.microsoft.com/office/drawing/2014/main" id="{9CD8EEFA-135F-8D21-AAD8-416AB1A662FB}"/>
                </a:ext>
              </a:extLst>
            </p:cNvPr>
            <p:cNvSpPr txBox="1"/>
            <p:nvPr/>
          </p:nvSpPr>
          <p:spPr>
            <a:xfrm>
              <a:off x="2370" y="9041"/>
              <a:ext cx="3872" cy="96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zh-CN" sz="1600" b="1" kern="100" cap="none" spc="0" normalizeH="0" baseline="0" noProof="0" dirty="0">
                  <a:solidFill>
                    <a:schemeClr val="bg1"/>
                  </a:solidFill>
                  <a:latin typeface="微软雅黑" pitchFamily="34" charset="-122"/>
                  <a:ea typeface="微软雅黑" pitchFamily="34" charset="-122"/>
                  <a:cs typeface="+mn-cs"/>
                  <a:sym typeface="+mn-ea"/>
                </a:rPr>
                <a:t>班级</a:t>
              </a:r>
            </a:p>
          </p:txBody>
        </p:sp>
      </p:grpSp>
      <p:cxnSp>
        <p:nvCxnSpPr>
          <p:cNvPr id="43" name="直接连接符 42">
            <a:extLst>
              <a:ext uri="{FF2B5EF4-FFF2-40B4-BE49-F238E27FC236}">
                <a16:creationId xmlns:a16="http://schemas.microsoft.com/office/drawing/2014/main" id="{AC257116-6FE9-8C2C-0B27-11E1ABA3D567}"/>
              </a:ext>
            </a:extLst>
          </p:cNvPr>
          <p:cNvCxnSpPr/>
          <p:nvPr/>
        </p:nvCxnSpPr>
        <p:spPr>
          <a:xfrm>
            <a:off x="7480300" y="2209800"/>
            <a:ext cx="1131888" cy="3778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F9E35508-FB7C-B43D-0E58-2E1896A04EB4}"/>
              </a:ext>
            </a:extLst>
          </p:cNvPr>
          <p:cNvCxnSpPr/>
          <p:nvPr/>
        </p:nvCxnSpPr>
        <p:spPr>
          <a:xfrm flipH="1">
            <a:off x="8796338" y="2111375"/>
            <a:ext cx="7938" cy="527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B972DECF-4DF8-5192-9CAB-E621B4B855DE}"/>
              </a:ext>
            </a:extLst>
          </p:cNvPr>
          <p:cNvCxnSpPr/>
          <p:nvPr/>
        </p:nvCxnSpPr>
        <p:spPr>
          <a:xfrm flipH="1">
            <a:off x="8953500" y="2141538"/>
            <a:ext cx="985838" cy="468313"/>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9D4E781A-CA10-504E-65B5-01D5A6D99DF1}"/>
              </a:ext>
            </a:extLst>
          </p:cNvPr>
          <p:cNvCxnSpPr/>
          <p:nvPr/>
        </p:nvCxnSpPr>
        <p:spPr>
          <a:xfrm flipV="1">
            <a:off x="6965950" y="4979988"/>
            <a:ext cx="1263650" cy="122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FBDB77DA-ED5D-F59B-87D4-0526BFC25A5D}"/>
              </a:ext>
            </a:extLst>
          </p:cNvPr>
          <p:cNvCxnSpPr/>
          <p:nvPr/>
        </p:nvCxnSpPr>
        <p:spPr>
          <a:xfrm flipV="1">
            <a:off x="8004175" y="5297488"/>
            <a:ext cx="371475" cy="176213"/>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04D28E96-A8E6-3D17-9089-B5829F84C593}"/>
              </a:ext>
            </a:extLst>
          </p:cNvPr>
          <p:cNvCxnSpPr/>
          <p:nvPr/>
        </p:nvCxnSpPr>
        <p:spPr>
          <a:xfrm flipV="1">
            <a:off x="8836025" y="5310188"/>
            <a:ext cx="9525" cy="265113"/>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6DF7D2F5-C7D3-AA52-C7E6-181C199388C4}"/>
              </a:ext>
            </a:extLst>
          </p:cNvPr>
          <p:cNvCxnSpPr/>
          <p:nvPr/>
        </p:nvCxnSpPr>
        <p:spPr>
          <a:xfrm flipH="1" flipV="1">
            <a:off x="9236075" y="5259388"/>
            <a:ext cx="419100" cy="215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F32A0BF3-FD9B-026F-196C-B550D314725A}"/>
              </a:ext>
            </a:extLst>
          </p:cNvPr>
          <p:cNvCxnSpPr/>
          <p:nvPr/>
        </p:nvCxnSpPr>
        <p:spPr>
          <a:xfrm>
            <a:off x="9393238" y="4987925"/>
            <a:ext cx="1349375" cy="155575"/>
          </a:xfrm>
          <a:prstGeom prst="line">
            <a:avLst/>
          </a:prstGeom>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A213289B-63D7-BB1D-577F-4C4A4A8FCB71}"/>
              </a:ext>
            </a:extLst>
          </p:cNvPr>
          <p:cNvSpPr txBox="1"/>
          <p:nvPr/>
        </p:nvSpPr>
        <p:spPr>
          <a:xfrm>
            <a:off x="1410940" y="3085682"/>
            <a:ext cx="4111625" cy="369332"/>
          </a:xfrm>
          <a:prstGeom prst="rect">
            <a:avLst/>
          </a:prstGeom>
          <a:noFill/>
        </p:spPr>
        <p:txBody>
          <a:bodyPr wrap="square" rtlCol="0">
            <a:spAutoFit/>
          </a:bodyPr>
          <a:lstStyle/>
          <a:p>
            <a:pPr marR="0" defTabSz="457200" fontAlgn="auto">
              <a:spcBef>
                <a:spcPts val="0"/>
              </a:spcBef>
              <a:spcAft>
                <a:spcPts val="0"/>
              </a:spcAft>
              <a:buClrTx/>
              <a:buSzTx/>
              <a:buFontTx/>
              <a:buNone/>
              <a:defRPr/>
            </a:pPr>
            <a:r>
              <a:rPr lang="zh-CN" altLang="en-US" dirty="0">
                <a:solidFill>
                  <a:srgbClr val="44546A"/>
                </a:solidFill>
                <a:latin typeface="微软雅黑" panose="020B0503020204020204" pitchFamily="34" charset="-122"/>
                <a:ea typeface="微软雅黑" panose="020B0503020204020204" pitchFamily="34" charset="-122"/>
                <a:sym typeface="+mn-ea"/>
              </a:rPr>
              <a:t>如图表示：</a:t>
            </a:r>
            <a:r>
              <a:rPr lang="en-US" altLang="zh-CN" dirty="0">
                <a:solidFill>
                  <a:srgbClr val="44546A"/>
                </a:solidFill>
                <a:latin typeface="微软雅黑" panose="020B0503020204020204" pitchFamily="34" charset="-122"/>
                <a:ea typeface="微软雅黑" panose="020B0503020204020204" pitchFamily="34" charset="-122"/>
                <a:sym typeface="+mn-ea"/>
              </a:rPr>
              <a:t> </a:t>
            </a:r>
            <a:r>
              <a:rPr lang="en-US" altLang="zh-CN" dirty="0">
                <a:solidFill>
                  <a:srgbClr val="44546A"/>
                </a:solidFill>
                <a:latin typeface="微软雅黑" panose="020B0503020204020204" pitchFamily="34" charset="-122"/>
                <a:ea typeface="微软雅黑" panose="020B0503020204020204" pitchFamily="34" charset="-122"/>
              </a:rPr>
              <a:t> </a:t>
            </a:r>
            <a:r>
              <a:rPr lang="zh-CN" altLang="en-US" dirty="0">
                <a:solidFill>
                  <a:srgbClr val="44546A"/>
                </a:solidFill>
                <a:latin typeface="微软雅黑" panose="020B0503020204020204" pitchFamily="34" charset="-122"/>
                <a:ea typeface="微软雅黑" panose="020B0503020204020204" pitchFamily="34" charset="-122"/>
              </a:rPr>
              <a:t>学生与课程的</a:t>
            </a:r>
            <a:r>
              <a:rPr lang="en-US" altLang="zh-CN" dirty="0">
                <a:solidFill>
                  <a:srgbClr val="44546A"/>
                </a:solidFill>
                <a:latin typeface="微软雅黑" panose="020B0503020204020204" pitchFamily="34" charset="-122"/>
                <a:ea typeface="微软雅黑" panose="020B0503020204020204" pitchFamily="34" charset="-122"/>
              </a:rPr>
              <a:t>E-R</a:t>
            </a:r>
            <a:r>
              <a:rPr lang="zh-CN" altLang="en-US" dirty="0">
                <a:solidFill>
                  <a:srgbClr val="44546A"/>
                </a:solidFill>
                <a:latin typeface="微软雅黑" panose="020B0503020204020204" pitchFamily="34" charset="-122"/>
                <a:ea typeface="微软雅黑" panose="020B0503020204020204" pitchFamily="34" charset="-122"/>
              </a:rPr>
              <a:t>图</a:t>
            </a:r>
          </a:p>
        </p:txBody>
      </p:sp>
    </p:spTree>
    <p:extLst>
      <p:ext uri="{BB962C8B-B14F-4D97-AF65-F5344CB8AC3E}">
        <p14:creationId xmlns:p14="http://schemas.microsoft.com/office/powerpoint/2010/main" val="215820240"/>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常见的数据模型</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10">
            <a:extLst>
              <a:ext uri="{FF2B5EF4-FFF2-40B4-BE49-F238E27FC236}">
                <a16:creationId xmlns:a16="http://schemas.microsoft.com/office/drawing/2014/main" id="{7D3B819E-9C8E-93C6-9DDC-6E96F67A19EF}"/>
              </a:ext>
            </a:extLst>
          </p:cNvPr>
          <p:cNvSpPr txBox="1"/>
          <p:nvPr/>
        </p:nvSpPr>
        <p:spPr>
          <a:xfrm>
            <a:off x="2089818" y="5462400"/>
            <a:ext cx="4783138" cy="418191"/>
          </a:xfrm>
          <a:prstGeom prst="rect">
            <a:avLst/>
          </a:prstGeom>
          <a:noFill/>
          <a:ln w="9525">
            <a:noFill/>
          </a:ln>
        </p:spPr>
        <p:txBody>
          <a:bodyPr>
            <a:spAutoFit/>
          </a:bodyPr>
          <a:lstStyle/>
          <a:p>
            <a:pPr marL="342900" lvl="2" indent="-342900" eaLnBrk="0" hangingPunct="0">
              <a:lnSpc>
                <a:spcPct val="150000"/>
              </a:lnSpc>
              <a:spcBef>
                <a:spcPct val="20000"/>
              </a:spcBef>
            </a:pPr>
            <a:r>
              <a:rPr lang="zh-CN" altLang="en-US" sz="1600" b="1" dirty="0">
                <a:solidFill>
                  <a:srgbClr val="44546A"/>
                </a:solidFill>
                <a:latin typeface="微软雅黑" panose="020B0503020204020204" pitchFamily="34" charset="-122"/>
                <a:ea typeface="微软雅黑" panose="020B0503020204020204" pitchFamily="34" charset="-122"/>
                <a:sym typeface="+mn-ea"/>
              </a:rPr>
              <a:t>层次模型</a:t>
            </a:r>
            <a:r>
              <a:rPr lang="en-US" altLang="zh-CN" sz="1600" b="1" dirty="0">
                <a:solidFill>
                  <a:srgbClr val="44546A"/>
                </a:solidFill>
                <a:latin typeface="微软雅黑" panose="020B0503020204020204" pitchFamily="34" charset="-122"/>
                <a:ea typeface="微软雅黑" panose="020B0503020204020204" pitchFamily="34" charset="-122"/>
                <a:sym typeface="+mn-ea"/>
              </a:rPr>
              <a:t>(Hierarchical Model)</a:t>
            </a:r>
          </a:p>
        </p:txBody>
      </p:sp>
      <p:sp>
        <p:nvSpPr>
          <p:cNvPr id="4" name="文本框 3">
            <a:extLst>
              <a:ext uri="{FF2B5EF4-FFF2-40B4-BE49-F238E27FC236}">
                <a16:creationId xmlns:a16="http://schemas.microsoft.com/office/drawing/2014/main" id="{B50400A6-C692-99DD-CD06-F1882CFF1576}"/>
              </a:ext>
            </a:extLst>
          </p:cNvPr>
          <p:cNvSpPr txBox="1"/>
          <p:nvPr/>
        </p:nvSpPr>
        <p:spPr>
          <a:xfrm>
            <a:off x="7181850" y="3409417"/>
            <a:ext cx="4171950" cy="1705403"/>
          </a:xfrm>
          <a:prstGeom prst="rect">
            <a:avLst/>
          </a:prstGeom>
          <a:noFill/>
        </p:spPr>
        <p:txBody>
          <a:bodyPr wrap="square" rtlCol="0">
            <a:spAutoFit/>
          </a:bodyPr>
          <a:lstStyle/>
          <a:p>
            <a:pPr marL="285750" marR="0" indent="-285750" defTabSz="457200" fontAlgn="auto">
              <a:lnSpc>
                <a:spcPct val="150000"/>
              </a:lnSpc>
              <a:spcBef>
                <a:spcPts val="0"/>
              </a:spcBef>
              <a:spcAft>
                <a:spcPts val="0"/>
              </a:spcAft>
              <a:buClr>
                <a:srgbClr val="1D7FC6"/>
              </a:buClr>
              <a:buSzTx/>
              <a:buFont typeface="Wingdings" panose="05000000000000000000" pitchFamily="2" charset="2"/>
              <a:buChar char="l"/>
              <a:defRPr/>
            </a:pPr>
            <a:r>
              <a:rPr lang="zh-CN" altLang="zh-CN" dirty="0">
                <a:solidFill>
                  <a:srgbClr val="44546A"/>
                </a:solidFill>
                <a:latin typeface="微软雅黑" panose="020B0503020204020204" pitchFamily="34" charset="-122"/>
                <a:ea typeface="微软雅黑" panose="020B0503020204020204" pitchFamily="34" charset="-122"/>
                <a:sym typeface="+mn-ea"/>
              </a:rPr>
              <a:t>有且仅有一个结点无双亲节点，称为根结点。</a:t>
            </a:r>
            <a:endParaRPr lang="zh-CN" altLang="zh-CN" dirty="0">
              <a:solidFill>
                <a:srgbClr val="44546A"/>
              </a:solidFill>
              <a:latin typeface="微软雅黑" panose="020B0503020204020204" pitchFamily="34" charset="-122"/>
              <a:ea typeface="微软雅黑" panose="020B0503020204020204" pitchFamily="34" charset="-122"/>
            </a:endParaRPr>
          </a:p>
          <a:p>
            <a:pPr marL="285750" marR="0" indent="-285750" defTabSz="457200" fontAlgn="auto">
              <a:lnSpc>
                <a:spcPct val="150000"/>
              </a:lnSpc>
              <a:spcBef>
                <a:spcPts val="0"/>
              </a:spcBef>
              <a:spcAft>
                <a:spcPts val="0"/>
              </a:spcAft>
              <a:buClr>
                <a:srgbClr val="1D7FC6"/>
              </a:buClr>
              <a:buSzTx/>
              <a:buFont typeface="Wingdings" panose="05000000000000000000" pitchFamily="2" charset="2"/>
              <a:buChar char="l"/>
              <a:defRPr/>
            </a:pPr>
            <a:r>
              <a:rPr lang="zh-CN" altLang="zh-CN" dirty="0">
                <a:solidFill>
                  <a:srgbClr val="44546A"/>
                </a:solidFill>
                <a:latin typeface="微软雅黑" panose="020B0503020204020204" pitchFamily="34" charset="-122"/>
                <a:ea typeface="微软雅黑" panose="020B0503020204020204" pitchFamily="34" charset="-122"/>
                <a:sym typeface="+mn-ea"/>
              </a:rPr>
              <a:t>除根结点之外的其他节点有且仅有一个双亲结点。</a:t>
            </a:r>
            <a:r>
              <a:rPr lang="en-US" altLang="zh-CN" dirty="0">
                <a:solidFill>
                  <a:srgbClr val="44546A"/>
                </a:solidFill>
                <a:latin typeface="微软雅黑" panose="020B0503020204020204" pitchFamily="34" charset="-122"/>
                <a:ea typeface="微软雅黑" panose="020B0503020204020204" pitchFamily="34" charset="-122"/>
                <a:sym typeface="+mn-ea"/>
              </a:rPr>
              <a:t> </a:t>
            </a:r>
          </a:p>
        </p:txBody>
      </p:sp>
      <p:grpSp>
        <p:nvGrpSpPr>
          <p:cNvPr id="5" name="组合 33">
            <a:extLst>
              <a:ext uri="{FF2B5EF4-FFF2-40B4-BE49-F238E27FC236}">
                <a16:creationId xmlns:a16="http://schemas.microsoft.com/office/drawing/2014/main" id="{B6293C8A-9AB6-3129-01CD-39BE75E6D9B0}"/>
              </a:ext>
            </a:extLst>
          </p:cNvPr>
          <p:cNvGrpSpPr/>
          <p:nvPr/>
        </p:nvGrpSpPr>
        <p:grpSpPr>
          <a:xfrm>
            <a:off x="3389313" y="1773238"/>
            <a:ext cx="1330325" cy="681037"/>
            <a:chOff x="5060" y="4563"/>
            <a:chExt cx="2754" cy="1393"/>
          </a:xfrm>
        </p:grpSpPr>
        <p:sp>
          <p:nvSpPr>
            <p:cNvPr id="6" name="矩形 5">
              <a:extLst>
                <a:ext uri="{FF2B5EF4-FFF2-40B4-BE49-F238E27FC236}">
                  <a16:creationId xmlns:a16="http://schemas.microsoft.com/office/drawing/2014/main" id="{2836C63F-207D-5697-D579-95B2C760B1A6}"/>
                </a:ext>
              </a:extLst>
            </p:cNvPr>
            <p:cNvSpPr/>
            <p:nvPr/>
          </p:nvSpPr>
          <p:spPr>
            <a:xfrm rot="5400000">
              <a:off x="5709" y="3914"/>
              <a:ext cx="1393" cy="2691"/>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7" name="文本框 6">
              <a:extLst>
                <a:ext uri="{FF2B5EF4-FFF2-40B4-BE49-F238E27FC236}">
                  <a16:creationId xmlns:a16="http://schemas.microsoft.com/office/drawing/2014/main" id="{53BE1315-5FD0-FD4E-9281-9C18BD125971}"/>
                </a:ext>
              </a:extLst>
            </p:cNvPr>
            <p:cNvSpPr txBox="1"/>
            <p:nvPr/>
          </p:nvSpPr>
          <p:spPr>
            <a:xfrm>
              <a:off x="5060" y="4760"/>
              <a:ext cx="2754" cy="941"/>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zh-CN" altLang="en-US" sz="2400" b="1" kern="100" cap="none" spc="0" normalizeH="0" baseline="0" noProof="0" dirty="0">
                  <a:solidFill>
                    <a:schemeClr val="bg1"/>
                  </a:solidFill>
                  <a:latin typeface="微软雅黑" pitchFamily="34" charset="-122"/>
                  <a:ea typeface="微软雅黑" pitchFamily="34" charset="-122"/>
                  <a:cs typeface="+mn-cs"/>
                  <a:sym typeface="+mn-ea"/>
                </a:rPr>
                <a:t>职工</a:t>
              </a:r>
            </a:p>
          </p:txBody>
        </p:sp>
      </p:grpSp>
      <p:cxnSp>
        <p:nvCxnSpPr>
          <p:cNvPr id="8" name="直接连接符 7">
            <a:extLst>
              <a:ext uri="{FF2B5EF4-FFF2-40B4-BE49-F238E27FC236}">
                <a16:creationId xmlns:a16="http://schemas.microsoft.com/office/drawing/2014/main" id="{3925BB23-AD67-2F9B-8D57-A9F709B89F1C}"/>
              </a:ext>
            </a:extLst>
          </p:cNvPr>
          <p:cNvCxnSpPr/>
          <p:nvPr/>
        </p:nvCxnSpPr>
        <p:spPr>
          <a:xfrm flipH="1">
            <a:off x="2936875" y="2565400"/>
            <a:ext cx="920750" cy="547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F239D10-8582-DFD5-3096-5B6B6E5A3F1E}"/>
              </a:ext>
            </a:extLst>
          </p:cNvPr>
          <p:cNvCxnSpPr/>
          <p:nvPr/>
        </p:nvCxnSpPr>
        <p:spPr>
          <a:xfrm>
            <a:off x="4170363" y="2546350"/>
            <a:ext cx="1055688" cy="566738"/>
          </a:xfrm>
          <a:prstGeom prst="line">
            <a:avLst/>
          </a:prstGeom>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2F32EA5F-B8C1-3F51-FC91-8CF767BA35AF}"/>
              </a:ext>
            </a:extLst>
          </p:cNvPr>
          <p:cNvGrpSpPr/>
          <p:nvPr/>
        </p:nvGrpSpPr>
        <p:grpSpPr>
          <a:xfrm>
            <a:off x="2060575" y="3243263"/>
            <a:ext cx="1328738" cy="681037"/>
            <a:chOff x="5060" y="4563"/>
            <a:chExt cx="2754" cy="1393"/>
          </a:xfrm>
        </p:grpSpPr>
        <p:sp>
          <p:nvSpPr>
            <p:cNvPr id="11" name="矩形 10">
              <a:extLst>
                <a:ext uri="{FF2B5EF4-FFF2-40B4-BE49-F238E27FC236}">
                  <a16:creationId xmlns:a16="http://schemas.microsoft.com/office/drawing/2014/main" id="{32334BB8-78C4-465C-BE31-77E2713E4258}"/>
                </a:ext>
              </a:extLst>
            </p:cNvPr>
            <p:cNvSpPr/>
            <p:nvPr/>
          </p:nvSpPr>
          <p:spPr>
            <a:xfrm rot="5400000">
              <a:off x="5709" y="3914"/>
              <a:ext cx="1393" cy="2691"/>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12" name="文本框 11">
              <a:extLst>
                <a:ext uri="{FF2B5EF4-FFF2-40B4-BE49-F238E27FC236}">
                  <a16:creationId xmlns:a16="http://schemas.microsoft.com/office/drawing/2014/main" id="{FE9AD4AB-332D-EDA0-516C-4EC7FD1FB8F0}"/>
                </a:ext>
              </a:extLst>
            </p:cNvPr>
            <p:cNvSpPr txBox="1"/>
            <p:nvPr/>
          </p:nvSpPr>
          <p:spPr>
            <a:xfrm>
              <a:off x="5060" y="4760"/>
              <a:ext cx="2754" cy="941"/>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chemeClr val="bg1"/>
                  </a:solidFill>
                  <a:latin typeface="微软雅黑" pitchFamily="34" charset="-122"/>
                  <a:ea typeface="微软雅黑" pitchFamily="34" charset="-122"/>
                  <a:cs typeface="+mn-cs"/>
                  <a:sym typeface="+mn-ea"/>
                </a:rPr>
                <a:t>R2</a:t>
              </a:r>
            </a:p>
          </p:txBody>
        </p:sp>
      </p:grpSp>
      <p:grpSp>
        <p:nvGrpSpPr>
          <p:cNvPr id="13" name="组合 15">
            <a:extLst>
              <a:ext uri="{FF2B5EF4-FFF2-40B4-BE49-F238E27FC236}">
                <a16:creationId xmlns:a16="http://schemas.microsoft.com/office/drawing/2014/main" id="{425001AB-C474-0A53-A71E-431E50937803}"/>
              </a:ext>
            </a:extLst>
          </p:cNvPr>
          <p:cNvGrpSpPr/>
          <p:nvPr/>
        </p:nvGrpSpPr>
        <p:grpSpPr>
          <a:xfrm>
            <a:off x="517525" y="4505325"/>
            <a:ext cx="1328738" cy="682625"/>
            <a:chOff x="5060" y="4563"/>
            <a:chExt cx="2754" cy="1393"/>
          </a:xfrm>
        </p:grpSpPr>
        <p:sp>
          <p:nvSpPr>
            <p:cNvPr id="14" name="矩形 13">
              <a:extLst>
                <a:ext uri="{FF2B5EF4-FFF2-40B4-BE49-F238E27FC236}">
                  <a16:creationId xmlns:a16="http://schemas.microsoft.com/office/drawing/2014/main" id="{529DDC47-6F92-5E0E-F587-8F3A1227BA11}"/>
                </a:ext>
              </a:extLst>
            </p:cNvPr>
            <p:cNvSpPr/>
            <p:nvPr/>
          </p:nvSpPr>
          <p:spPr>
            <a:xfrm rot="5400000">
              <a:off x="5709" y="3914"/>
              <a:ext cx="1393" cy="2691"/>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15" name="文本框 14">
              <a:extLst>
                <a:ext uri="{FF2B5EF4-FFF2-40B4-BE49-F238E27FC236}">
                  <a16:creationId xmlns:a16="http://schemas.microsoft.com/office/drawing/2014/main" id="{9875555B-5A74-C366-59B1-518F11DF02A0}"/>
                </a:ext>
              </a:extLst>
            </p:cNvPr>
            <p:cNvSpPr txBox="1"/>
            <p:nvPr/>
          </p:nvSpPr>
          <p:spPr>
            <a:xfrm>
              <a:off x="5060" y="4760"/>
              <a:ext cx="2754" cy="941"/>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chemeClr val="bg1"/>
                  </a:solidFill>
                  <a:latin typeface="微软雅黑" pitchFamily="34" charset="-122"/>
                  <a:ea typeface="微软雅黑" pitchFamily="34" charset="-122"/>
                  <a:cs typeface="+mn-cs"/>
                  <a:sym typeface="+mn-ea"/>
                </a:rPr>
                <a:t>R4</a:t>
              </a:r>
            </a:p>
          </p:txBody>
        </p:sp>
      </p:grpSp>
      <p:grpSp>
        <p:nvGrpSpPr>
          <p:cNvPr id="16" name="组合 19">
            <a:extLst>
              <a:ext uri="{FF2B5EF4-FFF2-40B4-BE49-F238E27FC236}">
                <a16:creationId xmlns:a16="http://schemas.microsoft.com/office/drawing/2014/main" id="{0BDF5854-0C0C-4C32-25E6-20E9F5B4A1F4}"/>
              </a:ext>
            </a:extLst>
          </p:cNvPr>
          <p:cNvGrpSpPr/>
          <p:nvPr/>
        </p:nvGrpSpPr>
        <p:grpSpPr>
          <a:xfrm>
            <a:off x="2959100" y="4492625"/>
            <a:ext cx="1330325" cy="681038"/>
            <a:chOff x="5060" y="4563"/>
            <a:chExt cx="2754" cy="1393"/>
          </a:xfrm>
        </p:grpSpPr>
        <p:sp>
          <p:nvSpPr>
            <p:cNvPr id="17" name="矩形 16">
              <a:extLst>
                <a:ext uri="{FF2B5EF4-FFF2-40B4-BE49-F238E27FC236}">
                  <a16:creationId xmlns:a16="http://schemas.microsoft.com/office/drawing/2014/main" id="{0858906A-F6B0-8165-5244-7106D3001BC9}"/>
                </a:ext>
              </a:extLst>
            </p:cNvPr>
            <p:cNvSpPr/>
            <p:nvPr/>
          </p:nvSpPr>
          <p:spPr>
            <a:xfrm rot="5400000">
              <a:off x="5709" y="3914"/>
              <a:ext cx="1393" cy="2691"/>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18" name="文本框 17">
              <a:extLst>
                <a:ext uri="{FF2B5EF4-FFF2-40B4-BE49-F238E27FC236}">
                  <a16:creationId xmlns:a16="http://schemas.microsoft.com/office/drawing/2014/main" id="{C73D9DFE-6407-7A70-0EFA-3FF2ED07F5C8}"/>
                </a:ext>
              </a:extLst>
            </p:cNvPr>
            <p:cNvSpPr txBox="1"/>
            <p:nvPr/>
          </p:nvSpPr>
          <p:spPr>
            <a:xfrm>
              <a:off x="5060" y="4760"/>
              <a:ext cx="2754" cy="941"/>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chemeClr val="bg1"/>
                  </a:solidFill>
                  <a:latin typeface="微软雅黑" pitchFamily="34" charset="-122"/>
                  <a:ea typeface="微软雅黑" pitchFamily="34" charset="-122"/>
                  <a:cs typeface="+mn-cs"/>
                  <a:sym typeface="+mn-ea"/>
                </a:rPr>
                <a:t>R5</a:t>
              </a:r>
            </a:p>
          </p:txBody>
        </p:sp>
      </p:grpSp>
      <p:grpSp>
        <p:nvGrpSpPr>
          <p:cNvPr id="19" name="组合 22">
            <a:extLst>
              <a:ext uri="{FF2B5EF4-FFF2-40B4-BE49-F238E27FC236}">
                <a16:creationId xmlns:a16="http://schemas.microsoft.com/office/drawing/2014/main" id="{8297D0DD-7395-FE68-66B2-DB8DB65EADAD}"/>
              </a:ext>
            </a:extLst>
          </p:cNvPr>
          <p:cNvGrpSpPr/>
          <p:nvPr/>
        </p:nvGrpSpPr>
        <p:grpSpPr>
          <a:xfrm>
            <a:off x="4613275" y="3243263"/>
            <a:ext cx="1330325" cy="681037"/>
            <a:chOff x="5060" y="4563"/>
            <a:chExt cx="2754" cy="1393"/>
          </a:xfrm>
        </p:grpSpPr>
        <p:sp>
          <p:nvSpPr>
            <p:cNvPr id="20" name="矩形 19">
              <a:extLst>
                <a:ext uri="{FF2B5EF4-FFF2-40B4-BE49-F238E27FC236}">
                  <a16:creationId xmlns:a16="http://schemas.microsoft.com/office/drawing/2014/main" id="{81909EEF-137A-AF4D-AB0B-9DB631C54DCA}"/>
                </a:ext>
              </a:extLst>
            </p:cNvPr>
            <p:cNvSpPr/>
            <p:nvPr/>
          </p:nvSpPr>
          <p:spPr>
            <a:xfrm rot="5400000">
              <a:off x="5709" y="3914"/>
              <a:ext cx="1393" cy="2691"/>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21" name="文本框 20">
              <a:extLst>
                <a:ext uri="{FF2B5EF4-FFF2-40B4-BE49-F238E27FC236}">
                  <a16:creationId xmlns:a16="http://schemas.microsoft.com/office/drawing/2014/main" id="{D2F299E9-197B-46AF-EF76-7D324FF04BA6}"/>
                </a:ext>
              </a:extLst>
            </p:cNvPr>
            <p:cNvSpPr txBox="1"/>
            <p:nvPr/>
          </p:nvSpPr>
          <p:spPr>
            <a:xfrm>
              <a:off x="5060" y="4760"/>
              <a:ext cx="2754" cy="941"/>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chemeClr val="bg1"/>
                  </a:solidFill>
                  <a:latin typeface="微软雅黑" pitchFamily="34" charset="-122"/>
                  <a:ea typeface="微软雅黑" pitchFamily="34" charset="-122"/>
                  <a:cs typeface="+mn-cs"/>
                  <a:sym typeface="+mn-ea"/>
                </a:rPr>
                <a:t>R3</a:t>
              </a:r>
            </a:p>
          </p:txBody>
        </p:sp>
      </p:grpSp>
      <p:cxnSp>
        <p:nvCxnSpPr>
          <p:cNvPr id="22" name="直接连接符 21">
            <a:extLst>
              <a:ext uri="{FF2B5EF4-FFF2-40B4-BE49-F238E27FC236}">
                <a16:creationId xmlns:a16="http://schemas.microsoft.com/office/drawing/2014/main" id="{CC4AFA68-8725-1A39-6915-0F86757D2512}"/>
              </a:ext>
            </a:extLst>
          </p:cNvPr>
          <p:cNvCxnSpPr/>
          <p:nvPr/>
        </p:nvCxnSpPr>
        <p:spPr>
          <a:xfrm flipH="1">
            <a:off x="1176338" y="3994150"/>
            <a:ext cx="1389063" cy="3524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6AE0F14C-8FEF-25AA-647D-A8C8649D9310}"/>
              </a:ext>
            </a:extLst>
          </p:cNvPr>
          <p:cNvCxnSpPr/>
          <p:nvPr/>
        </p:nvCxnSpPr>
        <p:spPr>
          <a:xfrm>
            <a:off x="2819400" y="4052888"/>
            <a:ext cx="763588" cy="312738"/>
          </a:xfrm>
          <a:prstGeom prst="line">
            <a:avLst/>
          </a:prstGeom>
        </p:spPr>
        <p:style>
          <a:lnRef idx="1">
            <a:schemeClr val="accent1"/>
          </a:lnRef>
          <a:fillRef idx="0">
            <a:schemeClr val="accent1"/>
          </a:fillRef>
          <a:effectRef idx="0">
            <a:schemeClr val="accent1"/>
          </a:effectRef>
          <a:fontRef idx="minor">
            <a:schemeClr val="tx1"/>
          </a:fontRef>
        </p:style>
      </p:cxnSp>
      <p:sp>
        <p:nvSpPr>
          <p:cNvPr id="24" name="文本框 27">
            <a:extLst>
              <a:ext uri="{FF2B5EF4-FFF2-40B4-BE49-F238E27FC236}">
                <a16:creationId xmlns:a16="http://schemas.microsoft.com/office/drawing/2014/main" id="{D37133AA-FB96-0200-D612-65A06F1DDF66}"/>
              </a:ext>
            </a:extLst>
          </p:cNvPr>
          <p:cNvSpPr txBox="1"/>
          <p:nvPr/>
        </p:nvSpPr>
        <p:spPr>
          <a:xfrm>
            <a:off x="7181850" y="1809750"/>
            <a:ext cx="4246563" cy="1530350"/>
          </a:xfrm>
          <a:prstGeom prst="rect">
            <a:avLst/>
          </a:prstGeom>
          <a:noFill/>
          <a:ln w="9525">
            <a:noFill/>
          </a:ln>
        </p:spPr>
        <p:txBody>
          <a:bodyPr>
            <a:spAutoFit/>
          </a:bodyPr>
          <a:lstStyle/>
          <a:p>
            <a:pPr>
              <a:lnSpc>
                <a:spcPct val="130000"/>
              </a:lnSpc>
              <a:buNone/>
            </a:pPr>
            <a:r>
              <a:rPr lang="zh-CN" altLang="en-US" b="1" dirty="0">
                <a:solidFill>
                  <a:srgbClr val="44546A"/>
                </a:solidFill>
                <a:latin typeface="微软雅黑" panose="020B0503020204020204" pitchFamily="34" charset="-122"/>
                <a:ea typeface="微软雅黑" panose="020B0503020204020204" pitchFamily="34" charset="-122"/>
              </a:rPr>
              <a:t>用树形结构表示各类实体及实体间联系。它是数据库系统中最早出现的数据模型。</a:t>
            </a:r>
          </a:p>
          <a:p>
            <a:pPr>
              <a:lnSpc>
                <a:spcPct val="130000"/>
              </a:lnSpc>
              <a:buNone/>
            </a:pPr>
            <a:endParaRPr lang="zh-CN" altLang="en-US" b="1" dirty="0">
              <a:solidFill>
                <a:srgbClr val="44546A"/>
              </a:solidFill>
              <a:latin typeface="微软雅黑" panose="020B0503020204020204" pitchFamily="34" charset="-122"/>
              <a:ea typeface="微软雅黑" panose="020B0503020204020204" pitchFamily="34" charset="-122"/>
            </a:endParaRPr>
          </a:p>
          <a:p>
            <a:pPr>
              <a:lnSpc>
                <a:spcPct val="130000"/>
              </a:lnSpc>
              <a:buNone/>
            </a:pPr>
            <a:r>
              <a:rPr lang="zh-CN" altLang="en-US" b="1" dirty="0">
                <a:solidFill>
                  <a:srgbClr val="44546A"/>
                </a:solidFill>
                <a:latin typeface="微软雅黑" panose="020B0503020204020204" pitchFamily="34" charset="-122"/>
                <a:ea typeface="微软雅黑" panose="020B0503020204020204" pitchFamily="34" charset="-122"/>
              </a:rPr>
              <a:t>层次模型的特点是：</a:t>
            </a:r>
          </a:p>
        </p:txBody>
      </p:sp>
    </p:spTree>
    <p:extLst>
      <p:ext uri="{BB962C8B-B14F-4D97-AF65-F5344CB8AC3E}">
        <p14:creationId xmlns:p14="http://schemas.microsoft.com/office/powerpoint/2010/main" val="3147415447"/>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常见的数据模型</a:t>
            </a:r>
            <a:endParaRPr lang="en-US" altLang="zh-CN" b="1" dirty="0">
              <a:solidFill>
                <a:srgbClr val="44546A"/>
              </a:solidFill>
              <a:latin typeface="微软雅黑" panose="020B0503020204020204" pitchFamily="34" charset="-122"/>
              <a:ea typeface="微软雅黑" panose="020B0503020204020204" pitchFamily="34" charset="-122"/>
            </a:endParaRPr>
          </a:p>
        </p:txBody>
      </p:sp>
      <p:grpSp>
        <p:nvGrpSpPr>
          <p:cNvPr id="3" name="组合 10">
            <a:extLst>
              <a:ext uri="{FF2B5EF4-FFF2-40B4-BE49-F238E27FC236}">
                <a16:creationId xmlns:a16="http://schemas.microsoft.com/office/drawing/2014/main" id="{7131C7E4-9D24-8432-2272-8A749BCA81F8}"/>
              </a:ext>
            </a:extLst>
          </p:cNvPr>
          <p:cNvGrpSpPr/>
          <p:nvPr/>
        </p:nvGrpSpPr>
        <p:grpSpPr>
          <a:xfrm>
            <a:off x="966788" y="2686050"/>
            <a:ext cx="2909887" cy="2003425"/>
            <a:chOff x="9969524" y="2706807"/>
            <a:chExt cx="1222046" cy="1222046"/>
          </a:xfrm>
        </p:grpSpPr>
        <p:sp>
          <p:nvSpPr>
            <p:cNvPr id="4" name="椭圆 3">
              <a:extLst>
                <a:ext uri="{FF2B5EF4-FFF2-40B4-BE49-F238E27FC236}">
                  <a16:creationId xmlns:a16="http://schemas.microsoft.com/office/drawing/2014/main" id="{0BA3DA9A-822F-87BF-7578-D85220167FCA}"/>
                </a:ext>
              </a:extLst>
            </p:cNvPr>
            <p:cNvSpPr/>
            <p:nvPr/>
          </p:nvSpPr>
          <p:spPr>
            <a:xfrm>
              <a:off x="10016667" y="2753950"/>
              <a:ext cx="1127760" cy="1127760"/>
            </a:xfrm>
            <a:prstGeom prst="ellipse">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n-cs"/>
              </a:endParaRPr>
            </a:p>
          </p:txBody>
        </p:sp>
        <p:sp>
          <p:nvSpPr>
            <p:cNvPr id="5" name="矩形 12">
              <a:extLst>
                <a:ext uri="{FF2B5EF4-FFF2-40B4-BE49-F238E27FC236}">
                  <a16:creationId xmlns:a16="http://schemas.microsoft.com/office/drawing/2014/main" id="{B4D57048-1624-74B9-3272-1386B78DFC55}"/>
                </a:ext>
              </a:extLst>
            </p:cNvPr>
            <p:cNvSpPr/>
            <p:nvPr/>
          </p:nvSpPr>
          <p:spPr>
            <a:xfrm>
              <a:off x="10016444" y="3086930"/>
              <a:ext cx="1174860" cy="601152"/>
            </a:xfrm>
            <a:prstGeom prst="rect">
              <a:avLst/>
            </a:prstGeom>
            <a:noFill/>
            <a:ln w="9525">
              <a:noFill/>
            </a:ln>
          </p:spPr>
          <p:txBody>
            <a:bodyPr/>
            <a:lstStyle/>
            <a:p>
              <a:pPr marL="0" lvl="2" indent="0" algn="ctr"/>
              <a:r>
                <a:rPr lang="en-US" altLang="zh-CN" b="1" dirty="0">
                  <a:solidFill>
                    <a:srgbClr val="3982FF"/>
                  </a:solidFill>
                  <a:latin typeface="微软雅黑" pitchFamily="34" charset="-122"/>
                  <a:ea typeface="微软雅黑" pitchFamily="34" charset="-122"/>
                  <a:sym typeface="+mn-ea"/>
                </a:rPr>
                <a:t> </a:t>
              </a:r>
              <a:r>
                <a:rPr lang="zh-CN" altLang="zh-CN" b="1" dirty="0">
                  <a:solidFill>
                    <a:srgbClr val="3982FF"/>
                  </a:solidFill>
                  <a:latin typeface="微软雅黑" pitchFamily="34" charset="-122"/>
                  <a:ea typeface="微软雅黑" pitchFamily="34" charset="-122"/>
                  <a:sym typeface="+mn-ea"/>
                </a:rPr>
                <a:t>网状模型</a:t>
              </a:r>
            </a:p>
            <a:p>
              <a:pPr marL="0" lvl="2" indent="0" algn="ctr"/>
              <a:r>
                <a:rPr lang="zh-CN" altLang="zh-CN" sz="1600" b="1" dirty="0">
                  <a:solidFill>
                    <a:srgbClr val="3982FF"/>
                  </a:solidFill>
                  <a:latin typeface="微软雅黑" pitchFamily="34" charset="-122"/>
                  <a:ea typeface="微软雅黑" pitchFamily="34" charset="-122"/>
                  <a:sym typeface="+mn-ea"/>
                </a:rPr>
                <a:t>（</a:t>
              </a:r>
              <a:r>
                <a:rPr lang="en-US" altLang="zh-CN" sz="1600" b="1" dirty="0">
                  <a:solidFill>
                    <a:srgbClr val="3982FF"/>
                  </a:solidFill>
                  <a:latin typeface="微软雅黑" pitchFamily="34" charset="-122"/>
                  <a:ea typeface="微软雅黑" pitchFamily="34" charset="-122"/>
                  <a:sym typeface="+mn-ea"/>
                </a:rPr>
                <a:t>Network Model</a:t>
              </a:r>
              <a:r>
                <a:rPr lang="zh-CN" altLang="zh-CN" sz="1600" b="1" dirty="0">
                  <a:solidFill>
                    <a:srgbClr val="3982FF"/>
                  </a:solidFill>
                  <a:latin typeface="微软雅黑" pitchFamily="34" charset="-122"/>
                  <a:ea typeface="微软雅黑" pitchFamily="34" charset="-122"/>
                  <a:sym typeface="+mn-ea"/>
                </a:rPr>
                <a:t>）</a:t>
              </a:r>
            </a:p>
          </p:txBody>
        </p:sp>
        <p:sp>
          <p:nvSpPr>
            <p:cNvPr id="6" name="椭圆 5">
              <a:extLst>
                <a:ext uri="{FF2B5EF4-FFF2-40B4-BE49-F238E27FC236}">
                  <a16:creationId xmlns:a16="http://schemas.microsoft.com/office/drawing/2014/main" id="{0688BC28-4ABA-DAB8-03BE-D6977601C260}"/>
                </a:ext>
              </a:extLst>
            </p:cNvPr>
            <p:cNvSpPr/>
            <p:nvPr/>
          </p:nvSpPr>
          <p:spPr>
            <a:xfrm>
              <a:off x="9969524" y="2706807"/>
              <a:ext cx="1222046" cy="1222046"/>
            </a:xfrm>
            <a:prstGeom prst="ellipse">
              <a:avLst/>
            </a:prstGeom>
            <a:noFill/>
            <a:ln w="12700">
              <a:solidFill>
                <a:schemeClr val="bg1">
                  <a:alpha val="68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mn-cs"/>
              </a:endParaRPr>
            </a:p>
          </p:txBody>
        </p:sp>
      </p:grpSp>
      <p:sp>
        <p:nvSpPr>
          <p:cNvPr id="7" name="矩形 6">
            <a:extLst>
              <a:ext uri="{FF2B5EF4-FFF2-40B4-BE49-F238E27FC236}">
                <a16:creationId xmlns:a16="http://schemas.microsoft.com/office/drawing/2014/main" id="{DFE9E893-3AB5-8594-8406-9A8381481C26}"/>
              </a:ext>
            </a:extLst>
          </p:cNvPr>
          <p:cNvSpPr/>
          <p:nvPr/>
        </p:nvSpPr>
        <p:spPr>
          <a:xfrm>
            <a:off x="6210300" y="2684463"/>
            <a:ext cx="4868863" cy="2017027"/>
          </a:xfrm>
          <a:prstGeom prst="rect">
            <a:avLst/>
          </a:prstGeom>
        </p:spPr>
        <p:txBody>
          <a:bodyPr wrap="square">
            <a:spAutoFit/>
          </a:bodyPr>
          <a:lstStyle/>
          <a:p>
            <a:pPr marL="342900" marR="0" lvl="2" indent="-342900" algn="l" defTabSz="457200" rtl="0" eaLnBrk="1" fontAlgn="auto" latinLnBrk="0" hangingPunct="1">
              <a:lnSpc>
                <a:spcPct val="180000"/>
              </a:lnSpc>
              <a:spcBef>
                <a:spcPts val="0"/>
              </a:spcBef>
              <a:spcAft>
                <a:spcPts val="0"/>
              </a:spcAft>
              <a:buClrTx/>
              <a:buSzTx/>
              <a:buFontTx/>
              <a:buNone/>
              <a:defRPr/>
            </a:pPr>
            <a:r>
              <a:rPr lang="zh-CN" altLang="zh-CN" b="1" dirty="0">
                <a:solidFill>
                  <a:srgbClr val="44546A"/>
                </a:solidFill>
                <a:latin typeface="微软雅黑" panose="020B0503020204020204" pitchFamily="34" charset="-122"/>
                <a:ea typeface="微软雅黑" panose="020B0503020204020204" pitchFamily="34" charset="-122"/>
                <a:sym typeface="+mn-ea"/>
              </a:rPr>
              <a:t>用网络结构表示各类实体及实体间联系。</a:t>
            </a:r>
            <a:endParaRPr lang="zh-CN" altLang="zh-CN" b="1" dirty="0">
              <a:solidFill>
                <a:srgbClr val="44546A"/>
              </a:solidFill>
              <a:latin typeface="微软雅黑" panose="020B0503020204020204" pitchFamily="34" charset="-122"/>
              <a:ea typeface="微软雅黑" panose="020B0503020204020204" pitchFamily="34" charset="-122"/>
            </a:endParaRPr>
          </a:p>
          <a:p>
            <a:pPr marL="0" marR="0" lvl="0" indent="0" algn="l" defTabSz="457200" rtl="0" eaLnBrk="1" fontAlgn="auto" latinLnBrk="0" hangingPunct="1">
              <a:lnSpc>
                <a:spcPct val="180000"/>
              </a:lnSpc>
              <a:spcBef>
                <a:spcPts val="0"/>
              </a:spcBef>
              <a:spcAft>
                <a:spcPts val="0"/>
              </a:spcAft>
              <a:buClrTx/>
              <a:buSzTx/>
              <a:buFontTx/>
              <a:buNone/>
              <a:defRPr/>
            </a:pPr>
            <a:r>
              <a:rPr lang="zh-CN" altLang="zh-CN" b="1" dirty="0">
                <a:solidFill>
                  <a:srgbClr val="44546A"/>
                </a:solidFill>
                <a:latin typeface="微软雅黑" panose="020B0503020204020204" pitchFamily="34" charset="-122"/>
                <a:ea typeface="微软雅黑" panose="020B0503020204020204" pitchFamily="34" charset="-122"/>
                <a:sym typeface="+mn-ea"/>
              </a:rPr>
              <a:t>网状模型的特点是：</a:t>
            </a:r>
            <a:endParaRPr lang="zh-CN" altLang="zh-CN" b="1" dirty="0">
              <a:solidFill>
                <a:srgbClr val="44546A"/>
              </a:solidFill>
              <a:latin typeface="微软雅黑" panose="020B0503020204020204" pitchFamily="34" charset="-122"/>
              <a:ea typeface="微软雅黑" panose="020B0503020204020204" pitchFamily="34" charset="-122"/>
            </a:endParaRPr>
          </a:p>
          <a:p>
            <a:pPr marL="285750" marR="0" lvl="0" indent="-285750" algn="l" defTabSz="457200" rtl="0" eaLnBrk="1" fontAlgn="auto" latinLnBrk="0" hangingPunct="1">
              <a:lnSpc>
                <a:spcPct val="180000"/>
              </a:lnSpc>
              <a:spcBef>
                <a:spcPts val="0"/>
              </a:spcBef>
              <a:spcAft>
                <a:spcPts val="0"/>
              </a:spcAft>
              <a:buClr>
                <a:schemeClr val="accent1"/>
              </a:buClr>
              <a:buSzTx/>
              <a:buFont typeface="Wingdings" panose="05000000000000000000" pitchFamily="2" charset="2"/>
              <a:buChar char="l"/>
              <a:defRPr/>
            </a:pPr>
            <a:r>
              <a:rPr lang="zh-CN" altLang="zh-CN" dirty="0">
                <a:solidFill>
                  <a:srgbClr val="44546A"/>
                </a:solidFill>
                <a:latin typeface="微软雅黑" panose="020B0503020204020204" pitchFamily="34" charset="-122"/>
                <a:ea typeface="微软雅黑" panose="020B0503020204020204" pitchFamily="34" charset="-122"/>
                <a:sym typeface="+mn-ea"/>
              </a:rPr>
              <a:t>允许一个以上的结点无双亲结点。</a:t>
            </a:r>
            <a:endParaRPr lang="zh-CN" altLang="zh-CN" dirty="0">
              <a:solidFill>
                <a:srgbClr val="44546A"/>
              </a:solidFill>
              <a:latin typeface="微软雅黑" panose="020B0503020204020204" pitchFamily="34" charset="-122"/>
              <a:ea typeface="微软雅黑" panose="020B0503020204020204" pitchFamily="34" charset="-122"/>
            </a:endParaRPr>
          </a:p>
          <a:p>
            <a:pPr marL="285750" marR="0" lvl="0" indent="-285750" algn="l" defTabSz="457200" rtl="0" eaLnBrk="1" fontAlgn="auto" latinLnBrk="0" hangingPunct="1">
              <a:lnSpc>
                <a:spcPct val="180000"/>
              </a:lnSpc>
              <a:spcBef>
                <a:spcPts val="0"/>
              </a:spcBef>
              <a:spcAft>
                <a:spcPts val="0"/>
              </a:spcAft>
              <a:buClr>
                <a:schemeClr val="accent1"/>
              </a:buClr>
              <a:buSzTx/>
              <a:buFont typeface="Wingdings" panose="05000000000000000000" pitchFamily="2" charset="2"/>
              <a:buChar char="l"/>
              <a:defRPr/>
            </a:pPr>
            <a:r>
              <a:rPr lang="zh-CN" altLang="zh-CN" dirty="0">
                <a:solidFill>
                  <a:srgbClr val="44546A"/>
                </a:solidFill>
                <a:latin typeface="微软雅黑" panose="020B0503020204020204" pitchFamily="34" charset="-122"/>
                <a:ea typeface="微软雅黑" panose="020B0503020204020204" pitchFamily="34" charset="-122"/>
                <a:sym typeface="+mn-ea"/>
              </a:rPr>
              <a:t>一个结点可以有多于一个的双亲结点。</a:t>
            </a:r>
          </a:p>
        </p:txBody>
      </p:sp>
    </p:spTree>
    <p:extLst>
      <p:ext uri="{BB962C8B-B14F-4D97-AF65-F5344CB8AC3E}">
        <p14:creationId xmlns:p14="http://schemas.microsoft.com/office/powerpoint/2010/main" val="1134966524"/>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常见的数据模型</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10">
            <a:extLst>
              <a:ext uri="{FF2B5EF4-FFF2-40B4-BE49-F238E27FC236}">
                <a16:creationId xmlns:a16="http://schemas.microsoft.com/office/drawing/2014/main" id="{2CFBC962-EC4C-E7E8-2C0F-A936569C1E15}"/>
              </a:ext>
            </a:extLst>
          </p:cNvPr>
          <p:cNvSpPr txBox="1"/>
          <p:nvPr/>
        </p:nvSpPr>
        <p:spPr>
          <a:xfrm>
            <a:off x="4672805" y="6058486"/>
            <a:ext cx="4783137" cy="338554"/>
          </a:xfrm>
          <a:prstGeom prst="rect">
            <a:avLst/>
          </a:prstGeom>
          <a:noFill/>
          <a:ln w="9525">
            <a:noFill/>
          </a:ln>
        </p:spPr>
        <p:txBody>
          <a:bodyPr>
            <a:spAutoFit/>
          </a:bodyPr>
          <a:lstStyle/>
          <a:p>
            <a:pPr marL="0" lvl="2" indent="0" defTabSz="457200">
              <a:defRPr/>
            </a:pPr>
            <a:r>
              <a:rPr lang="zh-CN" altLang="zh-CN" sz="1600" b="1" dirty="0">
                <a:solidFill>
                  <a:srgbClr val="44546A"/>
                </a:solidFill>
                <a:latin typeface="微软雅黑" panose="020B0503020204020204" pitchFamily="34" charset="-122"/>
                <a:ea typeface="微软雅黑" panose="020B0503020204020204" pitchFamily="34" charset="-122"/>
                <a:sym typeface="+mn-ea"/>
              </a:rPr>
              <a:t>网状模型（</a:t>
            </a:r>
            <a:r>
              <a:rPr lang="en-US" altLang="zh-CN" sz="1600" b="1" dirty="0">
                <a:solidFill>
                  <a:srgbClr val="44546A"/>
                </a:solidFill>
                <a:latin typeface="微软雅黑" panose="020B0503020204020204" pitchFamily="34" charset="-122"/>
                <a:ea typeface="微软雅黑" panose="020B0503020204020204" pitchFamily="34" charset="-122"/>
                <a:sym typeface="+mn-ea"/>
              </a:rPr>
              <a:t>Network Model</a:t>
            </a:r>
            <a:r>
              <a:rPr lang="zh-CN" altLang="zh-CN" sz="1600" b="1" dirty="0">
                <a:solidFill>
                  <a:srgbClr val="44546A"/>
                </a:solidFill>
                <a:latin typeface="微软雅黑" panose="020B0503020204020204" pitchFamily="34" charset="-122"/>
                <a:ea typeface="微软雅黑" panose="020B0503020204020204" pitchFamily="34" charset="-122"/>
                <a:sym typeface="+mn-ea"/>
              </a:rPr>
              <a:t>）</a:t>
            </a:r>
          </a:p>
        </p:txBody>
      </p:sp>
      <p:cxnSp>
        <p:nvCxnSpPr>
          <p:cNvPr id="4" name="直接连接符 3">
            <a:extLst>
              <a:ext uri="{FF2B5EF4-FFF2-40B4-BE49-F238E27FC236}">
                <a16:creationId xmlns:a16="http://schemas.microsoft.com/office/drawing/2014/main" id="{F43F3663-5471-B63E-ABEA-C92806F549BD}"/>
              </a:ext>
            </a:extLst>
          </p:cNvPr>
          <p:cNvCxnSpPr/>
          <p:nvPr/>
        </p:nvCxnSpPr>
        <p:spPr>
          <a:xfrm flipH="1">
            <a:off x="2012950" y="3825875"/>
            <a:ext cx="4763" cy="477838"/>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B84442A0-E77C-0FA8-3862-18453C159A89}"/>
              </a:ext>
            </a:extLst>
          </p:cNvPr>
          <p:cNvCxnSpPr/>
          <p:nvPr/>
        </p:nvCxnSpPr>
        <p:spPr>
          <a:xfrm>
            <a:off x="5321300" y="3870325"/>
            <a:ext cx="0" cy="800100"/>
          </a:xfrm>
          <a:prstGeom prst="line">
            <a:avLst/>
          </a:prstGeom>
        </p:spPr>
        <p:style>
          <a:lnRef idx="1">
            <a:schemeClr val="accent1"/>
          </a:lnRef>
          <a:fillRef idx="0">
            <a:schemeClr val="accent1"/>
          </a:fillRef>
          <a:effectRef idx="0">
            <a:schemeClr val="accent1"/>
          </a:effectRef>
          <a:fontRef idx="minor">
            <a:schemeClr val="tx1"/>
          </a:fontRef>
        </p:style>
      </p:cxnSp>
      <p:grpSp>
        <p:nvGrpSpPr>
          <p:cNvPr id="6" name="组合 9">
            <a:extLst>
              <a:ext uri="{FF2B5EF4-FFF2-40B4-BE49-F238E27FC236}">
                <a16:creationId xmlns:a16="http://schemas.microsoft.com/office/drawing/2014/main" id="{BF28BFE9-B23C-BA87-D07A-A6B754F94F69}"/>
              </a:ext>
            </a:extLst>
          </p:cNvPr>
          <p:cNvGrpSpPr/>
          <p:nvPr/>
        </p:nvGrpSpPr>
        <p:grpSpPr>
          <a:xfrm>
            <a:off x="1441450" y="3254375"/>
            <a:ext cx="1089025" cy="563563"/>
            <a:chOff x="5060" y="4563"/>
            <a:chExt cx="2754" cy="1393"/>
          </a:xfrm>
        </p:grpSpPr>
        <p:sp>
          <p:nvSpPr>
            <p:cNvPr id="7" name="矩形 6">
              <a:extLst>
                <a:ext uri="{FF2B5EF4-FFF2-40B4-BE49-F238E27FC236}">
                  <a16:creationId xmlns:a16="http://schemas.microsoft.com/office/drawing/2014/main" id="{386A8922-707E-CF8C-408C-9CB0DF43845B}"/>
                </a:ext>
              </a:extLst>
            </p:cNvPr>
            <p:cNvSpPr/>
            <p:nvPr/>
          </p:nvSpPr>
          <p:spPr>
            <a:xfrm rot="5400000">
              <a:off x="5709" y="3914"/>
              <a:ext cx="1393" cy="2691"/>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8" name="文本框 7">
              <a:extLst>
                <a:ext uri="{FF2B5EF4-FFF2-40B4-BE49-F238E27FC236}">
                  <a16:creationId xmlns:a16="http://schemas.microsoft.com/office/drawing/2014/main" id="{D0E12547-5846-D45F-E4CC-16786E3DD275}"/>
                </a:ext>
              </a:extLst>
            </p:cNvPr>
            <p:cNvSpPr txBox="1"/>
            <p:nvPr/>
          </p:nvSpPr>
          <p:spPr>
            <a:xfrm>
              <a:off x="5060" y="4760"/>
              <a:ext cx="2754" cy="113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chemeClr val="bg1"/>
                  </a:solidFill>
                  <a:latin typeface="微软雅黑" pitchFamily="34" charset="-122"/>
                  <a:ea typeface="微软雅黑" pitchFamily="34" charset="-122"/>
                  <a:cs typeface="+mn-cs"/>
                  <a:sym typeface="+mn-ea"/>
                </a:rPr>
                <a:t>R1</a:t>
              </a:r>
            </a:p>
          </p:txBody>
        </p:sp>
      </p:grpSp>
      <p:grpSp>
        <p:nvGrpSpPr>
          <p:cNvPr id="9" name="组合 15">
            <a:extLst>
              <a:ext uri="{FF2B5EF4-FFF2-40B4-BE49-F238E27FC236}">
                <a16:creationId xmlns:a16="http://schemas.microsoft.com/office/drawing/2014/main" id="{C55D2FCC-90EC-9965-06CC-DC21A0E10CE0}"/>
              </a:ext>
            </a:extLst>
          </p:cNvPr>
          <p:cNvGrpSpPr/>
          <p:nvPr/>
        </p:nvGrpSpPr>
        <p:grpSpPr>
          <a:xfrm>
            <a:off x="2136775" y="4681538"/>
            <a:ext cx="1330325" cy="681037"/>
            <a:chOff x="5060" y="4563"/>
            <a:chExt cx="2754" cy="1393"/>
          </a:xfrm>
        </p:grpSpPr>
        <p:sp>
          <p:nvSpPr>
            <p:cNvPr id="10" name="矩形 9">
              <a:extLst>
                <a:ext uri="{FF2B5EF4-FFF2-40B4-BE49-F238E27FC236}">
                  <a16:creationId xmlns:a16="http://schemas.microsoft.com/office/drawing/2014/main" id="{5453606C-EE12-BD92-5424-6AB1246A0128}"/>
                </a:ext>
              </a:extLst>
            </p:cNvPr>
            <p:cNvSpPr/>
            <p:nvPr/>
          </p:nvSpPr>
          <p:spPr>
            <a:xfrm rot="5400000">
              <a:off x="5709" y="3914"/>
              <a:ext cx="1393" cy="2691"/>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11" name="文本框 10">
              <a:extLst>
                <a:ext uri="{FF2B5EF4-FFF2-40B4-BE49-F238E27FC236}">
                  <a16:creationId xmlns:a16="http://schemas.microsoft.com/office/drawing/2014/main" id="{8981552E-7C07-64EA-32F4-1D581391B0F9}"/>
                </a:ext>
              </a:extLst>
            </p:cNvPr>
            <p:cNvSpPr txBox="1"/>
            <p:nvPr/>
          </p:nvSpPr>
          <p:spPr>
            <a:xfrm>
              <a:off x="5060" y="4760"/>
              <a:ext cx="2754" cy="941"/>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chemeClr val="bg1"/>
                  </a:solidFill>
                  <a:latin typeface="微软雅黑" pitchFamily="34" charset="-122"/>
                  <a:ea typeface="微软雅黑" pitchFamily="34" charset="-122"/>
                  <a:cs typeface="+mn-cs"/>
                  <a:sym typeface="+mn-ea"/>
                </a:rPr>
                <a:t>R3</a:t>
              </a:r>
            </a:p>
          </p:txBody>
        </p:sp>
      </p:grpSp>
      <p:cxnSp>
        <p:nvCxnSpPr>
          <p:cNvPr id="12" name="直接连接符 11">
            <a:extLst>
              <a:ext uri="{FF2B5EF4-FFF2-40B4-BE49-F238E27FC236}">
                <a16:creationId xmlns:a16="http://schemas.microsoft.com/office/drawing/2014/main" id="{C059F069-A59B-2B0D-23AB-928E202F52AB}"/>
              </a:ext>
            </a:extLst>
          </p:cNvPr>
          <p:cNvCxnSpPr/>
          <p:nvPr/>
        </p:nvCxnSpPr>
        <p:spPr>
          <a:xfrm flipH="1" flipV="1">
            <a:off x="2017713" y="4283075"/>
            <a:ext cx="1449388" cy="6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E598FA32-181F-7DDB-C60A-EDAF130E7C48}"/>
              </a:ext>
            </a:extLst>
          </p:cNvPr>
          <p:cNvCxnSpPr/>
          <p:nvPr/>
        </p:nvCxnSpPr>
        <p:spPr>
          <a:xfrm>
            <a:off x="2787650" y="4322763"/>
            <a:ext cx="0" cy="32385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CD9F9ED5-E864-5632-92CF-6F579E97B474}"/>
              </a:ext>
            </a:extLst>
          </p:cNvPr>
          <p:cNvSpPr txBox="1"/>
          <p:nvPr/>
        </p:nvSpPr>
        <p:spPr>
          <a:xfrm>
            <a:off x="1035050" y="1892300"/>
            <a:ext cx="9591675" cy="368300"/>
          </a:xfrm>
          <a:prstGeom prst="rect">
            <a:avLst/>
          </a:prstGeom>
          <a:noFill/>
        </p:spPr>
        <p:txBody>
          <a:bodyPr wrap="square" rtlCol="0">
            <a:spAutoFit/>
          </a:bodyPr>
          <a:lstStyle/>
          <a:p>
            <a:pPr marR="0" defTabSz="457200" fontAlgn="auto">
              <a:spcBef>
                <a:spcPts val="0"/>
              </a:spcBef>
              <a:spcAft>
                <a:spcPts val="0"/>
              </a:spcAft>
              <a:buClrTx/>
              <a:buSzTx/>
              <a:buFontTx/>
              <a:buNone/>
              <a:defRPr/>
            </a:pPr>
            <a:r>
              <a:rPr lang="zh-CN" altLang="zh-CN" b="1" dirty="0">
                <a:solidFill>
                  <a:srgbClr val="44546A"/>
                </a:solidFill>
                <a:latin typeface="微软雅黑" panose="020B0503020204020204" pitchFamily="34" charset="-122"/>
                <a:ea typeface="微软雅黑" panose="020B0503020204020204" pitchFamily="34" charset="-122"/>
                <a:sym typeface="+mn-ea"/>
              </a:rPr>
              <a:t>网状模型有很多种，以下为几种典型的图例：</a:t>
            </a:r>
          </a:p>
        </p:txBody>
      </p:sp>
      <p:grpSp>
        <p:nvGrpSpPr>
          <p:cNvPr id="15" name="组合 2">
            <a:extLst>
              <a:ext uri="{FF2B5EF4-FFF2-40B4-BE49-F238E27FC236}">
                <a16:creationId xmlns:a16="http://schemas.microsoft.com/office/drawing/2014/main" id="{68E21E46-3B93-EA01-A0B4-14EF6DDA5EAA}"/>
              </a:ext>
            </a:extLst>
          </p:cNvPr>
          <p:cNvGrpSpPr/>
          <p:nvPr/>
        </p:nvGrpSpPr>
        <p:grpSpPr>
          <a:xfrm>
            <a:off x="2978150" y="3255963"/>
            <a:ext cx="1089025" cy="563562"/>
            <a:chOff x="5060" y="4563"/>
            <a:chExt cx="2754" cy="1393"/>
          </a:xfrm>
        </p:grpSpPr>
        <p:sp>
          <p:nvSpPr>
            <p:cNvPr id="16" name="矩形 15">
              <a:extLst>
                <a:ext uri="{FF2B5EF4-FFF2-40B4-BE49-F238E27FC236}">
                  <a16:creationId xmlns:a16="http://schemas.microsoft.com/office/drawing/2014/main" id="{8BB29AB0-55D0-53A0-BB7B-F4A300A43B59}"/>
                </a:ext>
              </a:extLst>
            </p:cNvPr>
            <p:cNvSpPr/>
            <p:nvPr/>
          </p:nvSpPr>
          <p:spPr>
            <a:xfrm rot="5400000">
              <a:off x="5709" y="3914"/>
              <a:ext cx="1393" cy="2691"/>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17" name="文本框 16">
              <a:extLst>
                <a:ext uri="{FF2B5EF4-FFF2-40B4-BE49-F238E27FC236}">
                  <a16:creationId xmlns:a16="http://schemas.microsoft.com/office/drawing/2014/main" id="{E1195889-BDDB-64AB-F18E-1409859DA8D6}"/>
                </a:ext>
              </a:extLst>
            </p:cNvPr>
            <p:cNvSpPr txBox="1"/>
            <p:nvPr/>
          </p:nvSpPr>
          <p:spPr>
            <a:xfrm>
              <a:off x="5060" y="4760"/>
              <a:ext cx="2754" cy="113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chemeClr val="bg1"/>
                  </a:solidFill>
                  <a:latin typeface="微软雅黑" pitchFamily="34" charset="-122"/>
                  <a:ea typeface="微软雅黑" pitchFamily="34" charset="-122"/>
                  <a:cs typeface="+mn-cs"/>
                  <a:sym typeface="+mn-ea"/>
                </a:rPr>
                <a:t>R2</a:t>
              </a:r>
            </a:p>
          </p:txBody>
        </p:sp>
      </p:grpSp>
      <p:cxnSp>
        <p:nvCxnSpPr>
          <p:cNvPr id="18" name="直接连接符 17">
            <a:extLst>
              <a:ext uri="{FF2B5EF4-FFF2-40B4-BE49-F238E27FC236}">
                <a16:creationId xmlns:a16="http://schemas.microsoft.com/office/drawing/2014/main" id="{10DDD3A2-2CF3-85C6-760D-2F0891957184}"/>
              </a:ext>
            </a:extLst>
          </p:cNvPr>
          <p:cNvCxnSpPr/>
          <p:nvPr/>
        </p:nvCxnSpPr>
        <p:spPr>
          <a:xfrm flipH="1">
            <a:off x="3451225" y="3810000"/>
            <a:ext cx="4763" cy="47625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a:extLst>
              <a:ext uri="{FF2B5EF4-FFF2-40B4-BE49-F238E27FC236}">
                <a16:creationId xmlns:a16="http://schemas.microsoft.com/office/drawing/2014/main" id="{DCE96CC7-6AF4-CA42-CB26-8B06616A4607}"/>
              </a:ext>
            </a:extLst>
          </p:cNvPr>
          <p:cNvGrpSpPr/>
          <p:nvPr/>
        </p:nvGrpSpPr>
        <p:grpSpPr>
          <a:xfrm>
            <a:off x="4910138" y="3244850"/>
            <a:ext cx="1341437" cy="565150"/>
            <a:chOff x="5060" y="4563"/>
            <a:chExt cx="2754" cy="1393"/>
          </a:xfrm>
        </p:grpSpPr>
        <p:sp>
          <p:nvSpPr>
            <p:cNvPr id="20" name="矩形 19">
              <a:extLst>
                <a:ext uri="{FF2B5EF4-FFF2-40B4-BE49-F238E27FC236}">
                  <a16:creationId xmlns:a16="http://schemas.microsoft.com/office/drawing/2014/main" id="{4C5E5B63-EF61-9CBD-98A0-95976F7AD6BA}"/>
                </a:ext>
              </a:extLst>
            </p:cNvPr>
            <p:cNvSpPr/>
            <p:nvPr/>
          </p:nvSpPr>
          <p:spPr>
            <a:xfrm rot="5400000">
              <a:off x="5709" y="3914"/>
              <a:ext cx="1393" cy="2691"/>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21" name="文本框 20">
              <a:extLst>
                <a:ext uri="{FF2B5EF4-FFF2-40B4-BE49-F238E27FC236}">
                  <a16:creationId xmlns:a16="http://schemas.microsoft.com/office/drawing/2014/main" id="{169F5855-0070-98A0-5C95-7C36254FEA86}"/>
                </a:ext>
              </a:extLst>
            </p:cNvPr>
            <p:cNvSpPr txBox="1"/>
            <p:nvPr/>
          </p:nvSpPr>
          <p:spPr>
            <a:xfrm>
              <a:off x="5060" y="4760"/>
              <a:ext cx="2754" cy="113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chemeClr val="bg1"/>
                  </a:solidFill>
                  <a:latin typeface="微软雅黑" pitchFamily="34" charset="-122"/>
                  <a:ea typeface="微软雅黑" pitchFamily="34" charset="-122"/>
                  <a:cs typeface="+mn-cs"/>
                  <a:sym typeface="+mn-ea"/>
                </a:rPr>
                <a:t>R1</a:t>
              </a:r>
            </a:p>
          </p:txBody>
        </p:sp>
      </p:grpSp>
      <p:grpSp>
        <p:nvGrpSpPr>
          <p:cNvPr id="22" name="组合 30">
            <a:extLst>
              <a:ext uri="{FF2B5EF4-FFF2-40B4-BE49-F238E27FC236}">
                <a16:creationId xmlns:a16="http://schemas.microsoft.com/office/drawing/2014/main" id="{E87428AA-C75E-EC82-7537-FBB4A66ED823}"/>
              </a:ext>
            </a:extLst>
          </p:cNvPr>
          <p:cNvGrpSpPr/>
          <p:nvPr/>
        </p:nvGrpSpPr>
        <p:grpSpPr>
          <a:xfrm>
            <a:off x="4910138" y="4725988"/>
            <a:ext cx="1341437" cy="563562"/>
            <a:chOff x="5060" y="4563"/>
            <a:chExt cx="2754" cy="1393"/>
          </a:xfrm>
        </p:grpSpPr>
        <p:sp>
          <p:nvSpPr>
            <p:cNvPr id="23" name="矩形 22">
              <a:extLst>
                <a:ext uri="{FF2B5EF4-FFF2-40B4-BE49-F238E27FC236}">
                  <a16:creationId xmlns:a16="http://schemas.microsoft.com/office/drawing/2014/main" id="{79436BF1-436C-EF19-CE6D-5A22472E41FA}"/>
                </a:ext>
              </a:extLst>
            </p:cNvPr>
            <p:cNvSpPr/>
            <p:nvPr/>
          </p:nvSpPr>
          <p:spPr>
            <a:xfrm rot="5400000">
              <a:off x="5709" y="3914"/>
              <a:ext cx="1393" cy="2691"/>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24" name="文本框 23">
              <a:extLst>
                <a:ext uri="{FF2B5EF4-FFF2-40B4-BE49-F238E27FC236}">
                  <a16:creationId xmlns:a16="http://schemas.microsoft.com/office/drawing/2014/main" id="{E48BFD0A-3B67-0EAB-DC15-83D0CA85516D}"/>
                </a:ext>
              </a:extLst>
            </p:cNvPr>
            <p:cNvSpPr txBox="1"/>
            <p:nvPr/>
          </p:nvSpPr>
          <p:spPr>
            <a:xfrm>
              <a:off x="5060" y="4760"/>
              <a:ext cx="2754" cy="113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chemeClr val="bg1"/>
                  </a:solidFill>
                  <a:latin typeface="微软雅黑" pitchFamily="34" charset="-122"/>
                  <a:ea typeface="微软雅黑" pitchFamily="34" charset="-122"/>
                  <a:cs typeface="+mn-cs"/>
                  <a:sym typeface="+mn-ea"/>
                </a:rPr>
                <a:t>R2</a:t>
              </a:r>
            </a:p>
          </p:txBody>
        </p:sp>
      </p:grpSp>
      <p:cxnSp>
        <p:nvCxnSpPr>
          <p:cNvPr id="25" name="直接连接符 24">
            <a:extLst>
              <a:ext uri="{FF2B5EF4-FFF2-40B4-BE49-F238E27FC236}">
                <a16:creationId xmlns:a16="http://schemas.microsoft.com/office/drawing/2014/main" id="{372F5D17-5CCF-970E-4D0A-42D38C4179E7}"/>
              </a:ext>
            </a:extLst>
          </p:cNvPr>
          <p:cNvCxnSpPr/>
          <p:nvPr/>
        </p:nvCxnSpPr>
        <p:spPr>
          <a:xfrm>
            <a:off x="5819775" y="3867150"/>
            <a:ext cx="0" cy="801688"/>
          </a:xfrm>
          <a:prstGeom prst="line">
            <a:avLst/>
          </a:prstGeom>
        </p:spPr>
        <p:style>
          <a:lnRef idx="1">
            <a:schemeClr val="accent1"/>
          </a:lnRef>
          <a:fillRef idx="0">
            <a:schemeClr val="accent1"/>
          </a:fillRef>
          <a:effectRef idx="0">
            <a:schemeClr val="accent1"/>
          </a:effectRef>
          <a:fontRef idx="minor">
            <a:schemeClr val="tx1"/>
          </a:fontRef>
        </p:style>
      </p:cxnSp>
      <p:grpSp>
        <p:nvGrpSpPr>
          <p:cNvPr id="26" name="组合 37">
            <a:extLst>
              <a:ext uri="{FF2B5EF4-FFF2-40B4-BE49-F238E27FC236}">
                <a16:creationId xmlns:a16="http://schemas.microsoft.com/office/drawing/2014/main" id="{1FF9A084-4F1D-042B-CE36-2731FBE504BD}"/>
              </a:ext>
            </a:extLst>
          </p:cNvPr>
          <p:cNvGrpSpPr/>
          <p:nvPr/>
        </p:nvGrpSpPr>
        <p:grpSpPr>
          <a:xfrm>
            <a:off x="7064375" y="3227388"/>
            <a:ext cx="1341438" cy="563562"/>
            <a:chOff x="5060" y="4563"/>
            <a:chExt cx="2754" cy="1393"/>
          </a:xfrm>
        </p:grpSpPr>
        <p:sp>
          <p:nvSpPr>
            <p:cNvPr id="27" name="矩形 26">
              <a:extLst>
                <a:ext uri="{FF2B5EF4-FFF2-40B4-BE49-F238E27FC236}">
                  <a16:creationId xmlns:a16="http://schemas.microsoft.com/office/drawing/2014/main" id="{1A455B37-CECC-9D29-3641-D60EA75D2F19}"/>
                </a:ext>
              </a:extLst>
            </p:cNvPr>
            <p:cNvSpPr/>
            <p:nvPr/>
          </p:nvSpPr>
          <p:spPr>
            <a:xfrm rot="5400000">
              <a:off x="5709" y="3914"/>
              <a:ext cx="1393" cy="2691"/>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28" name="文本框 27">
              <a:extLst>
                <a:ext uri="{FF2B5EF4-FFF2-40B4-BE49-F238E27FC236}">
                  <a16:creationId xmlns:a16="http://schemas.microsoft.com/office/drawing/2014/main" id="{8E7A11B3-14D0-D240-6647-1162D8070842}"/>
                </a:ext>
              </a:extLst>
            </p:cNvPr>
            <p:cNvSpPr txBox="1"/>
            <p:nvPr/>
          </p:nvSpPr>
          <p:spPr>
            <a:xfrm>
              <a:off x="5060" y="4760"/>
              <a:ext cx="2754" cy="113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chemeClr val="bg1"/>
                  </a:solidFill>
                  <a:latin typeface="微软雅黑" pitchFamily="34" charset="-122"/>
                  <a:ea typeface="微软雅黑" pitchFamily="34" charset="-122"/>
                  <a:cs typeface="+mn-cs"/>
                  <a:sym typeface="+mn-ea"/>
                </a:rPr>
                <a:t>R1</a:t>
              </a:r>
            </a:p>
          </p:txBody>
        </p:sp>
      </p:grpSp>
      <p:grpSp>
        <p:nvGrpSpPr>
          <p:cNvPr id="29" name="组合 40">
            <a:extLst>
              <a:ext uri="{FF2B5EF4-FFF2-40B4-BE49-F238E27FC236}">
                <a16:creationId xmlns:a16="http://schemas.microsoft.com/office/drawing/2014/main" id="{F5690DEF-4A3F-2D38-0E91-0A9E72B16C5E}"/>
              </a:ext>
            </a:extLst>
          </p:cNvPr>
          <p:cNvGrpSpPr/>
          <p:nvPr/>
        </p:nvGrpSpPr>
        <p:grpSpPr>
          <a:xfrm>
            <a:off x="7064375" y="4708525"/>
            <a:ext cx="1341438" cy="563563"/>
            <a:chOff x="5060" y="4563"/>
            <a:chExt cx="2754" cy="1393"/>
          </a:xfrm>
        </p:grpSpPr>
        <p:sp>
          <p:nvSpPr>
            <p:cNvPr id="30" name="矩形 29">
              <a:extLst>
                <a:ext uri="{FF2B5EF4-FFF2-40B4-BE49-F238E27FC236}">
                  <a16:creationId xmlns:a16="http://schemas.microsoft.com/office/drawing/2014/main" id="{0BDB49FE-94FD-EB69-77CB-480FBCFAE2ED}"/>
                </a:ext>
              </a:extLst>
            </p:cNvPr>
            <p:cNvSpPr/>
            <p:nvPr/>
          </p:nvSpPr>
          <p:spPr>
            <a:xfrm rot="5400000">
              <a:off x="5709" y="3914"/>
              <a:ext cx="1393" cy="2691"/>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31" name="文本框 30">
              <a:extLst>
                <a:ext uri="{FF2B5EF4-FFF2-40B4-BE49-F238E27FC236}">
                  <a16:creationId xmlns:a16="http://schemas.microsoft.com/office/drawing/2014/main" id="{3C2A2C8A-1AA9-85DE-FE99-ECC1C59E4561}"/>
                </a:ext>
              </a:extLst>
            </p:cNvPr>
            <p:cNvSpPr txBox="1"/>
            <p:nvPr/>
          </p:nvSpPr>
          <p:spPr>
            <a:xfrm>
              <a:off x="5060" y="4760"/>
              <a:ext cx="2754" cy="113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chemeClr val="bg1"/>
                  </a:solidFill>
                  <a:latin typeface="微软雅黑" pitchFamily="34" charset="-122"/>
                  <a:ea typeface="微软雅黑" pitchFamily="34" charset="-122"/>
                  <a:cs typeface="+mn-cs"/>
                  <a:sym typeface="+mn-ea"/>
                </a:rPr>
                <a:t>R2</a:t>
              </a:r>
            </a:p>
          </p:txBody>
        </p:sp>
      </p:grpSp>
      <p:cxnSp>
        <p:nvCxnSpPr>
          <p:cNvPr id="32" name="直接连接符 31">
            <a:extLst>
              <a:ext uri="{FF2B5EF4-FFF2-40B4-BE49-F238E27FC236}">
                <a16:creationId xmlns:a16="http://schemas.microsoft.com/office/drawing/2014/main" id="{7B29B9C5-A203-F596-6DE6-525ED2770CF9}"/>
              </a:ext>
            </a:extLst>
          </p:cNvPr>
          <p:cNvCxnSpPr/>
          <p:nvPr/>
        </p:nvCxnSpPr>
        <p:spPr>
          <a:xfrm>
            <a:off x="7740650" y="3849688"/>
            <a:ext cx="0" cy="801688"/>
          </a:xfrm>
          <a:prstGeom prst="line">
            <a:avLst/>
          </a:prstGeom>
        </p:spPr>
        <p:style>
          <a:lnRef idx="1">
            <a:schemeClr val="accent1"/>
          </a:lnRef>
          <a:fillRef idx="0">
            <a:schemeClr val="accent1"/>
          </a:fillRef>
          <a:effectRef idx="0">
            <a:schemeClr val="accent1"/>
          </a:effectRef>
          <a:fontRef idx="minor">
            <a:schemeClr val="tx1"/>
          </a:fontRef>
        </p:style>
      </p:cxnSp>
      <p:grpSp>
        <p:nvGrpSpPr>
          <p:cNvPr id="33" name="组合 44">
            <a:extLst>
              <a:ext uri="{FF2B5EF4-FFF2-40B4-BE49-F238E27FC236}">
                <a16:creationId xmlns:a16="http://schemas.microsoft.com/office/drawing/2014/main" id="{3BA8FD1A-A16E-38AE-321D-9C76986C8A15}"/>
              </a:ext>
            </a:extLst>
          </p:cNvPr>
          <p:cNvGrpSpPr/>
          <p:nvPr/>
        </p:nvGrpSpPr>
        <p:grpSpPr>
          <a:xfrm>
            <a:off x="9220200" y="3217863"/>
            <a:ext cx="1339850" cy="563562"/>
            <a:chOff x="5060" y="4563"/>
            <a:chExt cx="2754" cy="1393"/>
          </a:xfrm>
        </p:grpSpPr>
        <p:sp>
          <p:nvSpPr>
            <p:cNvPr id="34" name="矩形 33">
              <a:extLst>
                <a:ext uri="{FF2B5EF4-FFF2-40B4-BE49-F238E27FC236}">
                  <a16:creationId xmlns:a16="http://schemas.microsoft.com/office/drawing/2014/main" id="{499ECF89-6D68-2F9A-C42A-524908329AFD}"/>
                </a:ext>
              </a:extLst>
            </p:cNvPr>
            <p:cNvSpPr/>
            <p:nvPr/>
          </p:nvSpPr>
          <p:spPr>
            <a:xfrm rot="5400000">
              <a:off x="5709" y="3914"/>
              <a:ext cx="1393" cy="2691"/>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35" name="文本框 34">
              <a:extLst>
                <a:ext uri="{FF2B5EF4-FFF2-40B4-BE49-F238E27FC236}">
                  <a16:creationId xmlns:a16="http://schemas.microsoft.com/office/drawing/2014/main" id="{0593C647-0C1D-4FB2-90A3-905F0390C3BC}"/>
                </a:ext>
              </a:extLst>
            </p:cNvPr>
            <p:cNvSpPr txBox="1"/>
            <p:nvPr/>
          </p:nvSpPr>
          <p:spPr>
            <a:xfrm>
              <a:off x="5060" y="4760"/>
              <a:ext cx="2754" cy="113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chemeClr val="bg1"/>
                  </a:solidFill>
                  <a:latin typeface="微软雅黑" pitchFamily="34" charset="-122"/>
                  <a:ea typeface="微软雅黑" pitchFamily="34" charset="-122"/>
                  <a:cs typeface="+mn-cs"/>
                  <a:sym typeface="+mn-ea"/>
                </a:rPr>
                <a:t>R3</a:t>
              </a:r>
            </a:p>
          </p:txBody>
        </p:sp>
      </p:grpSp>
      <p:grpSp>
        <p:nvGrpSpPr>
          <p:cNvPr id="36" name="组合 47">
            <a:extLst>
              <a:ext uri="{FF2B5EF4-FFF2-40B4-BE49-F238E27FC236}">
                <a16:creationId xmlns:a16="http://schemas.microsoft.com/office/drawing/2014/main" id="{345CBB89-66F4-0764-209D-503EBCBBD9B8}"/>
              </a:ext>
            </a:extLst>
          </p:cNvPr>
          <p:cNvGrpSpPr/>
          <p:nvPr/>
        </p:nvGrpSpPr>
        <p:grpSpPr>
          <a:xfrm>
            <a:off x="9220200" y="5695950"/>
            <a:ext cx="1339850" cy="565150"/>
            <a:chOff x="5060" y="4563"/>
            <a:chExt cx="2754" cy="1393"/>
          </a:xfrm>
        </p:grpSpPr>
        <p:sp>
          <p:nvSpPr>
            <p:cNvPr id="37" name="矩形 36">
              <a:extLst>
                <a:ext uri="{FF2B5EF4-FFF2-40B4-BE49-F238E27FC236}">
                  <a16:creationId xmlns:a16="http://schemas.microsoft.com/office/drawing/2014/main" id="{59CD5A80-EE8F-2CBA-140F-E749F5446C62}"/>
                </a:ext>
              </a:extLst>
            </p:cNvPr>
            <p:cNvSpPr/>
            <p:nvPr/>
          </p:nvSpPr>
          <p:spPr>
            <a:xfrm rot="5400000">
              <a:off x="5709" y="3914"/>
              <a:ext cx="1393" cy="2691"/>
            </a:xfrm>
            <a:prstGeom prst="rect">
              <a:avLst/>
            </a:prstGeom>
            <a:gradFill flip="none" rotWithShape="1">
              <a:gsLst>
                <a:gs pos="0">
                  <a:srgbClr val="FAA35E"/>
                </a:gs>
                <a:gs pos="99000">
                  <a:srgbClr val="3982FF">
                    <a:alpha val="37000"/>
                  </a:srgbClr>
                </a:gs>
              </a:gsLst>
              <a:lin ang="2700000" scaled="1"/>
              <a:tileRect/>
            </a:gradFill>
            <a:ln w="3175">
              <a:gradFill flip="none" rotWithShape="1">
                <a:gsLst>
                  <a:gs pos="50000">
                    <a:schemeClr val="accent1">
                      <a:lumMod val="5000"/>
                      <a:lumOff val="95000"/>
                      <a:alpha val="0"/>
                    </a:schemeClr>
                  </a:gs>
                  <a:gs pos="100000">
                    <a:schemeClr val="bg1">
                      <a:alpha val="48000"/>
                    </a:schemeClr>
                  </a:gs>
                </a:gsLst>
                <a:lin ang="135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Light" pitchFamily="34" charset="-122"/>
                <a:cs typeface="+mn-cs"/>
              </a:endParaRPr>
            </a:p>
          </p:txBody>
        </p:sp>
        <p:sp>
          <p:nvSpPr>
            <p:cNvPr id="38" name="文本框 37">
              <a:extLst>
                <a:ext uri="{FF2B5EF4-FFF2-40B4-BE49-F238E27FC236}">
                  <a16:creationId xmlns:a16="http://schemas.microsoft.com/office/drawing/2014/main" id="{A0A2ADE9-260D-0C46-6336-2FE8A3298E2B}"/>
                </a:ext>
              </a:extLst>
            </p:cNvPr>
            <p:cNvSpPr txBox="1"/>
            <p:nvPr/>
          </p:nvSpPr>
          <p:spPr>
            <a:xfrm>
              <a:off x="5060" y="4760"/>
              <a:ext cx="2754" cy="1137"/>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chemeClr val="bg1"/>
                  </a:solidFill>
                  <a:latin typeface="微软雅黑" pitchFamily="34" charset="-122"/>
                  <a:ea typeface="微软雅黑" pitchFamily="34" charset="-122"/>
                  <a:cs typeface="+mn-cs"/>
                  <a:sym typeface="+mn-ea"/>
                </a:rPr>
                <a:t>R4</a:t>
              </a:r>
            </a:p>
          </p:txBody>
        </p:sp>
      </p:grpSp>
      <p:cxnSp>
        <p:nvCxnSpPr>
          <p:cNvPr id="39" name="直接连接符 38">
            <a:extLst>
              <a:ext uri="{FF2B5EF4-FFF2-40B4-BE49-F238E27FC236}">
                <a16:creationId xmlns:a16="http://schemas.microsoft.com/office/drawing/2014/main" id="{B8A93A29-367D-AB39-687D-0B5F6946008B}"/>
              </a:ext>
            </a:extLst>
          </p:cNvPr>
          <p:cNvCxnSpPr/>
          <p:nvPr/>
        </p:nvCxnSpPr>
        <p:spPr>
          <a:xfrm flipH="1">
            <a:off x="9894888" y="3849688"/>
            <a:ext cx="3175" cy="173831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32ABD13B-BD9F-3B3E-AD3A-1049DC325231}"/>
              </a:ext>
            </a:extLst>
          </p:cNvPr>
          <p:cNvCxnSpPr/>
          <p:nvPr/>
        </p:nvCxnSpPr>
        <p:spPr>
          <a:xfrm>
            <a:off x="9623425" y="3851275"/>
            <a:ext cx="0" cy="11334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626B0A1-33F9-8280-CCAD-68A377AE11C2}"/>
              </a:ext>
            </a:extLst>
          </p:cNvPr>
          <p:cNvCxnSpPr/>
          <p:nvPr/>
        </p:nvCxnSpPr>
        <p:spPr>
          <a:xfrm flipV="1">
            <a:off x="8462963" y="4994275"/>
            <a:ext cx="1160463" cy="9525"/>
          </a:xfrm>
          <a:prstGeom prst="line">
            <a:avLst/>
          </a:prstGeom>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FBDC9104-C100-A9AC-C75D-8FE89ABAFE8D}"/>
              </a:ext>
            </a:extLst>
          </p:cNvPr>
          <p:cNvSpPr txBox="1"/>
          <p:nvPr/>
        </p:nvSpPr>
        <p:spPr>
          <a:xfrm>
            <a:off x="1157288" y="3849688"/>
            <a:ext cx="1089025" cy="460375"/>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rgbClr val="3982FF"/>
                </a:solidFill>
                <a:latin typeface="微软雅黑" pitchFamily="34" charset="-122"/>
                <a:ea typeface="微软雅黑" pitchFamily="34" charset="-122"/>
                <a:cs typeface="+mn-cs"/>
                <a:sym typeface="+mn-ea"/>
              </a:rPr>
              <a:t>L1</a:t>
            </a:r>
          </a:p>
        </p:txBody>
      </p:sp>
      <p:sp>
        <p:nvSpPr>
          <p:cNvPr id="43" name="文本框 42">
            <a:extLst>
              <a:ext uri="{FF2B5EF4-FFF2-40B4-BE49-F238E27FC236}">
                <a16:creationId xmlns:a16="http://schemas.microsoft.com/office/drawing/2014/main" id="{44771688-5AD3-D0A2-ECE8-9D61A8A60858}"/>
              </a:ext>
            </a:extLst>
          </p:cNvPr>
          <p:cNvSpPr txBox="1"/>
          <p:nvPr/>
        </p:nvSpPr>
        <p:spPr>
          <a:xfrm>
            <a:off x="3241675" y="3849688"/>
            <a:ext cx="1089025" cy="460375"/>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rgbClr val="3982FF"/>
                </a:solidFill>
                <a:latin typeface="微软雅黑" pitchFamily="34" charset="-122"/>
                <a:ea typeface="微软雅黑" pitchFamily="34" charset="-122"/>
                <a:cs typeface="+mn-cs"/>
                <a:sym typeface="+mn-ea"/>
              </a:rPr>
              <a:t>L2</a:t>
            </a:r>
          </a:p>
        </p:txBody>
      </p:sp>
      <p:sp>
        <p:nvSpPr>
          <p:cNvPr id="44" name="文本框 43">
            <a:extLst>
              <a:ext uri="{FF2B5EF4-FFF2-40B4-BE49-F238E27FC236}">
                <a16:creationId xmlns:a16="http://schemas.microsoft.com/office/drawing/2014/main" id="{D26FBECE-7F6B-A805-859F-F1E5CEC83C7C}"/>
              </a:ext>
            </a:extLst>
          </p:cNvPr>
          <p:cNvSpPr txBox="1"/>
          <p:nvPr/>
        </p:nvSpPr>
        <p:spPr>
          <a:xfrm>
            <a:off x="4348163" y="4019550"/>
            <a:ext cx="1089025" cy="460375"/>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rgbClr val="3982FF"/>
                </a:solidFill>
                <a:latin typeface="微软雅黑" pitchFamily="34" charset="-122"/>
                <a:ea typeface="微软雅黑" pitchFamily="34" charset="-122"/>
                <a:cs typeface="+mn-cs"/>
                <a:sym typeface="+mn-ea"/>
              </a:rPr>
              <a:t>L1</a:t>
            </a:r>
          </a:p>
        </p:txBody>
      </p:sp>
      <p:sp>
        <p:nvSpPr>
          <p:cNvPr id="45" name="文本框 44">
            <a:extLst>
              <a:ext uri="{FF2B5EF4-FFF2-40B4-BE49-F238E27FC236}">
                <a16:creationId xmlns:a16="http://schemas.microsoft.com/office/drawing/2014/main" id="{E9BA341F-EE80-2B2F-DD67-23CAA44C0AF6}"/>
              </a:ext>
            </a:extLst>
          </p:cNvPr>
          <p:cNvSpPr txBox="1"/>
          <p:nvPr/>
        </p:nvSpPr>
        <p:spPr>
          <a:xfrm>
            <a:off x="5648325" y="4019550"/>
            <a:ext cx="1089025" cy="460375"/>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rgbClr val="3982FF"/>
                </a:solidFill>
                <a:latin typeface="微软雅黑" pitchFamily="34" charset="-122"/>
                <a:ea typeface="微软雅黑" pitchFamily="34" charset="-122"/>
                <a:cs typeface="+mn-cs"/>
                <a:sym typeface="+mn-ea"/>
              </a:rPr>
              <a:t>L2</a:t>
            </a:r>
          </a:p>
        </p:txBody>
      </p:sp>
      <p:sp>
        <p:nvSpPr>
          <p:cNvPr id="46" name="文本框 45">
            <a:extLst>
              <a:ext uri="{FF2B5EF4-FFF2-40B4-BE49-F238E27FC236}">
                <a16:creationId xmlns:a16="http://schemas.microsoft.com/office/drawing/2014/main" id="{E4469F7D-5F67-0268-4505-D5E400EAC139}"/>
              </a:ext>
            </a:extLst>
          </p:cNvPr>
          <p:cNvSpPr txBox="1"/>
          <p:nvPr/>
        </p:nvSpPr>
        <p:spPr>
          <a:xfrm>
            <a:off x="6985000" y="4008438"/>
            <a:ext cx="1089025" cy="460375"/>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rgbClr val="3982FF"/>
                </a:solidFill>
                <a:latin typeface="微软雅黑" pitchFamily="34" charset="-122"/>
                <a:ea typeface="微软雅黑" pitchFamily="34" charset="-122"/>
                <a:cs typeface="+mn-cs"/>
                <a:sym typeface="+mn-ea"/>
              </a:rPr>
              <a:t>L1</a:t>
            </a:r>
          </a:p>
        </p:txBody>
      </p:sp>
      <p:sp>
        <p:nvSpPr>
          <p:cNvPr id="47" name="文本框 46">
            <a:extLst>
              <a:ext uri="{FF2B5EF4-FFF2-40B4-BE49-F238E27FC236}">
                <a16:creationId xmlns:a16="http://schemas.microsoft.com/office/drawing/2014/main" id="{46EC0618-A34B-35C8-22AF-C4C648F37AE0}"/>
              </a:ext>
            </a:extLst>
          </p:cNvPr>
          <p:cNvSpPr txBox="1"/>
          <p:nvPr/>
        </p:nvSpPr>
        <p:spPr>
          <a:xfrm>
            <a:off x="8742363" y="4008438"/>
            <a:ext cx="1089025" cy="460375"/>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rgbClr val="3982FF"/>
                </a:solidFill>
                <a:latin typeface="微软雅黑" pitchFamily="34" charset="-122"/>
                <a:ea typeface="微软雅黑" pitchFamily="34" charset="-122"/>
                <a:cs typeface="+mn-cs"/>
                <a:sym typeface="+mn-ea"/>
              </a:rPr>
              <a:t>L2</a:t>
            </a:r>
          </a:p>
        </p:txBody>
      </p:sp>
      <p:sp>
        <p:nvSpPr>
          <p:cNvPr id="48" name="文本框 47">
            <a:extLst>
              <a:ext uri="{FF2B5EF4-FFF2-40B4-BE49-F238E27FC236}">
                <a16:creationId xmlns:a16="http://schemas.microsoft.com/office/drawing/2014/main" id="{7599868D-C8C2-4E86-FB93-2BA130FC065D}"/>
              </a:ext>
            </a:extLst>
          </p:cNvPr>
          <p:cNvSpPr txBox="1"/>
          <p:nvPr/>
        </p:nvSpPr>
        <p:spPr>
          <a:xfrm>
            <a:off x="9801225" y="4037013"/>
            <a:ext cx="1089025" cy="460375"/>
          </a:xfrm>
          <a:prstGeom prst="rect">
            <a:avLst/>
          </a:prstGeom>
          <a:noFill/>
        </p:spPr>
        <p:txBody>
          <a:bodyPr wrap="square" rtlCol="0">
            <a:spAutoFit/>
          </a:bodyPr>
          <a:lstStyle/>
          <a:p>
            <a:pPr marR="0" algn="ctr" defTabSz="457200" fontAlgn="auto">
              <a:spcBef>
                <a:spcPts val="0"/>
              </a:spcBef>
              <a:spcAft>
                <a:spcPts val="0"/>
              </a:spcAft>
              <a:buClrTx/>
              <a:buSzTx/>
              <a:buFontTx/>
              <a:buNone/>
              <a:defRPr/>
            </a:pPr>
            <a:r>
              <a:rPr kumimoji="0" lang="en-US" altLang="zh-CN" sz="2400" b="1" kern="100" cap="none" spc="0" normalizeH="0" baseline="0" noProof="0" dirty="0">
                <a:solidFill>
                  <a:srgbClr val="3982FF"/>
                </a:solidFill>
                <a:latin typeface="微软雅黑" pitchFamily="34" charset="-122"/>
                <a:ea typeface="微软雅黑" pitchFamily="34" charset="-122"/>
                <a:cs typeface="+mn-cs"/>
                <a:sym typeface="+mn-ea"/>
              </a:rPr>
              <a:t>L3</a:t>
            </a:r>
          </a:p>
        </p:txBody>
      </p:sp>
    </p:spTree>
    <p:extLst>
      <p:ext uri="{BB962C8B-B14F-4D97-AF65-F5344CB8AC3E}">
        <p14:creationId xmlns:p14="http://schemas.microsoft.com/office/powerpoint/2010/main" val="2161078469"/>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常见的数据模型</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D46286CE-C77D-887A-F8F4-87E1E4FDB507}"/>
              </a:ext>
            </a:extLst>
          </p:cNvPr>
          <p:cNvSpPr txBox="1"/>
          <p:nvPr/>
        </p:nvSpPr>
        <p:spPr>
          <a:xfrm>
            <a:off x="2222417" y="5044907"/>
            <a:ext cx="5141913" cy="869950"/>
          </a:xfrm>
          <a:prstGeom prst="rect">
            <a:avLst/>
          </a:prstGeom>
          <a:noFill/>
        </p:spPr>
        <p:txBody>
          <a:bodyPr wrap="square" rtlCol="0">
            <a:noAutofit/>
          </a:bodyPr>
          <a:lstStyle/>
          <a:p>
            <a:pPr marL="0" marR="0" lvl="2" indent="0" algn="l" defTabSz="457200" rtl="0" eaLnBrk="1" fontAlgn="auto" latinLnBrk="0" hangingPunct="1">
              <a:lnSpc>
                <a:spcPct val="100000"/>
              </a:lnSpc>
              <a:spcBef>
                <a:spcPts val="0"/>
              </a:spcBef>
              <a:spcAft>
                <a:spcPts val="0"/>
              </a:spcAft>
              <a:buClrTx/>
              <a:buSzTx/>
              <a:buFontTx/>
              <a:buNone/>
              <a:defRPr/>
            </a:pPr>
            <a:r>
              <a:rPr lang="zh-CN" altLang="en-US" sz="1600" b="1" dirty="0">
                <a:solidFill>
                  <a:srgbClr val="44546A"/>
                </a:solidFill>
                <a:latin typeface="微软雅黑" panose="020B0503020204020204" pitchFamily="34" charset="-122"/>
                <a:ea typeface="微软雅黑" panose="020B0503020204020204" pitchFamily="34" charset="-122"/>
                <a:sym typeface="+mn-ea"/>
              </a:rPr>
              <a:t>关系</a:t>
            </a:r>
            <a:r>
              <a:rPr lang="zh-CN" altLang="zh-CN" sz="1600" b="1" dirty="0">
                <a:solidFill>
                  <a:srgbClr val="44546A"/>
                </a:solidFill>
                <a:latin typeface="微软雅黑" panose="020B0503020204020204" pitchFamily="34" charset="-122"/>
                <a:ea typeface="微软雅黑" panose="020B0503020204020204" pitchFamily="34" charset="-122"/>
                <a:sym typeface="+mn-ea"/>
              </a:rPr>
              <a:t>模型（</a:t>
            </a:r>
            <a:r>
              <a:rPr lang="en-US" altLang="zh-CN" sz="1600" b="1" dirty="0">
                <a:solidFill>
                  <a:srgbClr val="44546A"/>
                </a:solidFill>
                <a:latin typeface="微软雅黑" panose="020B0503020204020204" pitchFamily="34" charset="-122"/>
                <a:ea typeface="微软雅黑" panose="020B0503020204020204" pitchFamily="34" charset="-122"/>
                <a:sym typeface="+mn-ea"/>
              </a:rPr>
              <a:t>Relational Model</a:t>
            </a:r>
            <a:r>
              <a:rPr lang="zh-CN" altLang="zh-CN" sz="1600" b="1" dirty="0">
                <a:solidFill>
                  <a:srgbClr val="44546A"/>
                </a:solidFill>
                <a:latin typeface="微软雅黑" panose="020B0503020204020204" pitchFamily="34" charset="-122"/>
                <a:ea typeface="微软雅黑" panose="020B0503020204020204" pitchFamily="34" charset="-122"/>
                <a:sym typeface="+mn-ea"/>
              </a:rPr>
              <a:t>）</a:t>
            </a:r>
          </a:p>
        </p:txBody>
      </p:sp>
      <p:sp>
        <p:nvSpPr>
          <p:cNvPr id="4" name="矩形 3">
            <a:extLst>
              <a:ext uri="{FF2B5EF4-FFF2-40B4-BE49-F238E27FC236}">
                <a16:creationId xmlns:a16="http://schemas.microsoft.com/office/drawing/2014/main" id="{4512610F-A030-4B39-09EE-1E5A1644A2ED}"/>
              </a:ext>
            </a:extLst>
          </p:cNvPr>
          <p:cNvSpPr/>
          <p:nvPr/>
        </p:nvSpPr>
        <p:spPr>
          <a:xfrm>
            <a:off x="6578600" y="2782888"/>
            <a:ext cx="4854575" cy="1239838"/>
          </a:xfrm>
          <a:prstGeom prst="rect">
            <a:avLst/>
          </a:prstGeom>
        </p:spPr>
        <p:txBody>
          <a:bodyPr wrap="square">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zh-CN" b="1" dirty="0">
                <a:solidFill>
                  <a:srgbClr val="44546A"/>
                </a:solidFill>
                <a:latin typeface="微软雅黑" panose="020B0503020204020204" pitchFamily="34" charset="-122"/>
                <a:ea typeface="微软雅黑" panose="020B0503020204020204" pitchFamily="34" charset="-122"/>
                <a:sym typeface="+mn-ea"/>
              </a:rPr>
              <a:t>用二维表的形式表示各类</a:t>
            </a:r>
            <a:r>
              <a:rPr lang="en-US" altLang="zh-CN" b="1" dirty="0">
                <a:solidFill>
                  <a:srgbClr val="44546A"/>
                </a:solidFill>
                <a:latin typeface="微软雅黑" panose="020B0503020204020204" pitchFamily="34" charset="-122"/>
                <a:ea typeface="微软雅黑" panose="020B0503020204020204" pitchFamily="34" charset="-122"/>
                <a:sym typeface="+mn-ea"/>
              </a:rPr>
              <a:t>实体</a:t>
            </a:r>
            <a:r>
              <a:rPr lang="zh-CN" altLang="zh-CN" b="1" dirty="0">
                <a:solidFill>
                  <a:srgbClr val="44546A"/>
                </a:solidFill>
                <a:latin typeface="微软雅黑" panose="020B0503020204020204" pitchFamily="34" charset="-122"/>
                <a:ea typeface="微软雅黑" panose="020B0503020204020204" pitchFamily="34" charset="-122"/>
                <a:sym typeface="+mn-ea"/>
              </a:rPr>
              <a:t>及实体间联系。</a:t>
            </a:r>
          </a:p>
          <a:p>
            <a:pPr marL="0" marR="0" lvl="0" indent="0" algn="l" defTabSz="457200" rtl="0" eaLnBrk="1" fontAlgn="auto" latinLnBrk="0" hangingPunct="1">
              <a:lnSpc>
                <a:spcPct val="100000"/>
              </a:lnSpc>
              <a:spcBef>
                <a:spcPts val="0"/>
              </a:spcBef>
              <a:spcAft>
                <a:spcPts val="0"/>
              </a:spcAft>
              <a:buClrTx/>
              <a:buSzTx/>
              <a:buFontTx/>
              <a:buNone/>
              <a:defRPr/>
            </a:pPr>
            <a:endParaRPr lang="zh-CN" altLang="zh-CN" b="1" dirty="0">
              <a:solidFill>
                <a:srgbClr val="44546A"/>
              </a:solidFill>
              <a:latin typeface="微软雅黑" panose="020B0503020204020204" pitchFamily="34" charset="-122"/>
              <a:ea typeface="微软雅黑" panose="020B0503020204020204" pitchFamily="34" charset="-122"/>
              <a:sym typeface="+mn-ea"/>
            </a:endParaRPr>
          </a:p>
          <a:p>
            <a:pPr marL="0" marR="0" lvl="1" indent="0" algn="l" defTabSz="457200" rtl="0" eaLnBrk="1" fontAlgn="auto" latinLnBrk="0" hangingPunct="1">
              <a:lnSpc>
                <a:spcPct val="100000"/>
              </a:lnSpc>
              <a:spcBef>
                <a:spcPts val="0"/>
              </a:spcBef>
              <a:spcAft>
                <a:spcPts val="0"/>
              </a:spcAft>
              <a:buClrTx/>
              <a:buSzTx/>
              <a:buFontTx/>
              <a:buNone/>
              <a:defRPr/>
            </a:pPr>
            <a:r>
              <a:rPr lang="en-US" altLang="zh-CN" b="1" dirty="0">
                <a:solidFill>
                  <a:srgbClr val="44546A"/>
                </a:solidFill>
                <a:latin typeface="微软雅黑" panose="020B0503020204020204" pitchFamily="34" charset="-122"/>
                <a:ea typeface="微软雅黑" panose="020B0503020204020204" pitchFamily="34" charset="-122"/>
                <a:sym typeface="+mn-ea"/>
              </a:rPr>
              <a:t>1</a:t>
            </a:r>
            <a:r>
              <a:rPr lang="zh-CN" altLang="zh-CN" b="1" dirty="0">
                <a:solidFill>
                  <a:srgbClr val="44546A"/>
                </a:solidFill>
                <a:latin typeface="微软雅黑" panose="020B0503020204020204" pitchFamily="34" charset="-122"/>
                <a:ea typeface="微软雅黑" panose="020B0503020204020204" pitchFamily="34" charset="-122"/>
                <a:sym typeface="+mn-ea"/>
              </a:rPr>
              <a:t>、</a:t>
            </a:r>
            <a:r>
              <a:rPr lang="zh-CN" altLang="en-US" b="1" dirty="0">
                <a:solidFill>
                  <a:srgbClr val="44546A"/>
                </a:solidFill>
                <a:latin typeface="微软雅黑" panose="020B0503020204020204" pitchFamily="34" charset="-122"/>
                <a:ea typeface="微软雅黑" panose="020B0503020204020204" pitchFamily="34" charset="-122"/>
                <a:sym typeface="+mn-ea"/>
              </a:rPr>
              <a:t>关系</a:t>
            </a:r>
            <a:r>
              <a:rPr lang="zh-CN" altLang="zh-CN" b="1" dirty="0">
                <a:solidFill>
                  <a:srgbClr val="44546A"/>
                </a:solidFill>
                <a:latin typeface="微软雅黑" panose="020B0503020204020204" pitchFamily="34" charset="-122"/>
                <a:ea typeface="微软雅黑" panose="020B0503020204020204" pitchFamily="34" charset="-122"/>
                <a:sym typeface="+mn-ea"/>
              </a:rPr>
              <a:t>模型的数据结构</a:t>
            </a:r>
            <a:endParaRPr lang="en-US" altLang="zh-CN" b="1" dirty="0">
              <a:solidFill>
                <a:srgbClr val="44546A"/>
              </a:solidFill>
              <a:latin typeface="微软雅黑" panose="020B0503020204020204" pitchFamily="34" charset="-122"/>
              <a:ea typeface="微软雅黑" panose="020B0503020204020204" pitchFamily="34" charset="-122"/>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800" b="1" i="0" u="none" strike="noStrike" kern="0" cap="none" spc="0" normalizeH="0" baseline="0" noProof="0" dirty="0">
              <a:ln>
                <a:noFill/>
              </a:ln>
              <a:solidFill>
                <a:srgbClr val="3982FF"/>
              </a:solidFill>
              <a:effectLst/>
              <a:uLnTx/>
              <a:uFillTx/>
              <a:latin typeface="微软雅黑" pitchFamily="34" charset="-122"/>
              <a:ea typeface="微软雅黑" pitchFamily="34" charset="-122"/>
              <a:cs typeface="+mn-ea"/>
              <a:sym typeface="+mn-ea"/>
            </a:endParaRPr>
          </a:p>
        </p:txBody>
      </p:sp>
      <p:sp>
        <p:nvSpPr>
          <p:cNvPr id="5" name="文本框 4">
            <a:extLst>
              <a:ext uri="{FF2B5EF4-FFF2-40B4-BE49-F238E27FC236}">
                <a16:creationId xmlns:a16="http://schemas.microsoft.com/office/drawing/2014/main" id="{6FFDC041-E61F-69A7-0598-E8C0287B373E}"/>
              </a:ext>
            </a:extLst>
          </p:cNvPr>
          <p:cNvSpPr txBox="1"/>
          <p:nvPr/>
        </p:nvSpPr>
        <p:spPr>
          <a:xfrm>
            <a:off x="6654800" y="4022725"/>
            <a:ext cx="4719638" cy="874407"/>
          </a:xfrm>
          <a:prstGeom prst="rect">
            <a:avLst/>
          </a:prstGeom>
          <a:noFill/>
        </p:spPr>
        <p:txBody>
          <a:bodyPr wrap="square" rtlCol="0">
            <a:spAutoFit/>
          </a:bodyPr>
          <a:lstStyle/>
          <a:p>
            <a:pPr marR="0" defTabSz="457200" fontAlgn="auto">
              <a:lnSpc>
                <a:spcPct val="150000"/>
              </a:lnSpc>
              <a:spcBef>
                <a:spcPts val="0"/>
              </a:spcBef>
              <a:spcAft>
                <a:spcPts val="0"/>
              </a:spcAft>
              <a:buClrTx/>
              <a:buSzTx/>
              <a:buFontTx/>
              <a:buNone/>
              <a:defRPr/>
            </a:pPr>
            <a:r>
              <a:rPr lang="zh-CN" altLang="zh-CN" dirty="0">
                <a:solidFill>
                  <a:srgbClr val="44546A"/>
                </a:solidFill>
                <a:latin typeface="微软雅黑" panose="020B0503020204020204" pitchFamily="34" charset="-122"/>
                <a:ea typeface="微软雅黑" panose="020B0503020204020204" pitchFamily="34" charset="-122"/>
                <a:sym typeface="+mn-ea"/>
              </a:rPr>
              <a:t>关系模式的数据结构就是一种</a:t>
            </a:r>
            <a:r>
              <a:rPr lang="zh-CN" altLang="zh-CN" u="sng" dirty="0">
                <a:solidFill>
                  <a:srgbClr val="44546A"/>
                </a:solidFill>
                <a:latin typeface="微软雅黑" panose="020B0503020204020204" pitchFamily="34" charset="-122"/>
                <a:ea typeface="微软雅黑" panose="020B0503020204020204" pitchFamily="34" charset="-122"/>
                <a:sym typeface="+mn-ea"/>
              </a:rPr>
              <a:t>二维表结构</a:t>
            </a:r>
            <a:r>
              <a:rPr lang="zh-CN" altLang="zh-CN" dirty="0">
                <a:solidFill>
                  <a:srgbClr val="44546A"/>
                </a:solidFill>
                <a:latin typeface="微软雅黑" panose="020B0503020204020204" pitchFamily="34" charset="-122"/>
                <a:ea typeface="微软雅黑" panose="020B0503020204020204" pitchFamily="34" charset="-122"/>
                <a:sym typeface="+mn-ea"/>
              </a:rPr>
              <a:t>，它由行</a:t>
            </a:r>
            <a:r>
              <a:rPr lang="zh-CN" altLang="en-US" dirty="0">
                <a:solidFill>
                  <a:srgbClr val="44546A"/>
                </a:solidFill>
                <a:latin typeface="微软雅黑" panose="020B0503020204020204" pitchFamily="34" charset="-122"/>
                <a:ea typeface="微软雅黑" panose="020B0503020204020204" pitchFamily="34" charset="-122"/>
                <a:sym typeface="+mn-ea"/>
              </a:rPr>
              <a:t>、</a:t>
            </a:r>
            <a:r>
              <a:rPr lang="zh-CN" altLang="zh-CN" dirty="0">
                <a:solidFill>
                  <a:srgbClr val="44546A"/>
                </a:solidFill>
                <a:latin typeface="微软雅黑" panose="020B0503020204020204" pitchFamily="34" charset="-122"/>
                <a:ea typeface="微软雅黑" panose="020B0503020204020204" pitchFamily="34" charset="-122"/>
                <a:sym typeface="+mn-ea"/>
              </a:rPr>
              <a:t>列组成，如表</a:t>
            </a:r>
            <a:r>
              <a:rPr lang="en-US" altLang="zh-CN" dirty="0">
                <a:solidFill>
                  <a:srgbClr val="44546A"/>
                </a:solidFill>
                <a:latin typeface="微软雅黑" panose="020B0503020204020204" pitchFamily="34" charset="-122"/>
                <a:ea typeface="微软雅黑" panose="020B0503020204020204" pitchFamily="34" charset="-122"/>
                <a:sym typeface="+mn-ea"/>
              </a:rPr>
              <a:t>1-1 </a:t>
            </a:r>
            <a:r>
              <a:rPr lang="zh-CN" altLang="zh-CN" dirty="0">
                <a:solidFill>
                  <a:srgbClr val="44546A"/>
                </a:solidFill>
                <a:latin typeface="微软雅黑" panose="020B0503020204020204" pitchFamily="34" charset="-122"/>
                <a:ea typeface="微软雅黑" panose="020B0503020204020204" pitchFamily="34" charset="-122"/>
                <a:sym typeface="+mn-ea"/>
              </a:rPr>
              <a:t>学生信息表所示。</a:t>
            </a:r>
            <a:endParaRPr lang="zh-CN" altLang="en-US" dirty="0">
              <a:solidFill>
                <a:srgbClr val="44546A"/>
              </a:solidFill>
              <a:latin typeface="微软雅黑" panose="020B0503020204020204" pitchFamily="34" charset="-122"/>
              <a:ea typeface="微软雅黑" panose="020B0503020204020204" pitchFamily="34" charset="-122"/>
            </a:endParaRPr>
          </a:p>
        </p:txBody>
      </p:sp>
      <p:pic>
        <p:nvPicPr>
          <p:cNvPr id="7" name="图片 7">
            <a:extLst>
              <a:ext uri="{FF2B5EF4-FFF2-40B4-BE49-F238E27FC236}">
                <a16:creationId xmlns:a16="http://schemas.microsoft.com/office/drawing/2014/main" id="{34CC2E06-11A8-7D6E-0EE6-8FB93E3C3E4E}"/>
              </a:ext>
            </a:extLst>
          </p:cNvPr>
          <p:cNvPicPr>
            <a:picLocks noChangeAspect="1"/>
          </p:cNvPicPr>
          <p:nvPr/>
        </p:nvPicPr>
        <p:blipFill>
          <a:blip r:embed="rId3"/>
          <a:srcRect b="697"/>
          <a:stretch>
            <a:fillRect/>
          </a:stretch>
        </p:blipFill>
        <p:spPr>
          <a:xfrm>
            <a:off x="1288633" y="2046288"/>
            <a:ext cx="4465637" cy="2800350"/>
          </a:xfrm>
          <a:prstGeom prst="rect">
            <a:avLst/>
          </a:prstGeom>
          <a:noFill/>
          <a:ln w="9525">
            <a:noFill/>
          </a:ln>
        </p:spPr>
      </p:pic>
    </p:spTree>
    <p:extLst>
      <p:ext uri="{BB962C8B-B14F-4D97-AF65-F5344CB8AC3E}">
        <p14:creationId xmlns:p14="http://schemas.microsoft.com/office/powerpoint/2010/main" val="2390134252"/>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数据模型</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常见的数据模型</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矩形: 圆角 32">
            <a:extLst>
              <a:ext uri="{FF2B5EF4-FFF2-40B4-BE49-F238E27FC236}">
                <a16:creationId xmlns:a16="http://schemas.microsoft.com/office/drawing/2014/main" id="{DEC93BA3-574F-FF55-122F-B6597CE5ABCB}"/>
              </a:ext>
            </a:extLst>
          </p:cNvPr>
          <p:cNvSpPr/>
          <p:nvPr/>
        </p:nvSpPr>
        <p:spPr>
          <a:xfrm>
            <a:off x="874713" y="2524125"/>
            <a:ext cx="10477500" cy="1578643"/>
          </a:xfrm>
          <a:prstGeom prst="roundRect">
            <a:avLst>
              <a:gd name="adj" fmla="val 7476"/>
            </a:avLst>
          </a:prstGeom>
          <a:solidFill>
            <a:srgbClr val="3982FF">
              <a:alpha val="15000"/>
            </a:srgbClr>
          </a:solidFill>
          <a:ln>
            <a:solidFill>
              <a:srgbClr val="3982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2000" b="0" i="0" u="none" strike="noStrike" kern="0" cap="none" spc="0" normalizeH="0" baseline="0" noProof="0" dirty="0">
              <a:ln>
                <a:noFill/>
              </a:ln>
              <a:solidFill>
                <a:schemeClr val="tx1">
                  <a:lumMod val="65000"/>
                  <a:lumOff val="35000"/>
                </a:schemeClr>
              </a:solidFill>
              <a:effectLst/>
              <a:uLnTx/>
              <a:uFillTx/>
              <a:latin typeface="微软雅黑" pitchFamily="34" charset="-122"/>
              <a:ea typeface="微软雅黑" pitchFamily="34" charset="-122"/>
              <a:cs typeface="+mn-cs"/>
              <a:sym typeface="+mn-ea"/>
            </a:endParaRPr>
          </a:p>
        </p:txBody>
      </p:sp>
      <p:sp>
        <p:nvSpPr>
          <p:cNvPr id="4" name="文本框 3">
            <a:extLst>
              <a:ext uri="{FF2B5EF4-FFF2-40B4-BE49-F238E27FC236}">
                <a16:creationId xmlns:a16="http://schemas.microsoft.com/office/drawing/2014/main" id="{DD35FC36-0CD6-DF66-C6B8-F2811D1718DB}"/>
              </a:ext>
            </a:extLst>
          </p:cNvPr>
          <p:cNvSpPr txBox="1"/>
          <p:nvPr/>
        </p:nvSpPr>
        <p:spPr>
          <a:xfrm>
            <a:off x="960438" y="1747838"/>
            <a:ext cx="6726238" cy="869950"/>
          </a:xfrm>
          <a:prstGeom prst="rect">
            <a:avLst/>
          </a:prstGeom>
          <a:noFill/>
        </p:spPr>
        <p:txBody>
          <a:bodyPr wrap="square" rtlCol="0">
            <a:noAutofit/>
          </a:bodyPr>
          <a:lstStyle/>
          <a:p>
            <a:pPr marL="0" marR="0" lvl="2" indent="-342900" algn="l" defTabSz="457200" rtl="0" eaLnBrk="0" fontAlgn="base" latinLnBrk="0" hangingPunct="0">
              <a:lnSpc>
                <a:spcPct val="150000"/>
              </a:lnSpc>
              <a:spcBef>
                <a:spcPct val="20000"/>
              </a:spcBef>
              <a:spcAft>
                <a:spcPct val="0"/>
              </a:spcAft>
              <a:buClrTx/>
              <a:buSzTx/>
              <a:buFontTx/>
              <a:buNone/>
              <a:defRPr/>
            </a:pPr>
            <a:r>
              <a:rPr kumimoji="0" lang="zh-CN" altLang="zh-CN" sz="2000" b="1" i="0" u="none" strike="noStrike" kern="1200" cap="none" spc="0" normalizeH="0" baseline="0" noProof="0" dirty="0">
                <a:ln>
                  <a:noFill/>
                </a:ln>
                <a:solidFill>
                  <a:srgbClr val="3982FF"/>
                </a:solidFill>
                <a:effectLst/>
                <a:uLnTx/>
                <a:uFillTx/>
                <a:latin typeface="微软雅黑" pitchFamily="34" charset="-122"/>
                <a:ea typeface="微软雅黑" pitchFamily="34" charset="-122"/>
                <a:cs typeface="+mn-cs"/>
                <a:sym typeface="+mn-ea"/>
              </a:rPr>
              <a:t>面向对象模型（</a:t>
            </a:r>
            <a:r>
              <a:rPr kumimoji="0" lang="en-US" altLang="zh-CN" sz="2000" b="1" i="0" u="none" strike="noStrike" kern="1200" cap="none" spc="0" normalizeH="0" baseline="0" noProof="0" dirty="0">
                <a:ln>
                  <a:noFill/>
                </a:ln>
                <a:solidFill>
                  <a:srgbClr val="3982FF"/>
                </a:solidFill>
                <a:effectLst/>
                <a:uLnTx/>
                <a:uFillTx/>
                <a:latin typeface="微软雅黑" pitchFamily="34" charset="-122"/>
                <a:ea typeface="微软雅黑" pitchFamily="34" charset="-122"/>
                <a:cs typeface="+mn-cs"/>
                <a:sym typeface="+mn-ea"/>
              </a:rPr>
              <a:t>Object Oriented Model</a:t>
            </a:r>
            <a:r>
              <a:rPr kumimoji="0" lang="zh-CN" altLang="zh-CN" sz="2000" b="1" i="0" u="none" strike="noStrike" kern="1200" cap="none" spc="0" normalizeH="0" baseline="0" noProof="0" dirty="0">
                <a:ln>
                  <a:noFill/>
                </a:ln>
                <a:solidFill>
                  <a:srgbClr val="3982FF"/>
                </a:solidFill>
                <a:effectLst/>
                <a:uLnTx/>
                <a:uFillTx/>
                <a:latin typeface="微软雅黑" pitchFamily="34" charset="-122"/>
                <a:ea typeface="微软雅黑" pitchFamily="34" charset="-122"/>
                <a:cs typeface="+mn-cs"/>
                <a:sym typeface="+mn-ea"/>
              </a:rPr>
              <a:t>）</a:t>
            </a:r>
          </a:p>
          <a:p>
            <a:pPr marL="342900" marR="0" lvl="2" indent="-342900" algn="l" defTabSz="457200" rtl="0" eaLnBrk="0" fontAlgn="base" latinLnBrk="0" hangingPunct="0">
              <a:lnSpc>
                <a:spcPct val="150000"/>
              </a:lnSpc>
              <a:spcBef>
                <a:spcPct val="20000"/>
              </a:spcBef>
              <a:spcAft>
                <a:spcPct val="0"/>
              </a:spcAft>
              <a:buClrTx/>
              <a:buSzTx/>
              <a:buFontTx/>
              <a:buNone/>
              <a:defRPr/>
            </a:pPr>
            <a:endParaRPr kumimoji="1" lang="zh-CN" altLang="zh-CN" sz="2000" b="1" i="0" u="none" strike="noStrike" kern="1200" cap="none" spc="0" normalizeH="0" baseline="0" noProof="0" dirty="0">
              <a:ln>
                <a:noFill/>
              </a:ln>
              <a:solidFill>
                <a:srgbClr val="3982FF"/>
              </a:solidFill>
              <a:effectLst/>
              <a:uLnTx/>
              <a:uFillTx/>
              <a:latin typeface="微软雅黑" pitchFamily="34" charset="-122"/>
              <a:ea typeface="微软雅黑" pitchFamily="34" charset="-122"/>
              <a:cs typeface="微软雅黑" pitchFamily="34" charset="-122"/>
              <a:sym typeface="+mn-ea"/>
            </a:endParaRPr>
          </a:p>
        </p:txBody>
      </p:sp>
      <p:sp>
        <p:nvSpPr>
          <p:cNvPr id="5" name="内容占位符 2">
            <a:extLst>
              <a:ext uri="{FF2B5EF4-FFF2-40B4-BE49-F238E27FC236}">
                <a16:creationId xmlns:a16="http://schemas.microsoft.com/office/drawing/2014/main" id="{BC940A15-D976-751F-D9CC-B19ECF7712D1}"/>
              </a:ext>
            </a:extLst>
          </p:cNvPr>
          <p:cNvSpPr>
            <a:spLocks noGrp="1"/>
          </p:cNvSpPr>
          <p:nvPr/>
        </p:nvSpPr>
        <p:spPr bwMode="auto">
          <a:xfrm>
            <a:off x="857250" y="2546350"/>
            <a:ext cx="10477500" cy="378460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50000"/>
              </a:lnSpc>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0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18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16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16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marR="0" lvl="1" indent="0" algn="l" defTabSz="457200" rtl="0" eaLnBrk="0" fontAlgn="base" latinLnBrk="0" hangingPunct="0">
              <a:lnSpc>
                <a:spcPct val="150000"/>
              </a:lnSpc>
              <a:spcBef>
                <a:spcPct val="20000"/>
              </a:spcBef>
              <a:spcAft>
                <a:spcPct val="0"/>
              </a:spcAft>
              <a:buClrTx/>
              <a:buSzTx/>
              <a:buFontTx/>
              <a:buNone/>
              <a:defRPr/>
            </a:pPr>
            <a:endParaRPr kumimoji="0" lang="en-US" altLang="zh-CN" sz="1900" b="0"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a:p>
            <a:pPr marL="342900" marR="0" lvl="1" indent="-342900" algn="l" defTabSz="457200" rtl="0" eaLnBrk="0" fontAlgn="base" latinLnBrk="0" hangingPunct="0">
              <a:lnSpc>
                <a:spcPct val="150000"/>
              </a:lnSpc>
              <a:spcBef>
                <a:spcPct val="20000"/>
              </a:spcBef>
              <a:spcAft>
                <a:spcPct val="0"/>
              </a:spcAft>
              <a:buClrTx/>
              <a:buSzTx/>
              <a:buFont typeface="Arial" panose="020B0604020202090204" pitchFamily="34" charset="0"/>
              <a:buChar char="─"/>
              <a:defRPr/>
            </a:pPr>
            <a:endParaRPr kumimoji="0" lang="zh-CN" altLang="zh-CN" sz="1900" b="0"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a:p>
            <a:pPr marL="342900" marR="0" lvl="1" indent="-342900" algn="l" defTabSz="457200" rtl="0" eaLnBrk="0" fontAlgn="base" latinLnBrk="0" hangingPunct="0">
              <a:lnSpc>
                <a:spcPct val="150000"/>
              </a:lnSpc>
              <a:spcBef>
                <a:spcPct val="20000"/>
              </a:spcBef>
              <a:spcAft>
                <a:spcPct val="0"/>
              </a:spcAft>
              <a:buClrTx/>
              <a:buSzTx/>
              <a:buFont typeface="Arial" panose="020B0604020202090204" pitchFamily="34" charset="0"/>
              <a:buChar char="─"/>
              <a:defRPr/>
            </a:pPr>
            <a:endParaRPr kumimoji="0" lang="zh-CN" altLang="zh-CN" sz="1900" b="0"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a:p>
            <a:pPr marL="342900" marR="0" lvl="1" indent="-342900" algn="l" defTabSz="457200" rtl="0" eaLnBrk="0" fontAlgn="base" latinLnBrk="0" hangingPunct="0">
              <a:lnSpc>
                <a:spcPct val="200000"/>
              </a:lnSpc>
              <a:spcBef>
                <a:spcPct val="20000"/>
              </a:spcBef>
              <a:spcAft>
                <a:spcPct val="0"/>
              </a:spcAft>
              <a:buClrTx/>
              <a:buSzTx/>
              <a:buFont typeface="Arial" panose="020B0604020202090204" pitchFamily="34" charset="0"/>
              <a:buChar char="─"/>
              <a:defRPr/>
            </a:pPr>
            <a:endParaRPr kumimoji="0" lang="zh-CN" altLang="zh-CN" sz="1900" b="0"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a:p>
            <a:pPr marL="342900" marR="0" lvl="1" indent="-342900" algn="l" defTabSz="457200" rtl="0" eaLnBrk="0" fontAlgn="base" latinLnBrk="0" hangingPunct="0">
              <a:lnSpc>
                <a:spcPct val="200000"/>
              </a:lnSpc>
              <a:spcBef>
                <a:spcPct val="20000"/>
              </a:spcBef>
              <a:spcAft>
                <a:spcPct val="0"/>
              </a:spcAft>
              <a:buClrTx/>
              <a:buSzTx/>
              <a:buFont typeface="Arial" panose="020B0604020202090204" pitchFamily="34" charset="0"/>
              <a:buChar char="─"/>
              <a:defRPr/>
            </a:pPr>
            <a:endParaRPr kumimoji="0" lang="zh-CN" altLang="zh-CN" sz="1900" b="0"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a:p>
            <a:pPr marL="342900" marR="0" lvl="1" indent="-342900" algn="l" defTabSz="457200" rtl="0" eaLnBrk="0" fontAlgn="base" latinLnBrk="0" hangingPunct="0">
              <a:lnSpc>
                <a:spcPct val="200000"/>
              </a:lnSpc>
              <a:spcBef>
                <a:spcPct val="20000"/>
              </a:spcBef>
              <a:spcAft>
                <a:spcPct val="0"/>
              </a:spcAft>
              <a:buClrTx/>
              <a:buSzTx/>
              <a:buFont typeface="Arial" panose="020B0604020202090204" pitchFamily="34" charset="0"/>
              <a:buChar char="─"/>
              <a:defRPr/>
            </a:pPr>
            <a:endParaRPr kumimoji="0" lang="en-US" altLang="zh-CN" sz="1900" b="0"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a:p>
            <a:pPr marL="342900" marR="0" lvl="1" indent="-342900" algn="l" defTabSz="457200" rtl="0" eaLnBrk="0" fontAlgn="base" latinLnBrk="0" hangingPunct="0">
              <a:lnSpc>
                <a:spcPct val="200000"/>
              </a:lnSpc>
              <a:spcBef>
                <a:spcPct val="20000"/>
              </a:spcBef>
              <a:spcAft>
                <a:spcPct val="0"/>
              </a:spcAft>
              <a:buClrTx/>
              <a:buSzTx/>
              <a:buFont typeface="Arial" panose="020B0604020202090204" pitchFamily="34" charset="0"/>
              <a:buChar char="─"/>
              <a:defRPr/>
            </a:pPr>
            <a:endParaRPr kumimoji="0" lang="en-US" altLang="zh-CN" sz="1900" b="1"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p:txBody>
      </p:sp>
      <p:sp>
        <p:nvSpPr>
          <p:cNvPr id="6" name="内容占位符 2">
            <a:extLst>
              <a:ext uri="{FF2B5EF4-FFF2-40B4-BE49-F238E27FC236}">
                <a16:creationId xmlns:a16="http://schemas.microsoft.com/office/drawing/2014/main" id="{561FD47E-EADA-233C-E321-AEDE6F38AB03}"/>
              </a:ext>
            </a:extLst>
          </p:cNvPr>
          <p:cNvSpPr>
            <a:spLocks noGrp="1"/>
          </p:cNvSpPr>
          <p:nvPr/>
        </p:nvSpPr>
        <p:spPr bwMode="auto">
          <a:xfrm>
            <a:off x="1250616" y="2804945"/>
            <a:ext cx="9474200" cy="108125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50000"/>
              </a:lnSpc>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0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18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16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16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342900" marR="0" lvl="0" indent="-342900" algn="l" defTabSz="457200" rtl="0" eaLnBrk="0" fontAlgn="base" latinLnBrk="0" hangingPunct="0">
              <a:lnSpc>
                <a:spcPct val="150000"/>
              </a:lnSpc>
              <a:spcBef>
                <a:spcPct val="20000"/>
              </a:spcBef>
              <a:spcAft>
                <a:spcPct val="0"/>
              </a:spcAft>
              <a:buClrTx/>
              <a:buSzTx/>
              <a:buFontTx/>
              <a:buChar char="•"/>
              <a:defRPr/>
            </a:pPr>
            <a:r>
              <a:rPr lang="zh-CN" altLang="zh-CN" sz="1800" dirty="0">
                <a:solidFill>
                  <a:srgbClr val="44546A"/>
                </a:solidFill>
                <a:latin typeface="微软雅黑" panose="020B0503020204020204" pitchFamily="34" charset="-122"/>
                <a:ea typeface="微软雅黑" panose="020B0503020204020204" pitchFamily="34" charset="-122"/>
              </a:rPr>
              <a:t>面向对象模型采用</a:t>
            </a:r>
            <a:r>
              <a:rPr lang="en-US" altLang="zh-CN" sz="1800" dirty="0">
                <a:solidFill>
                  <a:srgbClr val="44546A"/>
                </a:solidFill>
                <a:latin typeface="微软雅黑" panose="020B0503020204020204" pitchFamily="34" charset="-122"/>
                <a:ea typeface="微软雅黑" panose="020B0503020204020204" pitchFamily="34" charset="-122"/>
              </a:rPr>
              <a:t>面向对象</a:t>
            </a:r>
            <a:r>
              <a:rPr lang="zh-CN" altLang="zh-CN" sz="1800" dirty="0">
                <a:solidFill>
                  <a:srgbClr val="44546A"/>
                </a:solidFill>
                <a:latin typeface="微软雅黑" panose="020B0503020204020204" pitchFamily="34" charset="-122"/>
                <a:ea typeface="微软雅黑" panose="020B0503020204020204" pitchFamily="34" charset="-122"/>
              </a:rPr>
              <a:t>的方法来设计数据库，其数据库存储的对象是以对象为单位，每个对象由属性和方法组成，具有类和继承等特点。</a:t>
            </a:r>
            <a:endParaRPr kumimoji="0" lang="zh-CN" altLang="zh-CN" sz="2000" b="0"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a:p>
            <a:pPr marL="342900" marR="0" lvl="1" indent="-342900" algn="l" defTabSz="457200" rtl="0" eaLnBrk="0" fontAlgn="base" latinLnBrk="0" hangingPunct="0">
              <a:lnSpc>
                <a:spcPct val="200000"/>
              </a:lnSpc>
              <a:spcBef>
                <a:spcPct val="20000"/>
              </a:spcBef>
              <a:spcAft>
                <a:spcPct val="0"/>
              </a:spcAft>
              <a:buClrTx/>
              <a:buSzTx/>
              <a:buFont typeface="Arial" panose="020B0604020202090204" pitchFamily="34" charset="0"/>
              <a:buChar char="─"/>
              <a:defRPr/>
            </a:pPr>
            <a:endParaRPr kumimoji="0" lang="en-US" altLang="zh-CN" sz="2000" b="0"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a:p>
            <a:pPr marL="342900" marR="0" lvl="1" indent="-342900" algn="l" defTabSz="457200" rtl="0" eaLnBrk="0" fontAlgn="base" latinLnBrk="0" hangingPunct="0">
              <a:lnSpc>
                <a:spcPct val="200000"/>
              </a:lnSpc>
              <a:spcBef>
                <a:spcPct val="20000"/>
              </a:spcBef>
              <a:spcAft>
                <a:spcPct val="0"/>
              </a:spcAft>
              <a:buClrTx/>
              <a:buSzTx/>
              <a:buFont typeface="Arial" panose="020B0604020202090204" pitchFamily="34" charset="0"/>
              <a:buChar char="─"/>
              <a:defRPr/>
            </a:pPr>
            <a:endParaRPr kumimoji="0" lang="en-US" altLang="zh-CN" sz="2000" b="1" i="0" u="none" strike="noStrike" kern="0" cap="none" spc="0" normalizeH="0" baseline="0" noProof="0" dirty="0">
              <a:ln>
                <a:noFill/>
              </a:ln>
              <a:solidFill>
                <a:schemeClr val="tx1"/>
              </a:solidFill>
              <a:effectLst/>
              <a:uLnTx/>
              <a:uFillTx/>
              <a:latin typeface="微软雅黑" pitchFamily="34" charset="-122"/>
              <a:ea typeface="微软雅黑" pitchFamily="34" charset="-122"/>
              <a:cs typeface="+mn-cs"/>
            </a:endParaRPr>
          </a:p>
        </p:txBody>
      </p:sp>
    </p:spTree>
    <p:extLst>
      <p:ext uri="{BB962C8B-B14F-4D97-AF65-F5344CB8AC3E}">
        <p14:creationId xmlns:p14="http://schemas.microsoft.com/office/powerpoint/2010/main" val="2154506626"/>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6306" y="3900310"/>
            <a:ext cx="3983316" cy="2951922"/>
          </a:xfrm>
          <a:prstGeom prst="rect">
            <a:avLst/>
          </a:prstGeom>
        </p:spPr>
      </p:pic>
      <p:sp>
        <p:nvSpPr>
          <p:cNvPr id="35" name="文本框 34"/>
          <p:cNvSpPr txBox="1"/>
          <p:nvPr/>
        </p:nvSpPr>
        <p:spPr>
          <a:xfrm>
            <a:off x="2164320" y="2792875"/>
            <a:ext cx="2155262" cy="70788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pPr algn="just"/>
            <a:r>
              <a:rPr lang="zh-CN" altLang="en-US" sz="4000" dirty="0">
                <a:solidFill>
                  <a:srgbClr val="44546A"/>
                </a:solidFill>
              </a:rPr>
              <a:t>目录</a:t>
            </a:r>
          </a:p>
        </p:txBody>
      </p:sp>
      <p:sp>
        <p:nvSpPr>
          <p:cNvPr id="20" name="文本框 19"/>
          <p:cNvSpPr txBox="1"/>
          <p:nvPr/>
        </p:nvSpPr>
        <p:spPr>
          <a:xfrm>
            <a:off x="5410386" y="2207531"/>
            <a:ext cx="5204947"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a:defRPr/>
            </a:pPr>
            <a:r>
              <a:rPr lang="zh-CN" altLang="en-US" kern="0" dirty="0">
                <a:solidFill>
                  <a:srgbClr val="02B36F"/>
                </a:solidFill>
                <a:effectLst/>
              </a:rPr>
              <a:t>数据库基础</a:t>
            </a:r>
            <a:endParaRPr lang="en-US" altLang="zh-CN" kern="0" dirty="0">
              <a:solidFill>
                <a:srgbClr val="02B36F"/>
              </a:solidFill>
              <a:effectLst/>
            </a:endParaRPr>
          </a:p>
        </p:txBody>
      </p:sp>
      <p:sp>
        <p:nvSpPr>
          <p:cNvPr id="21" name="圆角矩形 20"/>
          <p:cNvSpPr/>
          <p:nvPr/>
        </p:nvSpPr>
        <p:spPr>
          <a:xfrm>
            <a:off x="5410386" y="3002496"/>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 name="文本框 1">
            <a:extLst>
              <a:ext uri="{FF2B5EF4-FFF2-40B4-BE49-F238E27FC236}">
                <a16:creationId xmlns:a16="http://schemas.microsoft.com/office/drawing/2014/main" id="{EB2D80E8-95F0-F590-7A8C-C191F946DF16}"/>
              </a:ext>
            </a:extLst>
          </p:cNvPr>
          <p:cNvSpPr txBox="1"/>
          <p:nvPr/>
        </p:nvSpPr>
        <p:spPr>
          <a:xfrm>
            <a:off x="5337411" y="3403763"/>
            <a:ext cx="5204947"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lang="zh-CN" altLang="en-US" kern="0" dirty="0">
                <a:solidFill>
                  <a:srgbClr val="4494C8"/>
                </a:solidFill>
                <a:effectLst/>
              </a:rPr>
              <a:t>单表数据记录查询</a:t>
            </a:r>
            <a:endParaRPr lang="en-US" altLang="zh-CN" kern="0" dirty="0">
              <a:solidFill>
                <a:srgbClr val="4494C8"/>
              </a:solidFill>
              <a:effectLst/>
            </a:endParaRPr>
          </a:p>
        </p:txBody>
      </p:sp>
      <p:sp>
        <p:nvSpPr>
          <p:cNvPr id="3" name="圆角矩形 20">
            <a:extLst>
              <a:ext uri="{FF2B5EF4-FFF2-40B4-BE49-F238E27FC236}">
                <a16:creationId xmlns:a16="http://schemas.microsoft.com/office/drawing/2014/main" id="{E84525B3-DC1A-B332-E6E9-970CBDDC6EF8}"/>
              </a:ext>
            </a:extLst>
          </p:cNvPr>
          <p:cNvSpPr/>
          <p:nvPr/>
        </p:nvSpPr>
        <p:spPr>
          <a:xfrm>
            <a:off x="5337411" y="4198728"/>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 name="文本框 3">
            <a:extLst>
              <a:ext uri="{FF2B5EF4-FFF2-40B4-BE49-F238E27FC236}">
                <a16:creationId xmlns:a16="http://schemas.microsoft.com/office/drawing/2014/main" id="{EC7E4733-AD0C-1690-2D11-492629CE5600}"/>
              </a:ext>
            </a:extLst>
          </p:cNvPr>
          <p:cNvSpPr txBox="1"/>
          <p:nvPr/>
        </p:nvSpPr>
        <p:spPr>
          <a:xfrm>
            <a:off x="5410386" y="4581191"/>
            <a:ext cx="5204947"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lang="zh-CN" altLang="en-US" kern="0" dirty="0">
                <a:solidFill>
                  <a:srgbClr val="02B36F"/>
                </a:solidFill>
                <a:effectLst/>
              </a:rPr>
              <a:t>实战</a:t>
            </a:r>
            <a:endParaRPr lang="en-US" altLang="zh-CN" kern="0" dirty="0">
              <a:solidFill>
                <a:srgbClr val="02B36F"/>
              </a:solidFill>
              <a:effectLst/>
            </a:endParaRPr>
          </a:p>
        </p:txBody>
      </p:sp>
      <p:sp>
        <p:nvSpPr>
          <p:cNvPr id="5" name="圆角矩形 20">
            <a:extLst>
              <a:ext uri="{FF2B5EF4-FFF2-40B4-BE49-F238E27FC236}">
                <a16:creationId xmlns:a16="http://schemas.microsoft.com/office/drawing/2014/main" id="{E2D3EB71-3B14-57C1-583D-BB8E4844D0AF}"/>
              </a:ext>
            </a:extLst>
          </p:cNvPr>
          <p:cNvSpPr/>
          <p:nvPr/>
        </p:nvSpPr>
        <p:spPr>
          <a:xfrm>
            <a:off x="5410386" y="5376156"/>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extLst>
      <p:ext uri="{BB962C8B-B14F-4D97-AF65-F5344CB8AC3E}">
        <p14:creationId xmlns:p14="http://schemas.microsoft.com/office/powerpoint/2010/main" val="3868108383"/>
      </p:ext>
    </p:extLst>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1000"/>
                                        <p:tgtEl>
                                          <p:spTgt spid="20"/>
                                        </p:tgtEl>
                                      </p:cBhvr>
                                    </p:animEffect>
                                  </p:childTnLst>
                                </p:cTn>
                              </p:par>
                              <p:par>
                                <p:cTn id="11" presetID="2" presetClass="entr" presetSubtype="2" decel="100000" fill="hold" grpId="1" nodeType="with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1500" fill="hold"/>
                                        <p:tgtEl>
                                          <p:spTgt spid="20"/>
                                        </p:tgtEl>
                                        <p:attrNameLst>
                                          <p:attrName>ppt_x</p:attrName>
                                        </p:attrNameLst>
                                      </p:cBhvr>
                                      <p:tavLst>
                                        <p:tav tm="0">
                                          <p:val>
                                            <p:strVal val="1+#ppt_w/2"/>
                                          </p:val>
                                        </p:tav>
                                        <p:tav tm="100000">
                                          <p:val>
                                            <p:strVal val="#ppt_x"/>
                                          </p:val>
                                        </p:tav>
                                      </p:tavLst>
                                    </p:anim>
                                    <p:anim calcmode="lin" valueType="num">
                                      <p:cBhvr additive="base">
                                        <p:cTn id="14" dur="1500" fill="hold"/>
                                        <p:tgtEl>
                                          <p:spTgt spid="20"/>
                                        </p:tgtEl>
                                        <p:attrNameLst>
                                          <p:attrName>ppt_y</p:attrName>
                                        </p:attrNameLst>
                                      </p:cBhvr>
                                      <p:tavLst>
                                        <p:tav tm="0">
                                          <p:val>
                                            <p:strVal val="#ppt_y"/>
                                          </p:val>
                                        </p:tav>
                                        <p:tav tm="100000">
                                          <p:val>
                                            <p:strVal val="#ppt_y"/>
                                          </p:val>
                                        </p:tav>
                                      </p:tavLst>
                                    </p:anim>
                                  </p:childTnLst>
                                </p:cTn>
                              </p:par>
                              <p:par>
                                <p:cTn id="15" presetID="22" presetClass="entr" presetSubtype="2"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right)">
                                      <p:cBhvr>
                                        <p:cTn id="17" dur="10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childTnLst>
                                </p:cTn>
                              </p:par>
                              <p:par>
                                <p:cTn id="21" presetID="2" presetClass="entr" presetSubtype="2" decel="100000" fill="hold" grpId="1"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1500" fill="hold"/>
                                        <p:tgtEl>
                                          <p:spTgt spid="2"/>
                                        </p:tgtEl>
                                        <p:attrNameLst>
                                          <p:attrName>ppt_x</p:attrName>
                                        </p:attrNameLst>
                                      </p:cBhvr>
                                      <p:tavLst>
                                        <p:tav tm="0">
                                          <p:val>
                                            <p:strVal val="1+#ppt_w/2"/>
                                          </p:val>
                                        </p:tav>
                                        <p:tav tm="100000">
                                          <p:val>
                                            <p:strVal val="#ppt_x"/>
                                          </p:val>
                                        </p:tav>
                                      </p:tavLst>
                                    </p:anim>
                                    <p:anim calcmode="lin" valueType="num">
                                      <p:cBhvr additive="base">
                                        <p:cTn id="24" dur="1500" fill="hold"/>
                                        <p:tgtEl>
                                          <p:spTgt spid="2"/>
                                        </p:tgtEl>
                                        <p:attrNameLst>
                                          <p:attrName>ppt_y</p:attrName>
                                        </p:attrNameLst>
                                      </p:cBhvr>
                                      <p:tavLst>
                                        <p:tav tm="0">
                                          <p:val>
                                            <p:strVal val="#ppt_y"/>
                                          </p:val>
                                        </p:tav>
                                        <p:tav tm="100000">
                                          <p:val>
                                            <p:strVal val="#ppt_y"/>
                                          </p:val>
                                        </p:tav>
                                      </p:tavLst>
                                    </p:anim>
                                  </p:childTnLst>
                                </p:cTn>
                              </p:par>
                              <p:par>
                                <p:cTn id="25" presetID="22" presetClass="entr" presetSubtype="2"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right)">
                                      <p:cBhvr>
                                        <p:cTn id="27" dur="1000"/>
                                        <p:tgtEl>
                                          <p:spTgt spid="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1000"/>
                                        <p:tgtEl>
                                          <p:spTgt spid="4"/>
                                        </p:tgtEl>
                                      </p:cBhvr>
                                    </p:animEffect>
                                  </p:childTnLst>
                                </p:cTn>
                              </p:par>
                              <p:par>
                                <p:cTn id="31" presetID="2" presetClass="entr" presetSubtype="2" decel="100000" fill="hold" grpId="1" nodeType="with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1500" fill="hold"/>
                                        <p:tgtEl>
                                          <p:spTgt spid="4"/>
                                        </p:tgtEl>
                                        <p:attrNameLst>
                                          <p:attrName>ppt_x</p:attrName>
                                        </p:attrNameLst>
                                      </p:cBhvr>
                                      <p:tavLst>
                                        <p:tav tm="0">
                                          <p:val>
                                            <p:strVal val="1+#ppt_w/2"/>
                                          </p:val>
                                        </p:tav>
                                        <p:tav tm="100000">
                                          <p:val>
                                            <p:strVal val="#ppt_x"/>
                                          </p:val>
                                        </p:tav>
                                      </p:tavLst>
                                    </p:anim>
                                    <p:anim calcmode="lin" valueType="num">
                                      <p:cBhvr additive="base">
                                        <p:cTn id="34" dur="1500" fill="hold"/>
                                        <p:tgtEl>
                                          <p:spTgt spid="4"/>
                                        </p:tgtEl>
                                        <p:attrNameLst>
                                          <p:attrName>ppt_y</p:attrName>
                                        </p:attrNameLst>
                                      </p:cBhvr>
                                      <p:tavLst>
                                        <p:tav tm="0">
                                          <p:val>
                                            <p:strVal val="#ppt_y"/>
                                          </p:val>
                                        </p:tav>
                                        <p:tav tm="100000">
                                          <p:val>
                                            <p:strVal val="#ppt_y"/>
                                          </p:val>
                                        </p:tav>
                                      </p:tavLst>
                                    </p:anim>
                                  </p:childTnLst>
                                </p:cTn>
                              </p:par>
                              <p:par>
                                <p:cTn id="35" presetID="22" presetClass="entr" presetSubtype="2"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right)">
                                      <p:cBhvr>
                                        <p:cTn id="3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0" grpId="0" bldLvl="0" animBg="1"/>
      <p:bldP spid="20" grpId="1" bldLvl="0" animBg="1"/>
      <p:bldP spid="21" grpId="0" bldLvl="0" animBg="1"/>
      <p:bldP spid="2" grpId="0" bldLvl="0" animBg="1"/>
      <p:bldP spid="2" grpId="1" bldLvl="0" animBg="1"/>
      <p:bldP spid="3" grpId="0" bldLvl="0" animBg="1"/>
      <p:bldP spid="4" grpId="0" bldLvl="0" animBg="1"/>
      <p:bldP spid="4" grpId="1" bldLvl="0" animBg="1"/>
      <p:bldP spid="5"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7AEDA936-E9EB-D653-0F4A-94DF1B4D9162}"/>
              </a:ext>
            </a:extLst>
          </p:cNvPr>
          <p:cNvSpPr/>
          <p:nvPr/>
        </p:nvSpPr>
        <p:spPr>
          <a:xfrm>
            <a:off x="1058239" y="1474007"/>
            <a:ext cx="10068674" cy="574752"/>
          </a:xfrm>
          <a:prstGeom prst="roundRect">
            <a:avLst/>
          </a:prstGeom>
          <a:solidFill>
            <a:schemeClr val="bg1"/>
          </a:solid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5" name="文本框 41">
            <a:extLst>
              <a:ext uri="{FF2B5EF4-FFF2-40B4-BE49-F238E27FC236}">
                <a16:creationId xmlns:a16="http://schemas.microsoft.com/office/drawing/2014/main" id="{55C77F0D-931F-BEAF-7EDE-3E457BA6DE9B}"/>
              </a:ext>
            </a:extLst>
          </p:cNvPr>
          <p:cNvSpPr txBox="1">
            <a:spLocks noChangeArrowheads="1"/>
          </p:cNvSpPr>
          <p:nvPr/>
        </p:nvSpPr>
        <p:spPr bwMode="auto">
          <a:xfrm>
            <a:off x="970383" y="1537389"/>
            <a:ext cx="10356981" cy="42268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ts val="2800"/>
              </a:lnSpc>
            </a:pPr>
            <a:r>
              <a:rPr lang="zh-CN" altLang="en-US" sz="2000" dirty="0">
                <a:solidFill>
                  <a:srgbClr val="44546A"/>
                </a:solidFill>
                <a:latin typeface="微软雅黑" panose="020B0503020204020204" pitchFamily="34" charset="-122"/>
              </a:rPr>
              <a:t>单表查询是指从一张数据表中查询所需要的数据。</a:t>
            </a:r>
          </a:p>
        </p:txBody>
      </p:sp>
      <p:sp>
        <p:nvSpPr>
          <p:cNvPr id="8" name="文本框 10">
            <a:extLst>
              <a:ext uri="{FF2B5EF4-FFF2-40B4-BE49-F238E27FC236}">
                <a16:creationId xmlns:a16="http://schemas.microsoft.com/office/drawing/2014/main" id="{D8C7EFA7-BC09-7892-6341-56B030E7CD00}"/>
              </a:ext>
            </a:extLst>
          </p:cNvPr>
          <p:cNvSpPr txBox="1">
            <a:spLocks noChangeArrowheads="1"/>
          </p:cNvSpPr>
          <p:nvPr/>
        </p:nvSpPr>
        <p:spPr bwMode="auto">
          <a:xfrm>
            <a:off x="937796" y="2234467"/>
            <a:ext cx="10426887" cy="393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ts val="2500"/>
              </a:lnSpc>
            </a:pPr>
            <a:r>
              <a:rPr lang="zh-CN" altLang="en-US" noProof="1">
                <a:solidFill>
                  <a:srgbClr val="44546A"/>
                </a:solidFill>
                <a:latin typeface="微软雅黑" panose="020B0503020204020204" pitchFamily="34" charset="-122"/>
              </a:rPr>
              <a:t>在</a:t>
            </a:r>
            <a:r>
              <a:rPr lang="en-US" altLang="zh-CN" noProof="1">
                <a:solidFill>
                  <a:srgbClr val="44546A"/>
                </a:solidFill>
                <a:latin typeface="微软雅黑" panose="020B0503020204020204" pitchFamily="34" charset="-122"/>
              </a:rPr>
              <a:t>MySQL</a:t>
            </a:r>
            <a:r>
              <a:rPr lang="zh-CN" altLang="en-US" noProof="1">
                <a:solidFill>
                  <a:srgbClr val="44546A"/>
                </a:solidFill>
                <a:latin typeface="微软雅黑" panose="020B0503020204020204" pitchFamily="34" charset="-122"/>
              </a:rPr>
              <a:t>中查询数据的基本语句是</a:t>
            </a:r>
            <a:r>
              <a:rPr lang="en-US" altLang="zh-CN" b="1" noProof="1">
                <a:solidFill>
                  <a:srgbClr val="44546A"/>
                </a:solidFill>
                <a:latin typeface="微软雅黑" panose="020B0503020204020204" pitchFamily="34" charset="-122"/>
              </a:rPr>
              <a:t>SELECT</a:t>
            </a:r>
            <a:r>
              <a:rPr lang="zh-CN" altLang="en-US" b="1" noProof="1">
                <a:solidFill>
                  <a:srgbClr val="44546A"/>
                </a:solidFill>
                <a:latin typeface="微软雅黑" panose="020B0503020204020204" pitchFamily="34" charset="-122"/>
              </a:rPr>
              <a:t>语句</a:t>
            </a:r>
            <a:r>
              <a:rPr lang="zh-CN" altLang="en-US" noProof="1">
                <a:solidFill>
                  <a:srgbClr val="44546A"/>
                </a:solidFill>
                <a:latin typeface="微软雅黑" panose="020B0503020204020204" pitchFamily="34" charset="-122"/>
              </a:rPr>
              <a:t>，其基本语法格式如下：</a:t>
            </a:r>
            <a:endParaRPr lang="zh-CN" altLang="en-US" dirty="0">
              <a:solidFill>
                <a:srgbClr val="44546A"/>
              </a:solidFill>
              <a:latin typeface="微软雅黑" panose="020B0503020204020204" pitchFamily="34" charset="-122"/>
            </a:endParaRPr>
          </a:p>
        </p:txBody>
      </p:sp>
      <p:sp>
        <p:nvSpPr>
          <p:cNvPr id="9" name="矩形 8">
            <a:extLst>
              <a:ext uri="{FF2B5EF4-FFF2-40B4-BE49-F238E27FC236}">
                <a16:creationId xmlns:a16="http://schemas.microsoft.com/office/drawing/2014/main" id="{82E0677E-2AA6-84BA-A921-634C0ACC9299}"/>
              </a:ext>
            </a:extLst>
          </p:cNvPr>
          <p:cNvSpPr/>
          <p:nvPr/>
        </p:nvSpPr>
        <p:spPr>
          <a:xfrm>
            <a:off x="1144177" y="2807461"/>
            <a:ext cx="9865945" cy="3375492"/>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0" name="文本框 38">
            <a:extLst>
              <a:ext uri="{FF2B5EF4-FFF2-40B4-BE49-F238E27FC236}">
                <a16:creationId xmlns:a16="http://schemas.microsoft.com/office/drawing/2014/main" id="{95AE18D4-177A-CD6E-A822-8905507DD5B9}"/>
              </a:ext>
            </a:extLst>
          </p:cNvPr>
          <p:cNvSpPr txBox="1">
            <a:spLocks noChangeArrowheads="1"/>
          </p:cNvSpPr>
          <p:nvPr/>
        </p:nvSpPr>
        <p:spPr bwMode="auto">
          <a:xfrm>
            <a:off x="1548882" y="2856621"/>
            <a:ext cx="8444204" cy="3298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3"/>
                </a:solidFill>
              </a:rPr>
              <a:t>SELECT</a:t>
            </a:r>
          </a:p>
          <a:p>
            <a:pPr eaLnBrk="1" hangingPunct="1">
              <a:lnSpc>
                <a:spcPts val="2500"/>
              </a:lnSpc>
            </a:pPr>
            <a:r>
              <a:rPr lang="en-US" altLang="zh-CN" sz="1600" dirty="0">
                <a:solidFill>
                  <a:schemeClr val="accent3"/>
                </a:solidFill>
              </a:rPr>
              <a:t>		{* | &lt;</a:t>
            </a:r>
            <a:r>
              <a:rPr lang="zh-CN" altLang="en-US" sz="1600" dirty="0">
                <a:solidFill>
                  <a:schemeClr val="accent3"/>
                </a:solidFill>
              </a:rPr>
              <a:t>字段列表</a:t>
            </a:r>
            <a:r>
              <a:rPr lang="en-US" altLang="zh-CN" sz="1600" dirty="0">
                <a:solidFill>
                  <a:schemeClr val="accent3"/>
                </a:solidFill>
              </a:rPr>
              <a:t>&gt; }</a:t>
            </a:r>
          </a:p>
          <a:p>
            <a:pPr eaLnBrk="1" hangingPunct="1">
              <a:lnSpc>
                <a:spcPts val="2500"/>
              </a:lnSpc>
            </a:pPr>
            <a:r>
              <a:rPr lang="en-US" altLang="zh-CN" sz="1600" dirty="0">
                <a:solidFill>
                  <a:schemeClr val="accent3"/>
                </a:solidFill>
              </a:rPr>
              <a:t>		[</a:t>
            </a:r>
          </a:p>
          <a:p>
            <a:pPr eaLnBrk="1" hangingPunct="1">
              <a:lnSpc>
                <a:spcPts val="2500"/>
              </a:lnSpc>
            </a:pPr>
            <a:r>
              <a:rPr lang="en-US" altLang="zh-CN" sz="1600" dirty="0">
                <a:solidFill>
                  <a:schemeClr val="accent3"/>
                </a:solidFill>
              </a:rPr>
              <a:t>			FROM &lt;</a:t>
            </a:r>
            <a:r>
              <a:rPr lang="zh-CN" altLang="en-US" sz="1600" dirty="0">
                <a:solidFill>
                  <a:schemeClr val="accent3"/>
                </a:solidFill>
              </a:rPr>
              <a:t>表</a:t>
            </a:r>
            <a:r>
              <a:rPr lang="en-US" altLang="zh-CN" sz="1600" dirty="0">
                <a:solidFill>
                  <a:schemeClr val="accent3"/>
                </a:solidFill>
              </a:rPr>
              <a:t>1&gt;, &lt;</a:t>
            </a:r>
            <a:r>
              <a:rPr lang="zh-CN" altLang="en-US" sz="1600" dirty="0">
                <a:solidFill>
                  <a:schemeClr val="accent3"/>
                </a:solidFill>
              </a:rPr>
              <a:t>表</a:t>
            </a:r>
            <a:r>
              <a:rPr lang="en-US" altLang="zh-CN" sz="1600" dirty="0">
                <a:solidFill>
                  <a:schemeClr val="accent3"/>
                </a:solidFill>
              </a:rPr>
              <a:t>2&gt;…</a:t>
            </a:r>
          </a:p>
          <a:p>
            <a:pPr eaLnBrk="1" hangingPunct="1">
              <a:lnSpc>
                <a:spcPts val="2500"/>
              </a:lnSpc>
            </a:pPr>
            <a:r>
              <a:rPr lang="en-US" altLang="zh-CN" sz="1600" dirty="0">
                <a:solidFill>
                  <a:schemeClr val="accent3"/>
                </a:solidFill>
              </a:rPr>
              <a:t>			[WHERE &lt;</a:t>
            </a:r>
            <a:r>
              <a:rPr lang="zh-CN" altLang="en-US" sz="1600" dirty="0">
                <a:solidFill>
                  <a:schemeClr val="accent3"/>
                </a:solidFill>
              </a:rPr>
              <a:t>表达式</a:t>
            </a:r>
            <a:r>
              <a:rPr lang="en-US" altLang="zh-CN" sz="1600" dirty="0">
                <a:solidFill>
                  <a:schemeClr val="accent3"/>
                </a:solidFill>
              </a:rPr>
              <a:t>&gt;</a:t>
            </a:r>
          </a:p>
          <a:p>
            <a:pPr eaLnBrk="1" hangingPunct="1">
              <a:lnSpc>
                <a:spcPts val="2500"/>
              </a:lnSpc>
            </a:pPr>
            <a:r>
              <a:rPr lang="en-US" altLang="zh-CN" sz="1600" dirty="0">
                <a:solidFill>
                  <a:schemeClr val="accent3"/>
                </a:solidFill>
              </a:rPr>
              <a:t>			[GROUP BY &lt;group by definition&gt;]</a:t>
            </a:r>
          </a:p>
          <a:p>
            <a:pPr eaLnBrk="1" hangingPunct="1">
              <a:lnSpc>
                <a:spcPts val="2500"/>
              </a:lnSpc>
            </a:pPr>
            <a:r>
              <a:rPr lang="en-US" altLang="zh-CN" sz="1600" dirty="0">
                <a:solidFill>
                  <a:schemeClr val="accent3"/>
                </a:solidFill>
              </a:rPr>
              <a:t>			[HAVING &lt;expression&gt; [{&lt;operator&gt; &lt;expression&gt;}…]]</a:t>
            </a:r>
          </a:p>
          <a:p>
            <a:pPr eaLnBrk="1" hangingPunct="1">
              <a:lnSpc>
                <a:spcPts val="2500"/>
              </a:lnSpc>
            </a:pPr>
            <a:r>
              <a:rPr lang="en-US" altLang="zh-CN" sz="1600" dirty="0">
                <a:solidFill>
                  <a:schemeClr val="accent3"/>
                </a:solidFill>
              </a:rPr>
              <a:t>			[ORDER BY &lt;order by definition&gt;]</a:t>
            </a:r>
          </a:p>
          <a:p>
            <a:pPr eaLnBrk="1" hangingPunct="1">
              <a:lnSpc>
                <a:spcPts val="2500"/>
              </a:lnSpc>
            </a:pPr>
            <a:r>
              <a:rPr lang="en-US" altLang="zh-CN" sz="1600" dirty="0">
                <a:solidFill>
                  <a:schemeClr val="accent3"/>
                </a:solidFill>
              </a:rPr>
              <a:t>			[LIMIT [&lt;offset&gt;,] &lt;row count&gt;]</a:t>
            </a:r>
          </a:p>
          <a:p>
            <a:pPr eaLnBrk="1" hangingPunct="1">
              <a:lnSpc>
                <a:spcPts val="2500"/>
              </a:lnSpc>
            </a:pPr>
            <a:r>
              <a:rPr lang="en-US" altLang="zh-CN" sz="1600" dirty="0">
                <a:solidFill>
                  <a:schemeClr val="accent3"/>
                </a:solidFill>
              </a:rPr>
              <a:t>		];</a:t>
            </a:r>
          </a:p>
        </p:txBody>
      </p:sp>
    </p:spTree>
    <p:extLst>
      <p:ext uri="{BB962C8B-B14F-4D97-AF65-F5344CB8AC3E}">
        <p14:creationId xmlns:p14="http://schemas.microsoft.com/office/powerpoint/2010/main" val="5788584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创建数据表</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5" name="文本框 41">
            <a:extLst>
              <a:ext uri="{FF2B5EF4-FFF2-40B4-BE49-F238E27FC236}">
                <a16:creationId xmlns:a16="http://schemas.microsoft.com/office/drawing/2014/main" id="{120FD19F-BD14-DE19-C0FC-21B04079DC88}"/>
              </a:ext>
            </a:extLst>
          </p:cNvPr>
          <p:cNvSpPr txBox="1">
            <a:spLocks noChangeArrowheads="1"/>
          </p:cNvSpPr>
          <p:nvPr/>
        </p:nvSpPr>
        <p:spPr bwMode="auto">
          <a:xfrm>
            <a:off x="802903" y="1057716"/>
            <a:ext cx="9599222" cy="387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ts val="2500"/>
              </a:lnSpc>
            </a:pPr>
            <a:r>
              <a:rPr lang="zh-CN" altLang="en-US" dirty="0">
                <a:solidFill>
                  <a:srgbClr val="44546A"/>
                </a:solidFill>
                <a:latin typeface="微软雅黑" panose="020B0503020204020204" pitchFamily="34" charset="-122"/>
              </a:rPr>
              <a:t>创建数据表，实际上是规定列属性和实现数据完整性约束的过程，基本语法形式如下：</a:t>
            </a:r>
          </a:p>
        </p:txBody>
      </p:sp>
      <p:sp>
        <p:nvSpPr>
          <p:cNvPr id="8" name="矩形 7">
            <a:extLst>
              <a:ext uri="{FF2B5EF4-FFF2-40B4-BE49-F238E27FC236}">
                <a16:creationId xmlns:a16="http://schemas.microsoft.com/office/drawing/2014/main" id="{0A7E2F5F-15B3-5150-4D8F-065B09143980}"/>
              </a:ext>
            </a:extLst>
          </p:cNvPr>
          <p:cNvSpPr/>
          <p:nvPr/>
        </p:nvSpPr>
        <p:spPr>
          <a:xfrm>
            <a:off x="1163027" y="1611195"/>
            <a:ext cx="9865945" cy="2147094"/>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4" name="文本框 38">
            <a:extLst>
              <a:ext uri="{FF2B5EF4-FFF2-40B4-BE49-F238E27FC236}">
                <a16:creationId xmlns:a16="http://schemas.microsoft.com/office/drawing/2014/main" id="{179FF764-0FF4-DB4D-67B5-8DF2B5F08C79}"/>
              </a:ext>
            </a:extLst>
          </p:cNvPr>
          <p:cNvSpPr txBox="1">
            <a:spLocks noChangeArrowheads="1"/>
          </p:cNvSpPr>
          <p:nvPr/>
        </p:nvSpPr>
        <p:spPr bwMode="auto">
          <a:xfrm>
            <a:off x="1609040" y="1705333"/>
            <a:ext cx="8444204" cy="1982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3"/>
                </a:solidFill>
              </a:rPr>
              <a:t>CREATE TABLE </a:t>
            </a:r>
            <a:r>
              <a:rPr lang="en-US" altLang="zh-CN" sz="1600" dirty="0" err="1">
                <a:solidFill>
                  <a:schemeClr val="accent3"/>
                </a:solidFill>
              </a:rPr>
              <a:t>table</a:t>
            </a:r>
            <a:r>
              <a:rPr lang="en-US" altLang="zh-CN" sz="1600" dirty="0">
                <a:solidFill>
                  <a:schemeClr val="accent3"/>
                </a:solidFill>
              </a:rPr>
              <a:t> name(</a:t>
            </a:r>
          </a:p>
          <a:p>
            <a:pPr eaLnBrk="1" hangingPunct="1">
              <a:lnSpc>
                <a:spcPts val="2500"/>
              </a:lnSpc>
            </a:pPr>
            <a:r>
              <a:rPr lang="en-US" altLang="zh-CN" sz="1600" dirty="0">
                <a:solidFill>
                  <a:schemeClr val="accent3"/>
                </a:solidFill>
              </a:rPr>
              <a:t>      col_name1 </a:t>
            </a:r>
            <a:r>
              <a:rPr lang="en-US" altLang="zh-CN" sz="1600" dirty="0" err="1">
                <a:solidFill>
                  <a:schemeClr val="accent3"/>
                </a:solidFill>
              </a:rPr>
              <a:t>data_type</a:t>
            </a:r>
            <a:r>
              <a:rPr lang="en-US" altLang="zh-CN" sz="1600" dirty="0">
                <a:solidFill>
                  <a:schemeClr val="accent3"/>
                </a:solidFill>
              </a:rPr>
              <a:t> [Constraints]</a:t>
            </a:r>
            <a:r>
              <a:rPr lang="zh-CN" altLang="en-US" sz="1600" dirty="0">
                <a:solidFill>
                  <a:schemeClr val="accent3"/>
                </a:solidFill>
              </a:rPr>
              <a:t>，</a:t>
            </a:r>
            <a:endParaRPr lang="en-US" altLang="zh-CN" sz="1600" dirty="0">
              <a:solidFill>
                <a:schemeClr val="accent3"/>
              </a:solidFill>
            </a:endParaRPr>
          </a:p>
          <a:p>
            <a:pPr eaLnBrk="1" hangingPunct="1">
              <a:lnSpc>
                <a:spcPts val="2500"/>
              </a:lnSpc>
            </a:pPr>
            <a:r>
              <a:rPr lang="en-US" altLang="zh-CN" sz="1600" dirty="0">
                <a:solidFill>
                  <a:schemeClr val="accent3"/>
                </a:solidFill>
              </a:rPr>
              <a:t>      col _name2 data type [Constraints]</a:t>
            </a:r>
            <a:r>
              <a:rPr lang="zh-CN" altLang="en-US" sz="1600" dirty="0">
                <a:solidFill>
                  <a:schemeClr val="accent3"/>
                </a:solidFill>
              </a:rPr>
              <a:t>，</a:t>
            </a:r>
            <a:endParaRPr lang="en-US" altLang="zh-CN" sz="1600" dirty="0">
              <a:solidFill>
                <a:schemeClr val="accent3"/>
              </a:solidFill>
            </a:endParaRPr>
          </a:p>
          <a:p>
            <a:pPr eaLnBrk="1" hangingPunct="1">
              <a:lnSpc>
                <a:spcPts val="2500"/>
              </a:lnSpc>
            </a:pPr>
            <a:r>
              <a:rPr lang="en-US" altLang="zh-CN" sz="1600" dirty="0">
                <a:solidFill>
                  <a:schemeClr val="accent3"/>
                </a:solidFill>
              </a:rPr>
              <a:t>      ……</a:t>
            </a:r>
          </a:p>
          <a:p>
            <a:pPr eaLnBrk="1" hangingPunct="1">
              <a:lnSpc>
                <a:spcPts val="2500"/>
              </a:lnSpc>
            </a:pPr>
            <a:r>
              <a:rPr lang="en-US" altLang="zh-CN" sz="1600" dirty="0">
                <a:solidFill>
                  <a:schemeClr val="accent3"/>
                </a:solidFill>
              </a:rPr>
              <a:t>      col _</a:t>
            </a:r>
            <a:r>
              <a:rPr lang="en-US" altLang="zh-CN" sz="1600" dirty="0" err="1">
                <a:solidFill>
                  <a:schemeClr val="accent3"/>
                </a:solidFill>
              </a:rPr>
              <a:t>namen</a:t>
            </a:r>
            <a:r>
              <a:rPr lang="en-US" altLang="zh-CN" sz="1600" dirty="0">
                <a:solidFill>
                  <a:schemeClr val="accent3"/>
                </a:solidFill>
              </a:rPr>
              <a:t> </a:t>
            </a:r>
            <a:r>
              <a:rPr lang="en-US" altLang="zh-CN" sz="1600" dirty="0" err="1">
                <a:solidFill>
                  <a:schemeClr val="accent3"/>
                </a:solidFill>
              </a:rPr>
              <a:t>data_type</a:t>
            </a:r>
            <a:r>
              <a:rPr lang="en-US" altLang="zh-CN" sz="1600" dirty="0">
                <a:solidFill>
                  <a:schemeClr val="accent3"/>
                </a:solidFill>
              </a:rPr>
              <a:t> [Constraints]</a:t>
            </a:r>
          </a:p>
          <a:p>
            <a:pPr eaLnBrk="1" hangingPunct="1">
              <a:lnSpc>
                <a:spcPts val="2500"/>
              </a:lnSpc>
            </a:pPr>
            <a:r>
              <a:rPr lang="en-US" altLang="zh-CN" sz="1600" dirty="0">
                <a:solidFill>
                  <a:schemeClr val="accent3"/>
                </a:solidFill>
              </a:rPr>
              <a:t>);</a:t>
            </a:r>
          </a:p>
        </p:txBody>
      </p:sp>
      <p:sp>
        <p:nvSpPr>
          <p:cNvPr id="6" name="文本框 41">
            <a:extLst>
              <a:ext uri="{FF2B5EF4-FFF2-40B4-BE49-F238E27FC236}">
                <a16:creationId xmlns:a16="http://schemas.microsoft.com/office/drawing/2014/main" id="{04B76EC6-3997-2FA4-ED18-A4E68E73153D}"/>
              </a:ext>
            </a:extLst>
          </p:cNvPr>
          <p:cNvSpPr txBox="1">
            <a:spLocks noChangeArrowheads="1"/>
          </p:cNvSpPr>
          <p:nvPr/>
        </p:nvSpPr>
        <p:spPr bwMode="auto">
          <a:xfrm>
            <a:off x="1744579" y="4266450"/>
            <a:ext cx="8657546" cy="170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marL="285750" indent="-285750" algn="just" eaLnBrk="1" hangingPunct="1">
              <a:lnSpc>
                <a:spcPct val="150000"/>
              </a:lnSpc>
              <a:buClr>
                <a:schemeClr val="accent1"/>
              </a:buClr>
              <a:buFont typeface="Wingdings" panose="05000000000000000000" pitchFamily="2" charset="2"/>
              <a:buChar char="l"/>
            </a:pPr>
            <a:r>
              <a:rPr lang="zh-CN" altLang="en-US" dirty="0">
                <a:solidFill>
                  <a:srgbClr val="44546A"/>
                </a:solidFill>
                <a:latin typeface="微软雅黑" panose="020B0503020204020204" pitchFamily="34" charset="-122"/>
              </a:rPr>
              <a:t>长度最好不超过</a:t>
            </a:r>
            <a:r>
              <a:rPr lang="en-US" altLang="zh-CN" dirty="0">
                <a:solidFill>
                  <a:srgbClr val="44546A"/>
                </a:solidFill>
                <a:latin typeface="微软雅黑" panose="020B0503020204020204" pitchFamily="34" charset="-122"/>
              </a:rPr>
              <a:t>30</a:t>
            </a:r>
            <a:r>
              <a:rPr lang="zh-CN" altLang="en-US" dirty="0">
                <a:solidFill>
                  <a:srgbClr val="44546A"/>
                </a:solidFill>
                <a:latin typeface="微软雅黑" panose="020B0503020204020204" pitchFamily="34" charset="-122"/>
              </a:rPr>
              <a:t>个字符</a:t>
            </a:r>
            <a:r>
              <a:rPr lang="en-US" altLang="zh-CN" dirty="0">
                <a:solidFill>
                  <a:srgbClr val="44546A"/>
                </a:solidFill>
                <a:latin typeface="微软雅黑" panose="020B0503020204020204" pitchFamily="34" charset="-122"/>
              </a:rPr>
              <a:t>;</a:t>
            </a:r>
          </a:p>
          <a:p>
            <a:pPr marL="285750" indent="-285750" algn="just" eaLnBrk="1" hangingPunct="1">
              <a:lnSpc>
                <a:spcPct val="150000"/>
              </a:lnSpc>
              <a:buClr>
                <a:schemeClr val="accent1"/>
              </a:buClr>
              <a:buFont typeface="Wingdings" panose="05000000000000000000" pitchFamily="2" charset="2"/>
              <a:buChar char="l"/>
            </a:pPr>
            <a:r>
              <a:rPr lang="zh-CN" altLang="en-US" dirty="0">
                <a:solidFill>
                  <a:srgbClr val="44546A"/>
                </a:solidFill>
                <a:latin typeface="微软雅黑" panose="020B0503020204020204" pitchFamily="34" charset="-122"/>
              </a:rPr>
              <a:t>多个单词之间使用下划线““分隔，不允许有空格</a:t>
            </a:r>
            <a:r>
              <a:rPr lang="en-US" altLang="zh-CN" dirty="0">
                <a:solidFill>
                  <a:srgbClr val="44546A"/>
                </a:solidFill>
                <a:latin typeface="微软雅黑" panose="020B0503020204020204" pitchFamily="34" charset="-122"/>
              </a:rPr>
              <a:t>;</a:t>
            </a:r>
          </a:p>
          <a:p>
            <a:pPr marL="285750" indent="-285750" algn="just" eaLnBrk="1" hangingPunct="1">
              <a:lnSpc>
                <a:spcPct val="150000"/>
              </a:lnSpc>
              <a:buClr>
                <a:schemeClr val="accent1"/>
              </a:buClr>
              <a:buFont typeface="Wingdings" panose="05000000000000000000" pitchFamily="2" charset="2"/>
              <a:buChar char="l"/>
            </a:pPr>
            <a:r>
              <a:rPr lang="zh-CN" altLang="en-US" dirty="0">
                <a:solidFill>
                  <a:srgbClr val="44546A"/>
                </a:solidFill>
                <a:latin typeface="微软雅黑" panose="020B0503020204020204" pitchFamily="34" charset="-122"/>
              </a:rPr>
              <a:t>不允许为</a:t>
            </a:r>
            <a:r>
              <a:rPr lang="en-US" altLang="zh-CN" dirty="0">
                <a:solidFill>
                  <a:srgbClr val="44546A"/>
                </a:solidFill>
                <a:latin typeface="微软雅黑" panose="020B0503020204020204" pitchFamily="34" charset="-122"/>
              </a:rPr>
              <a:t>MySQL</a:t>
            </a:r>
            <a:r>
              <a:rPr lang="zh-CN" altLang="en-US" dirty="0">
                <a:solidFill>
                  <a:srgbClr val="44546A"/>
                </a:solidFill>
                <a:latin typeface="微软雅黑" panose="020B0503020204020204" pitchFamily="34" charset="-122"/>
              </a:rPr>
              <a:t>关键字</a:t>
            </a:r>
            <a:r>
              <a:rPr lang="en-US" altLang="zh-CN" dirty="0">
                <a:solidFill>
                  <a:srgbClr val="44546A"/>
                </a:solidFill>
                <a:latin typeface="微软雅黑" panose="020B0503020204020204" pitchFamily="34" charset="-122"/>
              </a:rPr>
              <a:t>;</a:t>
            </a:r>
          </a:p>
          <a:p>
            <a:pPr marL="285750" indent="-285750" algn="just" eaLnBrk="1" hangingPunct="1">
              <a:lnSpc>
                <a:spcPct val="150000"/>
              </a:lnSpc>
              <a:buClr>
                <a:schemeClr val="accent1"/>
              </a:buClr>
              <a:buFont typeface="Wingdings" panose="05000000000000000000" pitchFamily="2" charset="2"/>
              <a:buChar char="l"/>
            </a:pPr>
            <a:r>
              <a:rPr lang="zh-CN" altLang="en-US" dirty="0">
                <a:solidFill>
                  <a:srgbClr val="44546A"/>
                </a:solidFill>
                <a:latin typeface="微软雅黑" panose="020B0503020204020204" pitchFamily="34" charset="-122"/>
              </a:rPr>
              <a:t>不许与同一数据库中的其他数据表同名。</a:t>
            </a:r>
          </a:p>
        </p:txBody>
      </p:sp>
      <p:sp>
        <p:nvSpPr>
          <p:cNvPr id="11" name="文本框 41">
            <a:extLst>
              <a:ext uri="{FF2B5EF4-FFF2-40B4-BE49-F238E27FC236}">
                <a16:creationId xmlns:a16="http://schemas.microsoft.com/office/drawing/2014/main" id="{93BC7A1E-6A45-E483-6F60-BD3BB74A22C5}"/>
              </a:ext>
            </a:extLst>
          </p:cNvPr>
          <p:cNvSpPr txBox="1">
            <a:spLocks noChangeArrowheads="1"/>
          </p:cNvSpPr>
          <p:nvPr/>
        </p:nvSpPr>
        <p:spPr bwMode="auto">
          <a:xfrm>
            <a:off x="931024" y="3878715"/>
            <a:ext cx="9599222" cy="387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ts val="2500"/>
              </a:lnSpc>
            </a:pPr>
            <a:r>
              <a:rPr lang="zh-CN" altLang="en-US" b="1" dirty="0">
                <a:solidFill>
                  <a:srgbClr val="44546A"/>
                </a:solidFill>
                <a:latin typeface="微软雅黑" panose="020B0503020204020204" pitchFamily="34" charset="-122"/>
              </a:rPr>
              <a:t>数据表命名应遵循以下原则：</a:t>
            </a:r>
          </a:p>
        </p:txBody>
      </p:sp>
    </p:spTree>
    <p:extLst>
      <p:ext uri="{BB962C8B-B14F-4D97-AF65-F5344CB8AC3E}">
        <p14:creationId xmlns:p14="http://schemas.microsoft.com/office/powerpoint/2010/main" val="1144706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p:bldP spid="6" grpId="0"/>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创建数据表</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10">
            <a:extLst>
              <a:ext uri="{FF2B5EF4-FFF2-40B4-BE49-F238E27FC236}">
                <a16:creationId xmlns:a16="http://schemas.microsoft.com/office/drawing/2014/main" id="{0F07A040-6E35-E868-9FE8-BA0EB7427B40}"/>
              </a:ext>
            </a:extLst>
          </p:cNvPr>
          <p:cNvSpPr txBox="1">
            <a:spLocks noChangeArrowheads="1"/>
          </p:cNvSpPr>
          <p:nvPr/>
        </p:nvSpPr>
        <p:spPr bwMode="auto">
          <a:xfrm>
            <a:off x="937796" y="1254712"/>
            <a:ext cx="10426887" cy="387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ts val="2500"/>
              </a:lnSpc>
            </a:pPr>
            <a:r>
              <a:rPr lang="zh-CN" altLang="en-US" noProof="1">
                <a:solidFill>
                  <a:srgbClr val="44546A"/>
                </a:solidFill>
                <a:latin typeface="微软雅黑" panose="020B0503020204020204" pitchFamily="34" charset="-122"/>
              </a:rPr>
              <a:t>根据表的数据信息，创建数据表</a:t>
            </a:r>
            <a:r>
              <a:rPr lang="en-US" altLang="zh-CN" noProof="1">
                <a:solidFill>
                  <a:srgbClr val="44546A"/>
                </a:solidFill>
                <a:latin typeface="微软雅黑" panose="020B0503020204020204" pitchFamily="34" charset="-122"/>
              </a:rPr>
              <a:t>goods</a:t>
            </a:r>
            <a:r>
              <a:rPr lang="zh-CN" altLang="en-US" noProof="1">
                <a:solidFill>
                  <a:srgbClr val="44546A"/>
                </a:solidFill>
                <a:latin typeface="微软雅黑" panose="020B0503020204020204" pitchFamily="34" charset="-122"/>
              </a:rPr>
              <a:t>：</a:t>
            </a:r>
            <a:endParaRPr lang="zh-CN" altLang="en-US" dirty="0">
              <a:solidFill>
                <a:srgbClr val="44546A"/>
              </a:solidFill>
              <a:latin typeface="微软雅黑" panose="020B0503020204020204" pitchFamily="34" charset="-122"/>
            </a:endParaRPr>
          </a:p>
        </p:txBody>
      </p:sp>
      <p:graphicFrame>
        <p:nvGraphicFramePr>
          <p:cNvPr id="7" name="表格 8">
            <a:extLst>
              <a:ext uri="{FF2B5EF4-FFF2-40B4-BE49-F238E27FC236}">
                <a16:creationId xmlns:a16="http://schemas.microsoft.com/office/drawing/2014/main" id="{D369CA6A-0D10-AD8B-8EEE-3296202BD32D}"/>
              </a:ext>
            </a:extLst>
          </p:cNvPr>
          <p:cNvGraphicFramePr>
            <a:graphicFrameLocks noGrp="1"/>
          </p:cNvGraphicFramePr>
          <p:nvPr>
            <p:extLst>
              <p:ext uri="{D42A27DB-BD31-4B8C-83A1-F6EECF244321}">
                <p14:modId xmlns:p14="http://schemas.microsoft.com/office/powerpoint/2010/main" val="3101650926"/>
              </p:ext>
            </p:extLst>
          </p:nvPr>
        </p:nvGraphicFramePr>
        <p:xfrm>
          <a:off x="2032000" y="1958919"/>
          <a:ext cx="8128000" cy="25958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779896131"/>
                    </a:ext>
                  </a:extLst>
                </a:gridCol>
                <a:gridCol w="2032000">
                  <a:extLst>
                    <a:ext uri="{9D8B030D-6E8A-4147-A177-3AD203B41FA5}">
                      <a16:colId xmlns:a16="http://schemas.microsoft.com/office/drawing/2014/main" val="2290791870"/>
                    </a:ext>
                  </a:extLst>
                </a:gridCol>
                <a:gridCol w="2032000">
                  <a:extLst>
                    <a:ext uri="{9D8B030D-6E8A-4147-A177-3AD203B41FA5}">
                      <a16:colId xmlns:a16="http://schemas.microsoft.com/office/drawing/2014/main" val="2384783410"/>
                    </a:ext>
                  </a:extLst>
                </a:gridCol>
                <a:gridCol w="2032000">
                  <a:extLst>
                    <a:ext uri="{9D8B030D-6E8A-4147-A177-3AD203B41FA5}">
                      <a16:colId xmlns:a16="http://schemas.microsoft.com/office/drawing/2014/main" val="2844795852"/>
                    </a:ext>
                  </a:extLst>
                </a:gridCol>
              </a:tblGrid>
              <a:tr h="370840">
                <a:tc>
                  <a:txBody>
                    <a:bodyPr/>
                    <a:lstStyle/>
                    <a:p>
                      <a:pPr algn="ctr"/>
                      <a:r>
                        <a:rPr lang="zh-CN" altLang="en-US" dirty="0"/>
                        <a:t>字段</a:t>
                      </a:r>
                    </a:p>
                  </a:txBody>
                  <a:tcPr/>
                </a:tc>
                <a:tc>
                  <a:txBody>
                    <a:bodyPr/>
                    <a:lstStyle/>
                    <a:p>
                      <a:pPr algn="ctr"/>
                      <a:r>
                        <a:rPr lang="zh-CN" altLang="en-US" dirty="0"/>
                        <a:t>数据类型</a:t>
                      </a:r>
                    </a:p>
                  </a:txBody>
                  <a:tcPr/>
                </a:tc>
                <a:tc>
                  <a:txBody>
                    <a:bodyPr/>
                    <a:lstStyle/>
                    <a:p>
                      <a:pPr algn="ctr"/>
                      <a:r>
                        <a:rPr lang="zh-CN" altLang="en-US" dirty="0"/>
                        <a:t>约束</a:t>
                      </a:r>
                    </a:p>
                  </a:txBody>
                  <a:tcPr/>
                </a:tc>
                <a:tc>
                  <a:txBody>
                    <a:bodyPr/>
                    <a:lstStyle/>
                    <a:p>
                      <a:pPr algn="ctr"/>
                      <a:r>
                        <a:rPr lang="zh-CN" altLang="en-US" dirty="0"/>
                        <a:t>注释</a:t>
                      </a:r>
                    </a:p>
                  </a:txBody>
                  <a:tcPr/>
                </a:tc>
                <a:extLst>
                  <a:ext uri="{0D108BD9-81ED-4DB2-BD59-A6C34878D82A}">
                    <a16:rowId xmlns:a16="http://schemas.microsoft.com/office/drawing/2014/main" val="4284138407"/>
                  </a:ext>
                </a:extLst>
              </a:tr>
              <a:tr h="370840">
                <a:tc>
                  <a:txBody>
                    <a:bodyPr/>
                    <a:lstStyle/>
                    <a:p>
                      <a:pPr marL="0" algn="ctr" defTabSz="913765" rtl="0" eaLnBrk="1" latinLnBrk="0" hangingPunct="1"/>
                      <a:r>
                        <a:rPr lang="en-US" altLang="zh-CN" sz="1800" kern="1200" dirty="0">
                          <a:solidFill>
                            <a:srgbClr val="44546A"/>
                          </a:solidFill>
                          <a:latin typeface="微软雅黑" panose="020B0503020204020204" pitchFamily="34" charset="-122"/>
                          <a:ea typeface="微软雅黑" pitchFamily="34" charset="-122"/>
                          <a:cs typeface="+mn-cs"/>
                        </a:rPr>
                        <a:t>id</a:t>
                      </a:r>
                      <a:endParaRPr lang="zh-CN" altLang="en-US" sz="1800" kern="1200" dirty="0">
                        <a:solidFill>
                          <a:srgbClr val="44546A"/>
                        </a:solidFill>
                        <a:latin typeface="微软雅黑" panose="020B0503020204020204" pitchFamily="34" charset="-122"/>
                        <a:ea typeface="微软雅黑" pitchFamily="34" charset="-122"/>
                        <a:cs typeface="+mn-cs"/>
                      </a:endParaRPr>
                    </a:p>
                  </a:txBody>
                  <a:tcPr/>
                </a:tc>
                <a:tc>
                  <a:txBody>
                    <a:bodyPr/>
                    <a:lstStyle/>
                    <a:p>
                      <a:pPr marL="0" algn="ctr" defTabSz="913765" rtl="0" eaLnBrk="1" latinLnBrk="0" hangingPunct="1"/>
                      <a:r>
                        <a:rPr lang="en-US" altLang="zh-CN" sz="1800" kern="1200" dirty="0">
                          <a:solidFill>
                            <a:srgbClr val="44546A"/>
                          </a:solidFill>
                          <a:latin typeface="微软雅黑" panose="020B0503020204020204" pitchFamily="34" charset="-122"/>
                          <a:ea typeface="微软雅黑" pitchFamily="34" charset="-122"/>
                          <a:cs typeface="+mn-cs"/>
                        </a:rPr>
                        <a:t>INT(11)</a:t>
                      </a:r>
                      <a:endParaRPr lang="zh-CN" altLang="en-US" sz="1800" kern="1200" dirty="0">
                        <a:solidFill>
                          <a:srgbClr val="44546A"/>
                        </a:solidFill>
                        <a:latin typeface="微软雅黑" panose="020B0503020204020204" pitchFamily="34" charset="-122"/>
                        <a:ea typeface="微软雅黑" pitchFamily="34" charset="-122"/>
                        <a:cs typeface="+mn-cs"/>
                      </a:endParaRPr>
                    </a:p>
                  </a:txBody>
                  <a:tcPr/>
                </a:tc>
                <a:tc>
                  <a:txBody>
                    <a:bodyPr/>
                    <a:lstStyle/>
                    <a:p>
                      <a:pPr marL="0" algn="ctr" defTabSz="913765" rtl="0" eaLnBrk="1" latinLnBrk="0" hangingPunct="1"/>
                      <a:r>
                        <a:rPr lang="zh-CN" altLang="en-US" sz="1800" kern="1200" dirty="0">
                          <a:solidFill>
                            <a:srgbClr val="44546A"/>
                          </a:solidFill>
                          <a:latin typeface="微软雅黑" panose="020B0503020204020204" pitchFamily="34" charset="-122"/>
                          <a:ea typeface="微软雅黑" pitchFamily="34" charset="-122"/>
                          <a:cs typeface="+mn-cs"/>
                        </a:rPr>
                        <a:t>主键</a:t>
                      </a:r>
                    </a:p>
                  </a:txBody>
                  <a:tcPr/>
                </a:tc>
                <a:tc>
                  <a:txBody>
                    <a:bodyPr/>
                    <a:lstStyle/>
                    <a:p>
                      <a:pPr marL="0" algn="ctr" defTabSz="913765" rtl="0" eaLnBrk="1" latinLnBrk="0" hangingPunct="1"/>
                      <a:r>
                        <a:rPr lang="zh-CN" altLang="en-US" sz="1800" kern="1200" dirty="0">
                          <a:solidFill>
                            <a:srgbClr val="44546A"/>
                          </a:solidFill>
                          <a:latin typeface="微软雅黑" panose="020B0503020204020204" pitchFamily="34" charset="-122"/>
                          <a:ea typeface="微软雅黑" pitchFamily="34" charset="-122"/>
                          <a:cs typeface="+mn-cs"/>
                        </a:rPr>
                        <a:t>商品编号</a:t>
                      </a:r>
                    </a:p>
                  </a:txBody>
                  <a:tcPr/>
                </a:tc>
                <a:extLst>
                  <a:ext uri="{0D108BD9-81ED-4DB2-BD59-A6C34878D82A}">
                    <a16:rowId xmlns:a16="http://schemas.microsoft.com/office/drawing/2014/main" val="1172210625"/>
                  </a:ext>
                </a:extLst>
              </a:tr>
              <a:tr h="370840">
                <a:tc>
                  <a:txBody>
                    <a:bodyPr/>
                    <a:lstStyle/>
                    <a:p>
                      <a:pPr marL="0" algn="ctr" defTabSz="913765" rtl="0" eaLnBrk="1" latinLnBrk="0" hangingPunct="1"/>
                      <a:r>
                        <a:rPr lang="en-US" altLang="zh-CN" sz="1800" kern="1200" dirty="0">
                          <a:solidFill>
                            <a:srgbClr val="44546A"/>
                          </a:solidFill>
                          <a:latin typeface="微软雅黑" panose="020B0503020204020204" pitchFamily="34" charset="-122"/>
                          <a:ea typeface="微软雅黑" pitchFamily="34" charset="-122"/>
                          <a:cs typeface="+mn-cs"/>
                        </a:rPr>
                        <a:t>type</a:t>
                      </a:r>
                      <a:endParaRPr lang="zh-CN" altLang="en-US" sz="1800" kern="1200" dirty="0">
                        <a:solidFill>
                          <a:srgbClr val="44546A"/>
                        </a:solidFill>
                        <a:latin typeface="微软雅黑" panose="020B0503020204020204" pitchFamily="34" charset="-122"/>
                        <a:ea typeface="微软雅黑" pitchFamily="34" charset="-122"/>
                        <a:cs typeface="+mn-cs"/>
                      </a:endParaRPr>
                    </a:p>
                  </a:txBody>
                  <a:tcPr/>
                </a:tc>
                <a:tc>
                  <a:txBody>
                    <a:bodyPr/>
                    <a:lstStyle/>
                    <a:p>
                      <a:pPr marL="0" algn="ctr" defTabSz="913765" rtl="0" eaLnBrk="1" latinLnBrk="0" hangingPunct="1"/>
                      <a:r>
                        <a:rPr lang="en-US" altLang="zh-CN" sz="1800" kern="1200" dirty="0">
                          <a:solidFill>
                            <a:srgbClr val="44546A"/>
                          </a:solidFill>
                          <a:latin typeface="微软雅黑" panose="020B0503020204020204" pitchFamily="34" charset="-122"/>
                          <a:ea typeface="微软雅黑" pitchFamily="34" charset="-122"/>
                          <a:cs typeface="+mn-cs"/>
                        </a:rPr>
                        <a:t>VARCHAR(30)</a:t>
                      </a:r>
                      <a:endParaRPr lang="zh-CN" altLang="en-US" sz="1800" kern="1200" dirty="0">
                        <a:solidFill>
                          <a:srgbClr val="44546A"/>
                        </a:solidFill>
                        <a:latin typeface="微软雅黑" panose="020B0503020204020204" pitchFamily="34" charset="-122"/>
                        <a:ea typeface="微软雅黑" pitchFamily="34" charset="-122"/>
                        <a:cs typeface="+mn-cs"/>
                      </a:endParaRPr>
                    </a:p>
                  </a:txBody>
                  <a:tcPr/>
                </a:tc>
                <a:tc>
                  <a:txBody>
                    <a:bodyPr/>
                    <a:lstStyle/>
                    <a:p>
                      <a:pPr marL="0" algn="ctr" defTabSz="913765" rtl="0" eaLnBrk="1" latinLnBrk="0" hangingPunct="1"/>
                      <a:r>
                        <a:rPr lang="zh-CN" altLang="en-US" sz="1800" kern="1200" dirty="0">
                          <a:solidFill>
                            <a:srgbClr val="44546A"/>
                          </a:solidFill>
                          <a:latin typeface="微软雅黑" panose="020B0503020204020204" pitchFamily="34" charset="-122"/>
                          <a:ea typeface="微软雅黑" pitchFamily="34" charset="-122"/>
                          <a:cs typeface="+mn-cs"/>
                        </a:rPr>
                        <a:t>非空</a:t>
                      </a:r>
                    </a:p>
                  </a:txBody>
                  <a:tcPr/>
                </a:tc>
                <a:tc>
                  <a:txBody>
                    <a:bodyPr/>
                    <a:lstStyle/>
                    <a:p>
                      <a:pPr marL="0" algn="ctr" defTabSz="913765" rtl="0" eaLnBrk="1" latinLnBrk="0" hangingPunct="1"/>
                      <a:r>
                        <a:rPr lang="zh-CN" altLang="en-US" sz="1800" kern="1200" dirty="0">
                          <a:solidFill>
                            <a:srgbClr val="44546A"/>
                          </a:solidFill>
                          <a:latin typeface="微软雅黑" panose="020B0503020204020204" pitchFamily="34" charset="-122"/>
                          <a:ea typeface="微软雅黑" pitchFamily="34" charset="-122"/>
                          <a:cs typeface="+mn-cs"/>
                        </a:rPr>
                        <a:t>商品类别</a:t>
                      </a:r>
                    </a:p>
                  </a:txBody>
                  <a:tcPr/>
                </a:tc>
                <a:extLst>
                  <a:ext uri="{0D108BD9-81ED-4DB2-BD59-A6C34878D82A}">
                    <a16:rowId xmlns:a16="http://schemas.microsoft.com/office/drawing/2014/main" val="1108947462"/>
                  </a:ext>
                </a:extLst>
              </a:tr>
              <a:tr h="370840">
                <a:tc>
                  <a:txBody>
                    <a:bodyPr/>
                    <a:lstStyle/>
                    <a:p>
                      <a:pPr marL="0" algn="ctr" defTabSz="913765" rtl="0" eaLnBrk="1" latinLnBrk="0" hangingPunct="1"/>
                      <a:r>
                        <a:rPr lang="en-US" altLang="zh-CN" sz="1800" kern="1200" dirty="0">
                          <a:solidFill>
                            <a:srgbClr val="44546A"/>
                          </a:solidFill>
                          <a:latin typeface="微软雅黑" panose="020B0503020204020204" pitchFamily="34" charset="-122"/>
                          <a:ea typeface="微软雅黑" pitchFamily="34" charset="-122"/>
                          <a:cs typeface="+mn-cs"/>
                        </a:rPr>
                        <a:t>name</a:t>
                      </a:r>
                      <a:endParaRPr lang="zh-CN" altLang="en-US" sz="1800" kern="1200" dirty="0">
                        <a:solidFill>
                          <a:srgbClr val="44546A"/>
                        </a:solidFill>
                        <a:latin typeface="微软雅黑" panose="020B0503020204020204" pitchFamily="34" charset="-122"/>
                        <a:ea typeface="微软雅黑" pitchFamily="34" charset="-122"/>
                        <a:cs typeface="+mn-cs"/>
                      </a:endParaRPr>
                    </a:p>
                  </a:txBody>
                  <a:tcPr/>
                </a:tc>
                <a:tc>
                  <a:txBody>
                    <a:bodyPr/>
                    <a:lstStyle/>
                    <a:p>
                      <a:pPr marL="0" algn="ctr" defTabSz="913765" rtl="0" eaLnBrk="1" latinLnBrk="0" hangingPunct="1"/>
                      <a:r>
                        <a:rPr lang="en-US" altLang="zh-CN" sz="1800" kern="1200" dirty="0">
                          <a:solidFill>
                            <a:srgbClr val="44546A"/>
                          </a:solidFill>
                          <a:latin typeface="微软雅黑" panose="020B0503020204020204" pitchFamily="34" charset="-122"/>
                          <a:ea typeface="微软雅黑" pitchFamily="34" charset="-122"/>
                          <a:cs typeface="+mn-cs"/>
                        </a:rPr>
                        <a:t>VARCHAR(30)</a:t>
                      </a:r>
                      <a:endParaRPr lang="zh-CN" altLang="en-US" sz="1800" kern="1200" dirty="0">
                        <a:solidFill>
                          <a:srgbClr val="44546A"/>
                        </a:solidFill>
                        <a:latin typeface="微软雅黑" panose="020B0503020204020204" pitchFamily="34" charset="-122"/>
                        <a:ea typeface="微软雅黑" pitchFamily="34" charset="-122"/>
                        <a:cs typeface="+mn-cs"/>
                      </a:endParaRPr>
                    </a:p>
                  </a:txBody>
                  <a:tcPr/>
                </a:tc>
                <a:tc>
                  <a:txBody>
                    <a:bodyPr/>
                    <a:lstStyle/>
                    <a:p>
                      <a:pPr marL="0" algn="ctr" defTabSz="913765" rtl="0" eaLnBrk="1" latinLnBrk="0" hangingPunct="1"/>
                      <a:r>
                        <a:rPr lang="zh-CN" altLang="en-US" sz="1800" kern="1200" dirty="0">
                          <a:solidFill>
                            <a:srgbClr val="44546A"/>
                          </a:solidFill>
                          <a:latin typeface="微软雅黑" panose="020B0503020204020204" pitchFamily="34" charset="-122"/>
                          <a:ea typeface="微软雅黑" pitchFamily="34" charset="-122"/>
                          <a:cs typeface="+mn-cs"/>
                        </a:rPr>
                        <a:t>唯一</a:t>
                      </a:r>
                    </a:p>
                  </a:txBody>
                  <a:tcPr/>
                </a:tc>
                <a:tc>
                  <a:txBody>
                    <a:bodyPr/>
                    <a:lstStyle/>
                    <a:p>
                      <a:pPr marL="0" algn="ctr" defTabSz="913765" rtl="0" eaLnBrk="1" latinLnBrk="0" hangingPunct="1"/>
                      <a:r>
                        <a:rPr lang="zh-CN" altLang="en-US" sz="1800" kern="1200" dirty="0">
                          <a:solidFill>
                            <a:srgbClr val="44546A"/>
                          </a:solidFill>
                          <a:latin typeface="微软雅黑" panose="020B0503020204020204" pitchFamily="34" charset="-122"/>
                          <a:ea typeface="微软雅黑" pitchFamily="34" charset="-122"/>
                          <a:cs typeface="+mn-cs"/>
                        </a:rPr>
                        <a:t>商品名称</a:t>
                      </a:r>
                    </a:p>
                  </a:txBody>
                  <a:tcPr/>
                </a:tc>
                <a:extLst>
                  <a:ext uri="{0D108BD9-81ED-4DB2-BD59-A6C34878D82A}">
                    <a16:rowId xmlns:a16="http://schemas.microsoft.com/office/drawing/2014/main" val="330292817"/>
                  </a:ext>
                </a:extLst>
              </a:tr>
              <a:tr h="370840">
                <a:tc>
                  <a:txBody>
                    <a:bodyPr/>
                    <a:lstStyle/>
                    <a:p>
                      <a:pPr marL="0" algn="ctr" defTabSz="913765" rtl="0" eaLnBrk="1" latinLnBrk="0" hangingPunct="1"/>
                      <a:r>
                        <a:rPr lang="en-US" altLang="zh-CN" sz="1800" kern="1200" dirty="0">
                          <a:solidFill>
                            <a:srgbClr val="44546A"/>
                          </a:solidFill>
                          <a:latin typeface="微软雅黑" panose="020B0503020204020204" pitchFamily="34" charset="-122"/>
                          <a:ea typeface="微软雅黑" pitchFamily="34" charset="-122"/>
                          <a:cs typeface="+mn-cs"/>
                        </a:rPr>
                        <a:t>price</a:t>
                      </a:r>
                      <a:endParaRPr lang="zh-CN" altLang="en-US" sz="1800" kern="1200" dirty="0">
                        <a:solidFill>
                          <a:srgbClr val="44546A"/>
                        </a:solidFill>
                        <a:latin typeface="微软雅黑" panose="020B0503020204020204" pitchFamily="34" charset="-122"/>
                        <a:ea typeface="微软雅黑" pitchFamily="34" charset="-122"/>
                        <a:cs typeface="+mn-cs"/>
                      </a:endParaRPr>
                    </a:p>
                  </a:txBody>
                  <a:tcPr/>
                </a:tc>
                <a:tc>
                  <a:txBody>
                    <a:bodyPr/>
                    <a:lstStyle/>
                    <a:p>
                      <a:pPr marL="0" algn="ctr" defTabSz="913765" rtl="0" eaLnBrk="1" latinLnBrk="0" hangingPunct="1"/>
                      <a:r>
                        <a:rPr lang="en-US" altLang="zh-CN" sz="1800" kern="1200" dirty="0">
                          <a:solidFill>
                            <a:srgbClr val="44546A"/>
                          </a:solidFill>
                          <a:latin typeface="微软雅黑" panose="020B0503020204020204" pitchFamily="34" charset="-122"/>
                          <a:ea typeface="微软雅黑" pitchFamily="34" charset="-122"/>
                          <a:cs typeface="+mn-cs"/>
                        </a:rPr>
                        <a:t>DECIMAL(7,2)</a:t>
                      </a:r>
                      <a:endParaRPr lang="zh-CN" altLang="en-US" sz="1800" kern="1200" dirty="0">
                        <a:solidFill>
                          <a:srgbClr val="44546A"/>
                        </a:solidFill>
                        <a:latin typeface="微软雅黑" panose="020B0503020204020204" pitchFamily="34" charset="-122"/>
                        <a:ea typeface="微软雅黑" pitchFamily="34" charset="-122"/>
                        <a:cs typeface="+mn-cs"/>
                      </a:endParaRPr>
                    </a:p>
                  </a:txBody>
                  <a:tcPr/>
                </a:tc>
                <a:tc>
                  <a:txBody>
                    <a:bodyPr/>
                    <a:lstStyle/>
                    <a:p>
                      <a:pPr marL="0" algn="ctr" defTabSz="913765" rtl="0" eaLnBrk="1" latinLnBrk="0" hangingPunct="1"/>
                      <a:endParaRPr lang="zh-CN" altLang="en-US" sz="1800" kern="1200" dirty="0">
                        <a:solidFill>
                          <a:srgbClr val="44546A"/>
                        </a:solidFill>
                        <a:latin typeface="微软雅黑" panose="020B0503020204020204" pitchFamily="34" charset="-122"/>
                        <a:ea typeface="微软雅黑" pitchFamily="34" charset="-122"/>
                        <a:cs typeface="+mn-cs"/>
                      </a:endParaRPr>
                    </a:p>
                  </a:txBody>
                  <a:tcPr/>
                </a:tc>
                <a:tc>
                  <a:txBody>
                    <a:bodyPr/>
                    <a:lstStyle/>
                    <a:p>
                      <a:pPr marL="0" algn="ctr" defTabSz="913765" rtl="0" eaLnBrk="1" latinLnBrk="0" hangingPunct="1"/>
                      <a:r>
                        <a:rPr lang="zh-CN" altLang="en-US" sz="1800" kern="1200" dirty="0">
                          <a:solidFill>
                            <a:srgbClr val="44546A"/>
                          </a:solidFill>
                          <a:latin typeface="微软雅黑" panose="020B0503020204020204" pitchFamily="34" charset="-122"/>
                          <a:ea typeface="微软雅黑" pitchFamily="34" charset="-122"/>
                          <a:cs typeface="+mn-cs"/>
                        </a:rPr>
                        <a:t>商品价格</a:t>
                      </a:r>
                    </a:p>
                  </a:txBody>
                  <a:tcPr/>
                </a:tc>
                <a:extLst>
                  <a:ext uri="{0D108BD9-81ED-4DB2-BD59-A6C34878D82A}">
                    <a16:rowId xmlns:a16="http://schemas.microsoft.com/office/drawing/2014/main" val="355260877"/>
                  </a:ext>
                </a:extLst>
              </a:tr>
              <a:tr h="370840">
                <a:tc>
                  <a:txBody>
                    <a:bodyPr/>
                    <a:lstStyle/>
                    <a:p>
                      <a:pPr marL="0" algn="ctr" defTabSz="913765" rtl="0" eaLnBrk="1" latinLnBrk="0" hangingPunct="1"/>
                      <a:r>
                        <a:rPr lang="en-US" altLang="zh-CN" sz="1800" kern="1200" dirty="0">
                          <a:solidFill>
                            <a:srgbClr val="44546A"/>
                          </a:solidFill>
                          <a:latin typeface="微软雅黑" panose="020B0503020204020204" pitchFamily="34" charset="-122"/>
                          <a:ea typeface="微软雅黑" pitchFamily="34" charset="-122"/>
                          <a:cs typeface="+mn-cs"/>
                        </a:rPr>
                        <a:t>num</a:t>
                      </a:r>
                      <a:endParaRPr lang="zh-CN" altLang="en-US" sz="1800" kern="1200" dirty="0">
                        <a:solidFill>
                          <a:srgbClr val="44546A"/>
                        </a:solidFill>
                        <a:latin typeface="微软雅黑" panose="020B0503020204020204" pitchFamily="34" charset="-122"/>
                        <a:ea typeface="微软雅黑" pitchFamily="34" charset="-122"/>
                        <a:cs typeface="+mn-cs"/>
                      </a:endParaRPr>
                    </a:p>
                  </a:txBody>
                  <a:tcPr/>
                </a:tc>
                <a:tc>
                  <a:txBody>
                    <a:bodyPr/>
                    <a:lstStyle/>
                    <a:p>
                      <a:pPr marL="0" algn="ctr" defTabSz="913765" rtl="0" eaLnBrk="1" latinLnBrk="0" hangingPunct="1"/>
                      <a:r>
                        <a:rPr lang="en-US" altLang="zh-CN" sz="1800" kern="1200" dirty="0">
                          <a:solidFill>
                            <a:srgbClr val="44546A"/>
                          </a:solidFill>
                          <a:latin typeface="微软雅黑" panose="020B0503020204020204" pitchFamily="34" charset="-122"/>
                          <a:ea typeface="微软雅黑" pitchFamily="34" charset="-122"/>
                          <a:cs typeface="+mn-cs"/>
                        </a:rPr>
                        <a:t>INT(11)</a:t>
                      </a:r>
                      <a:endParaRPr lang="zh-CN" altLang="en-US" sz="1800" kern="1200" dirty="0">
                        <a:solidFill>
                          <a:srgbClr val="44546A"/>
                        </a:solidFill>
                        <a:latin typeface="微软雅黑" panose="020B0503020204020204" pitchFamily="34" charset="-122"/>
                        <a:ea typeface="微软雅黑" pitchFamily="34" charset="-122"/>
                        <a:cs typeface="+mn-cs"/>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sz="1800" kern="1200" dirty="0">
                          <a:solidFill>
                            <a:srgbClr val="44546A"/>
                          </a:solidFill>
                          <a:latin typeface="微软雅黑" panose="020B0503020204020204" pitchFamily="34" charset="-122"/>
                          <a:ea typeface="微软雅黑" pitchFamily="34" charset="-122"/>
                          <a:cs typeface="+mn-cs"/>
                        </a:rPr>
                        <a:t>默认值为</a:t>
                      </a:r>
                      <a:r>
                        <a:rPr lang="en-US" altLang="zh-CN" sz="1800" kern="1200" dirty="0">
                          <a:solidFill>
                            <a:srgbClr val="44546A"/>
                          </a:solidFill>
                          <a:latin typeface="微软雅黑" panose="020B0503020204020204" pitchFamily="34" charset="-122"/>
                          <a:ea typeface="微软雅黑" pitchFamily="34" charset="-122"/>
                          <a:cs typeface="+mn-cs"/>
                        </a:rPr>
                        <a:t>0</a:t>
                      </a:r>
                      <a:endParaRPr lang="zh-CN" altLang="en-US" sz="1800" kern="1200" dirty="0">
                        <a:solidFill>
                          <a:srgbClr val="44546A"/>
                        </a:solidFill>
                        <a:latin typeface="微软雅黑" panose="020B0503020204020204" pitchFamily="34" charset="-122"/>
                        <a:ea typeface="微软雅黑" pitchFamily="34" charset="-122"/>
                        <a:cs typeface="+mn-cs"/>
                      </a:endParaRPr>
                    </a:p>
                  </a:txBody>
                  <a:tcPr/>
                </a:tc>
                <a:tc>
                  <a:txBody>
                    <a:bodyPr/>
                    <a:lstStyle/>
                    <a:p>
                      <a:pPr marL="0" algn="ctr" defTabSz="913765" rtl="0" eaLnBrk="1" latinLnBrk="0" hangingPunct="1"/>
                      <a:r>
                        <a:rPr lang="zh-CN" altLang="en-US" sz="1800" kern="1200" dirty="0">
                          <a:solidFill>
                            <a:srgbClr val="44546A"/>
                          </a:solidFill>
                          <a:latin typeface="微软雅黑" panose="020B0503020204020204" pitchFamily="34" charset="-122"/>
                          <a:ea typeface="微软雅黑" pitchFamily="34" charset="-122"/>
                          <a:cs typeface="+mn-cs"/>
                        </a:rPr>
                        <a:t>商品库存</a:t>
                      </a:r>
                    </a:p>
                  </a:txBody>
                  <a:tcPr/>
                </a:tc>
                <a:extLst>
                  <a:ext uri="{0D108BD9-81ED-4DB2-BD59-A6C34878D82A}">
                    <a16:rowId xmlns:a16="http://schemas.microsoft.com/office/drawing/2014/main" val="338865864"/>
                  </a:ext>
                </a:extLst>
              </a:tr>
              <a:tr h="370840">
                <a:tc>
                  <a:txBody>
                    <a:bodyPr/>
                    <a:lstStyle/>
                    <a:p>
                      <a:pPr marL="0" algn="ctr" defTabSz="913765" rtl="0" eaLnBrk="1" latinLnBrk="0" hangingPunct="1"/>
                      <a:r>
                        <a:rPr lang="en-US" altLang="zh-CN" sz="1800" kern="1200" dirty="0">
                          <a:solidFill>
                            <a:srgbClr val="44546A"/>
                          </a:solidFill>
                          <a:latin typeface="微软雅黑" panose="020B0503020204020204" pitchFamily="34" charset="-122"/>
                          <a:ea typeface="微软雅黑" pitchFamily="34" charset="-122"/>
                          <a:cs typeface="+mn-cs"/>
                        </a:rPr>
                        <a:t>add_time</a:t>
                      </a:r>
                      <a:endParaRPr lang="zh-CN" altLang="en-US" sz="1800" kern="1200" dirty="0">
                        <a:solidFill>
                          <a:srgbClr val="44546A"/>
                        </a:solidFill>
                        <a:latin typeface="微软雅黑" panose="020B0503020204020204" pitchFamily="34" charset="-122"/>
                        <a:ea typeface="微软雅黑" pitchFamily="34" charset="-122"/>
                        <a:cs typeface="+mn-cs"/>
                      </a:endParaRPr>
                    </a:p>
                  </a:txBody>
                  <a:tcPr/>
                </a:tc>
                <a:tc>
                  <a:txBody>
                    <a:bodyPr/>
                    <a:lstStyle/>
                    <a:p>
                      <a:pPr marL="0" algn="ctr" defTabSz="913765" rtl="0" eaLnBrk="1" latinLnBrk="0" hangingPunct="1"/>
                      <a:r>
                        <a:rPr lang="en-US" altLang="zh-CN" sz="1800" kern="1200" dirty="0">
                          <a:solidFill>
                            <a:srgbClr val="44546A"/>
                          </a:solidFill>
                          <a:latin typeface="微软雅黑" panose="020B0503020204020204" pitchFamily="34" charset="-122"/>
                          <a:ea typeface="微软雅黑" pitchFamily="34" charset="-122"/>
                          <a:cs typeface="+mn-cs"/>
                        </a:rPr>
                        <a:t>DATETIME</a:t>
                      </a:r>
                      <a:endParaRPr lang="zh-CN" altLang="en-US" sz="1800" kern="1200" dirty="0">
                        <a:solidFill>
                          <a:srgbClr val="44546A"/>
                        </a:solidFill>
                        <a:latin typeface="微软雅黑" panose="020B0503020204020204" pitchFamily="34" charset="-122"/>
                        <a:ea typeface="微软雅黑" pitchFamily="34" charset="-122"/>
                        <a:cs typeface="+mn-cs"/>
                      </a:endParaRPr>
                    </a:p>
                  </a:txBody>
                  <a:tcPr/>
                </a:tc>
                <a:tc>
                  <a:txBody>
                    <a:bodyPr/>
                    <a:lstStyle/>
                    <a:p>
                      <a:pPr marL="0" algn="ctr" defTabSz="913765" rtl="0" eaLnBrk="1" latinLnBrk="0" hangingPunct="1"/>
                      <a:endParaRPr lang="zh-CN" altLang="en-US" sz="1800" kern="1200">
                        <a:solidFill>
                          <a:srgbClr val="44546A"/>
                        </a:solidFill>
                        <a:latin typeface="微软雅黑" panose="020B0503020204020204" pitchFamily="34" charset="-122"/>
                        <a:ea typeface="微软雅黑" pitchFamily="34" charset="-122"/>
                        <a:cs typeface="+mn-cs"/>
                      </a:endParaRPr>
                    </a:p>
                  </a:txBody>
                  <a:tcPr/>
                </a:tc>
                <a:tc>
                  <a:txBody>
                    <a:bodyPr/>
                    <a:lstStyle/>
                    <a:p>
                      <a:pPr marL="0" algn="ctr" defTabSz="913765" rtl="0" eaLnBrk="1" latinLnBrk="0" hangingPunct="1"/>
                      <a:r>
                        <a:rPr lang="zh-CN" altLang="en-US" sz="1800" kern="1200" dirty="0">
                          <a:solidFill>
                            <a:srgbClr val="44546A"/>
                          </a:solidFill>
                          <a:latin typeface="微软雅黑" panose="020B0503020204020204" pitchFamily="34" charset="-122"/>
                          <a:ea typeface="微软雅黑" pitchFamily="34" charset="-122"/>
                          <a:cs typeface="+mn-cs"/>
                        </a:rPr>
                        <a:t>添加时间</a:t>
                      </a:r>
                    </a:p>
                  </a:txBody>
                  <a:tcPr/>
                </a:tc>
                <a:extLst>
                  <a:ext uri="{0D108BD9-81ED-4DB2-BD59-A6C34878D82A}">
                    <a16:rowId xmlns:a16="http://schemas.microsoft.com/office/drawing/2014/main" val="3156627290"/>
                  </a:ext>
                </a:extLst>
              </a:tr>
            </a:tbl>
          </a:graphicData>
        </a:graphic>
      </p:graphicFrame>
      <p:sp>
        <p:nvSpPr>
          <p:cNvPr id="9" name="文本框 41">
            <a:extLst>
              <a:ext uri="{FF2B5EF4-FFF2-40B4-BE49-F238E27FC236}">
                <a16:creationId xmlns:a16="http://schemas.microsoft.com/office/drawing/2014/main" id="{7E963F77-B1F0-E8F9-4A7B-E29E7DC5C612}"/>
              </a:ext>
            </a:extLst>
          </p:cNvPr>
          <p:cNvSpPr txBox="1">
            <a:spLocks noChangeArrowheads="1"/>
          </p:cNvSpPr>
          <p:nvPr/>
        </p:nvSpPr>
        <p:spPr bwMode="auto">
          <a:xfrm>
            <a:off x="1624263" y="4853823"/>
            <a:ext cx="8657546"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indent="0" algn="just" eaLnBrk="1" hangingPunct="1">
              <a:lnSpc>
                <a:spcPct val="150000"/>
              </a:lnSpc>
              <a:buClr>
                <a:schemeClr val="accent1"/>
              </a:buClr>
            </a:pPr>
            <a:r>
              <a:rPr lang="zh-CN" altLang="en-US" dirty="0">
                <a:solidFill>
                  <a:srgbClr val="44546A"/>
                </a:solidFill>
                <a:latin typeface="微软雅黑" panose="020B0503020204020204" pitchFamily="34" charset="-122"/>
              </a:rPr>
              <a:t>主键，也称主码，用于标识表中唯一的一条记录。一张表中只能有一个主键，并且主键值不能为空。</a:t>
            </a:r>
          </a:p>
        </p:txBody>
      </p:sp>
    </p:spTree>
    <p:extLst>
      <p:ext uri="{BB962C8B-B14F-4D97-AF65-F5344CB8AC3E}">
        <p14:creationId xmlns:p14="http://schemas.microsoft.com/office/powerpoint/2010/main" val="16267704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创建数据表</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0A7E2F5F-15B3-5150-4D8F-065B09143980}"/>
              </a:ext>
            </a:extLst>
          </p:cNvPr>
          <p:cNvSpPr/>
          <p:nvPr/>
        </p:nvSpPr>
        <p:spPr>
          <a:xfrm>
            <a:off x="1144177" y="2093495"/>
            <a:ext cx="9865945" cy="3252962"/>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9" name="文本框 38">
            <a:extLst>
              <a:ext uri="{FF2B5EF4-FFF2-40B4-BE49-F238E27FC236}">
                <a16:creationId xmlns:a16="http://schemas.microsoft.com/office/drawing/2014/main" id="{C634D5D0-A4A9-557F-6BF9-11BC26357DF6}"/>
              </a:ext>
            </a:extLst>
          </p:cNvPr>
          <p:cNvSpPr txBox="1">
            <a:spLocks noChangeArrowheads="1"/>
          </p:cNvSpPr>
          <p:nvPr/>
        </p:nvSpPr>
        <p:spPr bwMode="auto">
          <a:xfrm>
            <a:off x="1741387" y="2436901"/>
            <a:ext cx="8444204" cy="262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3"/>
                </a:solidFill>
                <a:latin typeface="+mn-lt"/>
              </a:rPr>
              <a:t>CREATE TABLE goods(</a:t>
            </a:r>
          </a:p>
          <a:p>
            <a:pPr eaLnBrk="1" hangingPunct="1">
              <a:lnSpc>
                <a:spcPts val="2500"/>
              </a:lnSpc>
            </a:pPr>
            <a:r>
              <a:rPr lang="en-US" altLang="zh-CN" sz="1600" dirty="0">
                <a:solidFill>
                  <a:schemeClr val="accent3"/>
                </a:solidFill>
                <a:latin typeface="+mn-lt"/>
              </a:rPr>
              <a:t>       id INT(11) PRIMARY KEY AUTO_INCREMENT COMMENT ‘</a:t>
            </a:r>
            <a:r>
              <a:rPr lang="zh-CN" altLang="en-US" sz="1600" dirty="0">
                <a:solidFill>
                  <a:schemeClr val="accent3"/>
                </a:solidFill>
                <a:latin typeface="+mn-lt"/>
              </a:rPr>
              <a:t>商品编号</a:t>
            </a:r>
            <a:r>
              <a:rPr lang="en-US" altLang="zh-CN" sz="1600" dirty="0">
                <a:solidFill>
                  <a:schemeClr val="accent3"/>
                </a:solidFill>
                <a:latin typeface="+mn-lt"/>
              </a:rPr>
              <a:t>’,</a:t>
            </a:r>
          </a:p>
          <a:p>
            <a:pPr eaLnBrk="1" hangingPunct="1">
              <a:lnSpc>
                <a:spcPts val="2500"/>
              </a:lnSpc>
            </a:pPr>
            <a:r>
              <a:rPr lang="en-US" altLang="zh-CN" sz="1600" dirty="0">
                <a:solidFill>
                  <a:schemeClr val="accent3"/>
                </a:solidFill>
                <a:latin typeface="+mn-lt"/>
              </a:rPr>
              <a:t>       type VARCHAR(30) NOT NULL COMMENT ‘</a:t>
            </a:r>
            <a:r>
              <a:rPr lang="zh-CN" altLang="en-US" sz="1600" dirty="0">
                <a:solidFill>
                  <a:schemeClr val="accent3"/>
                </a:solidFill>
                <a:latin typeface="+mn-lt"/>
              </a:rPr>
              <a:t>商品类别</a:t>
            </a:r>
            <a:r>
              <a:rPr lang="en-US" altLang="zh-CN" sz="1600" dirty="0">
                <a:solidFill>
                  <a:schemeClr val="accent3"/>
                </a:solidFill>
                <a:latin typeface="+mn-lt"/>
              </a:rPr>
              <a:t>’,</a:t>
            </a:r>
          </a:p>
          <a:p>
            <a:pPr eaLnBrk="1" hangingPunct="1">
              <a:lnSpc>
                <a:spcPts val="2500"/>
              </a:lnSpc>
            </a:pPr>
            <a:r>
              <a:rPr lang="en-US" altLang="zh-CN" sz="1600" dirty="0">
                <a:solidFill>
                  <a:schemeClr val="accent3"/>
                </a:solidFill>
                <a:latin typeface="+mn-lt"/>
              </a:rPr>
              <a:t>       name VARCHAR(30) UNIQUE COMMENT ‘</a:t>
            </a:r>
            <a:r>
              <a:rPr lang="zh-CN" altLang="en-US" sz="1600" dirty="0">
                <a:solidFill>
                  <a:schemeClr val="accent3"/>
                </a:solidFill>
                <a:latin typeface="+mn-lt"/>
              </a:rPr>
              <a:t>商品名称</a:t>
            </a:r>
            <a:r>
              <a:rPr lang="en-US" altLang="zh-CN" sz="1600" dirty="0">
                <a:solidFill>
                  <a:schemeClr val="accent3"/>
                </a:solidFill>
                <a:latin typeface="+mn-lt"/>
              </a:rPr>
              <a:t>’,</a:t>
            </a:r>
          </a:p>
          <a:p>
            <a:pPr eaLnBrk="1" hangingPunct="1">
              <a:lnSpc>
                <a:spcPts val="2500"/>
              </a:lnSpc>
            </a:pPr>
            <a:r>
              <a:rPr lang="en-US" altLang="zh-CN" sz="1600" dirty="0">
                <a:solidFill>
                  <a:schemeClr val="accent3"/>
                </a:solidFill>
                <a:latin typeface="+mn-lt"/>
              </a:rPr>
              <a:t>       price DECIMAL(7,2) COMMENT ‘</a:t>
            </a:r>
            <a:r>
              <a:rPr lang="zh-CN" altLang="en-US" sz="1600" dirty="0">
                <a:solidFill>
                  <a:schemeClr val="accent3"/>
                </a:solidFill>
                <a:latin typeface="+mn-lt"/>
              </a:rPr>
              <a:t>商品价格</a:t>
            </a:r>
            <a:r>
              <a:rPr lang="en-US" altLang="zh-CN" sz="1600" dirty="0">
                <a:solidFill>
                  <a:schemeClr val="accent3"/>
                </a:solidFill>
                <a:latin typeface="+mn-lt"/>
              </a:rPr>
              <a:t>’,</a:t>
            </a:r>
          </a:p>
          <a:p>
            <a:pPr eaLnBrk="1" hangingPunct="1">
              <a:lnSpc>
                <a:spcPts val="2500"/>
              </a:lnSpc>
            </a:pPr>
            <a:r>
              <a:rPr lang="en-US" altLang="zh-CN" sz="1600" dirty="0">
                <a:solidFill>
                  <a:schemeClr val="accent3"/>
                </a:solidFill>
                <a:latin typeface="+mn-lt"/>
              </a:rPr>
              <a:t>       </a:t>
            </a:r>
            <a:r>
              <a:rPr lang="pt-BR" altLang="zh-CN" sz="1600" dirty="0">
                <a:solidFill>
                  <a:schemeClr val="accent3"/>
                </a:solidFill>
                <a:latin typeface="+mn-lt"/>
              </a:rPr>
              <a:t>num INT(11) DEFAULT 0 </a:t>
            </a:r>
            <a:r>
              <a:rPr lang="en-US" altLang="zh-CN" sz="1600" dirty="0">
                <a:solidFill>
                  <a:schemeClr val="accent3"/>
                </a:solidFill>
                <a:latin typeface="+mn-lt"/>
              </a:rPr>
              <a:t>COMMENT ‘</a:t>
            </a:r>
            <a:r>
              <a:rPr lang="zh-CN" altLang="en-US" sz="1600" dirty="0">
                <a:solidFill>
                  <a:schemeClr val="accent3"/>
                </a:solidFill>
                <a:latin typeface="+mn-lt"/>
              </a:rPr>
              <a:t>商品库存</a:t>
            </a:r>
            <a:r>
              <a:rPr lang="en-US" altLang="zh-CN" sz="1600" dirty="0">
                <a:solidFill>
                  <a:schemeClr val="accent3"/>
                </a:solidFill>
                <a:latin typeface="+mn-lt"/>
              </a:rPr>
              <a:t>’,</a:t>
            </a:r>
            <a:endParaRPr lang="pt-BR" altLang="zh-CN" sz="1600" dirty="0">
              <a:solidFill>
                <a:schemeClr val="accent3"/>
              </a:solidFill>
              <a:latin typeface="+mn-lt"/>
            </a:endParaRPr>
          </a:p>
          <a:p>
            <a:pPr eaLnBrk="1" hangingPunct="1">
              <a:lnSpc>
                <a:spcPts val="2500"/>
              </a:lnSpc>
            </a:pPr>
            <a:r>
              <a:rPr lang="pt-BR" altLang="zh-CN" sz="1600" dirty="0">
                <a:solidFill>
                  <a:schemeClr val="accent3"/>
                </a:solidFill>
                <a:latin typeface="+mn-lt"/>
              </a:rPr>
              <a:t>       add_time DATETIME </a:t>
            </a:r>
            <a:r>
              <a:rPr lang="en-US" altLang="zh-CN" sz="1600" dirty="0">
                <a:solidFill>
                  <a:schemeClr val="accent3"/>
                </a:solidFill>
                <a:latin typeface="+mn-lt"/>
              </a:rPr>
              <a:t>COMMENT ‘</a:t>
            </a:r>
            <a:r>
              <a:rPr lang="zh-CN" altLang="en-US" sz="1600" dirty="0">
                <a:solidFill>
                  <a:schemeClr val="accent3"/>
                </a:solidFill>
                <a:latin typeface="+mn-lt"/>
              </a:rPr>
              <a:t>添加时间</a:t>
            </a:r>
            <a:r>
              <a:rPr lang="en-US" altLang="zh-CN" sz="1600" dirty="0">
                <a:solidFill>
                  <a:schemeClr val="accent3"/>
                </a:solidFill>
                <a:latin typeface="+mn-lt"/>
              </a:rPr>
              <a:t>’</a:t>
            </a:r>
            <a:endParaRPr lang="pt-BR" altLang="zh-CN" sz="1600" dirty="0">
              <a:solidFill>
                <a:schemeClr val="accent3"/>
              </a:solidFill>
              <a:latin typeface="+mn-lt"/>
            </a:endParaRPr>
          </a:p>
          <a:p>
            <a:pPr eaLnBrk="1" hangingPunct="1">
              <a:lnSpc>
                <a:spcPts val="2500"/>
              </a:lnSpc>
            </a:pPr>
            <a:r>
              <a:rPr lang="pt-BR" altLang="zh-CN" sz="1600" dirty="0">
                <a:solidFill>
                  <a:schemeClr val="accent3"/>
                </a:solidFill>
                <a:latin typeface="+mn-lt"/>
              </a:rPr>
              <a:t>);</a:t>
            </a:r>
            <a:endParaRPr lang="en-US" altLang="zh-CN" sz="1600" dirty="0">
              <a:solidFill>
                <a:schemeClr val="accent3"/>
              </a:solidFill>
              <a:latin typeface="+mn-lt"/>
            </a:endParaRPr>
          </a:p>
        </p:txBody>
      </p:sp>
    </p:spTree>
    <p:extLst>
      <p:ext uri="{BB962C8B-B14F-4D97-AF65-F5344CB8AC3E}">
        <p14:creationId xmlns:p14="http://schemas.microsoft.com/office/powerpoint/2010/main" val="2525686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使用</a:t>
            </a:r>
            <a:r>
              <a:rPr lang="en-US" altLang="zh-CN" b="1" dirty="0">
                <a:solidFill>
                  <a:srgbClr val="44546A"/>
                </a:solidFill>
                <a:latin typeface="微软雅黑" panose="020B0503020204020204" pitchFamily="34" charset="-122"/>
                <a:ea typeface="微软雅黑" panose="020B0503020204020204" pitchFamily="34" charset="-122"/>
              </a:rPr>
              <a:t>Navicat</a:t>
            </a:r>
            <a:r>
              <a:rPr lang="zh-CN" altLang="en-US" b="1" dirty="0">
                <a:solidFill>
                  <a:srgbClr val="44546A"/>
                </a:solidFill>
                <a:latin typeface="微软雅黑" panose="020B0503020204020204" pitchFamily="34" charset="-122"/>
                <a:ea typeface="微软雅黑" panose="020B0503020204020204" pitchFamily="34" charset="-122"/>
              </a:rPr>
              <a:t>创建数据表</a:t>
            </a:r>
            <a:endParaRPr lang="en-US" altLang="zh-CN" b="1" dirty="0">
              <a:solidFill>
                <a:srgbClr val="44546A"/>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C36D6492-7415-BCEF-62AB-9BF8F75D0E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729" y="1367324"/>
            <a:ext cx="5163271" cy="3810532"/>
          </a:xfrm>
          <a:prstGeom prst="rect">
            <a:avLst/>
          </a:prstGeom>
        </p:spPr>
      </p:pic>
      <p:pic>
        <p:nvPicPr>
          <p:cNvPr id="7" name="图片 6">
            <a:extLst>
              <a:ext uri="{FF2B5EF4-FFF2-40B4-BE49-F238E27FC236}">
                <a16:creationId xmlns:a16="http://schemas.microsoft.com/office/drawing/2014/main" id="{F064B653-18A4-8BC6-2A08-A221D9E65EAE}"/>
              </a:ext>
            </a:extLst>
          </p:cNvPr>
          <p:cNvPicPr>
            <a:picLocks noChangeAspect="1"/>
          </p:cNvPicPr>
          <p:nvPr/>
        </p:nvPicPr>
        <p:blipFill>
          <a:blip r:embed="rId4"/>
          <a:stretch>
            <a:fillRect/>
          </a:stretch>
        </p:blipFill>
        <p:spPr>
          <a:xfrm>
            <a:off x="6217877" y="242887"/>
            <a:ext cx="5391150" cy="6372225"/>
          </a:xfrm>
          <a:prstGeom prst="rect">
            <a:avLst/>
          </a:prstGeom>
        </p:spPr>
      </p:pic>
      <p:sp>
        <p:nvSpPr>
          <p:cNvPr id="8" name="文本框 7">
            <a:extLst>
              <a:ext uri="{FF2B5EF4-FFF2-40B4-BE49-F238E27FC236}">
                <a16:creationId xmlns:a16="http://schemas.microsoft.com/office/drawing/2014/main" id="{41004C19-8586-05A7-D7DE-1CBD24A5C177}"/>
              </a:ext>
            </a:extLst>
          </p:cNvPr>
          <p:cNvSpPr txBox="1"/>
          <p:nvPr/>
        </p:nvSpPr>
        <p:spPr>
          <a:xfrm>
            <a:off x="9348537" y="3087924"/>
            <a:ext cx="1813317" cy="369332"/>
          </a:xfrm>
          <a:prstGeom prst="rect">
            <a:avLst/>
          </a:prstGeom>
          <a:noFill/>
        </p:spPr>
        <p:txBody>
          <a:bodyPr wrap="none" rtlCol="0">
            <a:spAutoFit/>
          </a:bodyPr>
          <a:lstStyle/>
          <a:p>
            <a:r>
              <a:rPr lang="zh-CN" altLang="en-US" dirty="0"/>
              <a:t>密码：</a:t>
            </a:r>
            <a:r>
              <a:rPr lang="en-US" altLang="zh-CN" dirty="0"/>
              <a:t>aitest123</a:t>
            </a:r>
            <a:endParaRPr lang="zh-CN" altLang="en-US" dirty="0"/>
          </a:p>
        </p:txBody>
      </p:sp>
      <p:sp>
        <p:nvSpPr>
          <p:cNvPr id="9" name="矩形: 圆角 8">
            <a:extLst>
              <a:ext uri="{FF2B5EF4-FFF2-40B4-BE49-F238E27FC236}">
                <a16:creationId xmlns:a16="http://schemas.microsoft.com/office/drawing/2014/main" id="{483BB3BF-A9E6-9916-EFE9-25D6E3BE66DB}"/>
              </a:ext>
            </a:extLst>
          </p:cNvPr>
          <p:cNvSpPr/>
          <p:nvPr/>
        </p:nvSpPr>
        <p:spPr>
          <a:xfrm>
            <a:off x="6096000" y="6196263"/>
            <a:ext cx="1760621" cy="478155"/>
          </a:xfrm>
          <a:prstGeom prst="roundRect">
            <a:avLst/>
          </a:prstGeom>
          <a:noFill/>
          <a:ln w="19050">
            <a:solidFill>
              <a:srgbClr val="991D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E22F8957-0AE0-C235-7100-A2328DA547B5}"/>
              </a:ext>
            </a:extLst>
          </p:cNvPr>
          <p:cNvSpPr/>
          <p:nvPr/>
        </p:nvSpPr>
        <p:spPr>
          <a:xfrm>
            <a:off x="9939087" y="6196262"/>
            <a:ext cx="913397" cy="478155"/>
          </a:xfrm>
          <a:prstGeom prst="roundRect">
            <a:avLst/>
          </a:prstGeom>
          <a:noFill/>
          <a:ln w="19050">
            <a:solidFill>
              <a:srgbClr val="991D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83894579"/>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使用</a:t>
            </a:r>
            <a:r>
              <a:rPr lang="en-US" altLang="zh-CN" b="1" dirty="0">
                <a:solidFill>
                  <a:srgbClr val="44546A"/>
                </a:solidFill>
                <a:latin typeface="微软雅黑" panose="020B0503020204020204" pitchFamily="34" charset="-122"/>
                <a:ea typeface="微软雅黑" panose="020B0503020204020204" pitchFamily="34" charset="-122"/>
              </a:rPr>
              <a:t>Navicat</a:t>
            </a:r>
            <a:r>
              <a:rPr lang="zh-CN" altLang="en-US" b="1" dirty="0">
                <a:solidFill>
                  <a:srgbClr val="44546A"/>
                </a:solidFill>
                <a:latin typeface="微软雅黑" panose="020B0503020204020204" pitchFamily="34" charset="-122"/>
                <a:ea typeface="微软雅黑" panose="020B0503020204020204" pitchFamily="34" charset="-122"/>
              </a:rPr>
              <a:t>创建数据表</a:t>
            </a:r>
            <a:endParaRPr lang="en-US" altLang="zh-CN" b="1" dirty="0">
              <a:solidFill>
                <a:srgbClr val="44546A"/>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0EB7FF94-61AF-9FC9-6439-E3137F33E9FB}"/>
              </a:ext>
            </a:extLst>
          </p:cNvPr>
          <p:cNvPicPr>
            <a:picLocks noChangeAspect="1"/>
          </p:cNvPicPr>
          <p:nvPr/>
        </p:nvPicPr>
        <p:blipFill>
          <a:blip r:embed="rId3"/>
          <a:stretch>
            <a:fillRect/>
          </a:stretch>
        </p:blipFill>
        <p:spPr>
          <a:xfrm>
            <a:off x="1819275" y="2028825"/>
            <a:ext cx="8553450" cy="2800350"/>
          </a:xfrm>
          <a:prstGeom prst="rect">
            <a:avLst/>
          </a:prstGeom>
        </p:spPr>
      </p:pic>
    </p:spTree>
    <p:extLst>
      <p:ext uri="{BB962C8B-B14F-4D97-AF65-F5344CB8AC3E}">
        <p14:creationId xmlns:p14="http://schemas.microsoft.com/office/powerpoint/2010/main" val="1848565608"/>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C6B96963-1F9D-F49C-7C00-C512CD9C4AAB}"/>
              </a:ext>
            </a:extLst>
          </p:cNvPr>
          <p:cNvPicPr>
            <a:picLocks noChangeAspect="1"/>
          </p:cNvPicPr>
          <p:nvPr/>
        </p:nvPicPr>
        <p:blipFill>
          <a:blip r:embed="rId3"/>
          <a:stretch>
            <a:fillRect/>
          </a:stretch>
        </p:blipFill>
        <p:spPr>
          <a:xfrm>
            <a:off x="2526882" y="3224463"/>
            <a:ext cx="4924425" cy="1628775"/>
          </a:xfrm>
          <a:prstGeom prst="rect">
            <a:avLst/>
          </a:prstGeom>
        </p:spPr>
      </p:pic>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使用</a:t>
            </a:r>
            <a:r>
              <a:rPr lang="en-US" altLang="zh-CN" b="1" dirty="0">
                <a:solidFill>
                  <a:srgbClr val="44546A"/>
                </a:solidFill>
                <a:latin typeface="微软雅黑" panose="020B0503020204020204" pitchFamily="34" charset="-122"/>
                <a:ea typeface="微软雅黑" panose="020B0503020204020204" pitchFamily="34" charset="-122"/>
              </a:rPr>
              <a:t>Navicat</a:t>
            </a:r>
            <a:r>
              <a:rPr lang="zh-CN" altLang="en-US" b="1" dirty="0">
                <a:solidFill>
                  <a:srgbClr val="44546A"/>
                </a:solidFill>
                <a:latin typeface="微软雅黑" panose="020B0503020204020204" pitchFamily="34" charset="-122"/>
                <a:ea typeface="微软雅黑" panose="020B0503020204020204" pitchFamily="34" charset="-122"/>
              </a:rPr>
              <a:t>创建数据表</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41">
            <a:extLst>
              <a:ext uri="{FF2B5EF4-FFF2-40B4-BE49-F238E27FC236}">
                <a16:creationId xmlns:a16="http://schemas.microsoft.com/office/drawing/2014/main" id="{16448142-1DB0-B8ED-D25D-A3DDF4008EF0}"/>
              </a:ext>
            </a:extLst>
          </p:cNvPr>
          <p:cNvSpPr txBox="1">
            <a:spLocks noChangeArrowheads="1"/>
          </p:cNvSpPr>
          <p:nvPr/>
        </p:nvSpPr>
        <p:spPr bwMode="auto">
          <a:xfrm>
            <a:off x="1229739" y="1584044"/>
            <a:ext cx="9599222" cy="416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ts val="2800"/>
              </a:lnSpc>
            </a:pPr>
            <a:r>
              <a:rPr lang="zh-CN" altLang="en-US" dirty="0">
                <a:solidFill>
                  <a:srgbClr val="44546A"/>
                </a:solidFill>
                <a:latin typeface="微软雅黑" panose="020B0503020204020204" pitchFamily="34" charset="-122"/>
              </a:rPr>
              <a:t>选择数据库，新建查询，粘贴创建数据表语句，运行。</a:t>
            </a:r>
          </a:p>
        </p:txBody>
      </p:sp>
      <p:sp>
        <p:nvSpPr>
          <p:cNvPr id="8" name="矩形: 圆角 7">
            <a:extLst>
              <a:ext uri="{FF2B5EF4-FFF2-40B4-BE49-F238E27FC236}">
                <a16:creationId xmlns:a16="http://schemas.microsoft.com/office/drawing/2014/main" id="{0D08B7F2-A395-D730-5D45-57B1AF1FF2F3}"/>
              </a:ext>
            </a:extLst>
          </p:cNvPr>
          <p:cNvSpPr/>
          <p:nvPr/>
        </p:nvSpPr>
        <p:spPr>
          <a:xfrm>
            <a:off x="5698957" y="3224463"/>
            <a:ext cx="509338" cy="312821"/>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9F87835E-4413-5220-73E0-2096F64F59D5}"/>
              </a:ext>
            </a:extLst>
          </p:cNvPr>
          <p:cNvSpPr/>
          <p:nvPr/>
        </p:nvSpPr>
        <p:spPr>
          <a:xfrm>
            <a:off x="4379495" y="3380873"/>
            <a:ext cx="1010652" cy="481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331231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0B150EAB-6A5F-5D88-D2E4-9D4E11DDF5AD}"/>
              </a:ext>
            </a:extLst>
          </p:cNvPr>
          <p:cNvSpPr/>
          <p:nvPr/>
        </p:nvSpPr>
        <p:spPr>
          <a:xfrm>
            <a:off x="1058239" y="1474006"/>
            <a:ext cx="10068674" cy="1359665"/>
          </a:xfrm>
          <a:prstGeom prst="roundRect">
            <a:avLst/>
          </a:prstGeom>
          <a:solidFill>
            <a:schemeClr val="bg1"/>
          </a:solid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简单数据记录查询</a:t>
            </a:r>
            <a:endParaRPr lang="en-US" altLang="zh-CN" b="1" dirty="0">
              <a:solidFill>
                <a:srgbClr val="44546A"/>
              </a:solidFill>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8AD521F2-5A16-D481-D9FD-69A26F18DE4D}"/>
              </a:ext>
            </a:extLst>
          </p:cNvPr>
          <p:cNvGrpSpPr/>
          <p:nvPr/>
        </p:nvGrpSpPr>
        <p:grpSpPr>
          <a:xfrm>
            <a:off x="1144176" y="1525539"/>
            <a:ext cx="9684785" cy="1308133"/>
            <a:chOff x="878117" y="1208285"/>
            <a:chExt cx="10443646" cy="1308133"/>
          </a:xfrm>
        </p:grpSpPr>
        <p:sp>
          <p:nvSpPr>
            <p:cNvPr id="7" name="íṩľíḍè-圆角矩形 61">
              <a:extLst>
                <a:ext uri="{FF2B5EF4-FFF2-40B4-BE49-F238E27FC236}">
                  <a16:creationId xmlns:a16="http://schemas.microsoft.com/office/drawing/2014/main" id="{CD0CFDDC-A475-DEB0-C675-5FF82893B8C6}"/>
                </a:ext>
              </a:extLst>
            </p:cNvPr>
            <p:cNvSpPr/>
            <p:nvPr/>
          </p:nvSpPr>
          <p:spPr>
            <a:xfrm>
              <a:off x="878117" y="1208285"/>
              <a:ext cx="10443646" cy="1308133"/>
            </a:xfrm>
            <a:prstGeom prst="roundRect">
              <a:avLst>
                <a:gd name="adj" fmla="val 348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216000" bIns="216000" anchorCtr="1">
              <a:normAutofit/>
            </a:bodyPr>
            <a:lstStyle/>
            <a:p>
              <a:pPr algn="ctr" fontAlgn="auto">
                <a:buFontTx/>
                <a:buNone/>
                <a:defRPr/>
              </a:pPr>
              <a:endParaRPr lang="zh-CN" altLang="en-US" noProof="1"/>
            </a:p>
          </p:txBody>
        </p:sp>
        <p:sp>
          <p:nvSpPr>
            <p:cNvPr id="5" name="文本框 41">
              <a:extLst>
                <a:ext uri="{FF2B5EF4-FFF2-40B4-BE49-F238E27FC236}">
                  <a16:creationId xmlns:a16="http://schemas.microsoft.com/office/drawing/2014/main" id="{120FD19F-BD14-DE19-C0FC-21B04079DC88}"/>
                </a:ext>
              </a:extLst>
            </p:cNvPr>
            <p:cNvSpPr txBox="1">
              <a:spLocks noChangeArrowheads="1"/>
            </p:cNvSpPr>
            <p:nvPr/>
          </p:nvSpPr>
          <p:spPr bwMode="auto">
            <a:xfrm>
              <a:off x="970384" y="1266790"/>
              <a:ext cx="10351379" cy="1134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ts val="2800"/>
                </a:lnSpc>
              </a:pPr>
              <a:r>
                <a:rPr lang="zh-CN" altLang="en-US" dirty="0">
                  <a:solidFill>
                    <a:srgbClr val="44546A"/>
                  </a:solidFill>
                  <a:latin typeface="微软雅黑" panose="020B0503020204020204" pitchFamily="34" charset="-122"/>
                </a:rPr>
                <a:t>简单数据记录查询主要包括：</a:t>
              </a:r>
              <a:r>
                <a:rPr lang="zh-CN" altLang="en-US" b="1" dirty="0">
                  <a:solidFill>
                    <a:srgbClr val="44546A"/>
                  </a:solidFill>
                  <a:latin typeface="微软雅黑" panose="020B0503020204020204" pitchFamily="34" charset="-122"/>
                </a:rPr>
                <a:t>查询所有字段、查询指定字段、查询指定记录、多条件查询、排序查询</a:t>
              </a:r>
              <a:r>
                <a:rPr lang="zh-CN" altLang="en-US" dirty="0">
                  <a:solidFill>
                    <a:srgbClr val="44546A"/>
                  </a:solidFill>
                  <a:latin typeface="微软雅黑" panose="020B0503020204020204" pitchFamily="34" charset="-122"/>
                </a:rPr>
                <a:t>等。本节将先创建的</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表为操作对象，讲解简单数据记录查询的具体实现方法，如果表内还没有数据，执行以下语句在其中插入数据。</a:t>
              </a:r>
            </a:p>
          </p:txBody>
        </p:sp>
      </p:grpSp>
      <p:sp>
        <p:nvSpPr>
          <p:cNvPr id="8" name="矩形 7">
            <a:extLst>
              <a:ext uri="{FF2B5EF4-FFF2-40B4-BE49-F238E27FC236}">
                <a16:creationId xmlns:a16="http://schemas.microsoft.com/office/drawing/2014/main" id="{0A7E2F5F-15B3-5150-4D8F-065B09143980}"/>
              </a:ext>
            </a:extLst>
          </p:cNvPr>
          <p:cNvSpPr/>
          <p:nvPr/>
        </p:nvSpPr>
        <p:spPr>
          <a:xfrm>
            <a:off x="1144177" y="3199363"/>
            <a:ext cx="9865945" cy="2147094"/>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9" name="文本框 38">
            <a:extLst>
              <a:ext uri="{FF2B5EF4-FFF2-40B4-BE49-F238E27FC236}">
                <a16:creationId xmlns:a16="http://schemas.microsoft.com/office/drawing/2014/main" id="{C634D5D0-A4A9-557F-6BF9-11BC26357DF6}"/>
              </a:ext>
            </a:extLst>
          </p:cNvPr>
          <p:cNvSpPr txBox="1">
            <a:spLocks noChangeArrowheads="1"/>
          </p:cNvSpPr>
          <p:nvPr/>
        </p:nvSpPr>
        <p:spPr bwMode="auto">
          <a:xfrm>
            <a:off x="1548882" y="3257854"/>
            <a:ext cx="8444204" cy="1984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3"/>
                </a:solidFill>
                <a:latin typeface="+mn-lt"/>
              </a:rPr>
              <a:t>INSERT INTO goods(id, type, name, price, num, </a:t>
            </a:r>
            <a:r>
              <a:rPr lang="en-US" altLang="zh-CN" sz="1600" dirty="0" err="1">
                <a:solidFill>
                  <a:schemeClr val="accent3"/>
                </a:solidFill>
                <a:latin typeface="+mn-lt"/>
              </a:rPr>
              <a:t>add_time</a:t>
            </a:r>
            <a:r>
              <a:rPr lang="en-US" altLang="zh-CN" sz="1600" dirty="0">
                <a:solidFill>
                  <a:schemeClr val="accent3"/>
                </a:solidFill>
                <a:latin typeface="+mn-lt"/>
              </a:rPr>
              <a:t>)</a:t>
            </a:r>
          </a:p>
          <a:p>
            <a:pPr eaLnBrk="1" hangingPunct="1">
              <a:lnSpc>
                <a:spcPts val="2500"/>
              </a:lnSpc>
            </a:pPr>
            <a:r>
              <a:rPr lang="en-US" altLang="zh-CN" sz="1600" dirty="0">
                <a:solidFill>
                  <a:schemeClr val="accent3"/>
                </a:solidFill>
                <a:latin typeface="+mn-lt"/>
              </a:rPr>
              <a:t>VALUES(1,'</a:t>
            </a:r>
            <a:r>
              <a:rPr lang="zh-CN" altLang="en-US" sz="1600" dirty="0">
                <a:solidFill>
                  <a:schemeClr val="accent3"/>
                </a:solidFill>
                <a:latin typeface="+mn-lt"/>
              </a:rPr>
              <a:t>书籍</a:t>
            </a:r>
            <a:r>
              <a:rPr lang="en-US" altLang="zh-CN" sz="1600" dirty="0">
                <a:solidFill>
                  <a:schemeClr val="accent3"/>
                </a:solidFill>
                <a:latin typeface="+mn-lt"/>
              </a:rPr>
              <a:t>','</a:t>
            </a:r>
            <a:r>
              <a:rPr lang="zh-CN" altLang="en-US" sz="1600" dirty="0">
                <a:solidFill>
                  <a:schemeClr val="accent3"/>
                </a:solidFill>
                <a:latin typeface="+mn-lt"/>
              </a:rPr>
              <a:t>西游记</a:t>
            </a:r>
            <a:r>
              <a:rPr lang="en-US" altLang="zh-CN" sz="1600" dirty="0">
                <a:solidFill>
                  <a:schemeClr val="accent3"/>
                </a:solidFill>
                <a:latin typeface="+mn-lt"/>
              </a:rPr>
              <a:t>',50.4,20,'2018-01-01 13:40:40'),</a:t>
            </a:r>
          </a:p>
          <a:p>
            <a:pPr eaLnBrk="1" hangingPunct="1">
              <a:lnSpc>
                <a:spcPts val="2500"/>
              </a:lnSpc>
            </a:pPr>
            <a:r>
              <a:rPr lang="en-US" altLang="zh-CN" sz="1600" dirty="0">
                <a:solidFill>
                  <a:schemeClr val="accent3"/>
                </a:solidFill>
                <a:latin typeface="+mn-lt"/>
              </a:rPr>
              <a:t>              (2,'</a:t>
            </a:r>
            <a:r>
              <a:rPr lang="zh-CN" altLang="en-US" sz="1600" dirty="0">
                <a:solidFill>
                  <a:schemeClr val="accent3"/>
                </a:solidFill>
                <a:latin typeface="+mn-lt"/>
              </a:rPr>
              <a:t>糖类</a:t>
            </a:r>
            <a:r>
              <a:rPr lang="en-US" altLang="zh-CN" sz="1600" dirty="0">
                <a:solidFill>
                  <a:schemeClr val="accent3"/>
                </a:solidFill>
                <a:latin typeface="+mn-lt"/>
              </a:rPr>
              <a:t>','</a:t>
            </a:r>
            <a:r>
              <a:rPr lang="zh-CN" altLang="en-US" sz="1600" dirty="0">
                <a:solidFill>
                  <a:schemeClr val="accent3"/>
                </a:solidFill>
                <a:latin typeface="+mn-lt"/>
              </a:rPr>
              <a:t>牛奶糖</a:t>
            </a:r>
            <a:r>
              <a:rPr lang="en-US" altLang="zh-CN" sz="1600" dirty="0">
                <a:solidFill>
                  <a:schemeClr val="accent3"/>
                </a:solidFill>
                <a:latin typeface="+mn-lt"/>
              </a:rPr>
              <a:t>',7.5,200,'2018-02-02 13:40:40'),</a:t>
            </a:r>
          </a:p>
          <a:p>
            <a:pPr eaLnBrk="1" hangingPunct="1">
              <a:lnSpc>
                <a:spcPts val="2500"/>
              </a:lnSpc>
            </a:pPr>
            <a:r>
              <a:rPr lang="en-US" altLang="zh-CN" sz="1600" dirty="0">
                <a:solidFill>
                  <a:schemeClr val="accent3"/>
                </a:solidFill>
                <a:latin typeface="+mn-lt"/>
              </a:rPr>
              <a:t>              (3,'</a:t>
            </a:r>
            <a:r>
              <a:rPr lang="zh-CN" altLang="en-US" sz="1600" dirty="0">
                <a:solidFill>
                  <a:schemeClr val="accent3"/>
                </a:solidFill>
                <a:latin typeface="+mn-lt"/>
              </a:rPr>
              <a:t>糖类</a:t>
            </a:r>
            <a:r>
              <a:rPr lang="en-US" altLang="zh-CN" sz="1600" dirty="0">
                <a:solidFill>
                  <a:schemeClr val="accent3"/>
                </a:solidFill>
                <a:latin typeface="+mn-lt"/>
              </a:rPr>
              <a:t>','</a:t>
            </a:r>
            <a:r>
              <a:rPr lang="zh-CN" altLang="en-US" sz="1600" dirty="0">
                <a:solidFill>
                  <a:schemeClr val="accent3"/>
                </a:solidFill>
                <a:latin typeface="+mn-lt"/>
              </a:rPr>
              <a:t>水果糖</a:t>
            </a:r>
            <a:r>
              <a:rPr lang="en-US" altLang="zh-CN" sz="1600" dirty="0">
                <a:solidFill>
                  <a:schemeClr val="accent3"/>
                </a:solidFill>
                <a:latin typeface="+mn-lt"/>
              </a:rPr>
              <a:t>',2.5,100,null),</a:t>
            </a:r>
          </a:p>
          <a:p>
            <a:pPr eaLnBrk="1" hangingPunct="1">
              <a:lnSpc>
                <a:spcPts val="2500"/>
              </a:lnSpc>
            </a:pPr>
            <a:r>
              <a:rPr lang="en-US" altLang="zh-CN" sz="1600" dirty="0">
                <a:solidFill>
                  <a:schemeClr val="accent3"/>
                </a:solidFill>
                <a:latin typeface="+mn-lt"/>
              </a:rPr>
              <a:t>              (4,'</a:t>
            </a:r>
            <a:r>
              <a:rPr lang="zh-CN" altLang="en-US" sz="1600" dirty="0">
                <a:solidFill>
                  <a:schemeClr val="accent3"/>
                </a:solidFill>
                <a:latin typeface="+mn-lt"/>
              </a:rPr>
              <a:t>服饰</a:t>
            </a:r>
            <a:r>
              <a:rPr lang="en-US" altLang="zh-CN" sz="1600" dirty="0">
                <a:solidFill>
                  <a:schemeClr val="accent3"/>
                </a:solidFill>
                <a:latin typeface="+mn-lt"/>
              </a:rPr>
              <a:t>','</a:t>
            </a:r>
            <a:r>
              <a:rPr lang="zh-CN" altLang="en-US" sz="1600" dirty="0">
                <a:solidFill>
                  <a:schemeClr val="accent3"/>
                </a:solidFill>
                <a:latin typeface="+mn-lt"/>
              </a:rPr>
              <a:t>休闲西服</a:t>
            </a:r>
            <a:r>
              <a:rPr lang="en-US" altLang="zh-CN" sz="1600" dirty="0">
                <a:solidFill>
                  <a:schemeClr val="accent3"/>
                </a:solidFill>
                <a:latin typeface="+mn-lt"/>
              </a:rPr>
              <a:t>',800,null,'2018-04-04 13:40:40'),</a:t>
            </a:r>
          </a:p>
          <a:p>
            <a:pPr eaLnBrk="1" hangingPunct="1">
              <a:lnSpc>
                <a:spcPts val="2500"/>
              </a:lnSpc>
            </a:pPr>
            <a:r>
              <a:rPr lang="en-US" altLang="zh-CN" sz="1600" dirty="0">
                <a:solidFill>
                  <a:schemeClr val="accent3"/>
                </a:solidFill>
                <a:latin typeface="+mn-lt"/>
              </a:rPr>
              <a:t>              (5,'</a:t>
            </a:r>
            <a:r>
              <a:rPr lang="zh-CN" altLang="en-US" sz="1600" dirty="0">
                <a:solidFill>
                  <a:schemeClr val="accent3"/>
                </a:solidFill>
                <a:latin typeface="+mn-lt"/>
              </a:rPr>
              <a:t>饮品</a:t>
            </a:r>
            <a:r>
              <a:rPr lang="en-US" altLang="zh-CN" sz="1600" dirty="0">
                <a:solidFill>
                  <a:schemeClr val="accent3"/>
                </a:solidFill>
                <a:latin typeface="+mn-lt"/>
              </a:rPr>
              <a:t>','</a:t>
            </a:r>
            <a:r>
              <a:rPr lang="zh-CN" altLang="en-US" sz="1600" dirty="0">
                <a:solidFill>
                  <a:schemeClr val="accent3"/>
                </a:solidFill>
                <a:latin typeface="+mn-lt"/>
              </a:rPr>
              <a:t>果汁</a:t>
            </a:r>
            <a:r>
              <a:rPr lang="en-US" altLang="zh-CN" sz="1600" dirty="0">
                <a:solidFill>
                  <a:schemeClr val="accent3"/>
                </a:solidFill>
                <a:latin typeface="+mn-lt"/>
              </a:rPr>
              <a:t>',3,70,'2018-05-05 13:40:40');</a:t>
            </a:r>
          </a:p>
        </p:txBody>
      </p:sp>
    </p:spTree>
    <p:extLst>
      <p:ext uri="{BB962C8B-B14F-4D97-AF65-F5344CB8AC3E}">
        <p14:creationId xmlns:p14="http://schemas.microsoft.com/office/powerpoint/2010/main" val="16904399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使用</a:t>
            </a:r>
            <a:r>
              <a:rPr lang="en-US" altLang="zh-CN" b="1" dirty="0">
                <a:solidFill>
                  <a:srgbClr val="44546A"/>
                </a:solidFill>
                <a:latin typeface="微软雅黑" panose="020B0503020204020204" pitchFamily="34" charset="-122"/>
                <a:ea typeface="微软雅黑" panose="020B0503020204020204" pitchFamily="34" charset="-122"/>
              </a:rPr>
              <a:t>Navicat</a:t>
            </a:r>
            <a:r>
              <a:rPr lang="zh-CN" altLang="en-US" b="1" dirty="0">
                <a:solidFill>
                  <a:srgbClr val="44546A"/>
                </a:solidFill>
                <a:latin typeface="微软雅黑" panose="020B0503020204020204" pitchFamily="34" charset="-122"/>
                <a:ea typeface="微软雅黑" panose="020B0503020204020204" pitchFamily="34" charset="-122"/>
              </a:rPr>
              <a:t>创建数据表</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41">
            <a:extLst>
              <a:ext uri="{FF2B5EF4-FFF2-40B4-BE49-F238E27FC236}">
                <a16:creationId xmlns:a16="http://schemas.microsoft.com/office/drawing/2014/main" id="{16448142-1DB0-B8ED-D25D-A3DDF4008EF0}"/>
              </a:ext>
            </a:extLst>
          </p:cNvPr>
          <p:cNvSpPr txBox="1">
            <a:spLocks noChangeArrowheads="1"/>
          </p:cNvSpPr>
          <p:nvPr/>
        </p:nvSpPr>
        <p:spPr bwMode="auto">
          <a:xfrm>
            <a:off x="1229739" y="1584044"/>
            <a:ext cx="9599222" cy="416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ts val="2800"/>
              </a:lnSpc>
            </a:pPr>
            <a:r>
              <a:rPr lang="zh-CN" altLang="en-US" dirty="0">
                <a:solidFill>
                  <a:srgbClr val="44546A"/>
                </a:solidFill>
                <a:latin typeface="微软雅黑" panose="020B0503020204020204" pitchFamily="34" charset="-122"/>
              </a:rPr>
              <a:t>新建查询或在原来的查询，粘贴插入数据的语句，运行。</a:t>
            </a:r>
          </a:p>
        </p:txBody>
      </p:sp>
      <p:sp>
        <p:nvSpPr>
          <p:cNvPr id="12" name="矩形 11">
            <a:extLst>
              <a:ext uri="{FF2B5EF4-FFF2-40B4-BE49-F238E27FC236}">
                <a16:creationId xmlns:a16="http://schemas.microsoft.com/office/drawing/2014/main" id="{9F87835E-4413-5220-73E0-2096F64F59D5}"/>
              </a:ext>
            </a:extLst>
          </p:cNvPr>
          <p:cNvSpPr/>
          <p:nvPr/>
        </p:nvSpPr>
        <p:spPr>
          <a:xfrm>
            <a:off x="4379495" y="3380873"/>
            <a:ext cx="1010652" cy="481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6231C0FE-15FD-2308-A9CA-6D1E140E35E0}"/>
              </a:ext>
            </a:extLst>
          </p:cNvPr>
          <p:cNvPicPr>
            <a:picLocks noChangeAspect="1"/>
          </p:cNvPicPr>
          <p:nvPr/>
        </p:nvPicPr>
        <p:blipFill>
          <a:blip r:embed="rId3"/>
          <a:stretch>
            <a:fillRect/>
          </a:stretch>
        </p:blipFill>
        <p:spPr>
          <a:xfrm>
            <a:off x="2671821" y="2791201"/>
            <a:ext cx="7211708" cy="1609224"/>
          </a:xfrm>
          <a:prstGeom prst="rect">
            <a:avLst/>
          </a:prstGeom>
        </p:spPr>
      </p:pic>
    </p:spTree>
    <p:extLst>
      <p:ext uri="{BB962C8B-B14F-4D97-AF65-F5344CB8AC3E}">
        <p14:creationId xmlns:p14="http://schemas.microsoft.com/office/powerpoint/2010/main" val="300801289"/>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查询所有字段</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10">
            <a:extLst>
              <a:ext uri="{FF2B5EF4-FFF2-40B4-BE49-F238E27FC236}">
                <a16:creationId xmlns:a16="http://schemas.microsoft.com/office/drawing/2014/main" id="{751A14CE-C71D-1DB2-1E7D-C9BAA2F43130}"/>
              </a:ext>
            </a:extLst>
          </p:cNvPr>
          <p:cNvSpPr txBox="1">
            <a:spLocks noChangeArrowheads="1"/>
          </p:cNvSpPr>
          <p:nvPr/>
        </p:nvSpPr>
        <p:spPr bwMode="auto">
          <a:xfrm>
            <a:off x="937796" y="1254712"/>
            <a:ext cx="104268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ts val="2500"/>
              </a:lnSpc>
            </a:pPr>
            <a:r>
              <a:rPr lang="zh-CN" altLang="en-US" noProof="1">
                <a:solidFill>
                  <a:srgbClr val="44546A"/>
                </a:solidFill>
                <a:latin typeface="微软雅黑" panose="020B0503020204020204" pitchFamily="34" charset="-122"/>
              </a:rPr>
              <a:t>查询所有字段数据，是指从一张表中检索出所有记录，查询方式有两种，一种是</a:t>
            </a:r>
            <a:r>
              <a:rPr lang="zh-CN" altLang="en-US" b="1" noProof="1">
                <a:solidFill>
                  <a:srgbClr val="44546A"/>
                </a:solidFill>
                <a:latin typeface="微软雅黑" panose="020B0503020204020204" pitchFamily="34" charset="-122"/>
              </a:rPr>
              <a:t>使用通配符“*”</a:t>
            </a:r>
            <a:r>
              <a:rPr lang="zh-CN" altLang="en-US" noProof="1">
                <a:solidFill>
                  <a:srgbClr val="44546A"/>
                </a:solidFill>
                <a:latin typeface="微软雅黑" panose="020B0503020204020204" pitchFamily="34" charset="-122"/>
              </a:rPr>
              <a:t>，另一种是</a:t>
            </a:r>
            <a:r>
              <a:rPr lang="zh-CN" altLang="en-US" b="1" noProof="1">
                <a:solidFill>
                  <a:srgbClr val="44546A"/>
                </a:solidFill>
                <a:latin typeface="微软雅黑" panose="020B0503020204020204" pitchFamily="34" charset="-122"/>
              </a:rPr>
              <a:t>列出所有字段名</a:t>
            </a:r>
            <a:r>
              <a:rPr lang="zh-CN" altLang="en-US" noProof="1">
                <a:solidFill>
                  <a:srgbClr val="44546A"/>
                </a:solidFill>
                <a:latin typeface="微软雅黑" panose="020B0503020204020204" pitchFamily="34" charset="-122"/>
              </a:rPr>
              <a:t>，语法形式如下：</a:t>
            </a:r>
            <a:endParaRPr lang="zh-CN" altLang="en-US" dirty="0">
              <a:solidFill>
                <a:srgbClr val="44546A"/>
              </a:solidFill>
              <a:latin typeface="微软雅黑" panose="020B0503020204020204" pitchFamily="34" charset="-122"/>
            </a:endParaRPr>
          </a:p>
        </p:txBody>
      </p:sp>
      <p:sp>
        <p:nvSpPr>
          <p:cNvPr id="4" name="矩形 3">
            <a:extLst>
              <a:ext uri="{FF2B5EF4-FFF2-40B4-BE49-F238E27FC236}">
                <a16:creationId xmlns:a16="http://schemas.microsoft.com/office/drawing/2014/main" id="{52F99A96-9505-3DC8-19A2-852D4A21DCDE}"/>
              </a:ext>
            </a:extLst>
          </p:cNvPr>
          <p:cNvSpPr/>
          <p:nvPr/>
        </p:nvSpPr>
        <p:spPr>
          <a:xfrm>
            <a:off x="1146518" y="2089870"/>
            <a:ext cx="10052154" cy="578651"/>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5" name="文本框 38">
            <a:extLst>
              <a:ext uri="{FF2B5EF4-FFF2-40B4-BE49-F238E27FC236}">
                <a16:creationId xmlns:a16="http://schemas.microsoft.com/office/drawing/2014/main" id="{47224B81-0166-6968-61F1-E38FF67D34B3}"/>
              </a:ext>
            </a:extLst>
          </p:cNvPr>
          <p:cNvSpPr txBox="1">
            <a:spLocks noChangeArrowheads="1"/>
          </p:cNvSpPr>
          <p:nvPr/>
        </p:nvSpPr>
        <p:spPr bwMode="auto">
          <a:xfrm>
            <a:off x="2174414" y="2167113"/>
            <a:ext cx="6968444" cy="38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dirty="0">
                <a:solidFill>
                  <a:schemeClr val="accent3"/>
                </a:solidFill>
              </a:rPr>
              <a:t>SELECT {*|col_list} FROM table_name;</a:t>
            </a:r>
          </a:p>
        </p:txBody>
      </p:sp>
      <p:grpSp>
        <p:nvGrpSpPr>
          <p:cNvPr id="6" name="组合 34">
            <a:extLst>
              <a:ext uri="{FF2B5EF4-FFF2-40B4-BE49-F238E27FC236}">
                <a16:creationId xmlns:a16="http://schemas.microsoft.com/office/drawing/2014/main" id="{F05E400F-8244-2BA6-2416-A67F853BAEDB}"/>
              </a:ext>
            </a:extLst>
          </p:cNvPr>
          <p:cNvGrpSpPr/>
          <p:nvPr/>
        </p:nvGrpSpPr>
        <p:grpSpPr>
          <a:xfrm>
            <a:off x="838200" y="2852942"/>
            <a:ext cx="2183765" cy="600710"/>
            <a:chOff x="1320" y="4641"/>
            <a:chExt cx="3439" cy="946"/>
          </a:xfrm>
          <a:solidFill>
            <a:srgbClr val="0070C0"/>
          </a:solidFill>
        </p:grpSpPr>
        <p:sp>
          <p:nvSpPr>
            <p:cNvPr id="7" name="椭圆 6">
              <a:extLst>
                <a:ext uri="{FF2B5EF4-FFF2-40B4-BE49-F238E27FC236}">
                  <a16:creationId xmlns:a16="http://schemas.microsoft.com/office/drawing/2014/main" id="{B120B736-7DD3-4E58-A824-46F07595D1CD}"/>
                </a:ext>
              </a:extLst>
            </p:cNvPr>
            <p:cNvSpPr/>
            <p:nvPr/>
          </p:nvSpPr>
          <p:spPr>
            <a:xfrm>
              <a:off x="1320" y="4641"/>
              <a:ext cx="946" cy="946"/>
            </a:xfrm>
            <a:prstGeom prst="ellipse">
              <a:avLst/>
            </a:prstGeom>
            <a:grp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8" name="圆角矩形 14">
              <a:extLst>
                <a:ext uri="{FF2B5EF4-FFF2-40B4-BE49-F238E27FC236}">
                  <a16:creationId xmlns:a16="http://schemas.microsoft.com/office/drawing/2014/main" id="{1F3C1E51-9C66-545F-FC45-81BFD3F21538}"/>
                </a:ext>
              </a:extLst>
            </p:cNvPr>
            <p:cNvSpPr/>
            <p:nvPr/>
          </p:nvSpPr>
          <p:spPr>
            <a:xfrm>
              <a:off x="1673" y="4793"/>
              <a:ext cx="3086" cy="643"/>
            </a:xfrm>
            <a:prstGeom prst="roundRect">
              <a:avLst/>
            </a:prstGeom>
            <a:grp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1</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9" name="文本框 36">
            <a:extLst>
              <a:ext uri="{FF2B5EF4-FFF2-40B4-BE49-F238E27FC236}">
                <a16:creationId xmlns:a16="http://schemas.microsoft.com/office/drawing/2014/main" id="{63332F68-DEBE-3497-DA6F-554239F29AC3}"/>
              </a:ext>
            </a:extLst>
          </p:cNvPr>
          <p:cNvSpPr txBox="1">
            <a:spLocks noChangeArrowheads="1"/>
          </p:cNvSpPr>
          <p:nvPr/>
        </p:nvSpPr>
        <p:spPr bwMode="auto">
          <a:xfrm>
            <a:off x="3278188" y="2969782"/>
            <a:ext cx="7778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dirty="0">
                <a:solidFill>
                  <a:srgbClr val="44546A"/>
                </a:solidFill>
                <a:latin typeface="微软雅黑" panose="020B0503020204020204" pitchFamily="34" charset="-122"/>
              </a:rPr>
              <a:t>使用通配符“*”查询</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表中所有数据，</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语句及其执行结果如下。</a:t>
            </a:r>
          </a:p>
        </p:txBody>
      </p:sp>
      <p:sp>
        <p:nvSpPr>
          <p:cNvPr id="10" name="矩形 9">
            <a:extLst>
              <a:ext uri="{FF2B5EF4-FFF2-40B4-BE49-F238E27FC236}">
                <a16:creationId xmlns:a16="http://schemas.microsoft.com/office/drawing/2014/main" id="{17B91CF4-7BB0-C471-446D-1ACDB7443D69}"/>
              </a:ext>
            </a:extLst>
          </p:cNvPr>
          <p:cNvSpPr/>
          <p:nvPr/>
        </p:nvSpPr>
        <p:spPr>
          <a:xfrm>
            <a:off x="1062355" y="3660650"/>
            <a:ext cx="9882453" cy="2893099"/>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1" name="文本框 38">
            <a:extLst>
              <a:ext uri="{FF2B5EF4-FFF2-40B4-BE49-F238E27FC236}">
                <a16:creationId xmlns:a16="http://schemas.microsoft.com/office/drawing/2014/main" id="{1E24AFE0-9621-629E-F0D0-AA197E3DB81F}"/>
              </a:ext>
            </a:extLst>
          </p:cNvPr>
          <p:cNvSpPr txBox="1">
            <a:spLocks noChangeArrowheads="1"/>
          </p:cNvSpPr>
          <p:nvPr/>
        </p:nvSpPr>
        <p:spPr bwMode="auto">
          <a:xfrm>
            <a:off x="2090250" y="3663246"/>
            <a:ext cx="8574639"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rgbClr val="1D7FC6"/>
                </a:solidFill>
                <a:latin typeface="+mn-lt"/>
              </a:rPr>
              <a:t>mysql&gt; SELECT * FROM goods;</a:t>
            </a:r>
          </a:p>
          <a:p>
            <a:pPr eaLnBrk="1" hangingPunct="1"/>
            <a:r>
              <a:rPr lang="en-US" altLang="zh-CN" sz="1600" dirty="0">
                <a:solidFill>
                  <a:srgbClr val="1D7FC6"/>
                </a:solidFill>
                <a:latin typeface="+mn-lt"/>
              </a:rPr>
              <a:t>+----+--------+--------------+--------------+--------------+-----------------------------+</a:t>
            </a:r>
          </a:p>
          <a:p>
            <a:pPr eaLnBrk="1" hangingPunct="1"/>
            <a:r>
              <a:rPr lang="en-US" altLang="zh-CN" sz="1600" dirty="0">
                <a:solidFill>
                  <a:srgbClr val="1D7FC6"/>
                </a:solidFill>
                <a:latin typeface="+mn-lt"/>
              </a:rPr>
              <a:t>| id  | type	| name	| price	| num	| add_time		|</a:t>
            </a:r>
          </a:p>
          <a:p>
            <a:pPr eaLnBrk="1" hangingPunct="1"/>
            <a:r>
              <a:rPr lang="en-US" altLang="zh-CN" sz="1600" dirty="0">
                <a:solidFill>
                  <a:srgbClr val="1D7FC6"/>
                </a:solidFill>
                <a:latin typeface="+mn-lt"/>
              </a:rPr>
              <a:t>+----+--------+--------------+--------------+--------------+-----------------------------+</a:t>
            </a:r>
          </a:p>
          <a:p>
            <a:pPr eaLnBrk="1" hangingPunct="1"/>
            <a:r>
              <a:rPr lang="en-US" altLang="zh-CN" sz="1600" dirty="0">
                <a:solidFill>
                  <a:srgbClr val="1D7FC6"/>
                </a:solidFill>
                <a:latin typeface="+mn-lt"/>
              </a:rPr>
              <a:t>|  1  | </a:t>
            </a:r>
            <a:r>
              <a:rPr lang="zh-CN" altLang="en-US" sz="1600" dirty="0">
                <a:solidFill>
                  <a:srgbClr val="1D7FC6"/>
                </a:solidFill>
                <a:latin typeface="+mn-lt"/>
              </a:rPr>
              <a:t>书籍	</a:t>
            </a:r>
            <a:r>
              <a:rPr lang="en-US" altLang="zh-CN" sz="1600" dirty="0">
                <a:solidFill>
                  <a:srgbClr val="1D7FC6"/>
                </a:solidFill>
                <a:latin typeface="+mn-lt"/>
              </a:rPr>
              <a:t>| </a:t>
            </a:r>
            <a:r>
              <a:rPr lang="zh-CN" altLang="en-US" sz="1600" dirty="0">
                <a:solidFill>
                  <a:srgbClr val="1D7FC6"/>
                </a:solidFill>
                <a:latin typeface="+mn-lt"/>
              </a:rPr>
              <a:t>西游记	</a:t>
            </a:r>
            <a:r>
              <a:rPr lang="en-US" altLang="zh-CN" sz="1600" dirty="0">
                <a:solidFill>
                  <a:srgbClr val="1D7FC6"/>
                </a:solidFill>
                <a:latin typeface="+mn-lt"/>
              </a:rPr>
              <a:t>|  50.40	|   20	| 2018-01-01 13:40:40	|</a:t>
            </a:r>
          </a:p>
          <a:p>
            <a:pPr eaLnBrk="1" hangingPunct="1"/>
            <a:r>
              <a:rPr lang="en-US" altLang="zh-CN" sz="1600" dirty="0">
                <a:solidFill>
                  <a:srgbClr val="1D7FC6"/>
                </a:solidFill>
                <a:latin typeface="+mn-lt"/>
              </a:rPr>
              <a:t>|  2  | </a:t>
            </a:r>
            <a:r>
              <a:rPr lang="zh-CN" altLang="en-US" sz="1600" dirty="0">
                <a:solidFill>
                  <a:srgbClr val="1D7FC6"/>
                </a:solidFill>
                <a:latin typeface="+mn-lt"/>
              </a:rPr>
              <a:t>糖类	</a:t>
            </a:r>
            <a:r>
              <a:rPr lang="en-US" altLang="zh-CN" sz="1600" dirty="0">
                <a:solidFill>
                  <a:srgbClr val="1D7FC6"/>
                </a:solidFill>
                <a:latin typeface="+mn-lt"/>
              </a:rPr>
              <a:t>| </a:t>
            </a:r>
            <a:r>
              <a:rPr lang="zh-CN" altLang="en-US" sz="1600" dirty="0">
                <a:solidFill>
                  <a:srgbClr val="1D7FC6"/>
                </a:solidFill>
                <a:latin typeface="+mn-lt"/>
              </a:rPr>
              <a:t>牛奶糖	</a:t>
            </a:r>
            <a:r>
              <a:rPr lang="en-US" altLang="zh-CN" sz="1600" dirty="0">
                <a:solidFill>
                  <a:srgbClr val="1D7FC6"/>
                </a:solidFill>
                <a:latin typeface="+mn-lt"/>
              </a:rPr>
              <a:t>|   7.50	|  200	| 2018-02-02 13:40:40	|</a:t>
            </a:r>
          </a:p>
          <a:p>
            <a:pPr eaLnBrk="1" hangingPunct="1"/>
            <a:r>
              <a:rPr lang="en-US" altLang="zh-CN" sz="1600" dirty="0">
                <a:solidFill>
                  <a:srgbClr val="1D7FC6"/>
                </a:solidFill>
                <a:latin typeface="+mn-lt"/>
              </a:rPr>
              <a:t>|  3  | </a:t>
            </a:r>
            <a:r>
              <a:rPr lang="zh-CN" altLang="en-US" sz="1600" dirty="0">
                <a:solidFill>
                  <a:srgbClr val="1D7FC6"/>
                </a:solidFill>
                <a:latin typeface="+mn-lt"/>
              </a:rPr>
              <a:t>糖类	</a:t>
            </a:r>
            <a:r>
              <a:rPr lang="en-US" altLang="zh-CN" sz="1600" dirty="0">
                <a:solidFill>
                  <a:srgbClr val="1D7FC6"/>
                </a:solidFill>
                <a:latin typeface="+mn-lt"/>
              </a:rPr>
              <a:t>| </a:t>
            </a:r>
            <a:r>
              <a:rPr lang="zh-CN" altLang="en-US" sz="1600" dirty="0">
                <a:solidFill>
                  <a:srgbClr val="1D7FC6"/>
                </a:solidFill>
                <a:latin typeface="+mn-lt"/>
              </a:rPr>
              <a:t>水果糖	</a:t>
            </a:r>
            <a:r>
              <a:rPr lang="en-US" altLang="zh-CN" sz="1600" dirty="0">
                <a:solidFill>
                  <a:srgbClr val="1D7FC6"/>
                </a:solidFill>
                <a:latin typeface="+mn-lt"/>
              </a:rPr>
              <a:t>|   2.50	|  100	| NULL		|</a:t>
            </a:r>
          </a:p>
          <a:p>
            <a:pPr eaLnBrk="1" hangingPunct="1"/>
            <a:r>
              <a:rPr lang="en-US" altLang="zh-CN" sz="1600" dirty="0">
                <a:solidFill>
                  <a:srgbClr val="1D7FC6"/>
                </a:solidFill>
                <a:latin typeface="+mn-lt"/>
              </a:rPr>
              <a:t>|  4  | </a:t>
            </a:r>
            <a:r>
              <a:rPr lang="zh-CN" altLang="en-US" sz="1600" dirty="0">
                <a:solidFill>
                  <a:srgbClr val="1D7FC6"/>
                </a:solidFill>
                <a:latin typeface="+mn-lt"/>
              </a:rPr>
              <a:t>服饰	</a:t>
            </a:r>
            <a:r>
              <a:rPr lang="en-US" altLang="zh-CN" sz="1600" dirty="0">
                <a:solidFill>
                  <a:srgbClr val="1D7FC6"/>
                </a:solidFill>
                <a:latin typeface="+mn-lt"/>
              </a:rPr>
              <a:t>| </a:t>
            </a:r>
            <a:r>
              <a:rPr lang="zh-CN" altLang="en-US" sz="1600" dirty="0">
                <a:solidFill>
                  <a:srgbClr val="1D7FC6"/>
                </a:solidFill>
                <a:latin typeface="+mn-lt"/>
              </a:rPr>
              <a:t>休闲西服	</a:t>
            </a:r>
            <a:r>
              <a:rPr lang="en-US" altLang="zh-CN" sz="1600" dirty="0">
                <a:solidFill>
                  <a:srgbClr val="1D7FC6"/>
                </a:solidFill>
                <a:latin typeface="+mn-lt"/>
              </a:rPr>
              <a:t>| 800.00	| NULL	| 2018-04-04 13:40:40	|</a:t>
            </a:r>
          </a:p>
          <a:p>
            <a:pPr eaLnBrk="1" hangingPunct="1"/>
            <a:r>
              <a:rPr lang="en-US" altLang="zh-CN" sz="1600" dirty="0">
                <a:solidFill>
                  <a:srgbClr val="1D7FC6"/>
                </a:solidFill>
                <a:latin typeface="+mn-lt"/>
              </a:rPr>
              <a:t>|  5  | </a:t>
            </a:r>
            <a:r>
              <a:rPr lang="zh-CN" altLang="en-US" sz="1600" dirty="0">
                <a:solidFill>
                  <a:srgbClr val="1D7FC6"/>
                </a:solidFill>
                <a:latin typeface="+mn-lt"/>
              </a:rPr>
              <a:t>饮品  	</a:t>
            </a:r>
            <a:r>
              <a:rPr lang="en-US" altLang="zh-CN" sz="1600" dirty="0">
                <a:solidFill>
                  <a:srgbClr val="1D7FC6"/>
                </a:solidFill>
                <a:latin typeface="+mn-lt"/>
              </a:rPr>
              <a:t>| </a:t>
            </a:r>
            <a:r>
              <a:rPr lang="zh-CN" altLang="en-US" sz="1600" dirty="0">
                <a:solidFill>
                  <a:srgbClr val="1D7FC6"/>
                </a:solidFill>
                <a:latin typeface="+mn-lt"/>
              </a:rPr>
              <a:t>果汁	</a:t>
            </a:r>
            <a:r>
              <a:rPr lang="en-US" altLang="zh-CN" sz="1600" dirty="0">
                <a:solidFill>
                  <a:srgbClr val="1D7FC6"/>
                </a:solidFill>
                <a:latin typeface="+mn-lt"/>
              </a:rPr>
              <a:t>|   3.00	|   70	| 2018-05-05 13:40:40	|</a:t>
            </a:r>
          </a:p>
          <a:p>
            <a:pPr eaLnBrk="1" hangingPunct="1"/>
            <a:r>
              <a:rPr lang="en-US" altLang="zh-CN" sz="1600" dirty="0">
                <a:solidFill>
                  <a:srgbClr val="1D7FC6"/>
                </a:solidFill>
                <a:latin typeface="+mn-lt"/>
              </a:rPr>
              <a:t>+----+--------+--------------+--------------+--------------+-----------------------------+</a:t>
            </a:r>
          </a:p>
          <a:p>
            <a:pPr eaLnBrk="1" hangingPunct="1"/>
            <a:r>
              <a:rPr lang="en-US" altLang="zh-CN" sz="1600" dirty="0">
                <a:solidFill>
                  <a:srgbClr val="1D7FC6"/>
                </a:solidFill>
                <a:latin typeface="+mn-lt"/>
              </a:rPr>
              <a:t>5 rows in set (0.00 sec)</a:t>
            </a:r>
          </a:p>
        </p:txBody>
      </p:sp>
    </p:spTree>
    <p:extLst>
      <p:ext uri="{BB962C8B-B14F-4D97-AF65-F5344CB8AC3E}">
        <p14:creationId xmlns:p14="http://schemas.microsoft.com/office/powerpoint/2010/main" val="14636995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9" grpId="0"/>
      <p:bldP spid="10" grpId="0" animBg="1"/>
      <p:bldP spid="1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查询所有字段</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10">
            <a:extLst>
              <a:ext uri="{FF2B5EF4-FFF2-40B4-BE49-F238E27FC236}">
                <a16:creationId xmlns:a16="http://schemas.microsoft.com/office/drawing/2014/main" id="{CDE0BBA1-E92C-DDB6-CF3D-813CC5F9FB9E}"/>
              </a:ext>
            </a:extLst>
          </p:cNvPr>
          <p:cNvSpPr txBox="1">
            <a:spLocks noChangeArrowheads="1"/>
          </p:cNvSpPr>
          <p:nvPr/>
        </p:nvSpPr>
        <p:spPr bwMode="auto">
          <a:xfrm>
            <a:off x="937796" y="1385346"/>
            <a:ext cx="10426887" cy="873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noProof="1">
                <a:solidFill>
                  <a:srgbClr val="44546A"/>
                </a:solidFill>
                <a:latin typeface="微软雅黑" panose="020B0503020204020204" pitchFamily="34" charset="-122"/>
              </a:rPr>
              <a:t>通过在</a:t>
            </a:r>
            <a:r>
              <a:rPr lang="en-US" altLang="zh-CN" b="1" noProof="1">
                <a:solidFill>
                  <a:srgbClr val="44546A"/>
                </a:solidFill>
                <a:latin typeface="微软雅黑" panose="020B0503020204020204" pitchFamily="34" charset="-122"/>
              </a:rPr>
              <a:t>SELECT</a:t>
            </a:r>
            <a:r>
              <a:rPr lang="zh-CN" altLang="en-US" b="1" noProof="1">
                <a:solidFill>
                  <a:srgbClr val="44546A"/>
                </a:solidFill>
                <a:latin typeface="微软雅黑" panose="020B0503020204020204" pitchFamily="34" charset="-122"/>
              </a:rPr>
              <a:t>关键字后面列出所有字段名</a:t>
            </a:r>
            <a:r>
              <a:rPr lang="zh-CN" altLang="en-US" noProof="1">
                <a:solidFill>
                  <a:srgbClr val="44546A"/>
                </a:solidFill>
                <a:latin typeface="微软雅黑" panose="020B0503020204020204" pitchFamily="34" charset="-122"/>
              </a:rPr>
              <a:t>，也可以查询所有列数据，</a:t>
            </a:r>
            <a:r>
              <a:rPr lang="en-US" altLang="zh-CN" noProof="1">
                <a:solidFill>
                  <a:srgbClr val="44546A"/>
                </a:solidFill>
                <a:latin typeface="微软雅黑" panose="020B0503020204020204" pitchFamily="34" charset="-122"/>
              </a:rPr>
              <a:t>SQL</a:t>
            </a:r>
            <a:r>
              <a:rPr lang="zh-CN" altLang="en-US" noProof="1">
                <a:solidFill>
                  <a:srgbClr val="44546A"/>
                </a:solidFill>
                <a:latin typeface="微软雅黑" panose="020B0503020204020204" pitchFamily="34" charset="-122"/>
              </a:rPr>
              <a:t>语句如下，其查询结果与实例</a:t>
            </a:r>
            <a:r>
              <a:rPr lang="en-US" altLang="zh-CN" noProof="1">
                <a:solidFill>
                  <a:srgbClr val="44546A"/>
                </a:solidFill>
                <a:latin typeface="微软雅黑" panose="020B0503020204020204" pitchFamily="34" charset="-122"/>
              </a:rPr>
              <a:t>1</a:t>
            </a:r>
            <a:r>
              <a:rPr lang="zh-CN" altLang="en-US" noProof="1">
                <a:solidFill>
                  <a:srgbClr val="44546A"/>
                </a:solidFill>
                <a:latin typeface="微软雅黑" panose="020B0503020204020204" pitchFamily="34" charset="-122"/>
              </a:rPr>
              <a:t>的结果相同。</a:t>
            </a:r>
            <a:endParaRPr lang="zh-CN" altLang="en-US" dirty="0">
              <a:solidFill>
                <a:srgbClr val="44546A"/>
              </a:solidFill>
              <a:latin typeface="微软雅黑" panose="020B0503020204020204" pitchFamily="34" charset="-122"/>
            </a:endParaRPr>
          </a:p>
        </p:txBody>
      </p:sp>
      <p:sp>
        <p:nvSpPr>
          <p:cNvPr id="4" name="矩形 3">
            <a:extLst>
              <a:ext uri="{FF2B5EF4-FFF2-40B4-BE49-F238E27FC236}">
                <a16:creationId xmlns:a16="http://schemas.microsoft.com/office/drawing/2014/main" id="{0A4EFC2A-6E28-E43F-3AE5-75C05A5BCA56}"/>
              </a:ext>
            </a:extLst>
          </p:cNvPr>
          <p:cNvSpPr/>
          <p:nvPr/>
        </p:nvSpPr>
        <p:spPr>
          <a:xfrm>
            <a:off x="1146518" y="2416455"/>
            <a:ext cx="10052154" cy="578651"/>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5" name="文本框 38">
            <a:extLst>
              <a:ext uri="{FF2B5EF4-FFF2-40B4-BE49-F238E27FC236}">
                <a16:creationId xmlns:a16="http://schemas.microsoft.com/office/drawing/2014/main" id="{186DA1AD-6AB4-F41C-BD01-0A79DDB21622}"/>
              </a:ext>
            </a:extLst>
          </p:cNvPr>
          <p:cNvSpPr txBox="1">
            <a:spLocks noChangeArrowheads="1"/>
          </p:cNvSpPr>
          <p:nvPr/>
        </p:nvSpPr>
        <p:spPr bwMode="auto">
          <a:xfrm>
            <a:off x="2174414" y="2493698"/>
            <a:ext cx="6968444" cy="3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rgbClr val="1D7FC6"/>
                </a:solidFill>
              </a:rPr>
              <a:t>SELECT id, type, name, price, num, add_time FROM goods;</a:t>
            </a:r>
          </a:p>
        </p:txBody>
      </p:sp>
      <p:grpSp>
        <p:nvGrpSpPr>
          <p:cNvPr id="6" name="组合 5">
            <a:extLst>
              <a:ext uri="{FF2B5EF4-FFF2-40B4-BE49-F238E27FC236}">
                <a16:creationId xmlns:a16="http://schemas.microsoft.com/office/drawing/2014/main" id="{1567CD46-9CC7-5D35-F6C5-B0C2AB83F396}"/>
              </a:ext>
            </a:extLst>
          </p:cNvPr>
          <p:cNvGrpSpPr/>
          <p:nvPr/>
        </p:nvGrpSpPr>
        <p:grpSpPr>
          <a:xfrm>
            <a:off x="1146518" y="4160245"/>
            <a:ext cx="8478745" cy="873957"/>
            <a:chOff x="812800" y="4424635"/>
            <a:chExt cx="10580688" cy="1800000"/>
          </a:xfrm>
        </p:grpSpPr>
        <p:sp>
          <p:nvSpPr>
            <p:cNvPr id="7" name="圆角矩形 17">
              <a:extLst>
                <a:ext uri="{FF2B5EF4-FFF2-40B4-BE49-F238E27FC236}">
                  <a16:creationId xmlns:a16="http://schemas.microsoft.com/office/drawing/2014/main" id="{AAA1AC8D-15AB-5CFA-3F15-A27A6B993C16}"/>
                </a:ext>
              </a:extLst>
            </p:cNvPr>
            <p:cNvSpPr/>
            <p:nvPr/>
          </p:nvSpPr>
          <p:spPr>
            <a:xfrm>
              <a:off x="1506538" y="4433966"/>
              <a:ext cx="9886950" cy="1787525"/>
            </a:xfrm>
            <a:prstGeom prst="roundRect">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a:solidFill>
                    <a:srgbClr val="FFFFFF"/>
                  </a:solidFill>
                  <a:sym typeface="Arial" panose="020B0604020202090204" pitchFamily="34" charset="0"/>
                </a:rPr>
                <a:t> </a:t>
              </a:r>
            </a:p>
          </p:txBody>
        </p:sp>
        <p:grpSp>
          <p:nvGrpSpPr>
            <p:cNvPr id="8" name="组合 6">
              <a:extLst>
                <a:ext uri="{FF2B5EF4-FFF2-40B4-BE49-F238E27FC236}">
                  <a16:creationId xmlns:a16="http://schemas.microsoft.com/office/drawing/2014/main" id="{83B17B1B-0C84-A7AF-F9B7-E3C46F56C981}"/>
                </a:ext>
              </a:extLst>
            </p:cNvPr>
            <p:cNvGrpSpPr/>
            <p:nvPr/>
          </p:nvGrpSpPr>
          <p:grpSpPr bwMode="auto">
            <a:xfrm>
              <a:off x="812800" y="4424635"/>
              <a:ext cx="1927225" cy="1800000"/>
              <a:chOff x="1350" y="2421"/>
              <a:chExt cx="3035" cy="3606"/>
            </a:xfrm>
          </p:grpSpPr>
          <p:sp>
            <p:nvSpPr>
              <p:cNvPr id="9" name="Flowchart: Off-page Connector 32">
                <a:extLst>
                  <a:ext uri="{FF2B5EF4-FFF2-40B4-BE49-F238E27FC236}">
                    <a16:creationId xmlns:a16="http://schemas.microsoft.com/office/drawing/2014/main" id="{8E2955B2-02B5-96EF-8E10-77A3DD51058B}"/>
                  </a:ext>
                </a:extLst>
              </p:cNvPr>
              <p:cNvSpPr/>
              <p:nvPr/>
            </p:nvSpPr>
            <p:spPr>
              <a:xfrm rot="16200000">
                <a:off x="1516" y="3158"/>
                <a:ext cx="3606" cy="2132"/>
              </a:xfrm>
              <a:custGeom>
                <a:avLst/>
                <a:gdLst>
                  <a:gd name="connsiteX0" fmla="*/ 10 w 1538"/>
                  <a:gd name="connsiteY0" fmla="*/ 0 h 2133"/>
                  <a:gd name="connsiteX1" fmla="*/ 1538 w 1538"/>
                  <a:gd name="connsiteY1" fmla="*/ 16 h 2133"/>
                  <a:gd name="connsiteX2" fmla="*/ 1530 w 1538"/>
                  <a:gd name="connsiteY2" fmla="*/ 1485 h 2133"/>
                  <a:gd name="connsiteX3" fmla="*/ 765 w 1538"/>
                  <a:gd name="connsiteY3" fmla="*/ 2133 h 2133"/>
                  <a:gd name="connsiteX4" fmla="*/ 0 w 1538"/>
                  <a:gd name="connsiteY4" fmla="*/ 1485 h 2133"/>
                  <a:gd name="connsiteX5" fmla="*/ 10 w 1538"/>
                  <a:gd name="connsiteY5" fmla="*/ 0 h 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8" h="2133">
                    <a:moveTo>
                      <a:pt x="10" y="0"/>
                    </a:moveTo>
                    <a:lnTo>
                      <a:pt x="1538" y="16"/>
                    </a:lnTo>
                    <a:lnTo>
                      <a:pt x="1530" y="1485"/>
                    </a:lnTo>
                    <a:lnTo>
                      <a:pt x="765" y="2133"/>
                    </a:lnTo>
                    <a:lnTo>
                      <a:pt x="0" y="1485"/>
                    </a:lnTo>
                    <a:lnTo>
                      <a:pt x="1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anchor="ctr"/>
              <a:lstStyle/>
              <a:p>
                <a:pPr algn="ctr">
                  <a:defRPr/>
                </a:pPr>
                <a:endParaRPr lang="en-US" sz="3600" noProof="1">
                  <a:solidFill>
                    <a:schemeClr val="bg1"/>
                  </a:solidFill>
                  <a:latin typeface="Impact" panose="020B0806030902050204" pitchFamily="34" charset="0"/>
                </a:endParaRPr>
              </a:p>
            </p:txBody>
          </p:sp>
          <p:sp>
            <p:nvSpPr>
              <p:cNvPr id="10" name="Round Same Side Corner Rectangle 33">
                <a:extLst>
                  <a:ext uri="{FF2B5EF4-FFF2-40B4-BE49-F238E27FC236}">
                    <a16:creationId xmlns:a16="http://schemas.microsoft.com/office/drawing/2014/main" id="{3382188E-D1EE-5D95-3180-29847E1A29E5}"/>
                  </a:ext>
                </a:extLst>
              </p:cNvPr>
              <p:cNvSpPr/>
              <p:nvPr/>
            </p:nvSpPr>
            <p:spPr>
              <a:xfrm rot="16200000">
                <a:off x="724" y="3054"/>
                <a:ext cx="3590" cy="2338"/>
              </a:xfrm>
              <a:prstGeom prst="round2Same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anchor="ctr"/>
              <a:lstStyle/>
              <a:p>
                <a:pPr algn="ctr">
                  <a:defRPr/>
                </a:pPr>
                <a:r>
                  <a:rPr lang="zh-CN" altLang="en-US" sz="1600" b="1" noProof="1">
                    <a:solidFill>
                      <a:schemeClr val="bg1">
                        <a:lumMod val="50000"/>
                        <a:lumOff val="50000"/>
                      </a:schemeClr>
                    </a:solidFill>
                    <a:latin typeface="微软雅黑" pitchFamily="34" charset="-122"/>
                  </a:rPr>
                  <a:t>知识库</a:t>
                </a:r>
                <a:endParaRPr lang="zh-CN" altLang="zh-CN" sz="1600" b="1" noProof="1">
                  <a:solidFill>
                    <a:schemeClr val="bg1">
                      <a:lumMod val="50000"/>
                      <a:lumOff val="50000"/>
                    </a:schemeClr>
                  </a:solidFill>
                  <a:latin typeface="微软雅黑" pitchFamily="34" charset="-122"/>
                </a:endParaRPr>
              </a:p>
            </p:txBody>
          </p:sp>
        </p:grpSp>
      </p:grpSp>
      <p:sp>
        <p:nvSpPr>
          <p:cNvPr id="11" name="文本框 41">
            <a:extLst>
              <a:ext uri="{FF2B5EF4-FFF2-40B4-BE49-F238E27FC236}">
                <a16:creationId xmlns:a16="http://schemas.microsoft.com/office/drawing/2014/main" id="{D19F45EB-BE2E-4DC7-1092-1B6C9BA639AA}"/>
              </a:ext>
            </a:extLst>
          </p:cNvPr>
          <p:cNvSpPr txBox="1">
            <a:spLocks noChangeArrowheads="1"/>
          </p:cNvSpPr>
          <p:nvPr/>
        </p:nvSpPr>
        <p:spPr bwMode="auto">
          <a:xfrm>
            <a:off x="2215152" y="4394809"/>
            <a:ext cx="7872173" cy="404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ts val="2800"/>
              </a:lnSpc>
            </a:pPr>
            <a:r>
              <a:rPr lang="zh-CN" altLang="en-US" sz="1400" dirty="0">
                <a:solidFill>
                  <a:schemeClr val="bg1"/>
                </a:solidFill>
                <a:latin typeface="微软雅黑" panose="020B0503020204020204" pitchFamily="34" charset="-122"/>
              </a:rPr>
              <a:t>一般使用通配符查询表中所有字段数据；而使用列出字段名的方式查询部分字段数据。</a:t>
            </a:r>
          </a:p>
        </p:txBody>
      </p:sp>
    </p:spTree>
    <p:extLst>
      <p:ext uri="{BB962C8B-B14F-4D97-AF65-F5344CB8AC3E}">
        <p14:creationId xmlns:p14="http://schemas.microsoft.com/office/powerpoint/2010/main" val="18556027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par>
                                <p:cTn id="17" presetID="42"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fade">
                                      <p:cBhvr>
                                        <p:cTn id="26" dur="500"/>
                                        <p:tgtEl>
                                          <p:spTgt spid="5">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查询指定字段</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10">
            <a:extLst>
              <a:ext uri="{FF2B5EF4-FFF2-40B4-BE49-F238E27FC236}">
                <a16:creationId xmlns:a16="http://schemas.microsoft.com/office/drawing/2014/main" id="{32628F6B-A013-4D9B-6667-98AF497A6C18}"/>
              </a:ext>
            </a:extLst>
          </p:cNvPr>
          <p:cNvSpPr txBox="1">
            <a:spLocks noChangeArrowheads="1"/>
          </p:cNvSpPr>
          <p:nvPr/>
        </p:nvSpPr>
        <p:spPr bwMode="auto">
          <a:xfrm>
            <a:off x="937796" y="1236050"/>
            <a:ext cx="10426887"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noProof="1">
                <a:solidFill>
                  <a:srgbClr val="44546A"/>
                </a:solidFill>
                <a:latin typeface="微软雅黑" panose="020B0503020204020204" pitchFamily="34" charset="-122"/>
              </a:rPr>
              <a:t>使用</a:t>
            </a:r>
            <a:r>
              <a:rPr lang="en-US" altLang="zh-CN" b="1" noProof="1">
                <a:solidFill>
                  <a:srgbClr val="44546A"/>
                </a:solidFill>
                <a:latin typeface="微软雅黑" panose="020B0503020204020204" pitchFamily="34" charset="-122"/>
              </a:rPr>
              <a:t>SELECT</a:t>
            </a:r>
            <a:r>
              <a:rPr lang="zh-CN" altLang="en-US" b="1" noProof="1">
                <a:solidFill>
                  <a:srgbClr val="44546A"/>
                </a:solidFill>
                <a:latin typeface="微软雅黑" panose="020B0503020204020204" pitchFamily="34" charset="-122"/>
              </a:rPr>
              <a:t>关键字</a:t>
            </a:r>
            <a:r>
              <a:rPr lang="zh-CN" altLang="en-US" noProof="1">
                <a:solidFill>
                  <a:srgbClr val="44546A"/>
                </a:solidFill>
                <a:latin typeface="微软雅黑" panose="020B0503020204020204" pitchFamily="34" charset="-122"/>
              </a:rPr>
              <a:t>也可以</a:t>
            </a:r>
            <a:r>
              <a:rPr lang="zh-CN" altLang="en-US" b="1" noProof="1">
                <a:solidFill>
                  <a:srgbClr val="44546A"/>
                </a:solidFill>
                <a:latin typeface="微软雅黑" panose="020B0503020204020204" pitchFamily="34" charset="-122"/>
              </a:rPr>
              <a:t>查询指定字段的数据</a:t>
            </a:r>
            <a:r>
              <a:rPr lang="zh-CN" altLang="en-US" noProof="1">
                <a:solidFill>
                  <a:srgbClr val="44546A"/>
                </a:solidFill>
                <a:latin typeface="微软雅黑" panose="020B0503020204020204" pitchFamily="34" charset="-122"/>
              </a:rPr>
              <a:t>，语法形式如下：</a:t>
            </a:r>
            <a:endParaRPr lang="zh-CN" altLang="en-US" dirty="0">
              <a:solidFill>
                <a:srgbClr val="44546A"/>
              </a:solidFill>
              <a:latin typeface="微软雅黑" panose="020B0503020204020204" pitchFamily="34" charset="-122"/>
            </a:endParaRPr>
          </a:p>
        </p:txBody>
      </p:sp>
      <p:sp>
        <p:nvSpPr>
          <p:cNvPr id="4" name="矩形 3">
            <a:extLst>
              <a:ext uri="{FF2B5EF4-FFF2-40B4-BE49-F238E27FC236}">
                <a16:creationId xmlns:a16="http://schemas.microsoft.com/office/drawing/2014/main" id="{F7C80A88-C8E7-759B-C2DC-57514F48273F}"/>
              </a:ext>
            </a:extLst>
          </p:cNvPr>
          <p:cNvSpPr/>
          <p:nvPr/>
        </p:nvSpPr>
        <p:spPr>
          <a:xfrm>
            <a:off x="1146518" y="1809940"/>
            <a:ext cx="10052154" cy="578651"/>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5" name="文本框 38">
            <a:extLst>
              <a:ext uri="{FF2B5EF4-FFF2-40B4-BE49-F238E27FC236}">
                <a16:creationId xmlns:a16="http://schemas.microsoft.com/office/drawing/2014/main" id="{9EE87660-B476-AEF4-C257-6C9F9BD1E033}"/>
              </a:ext>
            </a:extLst>
          </p:cNvPr>
          <p:cNvSpPr txBox="1">
            <a:spLocks noChangeArrowheads="1"/>
          </p:cNvSpPr>
          <p:nvPr/>
        </p:nvSpPr>
        <p:spPr bwMode="auto">
          <a:xfrm>
            <a:off x="2174414" y="1887183"/>
            <a:ext cx="6968444" cy="3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1"/>
                </a:solidFill>
              </a:rPr>
              <a:t>SELECT col_name1[,col_name2,……, </a:t>
            </a:r>
            <a:r>
              <a:rPr lang="en-US" altLang="zh-CN" sz="1600" dirty="0" err="1">
                <a:solidFill>
                  <a:schemeClr val="accent1"/>
                </a:solidFill>
              </a:rPr>
              <a:t>col_namen</a:t>
            </a:r>
            <a:r>
              <a:rPr lang="en-US" altLang="zh-CN" sz="1600" dirty="0">
                <a:solidFill>
                  <a:schemeClr val="accent1"/>
                </a:solidFill>
              </a:rPr>
              <a:t>] FROM table_name;</a:t>
            </a:r>
          </a:p>
        </p:txBody>
      </p:sp>
      <p:grpSp>
        <p:nvGrpSpPr>
          <p:cNvPr id="6" name="组合 34">
            <a:extLst>
              <a:ext uri="{FF2B5EF4-FFF2-40B4-BE49-F238E27FC236}">
                <a16:creationId xmlns:a16="http://schemas.microsoft.com/office/drawing/2014/main" id="{92E2B15F-63A2-B86E-E5B5-85C0FF249E08}"/>
              </a:ext>
            </a:extLst>
          </p:cNvPr>
          <p:cNvGrpSpPr/>
          <p:nvPr/>
        </p:nvGrpSpPr>
        <p:grpSpPr>
          <a:xfrm>
            <a:off x="838200" y="2563681"/>
            <a:ext cx="2183765" cy="600710"/>
            <a:chOff x="1320" y="4641"/>
            <a:chExt cx="3439" cy="946"/>
          </a:xfrm>
          <a:solidFill>
            <a:schemeClr val="accent6"/>
          </a:solidFill>
        </p:grpSpPr>
        <p:sp>
          <p:nvSpPr>
            <p:cNvPr id="7" name="椭圆 6">
              <a:extLst>
                <a:ext uri="{FF2B5EF4-FFF2-40B4-BE49-F238E27FC236}">
                  <a16:creationId xmlns:a16="http://schemas.microsoft.com/office/drawing/2014/main" id="{BE7EC517-9266-E4FA-9808-30F94810FCC2}"/>
                </a:ext>
              </a:extLst>
            </p:cNvPr>
            <p:cNvSpPr/>
            <p:nvPr/>
          </p:nvSpPr>
          <p:spPr>
            <a:xfrm>
              <a:off x="1320" y="4641"/>
              <a:ext cx="946" cy="946"/>
            </a:xfrm>
            <a:prstGeom prst="ellipse">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8" name="圆角矩形 6">
              <a:extLst>
                <a:ext uri="{FF2B5EF4-FFF2-40B4-BE49-F238E27FC236}">
                  <a16:creationId xmlns:a16="http://schemas.microsoft.com/office/drawing/2014/main" id="{B365F09B-CA62-FFC4-753A-C6462A2C9544}"/>
                </a:ext>
              </a:extLst>
            </p:cNvPr>
            <p:cNvSpPr/>
            <p:nvPr/>
          </p:nvSpPr>
          <p:spPr>
            <a:xfrm>
              <a:off x="1673" y="4793"/>
              <a:ext cx="3086" cy="643"/>
            </a:xfrm>
            <a:prstGeom prst="roundRect">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2</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9" name="文本框 36">
            <a:extLst>
              <a:ext uri="{FF2B5EF4-FFF2-40B4-BE49-F238E27FC236}">
                <a16:creationId xmlns:a16="http://schemas.microsoft.com/office/drawing/2014/main" id="{27191117-874A-FC47-5047-05FFBC64F185}"/>
              </a:ext>
            </a:extLst>
          </p:cNvPr>
          <p:cNvSpPr txBox="1">
            <a:spLocks noChangeArrowheads="1"/>
          </p:cNvSpPr>
          <p:nvPr/>
        </p:nvSpPr>
        <p:spPr bwMode="auto">
          <a:xfrm>
            <a:off x="3278188" y="2680521"/>
            <a:ext cx="7778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dirty="0">
                <a:solidFill>
                  <a:srgbClr val="44546A"/>
                </a:solidFill>
                <a:latin typeface="微软雅黑" panose="020B0503020204020204" pitchFamily="34" charset="-122"/>
              </a:rPr>
              <a:t>从</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表中查询单个字段。</a:t>
            </a:r>
          </a:p>
        </p:txBody>
      </p:sp>
      <p:sp>
        <p:nvSpPr>
          <p:cNvPr id="10" name="矩形 9">
            <a:extLst>
              <a:ext uri="{FF2B5EF4-FFF2-40B4-BE49-F238E27FC236}">
                <a16:creationId xmlns:a16="http://schemas.microsoft.com/office/drawing/2014/main" id="{19C5BBDD-A006-3204-2826-B2082BB8F118}"/>
              </a:ext>
            </a:extLst>
          </p:cNvPr>
          <p:cNvSpPr/>
          <p:nvPr/>
        </p:nvSpPr>
        <p:spPr>
          <a:xfrm>
            <a:off x="1062355" y="3315404"/>
            <a:ext cx="9882453" cy="2982766"/>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1" name="文本框 38">
            <a:extLst>
              <a:ext uri="{FF2B5EF4-FFF2-40B4-BE49-F238E27FC236}">
                <a16:creationId xmlns:a16="http://schemas.microsoft.com/office/drawing/2014/main" id="{DB0D8AAD-EA0C-DC78-5BCE-311CBE6DD72B}"/>
              </a:ext>
            </a:extLst>
          </p:cNvPr>
          <p:cNvSpPr txBox="1">
            <a:spLocks noChangeArrowheads="1"/>
          </p:cNvSpPr>
          <p:nvPr/>
        </p:nvSpPr>
        <p:spPr bwMode="auto">
          <a:xfrm>
            <a:off x="2090250" y="3401978"/>
            <a:ext cx="8574639"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chemeClr val="accent1"/>
                </a:solidFill>
                <a:latin typeface="+mn-lt"/>
              </a:rPr>
              <a:t>mysql&gt; SELECT name FROM goods;</a:t>
            </a:r>
          </a:p>
          <a:p>
            <a:pPr eaLnBrk="1" hangingPunct="1"/>
            <a:r>
              <a:rPr lang="en-US" altLang="zh-CN" sz="1600" dirty="0">
                <a:solidFill>
                  <a:schemeClr val="accent1"/>
                </a:solidFill>
                <a:latin typeface="+mn-lt"/>
              </a:rPr>
              <a:t>+--------------+</a:t>
            </a:r>
          </a:p>
          <a:p>
            <a:pPr eaLnBrk="1" hangingPunct="1"/>
            <a:r>
              <a:rPr lang="en-US" altLang="zh-CN" sz="1600" dirty="0">
                <a:solidFill>
                  <a:schemeClr val="accent1"/>
                </a:solidFill>
                <a:latin typeface="+mn-lt"/>
              </a:rPr>
              <a:t>| name        |</a:t>
            </a:r>
          </a:p>
          <a:p>
            <a:pPr eaLnBrk="1" hangingPunct="1"/>
            <a:r>
              <a:rPr lang="en-US" altLang="zh-CN" sz="1600" dirty="0">
                <a:solidFill>
                  <a:schemeClr val="accent1"/>
                </a:solidFill>
                <a:latin typeface="+mn-lt"/>
              </a:rPr>
              <a:t>+--------------+</a:t>
            </a:r>
          </a:p>
          <a:p>
            <a:pPr eaLnBrk="1" hangingPunct="1"/>
            <a:r>
              <a:rPr lang="en-US" altLang="zh-CN" sz="1600" dirty="0">
                <a:solidFill>
                  <a:schemeClr val="accent1"/>
                </a:solidFill>
                <a:latin typeface="+mn-lt"/>
              </a:rPr>
              <a:t>| </a:t>
            </a:r>
            <a:r>
              <a:rPr lang="zh-CN" altLang="en-US" sz="1600" dirty="0">
                <a:solidFill>
                  <a:schemeClr val="accent1"/>
                </a:solidFill>
                <a:latin typeface="+mn-lt"/>
              </a:rPr>
              <a:t>休闲西服   </a:t>
            </a:r>
            <a:r>
              <a:rPr lang="en-US" altLang="zh-CN" sz="1600" dirty="0">
                <a:solidFill>
                  <a:schemeClr val="accent1"/>
                </a:solidFill>
                <a:latin typeface="+mn-lt"/>
              </a:rPr>
              <a:t>|</a:t>
            </a:r>
          </a:p>
          <a:p>
            <a:pPr eaLnBrk="1" hangingPunct="1"/>
            <a:r>
              <a:rPr lang="en-US" altLang="zh-CN" sz="1600" dirty="0">
                <a:solidFill>
                  <a:schemeClr val="accent1"/>
                </a:solidFill>
                <a:latin typeface="+mn-lt"/>
              </a:rPr>
              <a:t>| </a:t>
            </a:r>
            <a:r>
              <a:rPr lang="zh-CN" altLang="en-US" sz="1600" dirty="0">
                <a:solidFill>
                  <a:schemeClr val="accent1"/>
                </a:solidFill>
                <a:latin typeface="+mn-lt"/>
              </a:rPr>
              <a:t>果汁          </a:t>
            </a:r>
            <a:r>
              <a:rPr lang="en-US" altLang="zh-CN" sz="1600" dirty="0">
                <a:solidFill>
                  <a:schemeClr val="accent1"/>
                </a:solidFill>
                <a:latin typeface="+mn-lt"/>
              </a:rPr>
              <a:t>|</a:t>
            </a:r>
          </a:p>
          <a:p>
            <a:pPr eaLnBrk="1" hangingPunct="1"/>
            <a:r>
              <a:rPr lang="en-US" altLang="zh-CN" sz="1600" dirty="0">
                <a:solidFill>
                  <a:schemeClr val="accent1"/>
                </a:solidFill>
                <a:latin typeface="+mn-lt"/>
              </a:rPr>
              <a:t>| </a:t>
            </a:r>
            <a:r>
              <a:rPr lang="zh-CN" altLang="en-US" sz="1600" dirty="0">
                <a:solidFill>
                  <a:schemeClr val="accent1"/>
                </a:solidFill>
                <a:latin typeface="+mn-lt"/>
              </a:rPr>
              <a:t>水果糖      </a:t>
            </a:r>
            <a:r>
              <a:rPr lang="en-US" altLang="zh-CN" sz="1600" dirty="0">
                <a:solidFill>
                  <a:schemeClr val="accent1"/>
                </a:solidFill>
                <a:latin typeface="+mn-lt"/>
              </a:rPr>
              <a:t>|</a:t>
            </a:r>
          </a:p>
          <a:p>
            <a:pPr eaLnBrk="1" hangingPunct="1"/>
            <a:r>
              <a:rPr lang="en-US" altLang="zh-CN" sz="1600" dirty="0">
                <a:solidFill>
                  <a:schemeClr val="accent1"/>
                </a:solidFill>
                <a:latin typeface="+mn-lt"/>
              </a:rPr>
              <a:t>| </a:t>
            </a:r>
            <a:r>
              <a:rPr lang="zh-CN" altLang="en-US" sz="1600" dirty="0">
                <a:solidFill>
                  <a:schemeClr val="accent1"/>
                </a:solidFill>
                <a:latin typeface="+mn-lt"/>
              </a:rPr>
              <a:t>牛奶糖      </a:t>
            </a:r>
            <a:r>
              <a:rPr lang="en-US" altLang="zh-CN" sz="1600" dirty="0">
                <a:solidFill>
                  <a:schemeClr val="accent1"/>
                </a:solidFill>
                <a:latin typeface="+mn-lt"/>
              </a:rPr>
              <a:t>|</a:t>
            </a:r>
          </a:p>
          <a:p>
            <a:pPr eaLnBrk="1" hangingPunct="1"/>
            <a:r>
              <a:rPr lang="en-US" altLang="zh-CN" sz="1600" dirty="0">
                <a:solidFill>
                  <a:schemeClr val="accent1"/>
                </a:solidFill>
                <a:latin typeface="+mn-lt"/>
              </a:rPr>
              <a:t>| </a:t>
            </a:r>
            <a:r>
              <a:rPr lang="zh-CN" altLang="en-US" sz="1600" dirty="0">
                <a:solidFill>
                  <a:schemeClr val="accent1"/>
                </a:solidFill>
                <a:latin typeface="+mn-lt"/>
              </a:rPr>
              <a:t>西游记      </a:t>
            </a:r>
            <a:r>
              <a:rPr lang="en-US" altLang="zh-CN" sz="1600" dirty="0">
                <a:solidFill>
                  <a:schemeClr val="accent1"/>
                </a:solidFill>
                <a:latin typeface="+mn-lt"/>
              </a:rPr>
              <a:t>|</a:t>
            </a:r>
          </a:p>
          <a:p>
            <a:pPr eaLnBrk="1" hangingPunct="1"/>
            <a:r>
              <a:rPr lang="en-US" altLang="zh-CN" sz="1600" dirty="0">
                <a:solidFill>
                  <a:schemeClr val="accent1"/>
                </a:solidFill>
                <a:latin typeface="+mn-lt"/>
              </a:rPr>
              <a:t>+--------------+</a:t>
            </a:r>
          </a:p>
          <a:p>
            <a:pPr eaLnBrk="1" hangingPunct="1"/>
            <a:r>
              <a:rPr lang="en-US" altLang="zh-CN" sz="1600" dirty="0">
                <a:solidFill>
                  <a:schemeClr val="accent1"/>
                </a:solidFill>
                <a:latin typeface="+mn-lt"/>
              </a:rPr>
              <a:t>5 rows in set (0.00 sec)</a:t>
            </a:r>
          </a:p>
        </p:txBody>
      </p:sp>
    </p:spTree>
    <p:extLst>
      <p:ext uri="{BB962C8B-B14F-4D97-AF65-F5344CB8AC3E}">
        <p14:creationId xmlns:p14="http://schemas.microsoft.com/office/powerpoint/2010/main" val="12032768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9" grpId="0"/>
      <p:bldP spid="10" grpId="0" animBg="1"/>
      <p:bldP spid="1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查询指定字段</a:t>
            </a:r>
            <a:endParaRPr lang="en-US" altLang="zh-CN" b="1" dirty="0">
              <a:solidFill>
                <a:srgbClr val="44546A"/>
              </a:solidFill>
              <a:latin typeface="微软雅黑" panose="020B0503020204020204" pitchFamily="34" charset="-122"/>
              <a:ea typeface="微软雅黑" panose="020B0503020204020204" pitchFamily="34" charset="-122"/>
            </a:endParaRPr>
          </a:p>
        </p:txBody>
      </p:sp>
      <p:grpSp>
        <p:nvGrpSpPr>
          <p:cNvPr id="3" name="组合 34">
            <a:extLst>
              <a:ext uri="{FF2B5EF4-FFF2-40B4-BE49-F238E27FC236}">
                <a16:creationId xmlns:a16="http://schemas.microsoft.com/office/drawing/2014/main" id="{5952D409-D2DC-D191-47DC-8B448EB1A19B}"/>
              </a:ext>
            </a:extLst>
          </p:cNvPr>
          <p:cNvGrpSpPr/>
          <p:nvPr/>
        </p:nvGrpSpPr>
        <p:grpSpPr>
          <a:xfrm>
            <a:off x="838200" y="1611919"/>
            <a:ext cx="2183765" cy="600710"/>
            <a:chOff x="1320" y="4641"/>
            <a:chExt cx="3439" cy="946"/>
          </a:xfrm>
          <a:solidFill>
            <a:schemeClr val="accent6"/>
          </a:solidFill>
        </p:grpSpPr>
        <p:sp>
          <p:nvSpPr>
            <p:cNvPr id="4" name="椭圆 3">
              <a:extLst>
                <a:ext uri="{FF2B5EF4-FFF2-40B4-BE49-F238E27FC236}">
                  <a16:creationId xmlns:a16="http://schemas.microsoft.com/office/drawing/2014/main" id="{5BD9E6FE-B11C-0A28-09C4-0AFDB45B3F8F}"/>
                </a:ext>
              </a:extLst>
            </p:cNvPr>
            <p:cNvSpPr/>
            <p:nvPr/>
          </p:nvSpPr>
          <p:spPr>
            <a:xfrm>
              <a:off x="1320" y="4641"/>
              <a:ext cx="946" cy="946"/>
            </a:xfrm>
            <a:prstGeom prst="ellipse">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5" name="圆角矩形 6">
              <a:extLst>
                <a:ext uri="{FF2B5EF4-FFF2-40B4-BE49-F238E27FC236}">
                  <a16:creationId xmlns:a16="http://schemas.microsoft.com/office/drawing/2014/main" id="{AD03FF3A-38AC-9037-9102-C27740FB986B}"/>
                </a:ext>
              </a:extLst>
            </p:cNvPr>
            <p:cNvSpPr/>
            <p:nvPr/>
          </p:nvSpPr>
          <p:spPr>
            <a:xfrm>
              <a:off x="1673" y="4793"/>
              <a:ext cx="3086" cy="643"/>
            </a:xfrm>
            <a:prstGeom prst="roundRect">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3</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6" name="文本框 36">
            <a:extLst>
              <a:ext uri="{FF2B5EF4-FFF2-40B4-BE49-F238E27FC236}">
                <a16:creationId xmlns:a16="http://schemas.microsoft.com/office/drawing/2014/main" id="{73A61722-8A26-C0F1-45B0-33EFAF59701A}"/>
              </a:ext>
            </a:extLst>
          </p:cNvPr>
          <p:cNvSpPr txBox="1">
            <a:spLocks noChangeArrowheads="1"/>
          </p:cNvSpPr>
          <p:nvPr/>
        </p:nvSpPr>
        <p:spPr bwMode="auto">
          <a:xfrm>
            <a:off x="3278188" y="1728759"/>
            <a:ext cx="7778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dirty="0">
                <a:solidFill>
                  <a:srgbClr val="44546A"/>
                </a:solidFill>
                <a:latin typeface="微软雅黑" panose="020B0503020204020204" pitchFamily="34" charset="-122"/>
              </a:rPr>
              <a:t>从</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表中查询多个字段。</a:t>
            </a:r>
          </a:p>
        </p:txBody>
      </p:sp>
      <p:sp>
        <p:nvSpPr>
          <p:cNvPr id="7" name="矩形 6">
            <a:extLst>
              <a:ext uri="{FF2B5EF4-FFF2-40B4-BE49-F238E27FC236}">
                <a16:creationId xmlns:a16="http://schemas.microsoft.com/office/drawing/2014/main" id="{6A19E05C-B320-B796-7F48-B54366C27614}"/>
              </a:ext>
            </a:extLst>
          </p:cNvPr>
          <p:cNvSpPr/>
          <p:nvPr/>
        </p:nvSpPr>
        <p:spPr>
          <a:xfrm>
            <a:off x="1062355" y="2363642"/>
            <a:ext cx="9882453" cy="2982766"/>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8" name="文本框 38">
            <a:extLst>
              <a:ext uri="{FF2B5EF4-FFF2-40B4-BE49-F238E27FC236}">
                <a16:creationId xmlns:a16="http://schemas.microsoft.com/office/drawing/2014/main" id="{AD55D9CC-57F7-8FF5-01DD-6190BBC9EE28}"/>
              </a:ext>
            </a:extLst>
          </p:cNvPr>
          <p:cNvSpPr txBox="1">
            <a:spLocks noChangeArrowheads="1"/>
          </p:cNvSpPr>
          <p:nvPr/>
        </p:nvSpPr>
        <p:spPr bwMode="auto">
          <a:xfrm>
            <a:off x="2090250" y="2450216"/>
            <a:ext cx="8574639"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chemeClr val="accent1"/>
                </a:solidFill>
                <a:latin typeface="+mn-lt"/>
              </a:rPr>
              <a:t>mysql&gt; SELECT </a:t>
            </a:r>
            <a:r>
              <a:rPr lang="en-US" altLang="zh-CN" sz="1600" dirty="0" err="1">
                <a:solidFill>
                  <a:schemeClr val="accent1"/>
                </a:solidFill>
                <a:latin typeface="+mn-lt"/>
              </a:rPr>
              <a:t>id,name</a:t>
            </a:r>
            <a:r>
              <a:rPr lang="en-US" altLang="zh-CN" sz="1600" dirty="0">
                <a:solidFill>
                  <a:schemeClr val="accent1"/>
                </a:solidFill>
                <a:latin typeface="+mn-lt"/>
              </a:rPr>
              <a:t> FROM goods;</a:t>
            </a:r>
          </a:p>
          <a:p>
            <a:pPr eaLnBrk="1" hangingPunct="1"/>
            <a:r>
              <a:rPr lang="en-US" altLang="zh-CN" sz="1600" dirty="0">
                <a:solidFill>
                  <a:schemeClr val="accent1"/>
                </a:solidFill>
                <a:latin typeface="+mn-lt"/>
              </a:rPr>
              <a:t>+----+--------------+</a:t>
            </a:r>
          </a:p>
          <a:p>
            <a:pPr eaLnBrk="1" hangingPunct="1"/>
            <a:r>
              <a:rPr lang="en-US" altLang="zh-CN" sz="1600" dirty="0">
                <a:solidFill>
                  <a:schemeClr val="accent1"/>
                </a:solidFill>
                <a:latin typeface="+mn-lt"/>
              </a:rPr>
              <a:t>| id   | name       |</a:t>
            </a:r>
          </a:p>
          <a:p>
            <a:pPr eaLnBrk="1" hangingPunct="1"/>
            <a:r>
              <a:rPr lang="en-US" altLang="zh-CN" sz="1600" dirty="0">
                <a:solidFill>
                  <a:schemeClr val="accent1"/>
                </a:solidFill>
                <a:latin typeface="+mn-lt"/>
              </a:rPr>
              <a:t>+----+--------------+</a:t>
            </a:r>
          </a:p>
          <a:p>
            <a:pPr eaLnBrk="1" hangingPunct="1"/>
            <a:r>
              <a:rPr lang="en-US" altLang="zh-CN" sz="1600" dirty="0">
                <a:solidFill>
                  <a:schemeClr val="accent1"/>
                </a:solidFill>
                <a:latin typeface="+mn-lt"/>
              </a:rPr>
              <a:t>|  4   | </a:t>
            </a:r>
            <a:r>
              <a:rPr lang="zh-CN" altLang="en-US" sz="1600" dirty="0">
                <a:solidFill>
                  <a:schemeClr val="accent1"/>
                </a:solidFill>
                <a:latin typeface="+mn-lt"/>
              </a:rPr>
              <a:t>休闲西服 </a:t>
            </a:r>
            <a:r>
              <a:rPr lang="en-US" altLang="zh-CN" sz="1600" dirty="0">
                <a:solidFill>
                  <a:schemeClr val="accent1"/>
                </a:solidFill>
                <a:latin typeface="+mn-lt"/>
              </a:rPr>
              <a:t>|</a:t>
            </a:r>
          </a:p>
          <a:p>
            <a:pPr eaLnBrk="1" hangingPunct="1"/>
            <a:r>
              <a:rPr lang="en-US" altLang="zh-CN" sz="1600" dirty="0">
                <a:solidFill>
                  <a:schemeClr val="accent1"/>
                </a:solidFill>
                <a:latin typeface="+mn-lt"/>
              </a:rPr>
              <a:t>|  5   | </a:t>
            </a:r>
            <a:r>
              <a:rPr lang="zh-CN" altLang="en-US" sz="1600" dirty="0">
                <a:solidFill>
                  <a:schemeClr val="accent1"/>
                </a:solidFill>
                <a:latin typeface="+mn-lt"/>
              </a:rPr>
              <a:t>果汁        </a:t>
            </a:r>
            <a:r>
              <a:rPr lang="en-US" altLang="zh-CN" sz="1600" dirty="0">
                <a:solidFill>
                  <a:schemeClr val="accent1"/>
                </a:solidFill>
                <a:latin typeface="+mn-lt"/>
              </a:rPr>
              <a:t>|</a:t>
            </a:r>
          </a:p>
          <a:p>
            <a:pPr eaLnBrk="1" hangingPunct="1"/>
            <a:r>
              <a:rPr lang="en-US" altLang="zh-CN" sz="1600" dirty="0">
                <a:solidFill>
                  <a:schemeClr val="accent1"/>
                </a:solidFill>
                <a:latin typeface="+mn-lt"/>
              </a:rPr>
              <a:t>|  3   | </a:t>
            </a:r>
            <a:r>
              <a:rPr lang="zh-CN" altLang="en-US" sz="1600" dirty="0">
                <a:solidFill>
                  <a:schemeClr val="accent1"/>
                </a:solidFill>
                <a:latin typeface="+mn-lt"/>
              </a:rPr>
              <a:t>水果糖     </a:t>
            </a:r>
            <a:r>
              <a:rPr lang="en-US" altLang="zh-CN" sz="1600" dirty="0">
                <a:solidFill>
                  <a:schemeClr val="accent1"/>
                </a:solidFill>
                <a:latin typeface="+mn-lt"/>
              </a:rPr>
              <a:t>|</a:t>
            </a:r>
          </a:p>
          <a:p>
            <a:pPr eaLnBrk="1" hangingPunct="1"/>
            <a:r>
              <a:rPr lang="en-US" altLang="zh-CN" sz="1600" dirty="0">
                <a:solidFill>
                  <a:schemeClr val="accent1"/>
                </a:solidFill>
                <a:latin typeface="+mn-lt"/>
              </a:rPr>
              <a:t>|  2   | </a:t>
            </a:r>
            <a:r>
              <a:rPr lang="zh-CN" altLang="en-US" sz="1600" dirty="0">
                <a:solidFill>
                  <a:schemeClr val="accent1"/>
                </a:solidFill>
                <a:latin typeface="+mn-lt"/>
              </a:rPr>
              <a:t>牛奶糖     </a:t>
            </a:r>
            <a:r>
              <a:rPr lang="en-US" altLang="zh-CN" sz="1600" dirty="0">
                <a:solidFill>
                  <a:schemeClr val="accent1"/>
                </a:solidFill>
                <a:latin typeface="+mn-lt"/>
              </a:rPr>
              <a:t>|</a:t>
            </a:r>
          </a:p>
          <a:p>
            <a:pPr eaLnBrk="1" hangingPunct="1"/>
            <a:r>
              <a:rPr lang="en-US" altLang="zh-CN" sz="1600" dirty="0">
                <a:solidFill>
                  <a:schemeClr val="accent1"/>
                </a:solidFill>
                <a:latin typeface="+mn-lt"/>
              </a:rPr>
              <a:t>|  1   | </a:t>
            </a:r>
            <a:r>
              <a:rPr lang="zh-CN" altLang="en-US" sz="1600" dirty="0">
                <a:solidFill>
                  <a:schemeClr val="accent1"/>
                </a:solidFill>
                <a:latin typeface="+mn-lt"/>
              </a:rPr>
              <a:t>西游记     </a:t>
            </a:r>
            <a:r>
              <a:rPr lang="en-US" altLang="zh-CN" sz="1600" dirty="0">
                <a:solidFill>
                  <a:schemeClr val="accent1"/>
                </a:solidFill>
                <a:latin typeface="+mn-lt"/>
              </a:rPr>
              <a:t>|</a:t>
            </a:r>
          </a:p>
          <a:p>
            <a:pPr eaLnBrk="1" hangingPunct="1"/>
            <a:r>
              <a:rPr lang="en-US" altLang="zh-CN" sz="1600" dirty="0">
                <a:solidFill>
                  <a:schemeClr val="accent1"/>
                </a:solidFill>
                <a:latin typeface="+mn-lt"/>
              </a:rPr>
              <a:t>+----+--------------+</a:t>
            </a:r>
          </a:p>
          <a:p>
            <a:pPr eaLnBrk="1" hangingPunct="1"/>
            <a:r>
              <a:rPr lang="en-US" altLang="zh-CN" sz="1600" dirty="0">
                <a:solidFill>
                  <a:schemeClr val="accent1"/>
                </a:solidFill>
                <a:latin typeface="+mn-lt"/>
              </a:rPr>
              <a:t>5 rows in set (0.00 sec)</a:t>
            </a:r>
          </a:p>
        </p:txBody>
      </p:sp>
    </p:spTree>
    <p:extLst>
      <p:ext uri="{BB962C8B-B14F-4D97-AF65-F5344CB8AC3E}">
        <p14:creationId xmlns:p14="http://schemas.microsoft.com/office/powerpoint/2010/main" val="17313124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查询指定记录</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10">
            <a:extLst>
              <a:ext uri="{FF2B5EF4-FFF2-40B4-BE49-F238E27FC236}">
                <a16:creationId xmlns:a16="http://schemas.microsoft.com/office/drawing/2014/main" id="{417C936D-2668-AAC3-353D-3249C345FCBA}"/>
              </a:ext>
            </a:extLst>
          </p:cNvPr>
          <p:cNvSpPr txBox="1">
            <a:spLocks noChangeArrowheads="1"/>
          </p:cNvSpPr>
          <p:nvPr/>
        </p:nvSpPr>
        <p:spPr bwMode="auto">
          <a:xfrm>
            <a:off x="937796" y="1422670"/>
            <a:ext cx="10426887"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noProof="1">
                <a:solidFill>
                  <a:srgbClr val="44546A"/>
                </a:solidFill>
                <a:latin typeface="微软雅黑" panose="020B0503020204020204" pitchFamily="34" charset="-122"/>
              </a:rPr>
              <a:t>当用户需要查询数据库中符合一定条件的数据时，可以使用</a:t>
            </a:r>
            <a:r>
              <a:rPr lang="en-US" altLang="zh-CN" noProof="1">
                <a:solidFill>
                  <a:srgbClr val="44546A"/>
                </a:solidFill>
                <a:latin typeface="微软雅黑" panose="020B0503020204020204" pitchFamily="34" charset="-122"/>
              </a:rPr>
              <a:t>WHERE</a:t>
            </a:r>
            <a:r>
              <a:rPr lang="zh-CN" altLang="en-US" noProof="1">
                <a:solidFill>
                  <a:srgbClr val="44546A"/>
                </a:solidFill>
                <a:latin typeface="微软雅黑" panose="020B0503020204020204" pitchFamily="34" charset="-122"/>
              </a:rPr>
              <a:t>子句对表中的记录进行筛选，语法形式如下：</a:t>
            </a:r>
            <a:endParaRPr lang="zh-CN" altLang="en-US" dirty="0">
              <a:solidFill>
                <a:srgbClr val="44546A"/>
              </a:solidFill>
              <a:latin typeface="微软雅黑" panose="020B0503020204020204" pitchFamily="34" charset="-122"/>
            </a:endParaRPr>
          </a:p>
        </p:txBody>
      </p:sp>
      <p:sp>
        <p:nvSpPr>
          <p:cNvPr id="4" name="矩形 3">
            <a:extLst>
              <a:ext uri="{FF2B5EF4-FFF2-40B4-BE49-F238E27FC236}">
                <a16:creationId xmlns:a16="http://schemas.microsoft.com/office/drawing/2014/main" id="{80013214-180D-7FB6-F385-58B51696A2C2}"/>
              </a:ext>
            </a:extLst>
          </p:cNvPr>
          <p:cNvSpPr/>
          <p:nvPr/>
        </p:nvSpPr>
        <p:spPr>
          <a:xfrm>
            <a:off x="1146518" y="2351138"/>
            <a:ext cx="10052154" cy="578651"/>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5" name="文本框 38">
            <a:extLst>
              <a:ext uri="{FF2B5EF4-FFF2-40B4-BE49-F238E27FC236}">
                <a16:creationId xmlns:a16="http://schemas.microsoft.com/office/drawing/2014/main" id="{EE23059E-896C-FAFA-9253-672D57087A50}"/>
              </a:ext>
            </a:extLst>
          </p:cNvPr>
          <p:cNvSpPr txBox="1">
            <a:spLocks noChangeArrowheads="1"/>
          </p:cNvSpPr>
          <p:nvPr/>
        </p:nvSpPr>
        <p:spPr bwMode="auto">
          <a:xfrm>
            <a:off x="2174414" y="2428381"/>
            <a:ext cx="6968444" cy="3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1"/>
                </a:solidFill>
              </a:rPr>
              <a:t>SELECT {*|col_list} FROM table_name WHERE condition;</a:t>
            </a:r>
          </a:p>
        </p:txBody>
      </p:sp>
      <p:sp>
        <p:nvSpPr>
          <p:cNvPr id="6" name="文本框 10">
            <a:extLst>
              <a:ext uri="{FF2B5EF4-FFF2-40B4-BE49-F238E27FC236}">
                <a16:creationId xmlns:a16="http://schemas.microsoft.com/office/drawing/2014/main" id="{D11B730D-A44A-BF24-B5E9-5B520AF58322}"/>
              </a:ext>
            </a:extLst>
          </p:cNvPr>
          <p:cNvSpPr txBox="1">
            <a:spLocks noChangeArrowheads="1"/>
          </p:cNvSpPr>
          <p:nvPr/>
        </p:nvSpPr>
        <p:spPr bwMode="auto">
          <a:xfrm>
            <a:off x="931569" y="2956058"/>
            <a:ext cx="10426887"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en-US" altLang="zh-CN" noProof="1">
                <a:solidFill>
                  <a:srgbClr val="44546A"/>
                </a:solidFill>
                <a:latin typeface="微软雅黑" panose="020B0503020204020204" pitchFamily="34" charset="-122"/>
              </a:rPr>
              <a:t>WHERE</a:t>
            </a:r>
            <a:r>
              <a:rPr lang="zh-CN" altLang="en-US" noProof="1">
                <a:solidFill>
                  <a:srgbClr val="44546A"/>
                </a:solidFill>
                <a:latin typeface="微软雅黑" panose="020B0503020204020204" pitchFamily="34" charset="-122"/>
              </a:rPr>
              <a:t>子句中可以使用多种条件判断符，如表</a:t>
            </a:r>
            <a:r>
              <a:rPr lang="en-US" altLang="zh-CN" noProof="1">
                <a:solidFill>
                  <a:srgbClr val="44546A"/>
                </a:solidFill>
                <a:latin typeface="微软雅黑" panose="020B0503020204020204" pitchFamily="34" charset="-122"/>
              </a:rPr>
              <a:t>1</a:t>
            </a:r>
            <a:r>
              <a:rPr lang="zh-CN" altLang="en-US" noProof="1">
                <a:solidFill>
                  <a:srgbClr val="44546A"/>
                </a:solidFill>
                <a:latin typeface="微软雅黑" panose="020B0503020204020204" pitchFamily="34" charset="-122"/>
              </a:rPr>
              <a:t>所示。</a:t>
            </a:r>
            <a:endParaRPr lang="zh-CN" altLang="en-US" dirty="0">
              <a:solidFill>
                <a:srgbClr val="44546A"/>
              </a:solidFill>
              <a:latin typeface="微软雅黑" panose="020B0503020204020204" pitchFamily="34" charset="-122"/>
            </a:endParaRPr>
          </a:p>
        </p:txBody>
      </p:sp>
      <p:sp>
        <p:nvSpPr>
          <p:cNvPr id="7" name="矩形 6">
            <a:extLst>
              <a:ext uri="{FF2B5EF4-FFF2-40B4-BE49-F238E27FC236}">
                <a16:creationId xmlns:a16="http://schemas.microsoft.com/office/drawing/2014/main" id="{EEDDC838-7B9D-656C-6962-2923502FBE6D}"/>
              </a:ext>
            </a:extLst>
          </p:cNvPr>
          <p:cNvSpPr/>
          <p:nvPr/>
        </p:nvSpPr>
        <p:spPr>
          <a:xfrm>
            <a:off x="4277233" y="3499092"/>
            <a:ext cx="3615092" cy="338554"/>
          </a:xfrm>
          <a:prstGeom prst="rect">
            <a:avLst/>
          </a:prstGeom>
        </p:spPr>
        <p:txBody>
          <a:bodyPr wrap="none">
            <a:spAutoFit/>
          </a:bodyPr>
          <a:lstStyle/>
          <a:p>
            <a:r>
              <a:rPr lang="zh-CN" altLang="en-US" sz="1600" dirty="0">
                <a:solidFill>
                  <a:srgbClr val="44546A"/>
                </a:solidFill>
                <a:latin typeface="微软雅黑" panose="020B0503020204020204" pitchFamily="34" charset="-122"/>
                <a:ea typeface="微软雅黑" pitchFamily="34" charset="-122"/>
              </a:rPr>
              <a:t>表</a:t>
            </a:r>
            <a:r>
              <a:rPr lang="en-US" altLang="zh-CN" sz="1600" dirty="0">
                <a:solidFill>
                  <a:srgbClr val="44546A"/>
                </a:solidFill>
                <a:latin typeface="微软雅黑" panose="020B0503020204020204" pitchFamily="34" charset="-122"/>
                <a:ea typeface="微软雅黑" pitchFamily="34" charset="-122"/>
              </a:rPr>
              <a:t>1  WHERE</a:t>
            </a:r>
            <a:r>
              <a:rPr lang="zh-CN" altLang="en-US" sz="1600" dirty="0">
                <a:solidFill>
                  <a:srgbClr val="44546A"/>
                </a:solidFill>
                <a:latin typeface="微软雅黑" panose="020B0503020204020204" pitchFamily="34" charset="-122"/>
                <a:ea typeface="微软雅黑" pitchFamily="34" charset="-122"/>
              </a:rPr>
              <a:t>子句中可用的条件判断符</a:t>
            </a:r>
          </a:p>
        </p:txBody>
      </p:sp>
      <p:graphicFrame>
        <p:nvGraphicFramePr>
          <p:cNvPr id="8" name="表格 7">
            <a:extLst>
              <a:ext uri="{FF2B5EF4-FFF2-40B4-BE49-F238E27FC236}">
                <a16:creationId xmlns:a16="http://schemas.microsoft.com/office/drawing/2014/main" id="{DB986F92-F27C-B9EA-CB43-4939996F1992}"/>
              </a:ext>
            </a:extLst>
          </p:cNvPr>
          <p:cNvGraphicFramePr>
            <a:graphicFrameLocks noGrp="1"/>
          </p:cNvGraphicFramePr>
          <p:nvPr>
            <p:extLst>
              <p:ext uri="{D42A27DB-BD31-4B8C-83A1-F6EECF244321}">
                <p14:modId xmlns:p14="http://schemas.microsoft.com/office/powerpoint/2010/main" val="1524775767"/>
              </p:ext>
            </p:extLst>
          </p:nvPr>
        </p:nvGraphicFramePr>
        <p:xfrm>
          <a:off x="2174414" y="3898578"/>
          <a:ext cx="7588658" cy="2265918"/>
        </p:xfrm>
        <a:graphic>
          <a:graphicData uri="http://schemas.openxmlformats.org/drawingml/2006/table">
            <a:tbl>
              <a:tblPr firstRow="1" firstCol="1" bandRow="1">
                <a:tableStyleId>{5C22544A-7EE6-4342-B048-85BDC9FD1C3A}</a:tableStyleId>
              </a:tblPr>
              <a:tblGrid>
                <a:gridCol w="3744445">
                  <a:extLst>
                    <a:ext uri="{9D8B030D-6E8A-4147-A177-3AD203B41FA5}">
                      <a16:colId xmlns:a16="http://schemas.microsoft.com/office/drawing/2014/main" val="20000"/>
                    </a:ext>
                  </a:extLst>
                </a:gridCol>
                <a:gridCol w="3844213">
                  <a:extLst>
                    <a:ext uri="{9D8B030D-6E8A-4147-A177-3AD203B41FA5}">
                      <a16:colId xmlns:a16="http://schemas.microsoft.com/office/drawing/2014/main" val="20001"/>
                    </a:ext>
                  </a:extLst>
                </a:gridCol>
              </a:tblGrid>
              <a:tr h="318374">
                <a:tc>
                  <a:txBody>
                    <a:bodyPr/>
                    <a:lstStyle/>
                    <a:p>
                      <a:pPr algn="ctr">
                        <a:spcBef>
                          <a:spcPts val="150"/>
                        </a:spcBef>
                        <a:spcAft>
                          <a:spcPts val="150"/>
                        </a:spcAft>
                      </a:pPr>
                      <a:r>
                        <a:rPr lang="zh-CN" sz="1400" kern="500">
                          <a:effectLst/>
                        </a:rPr>
                        <a:t>条件判断符</a:t>
                      </a:r>
                      <a:endParaRPr lang="zh-CN" sz="1400" kern="500">
                        <a:effectLst/>
                        <a:latin typeface="Times New Roman" panose="02020503050405090304"/>
                        <a:ea typeface="宋体"/>
                      </a:endParaRPr>
                    </a:p>
                  </a:txBody>
                  <a:tcPr marL="68580" marR="68580" marT="0" marB="0" anchor="ctr"/>
                </a:tc>
                <a:tc>
                  <a:txBody>
                    <a:bodyPr/>
                    <a:lstStyle/>
                    <a:p>
                      <a:pPr algn="ctr">
                        <a:spcBef>
                          <a:spcPts val="150"/>
                        </a:spcBef>
                        <a:spcAft>
                          <a:spcPts val="150"/>
                        </a:spcAft>
                      </a:pPr>
                      <a:r>
                        <a:rPr lang="zh-CN" sz="1400" kern="500">
                          <a:effectLst/>
                        </a:rPr>
                        <a:t>说</a:t>
                      </a:r>
                      <a:r>
                        <a:rPr lang="en-US" sz="1400" kern="500">
                          <a:effectLst/>
                        </a:rPr>
                        <a:t>  </a:t>
                      </a:r>
                      <a:r>
                        <a:rPr lang="zh-CN" sz="1400" kern="500">
                          <a:effectLst/>
                        </a:rPr>
                        <a:t>明</a:t>
                      </a:r>
                      <a:endParaRPr lang="zh-CN" sz="1400" kern="500">
                        <a:effectLst/>
                        <a:latin typeface="Times New Roman" panose="02020503050405090304"/>
                        <a:ea typeface="宋体"/>
                      </a:endParaRPr>
                    </a:p>
                  </a:txBody>
                  <a:tcPr marL="68580" marR="68580" marT="0" marB="0" anchor="ctr"/>
                </a:tc>
                <a:extLst>
                  <a:ext uri="{0D108BD9-81ED-4DB2-BD59-A6C34878D82A}">
                    <a16:rowId xmlns:a16="http://schemas.microsoft.com/office/drawing/2014/main" val="10000"/>
                  </a:ext>
                </a:extLst>
              </a:tr>
              <a:tr h="318374">
                <a:tc>
                  <a:txBody>
                    <a:bodyPr/>
                    <a:lstStyle/>
                    <a:p>
                      <a:pPr algn="ctr">
                        <a:spcBef>
                          <a:spcPts val="150"/>
                        </a:spcBef>
                        <a:spcAft>
                          <a:spcPts val="150"/>
                        </a:spcAft>
                      </a:pPr>
                      <a:r>
                        <a:rPr lang="en-US" sz="1400" kern="500">
                          <a:effectLst/>
                        </a:rPr>
                        <a:t>=</a:t>
                      </a:r>
                      <a:endParaRPr lang="zh-CN" sz="1400" kern="500">
                        <a:effectLst/>
                        <a:latin typeface="Times New Roman" panose="02020503050405090304"/>
                        <a:ea typeface="宋体"/>
                      </a:endParaRPr>
                    </a:p>
                  </a:txBody>
                  <a:tcPr marL="68580" marR="68580" marT="0" marB="0" anchor="ctr"/>
                </a:tc>
                <a:tc>
                  <a:txBody>
                    <a:bodyPr/>
                    <a:lstStyle/>
                    <a:p>
                      <a:pPr algn="ctr">
                        <a:spcBef>
                          <a:spcPts val="150"/>
                        </a:spcBef>
                        <a:spcAft>
                          <a:spcPts val="150"/>
                        </a:spcAft>
                      </a:pPr>
                      <a:r>
                        <a:rPr lang="zh-CN" altLang="en-US" sz="1400" kern="1200" dirty="0">
                          <a:solidFill>
                            <a:srgbClr val="44546A"/>
                          </a:solidFill>
                          <a:latin typeface="微软雅黑" panose="020B0503020204020204" pitchFamily="34" charset="-122"/>
                          <a:ea typeface="微软雅黑" pitchFamily="34" charset="-122"/>
                          <a:cs typeface="+mn-cs"/>
                        </a:rPr>
                        <a:t>相</a:t>
                      </a:r>
                      <a:r>
                        <a:rPr lang="en-US" sz="1400" kern="1200" dirty="0">
                          <a:solidFill>
                            <a:srgbClr val="44546A"/>
                          </a:solidFill>
                          <a:latin typeface="微软雅黑" panose="020B0503020204020204" pitchFamily="34" charset="-122"/>
                          <a:ea typeface="微软雅黑" pitchFamily="34" charset="-122"/>
                          <a:cs typeface="+mn-cs"/>
                        </a:rPr>
                        <a:t>  </a:t>
                      </a:r>
                      <a:r>
                        <a:rPr lang="zh-CN" altLang="en-US" sz="1400" kern="1200" dirty="0">
                          <a:solidFill>
                            <a:srgbClr val="44546A"/>
                          </a:solidFill>
                          <a:latin typeface="微软雅黑" panose="020B0503020204020204" pitchFamily="34" charset="-122"/>
                          <a:ea typeface="微软雅黑" pitchFamily="34" charset="-122"/>
                          <a:cs typeface="+mn-cs"/>
                        </a:rPr>
                        <a:t>等</a:t>
                      </a:r>
                    </a:p>
                  </a:txBody>
                  <a:tcPr marL="68580" marR="68580" marT="0" marB="0" anchor="ctr"/>
                </a:tc>
                <a:extLst>
                  <a:ext uri="{0D108BD9-81ED-4DB2-BD59-A6C34878D82A}">
                    <a16:rowId xmlns:a16="http://schemas.microsoft.com/office/drawing/2014/main" val="10001"/>
                  </a:ext>
                </a:extLst>
              </a:tr>
              <a:tr h="324446">
                <a:tc>
                  <a:txBody>
                    <a:bodyPr/>
                    <a:lstStyle/>
                    <a:p>
                      <a:pPr algn="ctr">
                        <a:spcBef>
                          <a:spcPts val="150"/>
                        </a:spcBef>
                        <a:spcAft>
                          <a:spcPts val="150"/>
                        </a:spcAft>
                      </a:pPr>
                      <a:r>
                        <a:rPr lang="en-US" sz="1400" kern="500">
                          <a:effectLst/>
                        </a:rPr>
                        <a:t>&lt; </a:t>
                      </a:r>
                      <a:endParaRPr lang="zh-CN" sz="1400" kern="500">
                        <a:effectLst/>
                        <a:latin typeface="Times New Roman" panose="02020503050405090304"/>
                        <a:ea typeface="宋体"/>
                      </a:endParaRPr>
                    </a:p>
                  </a:txBody>
                  <a:tcPr marL="68580" marR="68580" marT="0" marB="0" anchor="ctr"/>
                </a:tc>
                <a:tc>
                  <a:txBody>
                    <a:bodyPr/>
                    <a:lstStyle/>
                    <a:p>
                      <a:pPr algn="ctr">
                        <a:spcBef>
                          <a:spcPts val="150"/>
                        </a:spcBef>
                        <a:spcAft>
                          <a:spcPts val="150"/>
                        </a:spcAft>
                      </a:pPr>
                      <a:r>
                        <a:rPr lang="zh-CN" altLang="en-US" sz="1400" kern="1200">
                          <a:solidFill>
                            <a:srgbClr val="44546A"/>
                          </a:solidFill>
                          <a:latin typeface="微软雅黑" panose="020B0503020204020204" pitchFamily="34" charset="-122"/>
                          <a:ea typeface="微软雅黑" pitchFamily="34" charset="-122"/>
                          <a:cs typeface="+mn-cs"/>
                        </a:rPr>
                        <a:t>小</a:t>
                      </a:r>
                      <a:r>
                        <a:rPr lang="en-US" sz="1400" kern="1200">
                          <a:solidFill>
                            <a:srgbClr val="44546A"/>
                          </a:solidFill>
                          <a:latin typeface="微软雅黑" panose="020B0503020204020204" pitchFamily="34" charset="-122"/>
                          <a:ea typeface="微软雅黑" pitchFamily="34" charset="-122"/>
                          <a:cs typeface="+mn-cs"/>
                        </a:rPr>
                        <a:t>  </a:t>
                      </a:r>
                      <a:r>
                        <a:rPr lang="zh-CN" altLang="en-US" sz="1400" kern="1200">
                          <a:solidFill>
                            <a:srgbClr val="44546A"/>
                          </a:solidFill>
                          <a:latin typeface="微软雅黑" panose="020B0503020204020204" pitchFamily="34" charset="-122"/>
                          <a:ea typeface="微软雅黑" pitchFamily="34" charset="-122"/>
                          <a:cs typeface="+mn-cs"/>
                        </a:rPr>
                        <a:t>于</a:t>
                      </a:r>
                    </a:p>
                  </a:txBody>
                  <a:tcPr marL="68580" marR="68580" marT="0" marB="0" anchor="ctr"/>
                </a:tc>
                <a:extLst>
                  <a:ext uri="{0D108BD9-81ED-4DB2-BD59-A6C34878D82A}">
                    <a16:rowId xmlns:a16="http://schemas.microsoft.com/office/drawing/2014/main" val="10002"/>
                  </a:ext>
                </a:extLst>
              </a:tr>
              <a:tr h="331386">
                <a:tc>
                  <a:txBody>
                    <a:bodyPr/>
                    <a:lstStyle/>
                    <a:p>
                      <a:pPr algn="ctr">
                        <a:spcBef>
                          <a:spcPts val="150"/>
                        </a:spcBef>
                        <a:spcAft>
                          <a:spcPts val="150"/>
                        </a:spcAft>
                      </a:pPr>
                      <a:r>
                        <a:rPr lang="en-US" sz="1400" kern="500">
                          <a:effectLst/>
                        </a:rPr>
                        <a:t>&gt; </a:t>
                      </a:r>
                      <a:endParaRPr lang="zh-CN" sz="1400" kern="500">
                        <a:effectLst/>
                        <a:latin typeface="Times New Roman" panose="02020503050405090304"/>
                        <a:ea typeface="宋体"/>
                      </a:endParaRPr>
                    </a:p>
                  </a:txBody>
                  <a:tcPr marL="68580" marR="68580" marT="0" marB="0" anchor="ctr"/>
                </a:tc>
                <a:tc>
                  <a:txBody>
                    <a:bodyPr/>
                    <a:lstStyle/>
                    <a:p>
                      <a:pPr algn="ctr">
                        <a:spcBef>
                          <a:spcPts val="150"/>
                        </a:spcBef>
                        <a:spcAft>
                          <a:spcPts val="150"/>
                        </a:spcAft>
                      </a:pPr>
                      <a:r>
                        <a:rPr lang="zh-CN" altLang="en-US" sz="1400" kern="1200" dirty="0">
                          <a:solidFill>
                            <a:srgbClr val="44546A"/>
                          </a:solidFill>
                          <a:latin typeface="微软雅黑" panose="020B0503020204020204" pitchFamily="34" charset="-122"/>
                          <a:ea typeface="微软雅黑" pitchFamily="34" charset="-122"/>
                          <a:cs typeface="+mn-cs"/>
                        </a:rPr>
                        <a:t>大</a:t>
                      </a:r>
                      <a:r>
                        <a:rPr lang="en-US" sz="1400" kern="1200" dirty="0">
                          <a:solidFill>
                            <a:srgbClr val="44546A"/>
                          </a:solidFill>
                          <a:latin typeface="微软雅黑" panose="020B0503020204020204" pitchFamily="34" charset="-122"/>
                          <a:ea typeface="微软雅黑" pitchFamily="34" charset="-122"/>
                          <a:cs typeface="+mn-cs"/>
                        </a:rPr>
                        <a:t>  </a:t>
                      </a:r>
                      <a:r>
                        <a:rPr lang="zh-CN" altLang="en-US" sz="1400" kern="1200" dirty="0">
                          <a:solidFill>
                            <a:srgbClr val="44546A"/>
                          </a:solidFill>
                          <a:latin typeface="微软雅黑" panose="020B0503020204020204" pitchFamily="34" charset="-122"/>
                          <a:ea typeface="微软雅黑" pitchFamily="34" charset="-122"/>
                          <a:cs typeface="+mn-cs"/>
                        </a:rPr>
                        <a:t>于</a:t>
                      </a:r>
                    </a:p>
                  </a:txBody>
                  <a:tcPr marL="68580" marR="68580" marT="0" marB="0" anchor="ctr"/>
                </a:tc>
                <a:extLst>
                  <a:ext uri="{0D108BD9-81ED-4DB2-BD59-A6C34878D82A}">
                    <a16:rowId xmlns:a16="http://schemas.microsoft.com/office/drawing/2014/main" val="10003"/>
                  </a:ext>
                </a:extLst>
              </a:tr>
              <a:tr h="324446">
                <a:tc>
                  <a:txBody>
                    <a:bodyPr/>
                    <a:lstStyle/>
                    <a:p>
                      <a:pPr algn="ctr">
                        <a:spcBef>
                          <a:spcPts val="150"/>
                        </a:spcBef>
                        <a:spcAft>
                          <a:spcPts val="150"/>
                        </a:spcAft>
                      </a:pPr>
                      <a:r>
                        <a:rPr lang="en-US" sz="1400" kern="500">
                          <a:effectLst/>
                        </a:rPr>
                        <a:t>&lt;&gt;</a:t>
                      </a:r>
                      <a:r>
                        <a:rPr lang="zh-CN" sz="1400" kern="500">
                          <a:effectLst/>
                        </a:rPr>
                        <a:t>（</a:t>
                      </a:r>
                      <a:r>
                        <a:rPr lang="en-US" sz="1400" kern="500">
                          <a:effectLst/>
                        </a:rPr>
                        <a:t>!=</a:t>
                      </a:r>
                      <a:r>
                        <a:rPr lang="zh-CN" sz="1400" kern="500">
                          <a:effectLst/>
                        </a:rPr>
                        <a:t>）</a:t>
                      </a:r>
                      <a:endParaRPr lang="zh-CN" sz="1400" kern="500">
                        <a:effectLst/>
                        <a:latin typeface="Times New Roman" panose="02020503050405090304"/>
                        <a:ea typeface="宋体"/>
                      </a:endParaRPr>
                    </a:p>
                  </a:txBody>
                  <a:tcPr marL="68580" marR="68580" marT="0" marB="0" anchor="ctr"/>
                </a:tc>
                <a:tc>
                  <a:txBody>
                    <a:bodyPr/>
                    <a:lstStyle/>
                    <a:p>
                      <a:pPr algn="ctr">
                        <a:spcBef>
                          <a:spcPts val="150"/>
                        </a:spcBef>
                        <a:spcAft>
                          <a:spcPts val="150"/>
                        </a:spcAft>
                      </a:pPr>
                      <a:r>
                        <a:rPr lang="zh-CN" altLang="en-US" sz="1400" kern="1200">
                          <a:solidFill>
                            <a:srgbClr val="44546A"/>
                          </a:solidFill>
                          <a:latin typeface="微软雅黑" panose="020B0503020204020204" pitchFamily="34" charset="-122"/>
                          <a:ea typeface="微软雅黑" pitchFamily="34" charset="-122"/>
                          <a:cs typeface="+mn-cs"/>
                        </a:rPr>
                        <a:t>不相等</a:t>
                      </a:r>
                    </a:p>
                  </a:txBody>
                  <a:tcPr marL="68580" marR="68580" marT="0" marB="0" anchor="ctr"/>
                </a:tc>
                <a:extLst>
                  <a:ext uri="{0D108BD9-81ED-4DB2-BD59-A6C34878D82A}">
                    <a16:rowId xmlns:a16="http://schemas.microsoft.com/office/drawing/2014/main" val="10004"/>
                  </a:ext>
                </a:extLst>
              </a:tr>
              <a:tr h="324446">
                <a:tc>
                  <a:txBody>
                    <a:bodyPr/>
                    <a:lstStyle/>
                    <a:p>
                      <a:pPr algn="ctr">
                        <a:spcBef>
                          <a:spcPts val="150"/>
                        </a:spcBef>
                        <a:spcAft>
                          <a:spcPts val="150"/>
                        </a:spcAft>
                      </a:pPr>
                      <a:r>
                        <a:rPr lang="en-US" sz="1400" kern="500">
                          <a:effectLst/>
                        </a:rPr>
                        <a:t>&lt;=</a:t>
                      </a:r>
                      <a:endParaRPr lang="zh-CN" sz="1400" kern="500">
                        <a:effectLst/>
                        <a:latin typeface="Times New Roman" panose="02020503050405090304"/>
                        <a:ea typeface="宋体"/>
                      </a:endParaRPr>
                    </a:p>
                  </a:txBody>
                  <a:tcPr marL="68580" marR="68580" marT="0" marB="0" anchor="ctr"/>
                </a:tc>
                <a:tc>
                  <a:txBody>
                    <a:bodyPr/>
                    <a:lstStyle/>
                    <a:p>
                      <a:pPr algn="ctr">
                        <a:spcBef>
                          <a:spcPts val="150"/>
                        </a:spcBef>
                        <a:spcAft>
                          <a:spcPts val="150"/>
                        </a:spcAft>
                      </a:pPr>
                      <a:r>
                        <a:rPr lang="zh-CN" altLang="en-US" sz="1400" kern="1200" dirty="0">
                          <a:solidFill>
                            <a:srgbClr val="44546A"/>
                          </a:solidFill>
                          <a:latin typeface="微软雅黑" panose="020B0503020204020204" pitchFamily="34" charset="-122"/>
                          <a:ea typeface="微软雅黑" pitchFamily="34" charset="-122"/>
                          <a:cs typeface="+mn-cs"/>
                        </a:rPr>
                        <a:t>小于或者等于</a:t>
                      </a:r>
                    </a:p>
                  </a:txBody>
                  <a:tcPr marL="68580" marR="68580" marT="0" marB="0" anchor="ctr"/>
                </a:tc>
                <a:extLst>
                  <a:ext uri="{0D108BD9-81ED-4DB2-BD59-A6C34878D82A}">
                    <a16:rowId xmlns:a16="http://schemas.microsoft.com/office/drawing/2014/main" val="10005"/>
                  </a:ext>
                </a:extLst>
              </a:tr>
              <a:tr h="324446">
                <a:tc>
                  <a:txBody>
                    <a:bodyPr/>
                    <a:lstStyle/>
                    <a:p>
                      <a:pPr algn="ctr">
                        <a:spcBef>
                          <a:spcPts val="150"/>
                        </a:spcBef>
                        <a:spcAft>
                          <a:spcPts val="150"/>
                        </a:spcAft>
                      </a:pPr>
                      <a:r>
                        <a:rPr lang="en-US" sz="1400" kern="500">
                          <a:effectLst/>
                        </a:rPr>
                        <a:t>&gt;=</a:t>
                      </a:r>
                      <a:endParaRPr lang="zh-CN" sz="1400" kern="500">
                        <a:effectLst/>
                        <a:latin typeface="Times New Roman" panose="02020503050405090304"/>
                        <a:ea typeface="宋体"/>
                      </a:endParaRPr>
                    </a:p>
                  </a:txBody>
                  <a:tcPr marL="68580" marR="68580" marT="0" marB="0" anchor="ctr"/>
                </a:tc>
                <a:tc>
                  <a:txBody>
                    <a:bodyPr/>
                    <a:lstStyle/>
                    <a:p>
                      <a:pPr algn="ctr">
                        <a:spcBef>
                          <a:spcPts val="150"/>
                        </a:spcBef>
                        <a:spcAft>
                          <a:spcPts val="150"/>
                        </a:spcAft>
                      </a:pPr>
                      <a:r>
                        <a:rPr lang="zh-CN" altLang="en-US" sz="1400" kern="1200" dirty="0">
                          <a:solidFill>
                            <a:srgbClr val="44546A"/>
                          </a:solidFill>
                          <a:latin typeface="微软雅黑" panose="020B0503020204020204" pitchFamily="34" charset="-122"/>
                          <a:ea typeface="微软雅黑" pitchFamily="34" charset="-122"/>
                          <a:cs typeface="+mn-cs"/>
                        </a:rPr>
                        <a:t>大于或者等于</a:t>
                      </a:r>
                    </a:p>
                  </a:txBody>
                  <a:tcPr marL="68580" marR="68580" marT="0" marB="0" anchor="ctr"/>
                </a:tc>
                <a:extLst>
                  <a:ext uri="{0D108BD9-81ED-4DB2-BD59-A6C34878D82A}">
                    <a16:rowId xmlns:a16="http://schemas.microsoft.com/office/drawing/2014/main" val="10006"/>
                  </a:ext>
                </a:extLst>
              </a:tr>
            </a:tbl>
          </a:graphicData>
        </a:graphic>
      </p:graphicFrame>
      <p:sp>
        <p:nvSpPr>
          <p:cNvPr id="9" name="矩形 8">
            <a:extLst>
              <a:ext uri="{FF2B5EF4-FFF2-40B4-BE49-F238E27FC236}">
                <a16:creationId xmlns:a16="http://schemas.microsoft.com/office/drawing/2014/main" id="{50F615E4-B9C3-30B4-136E-6BF830AE5540}"/>
              </a:ext>
            </a:extLst>
          </p:cNvPr>
          <p:cNvSpPr/>
          <p:nvPr/>
        </p:nvSpPr>
        <p:spPr>
          <a:xfrm>
            <a:off x="2174414" y="6180441"/>
            <a:ext cx="2794355" cy="307777"/>
          </a:xfrm>
          <a:prstGeom prst="rect">
            <a:avLst/>
          </a:prstGeom>
        </p:spPr>
        <p:txBody>
          <a:bodyPr wrap="none">
            <a:spAutoFit/>
          </a:bodyPr>
          <a:lstStyle/>
          <a:p>
            <a:r>
              <a:rPr lang="zh-CN" altLang="en-US" sz="1400" dirty="0">
                <a:solidFill>
                  <a:srgbClr val="44546A"/>
                </a:solidFill>
                <a:latin typeface="微软雅黑" panose="020B0503020204020204" pitchFamily="34" charset="-122"/>
                <a:ea typeface="微软雅黑" pitchFamily="34" charset="-122"/>
              </a:rPr>
              <a:t>注：“</a:t>
            </a:r>
            <a:r>
              <a:rPr lang="en-US" altLang="zh-CN" sz="1400" dirty="0">
                <a:solidFill>
                  <a:srgbClr val="44546A"/>
                </a:solidFill>
                <a:latin typeface="微软雅黑" panose="020B0503020204020204" pitchFamily="34" charset="-122"/>
                <a:ea typeface="微软雅黑" pitchFamily="34" charset="-122"/>
              </a:rPr>
              <a:t>&lt;&gt;”</a:t>
            </a:r>
            <a:r>
              <a:rPr lang="zh-CN" altLang="en-US" sz="1400" dirty="0">
                <a:solidFill>
                  <a:srgbClr val="44546A"/>
                </a:solidFill>
                <a:latin typeface="微软雅黑" panose="020B0503020204020204" pitchFamily="34" charset="-122"/>
                <a:ea typeface="微软雅黑" pitchFamily="34" charset="-122"/>
              </a:rPr>
              <a:t>和“</a:t>
            </a:r>
            <a:r>
              <a:rPr lang="en-US" altLang="zh-CN" sz="1400" dirty="0">
                <a:solidFill>
                  <a:srgbClr val="44546A"/>
                </a:solidFill>
                <a:latin typeface="微软雅黑" panose="020B0503020204020204" pitchFamily="34" charset="-122"/>
                <a:ea typeface="微软雅黑" pitchFamily="34" charset="-122"/>
              </a:rPr>
              <a:t>!=”</a:t>
            </a:r>
            <a:r>
              <a:rPr lang="zh-CN" altLang="en-US" sz="1400" dirty="0">
                <a:solidFill>
                  <a:srgbClr val="44546A"/>
                </a:solidFill>
                <a:latin typeface="微软雅黑" panose="020B0503020204020204" pitchFamily="34" charset="-122"/>
                <a:ea typeface="微软雅黑" pitchFamily="34" charset="-122"/>
              </a:rPr>
              <a:t>功能相同。</a:t>
            </a:r>
          </a:p>
        </p:txBody>
      </p:sp>
    </p:spTree>
    <p:extLst>
      <p:ext uri="{BB962C8B-B14F-4D97-AF65-F5344CB8AC3E}">
        <p14:creationId xmlns:p14="http://schemas.microsoft.com/office/powerpoint/2010/main" val="37459198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7" grpId="0"/>
      <p:bldP spid="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查询指定记录</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3">
            <a:extLst>
              <a:ext uri="{FF2B5EF4-FFF2-40B4-BE49-F238E27FC236}">
                <a16:creationId xmlns:a16="http://schemas.microsoft.com/office/drawing/2014/main" id="{2A063F1C-EC6F-50BC-3CAB-8CE8FD094589}"/>
              </a:ext>
            </a:extLst>
          </p:cNvPr>
          <p:cNvSpPr txBox="1">
            <a:spLocks noChangeArrowheads="1"/>
          </p:cNvSpPr>
          <p:nvPr/>
        </p:nvSpPr>
        <p:spPr bwMode="auto">
          <a:xfrm>
            <a:off x="1882586" y="944273"/>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dirty="0">
                <a:solidFill>
                  <a:srgbClr val="44546A"/>
                </a:solidFill>
                <a:latin typeface="微软雅黑" panose="020B0503020204020204" pitchFamily="34" charset="-122"/>
              </a:rPr>
              <a:t>使用“</a:t>
            </a:r>
            <a:r>
              <a:rPr lang="en-US" altLang="zh-CN" dirty="0">
                <a:solidFill>
                  <a:srgbClr val="44546A"/>
                </a:solidFill>
                <a:latin typeface="微软雅黑" panose="020B0503020204020204" pitchFamily="34" charset="-122"/>
              </a:rPr>
              <a:t>=”</a:t>
            </a:r>
            <a:r>
              <a:rPr lang="zh-CN" altLang="en-US" dirty="0">
                <a:solidFill>
                  <a:srgbClr val="44546A"/>
                </a:solidFill>
                <a:latin typeface="微软雅黑" panose="020B0503020204020204" pitchFamily="34" charset="-122"/>
              </a:rPr>
              <a:t>符号查询</a:t>
            </a:r>
            <a:endParaRPr lang="zh-CN" altLang="en-US" noProof="1">
              <a:solidFill>
                <a:srgbClr val="44546A"/>
              </a:solidFill>
              <a:latin typeface="微软雅黑" panose="020B0503020204020204" pitchFamily="34" charset="-122"/>
            </a:endParaRPr>
          </a:p>
        </p:txBody>
      </p:sp>
      <p:grpSp>
        <p:nvGrpSpPr>
          <p:cNvPr id="4" name="组合 3">
            <a:extLst>
              <a:ext uri="{FF2B5EF4-FFF2-40B4-BE49-F238E27FC236}">
                <a16:creationId xmlns:a16="http://schemas.microsoft.com/office/drawing/2014/main" id="{95651FE1-7436-1073-9E3D-5924F1815417}"/>
              </a:ext>
            </a:extLst>
          </p:cNvPr>
          <p:cNvGrpSpPr/>
          <p:nvPr/>
        </p:nvGrpSpPr>
        <p:grpSpPr>
          <a:xfrm>
            <a:off x="879286" y="856961"/>
            <a:ext cx="1003300" cy="722312"/>
            <a:chOff x="877888" y="1586140"/>
            <a:chExt cx="1003300" cy="722312"/>
          </a:xfrm>
        </p:grpSpPr>
        <p:sp>
          <p:nvSpPr>
            <p:cNvPr id="5" name="íṩľíḍè-Freeform: Shape 9">
              <a:extLst>
                <a:ext uri="{FF2B5EF4-FFF2-40B4-BE49-F238E27FC236}">
                  <a16:creationId xmlns:a16="http://schemas.microsoft.com/office/drawing/2014/main" id="{DD552A91-E8C4-3ED5-4310-AAD9A5D1668C}"/>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íṩľíḍè-Oval 10">
              <a:extLst>
                <a:ext uri="{FF2B5EF4-FFF2-40B4-BE49-F238E27FC236}">
                  <a16:creationId xmlns:a16="http://schemas.microsoft.com/office/drawing/2014/main" id="{6211E6A9-743A-7616-0367-5FA47FC18A49}"/>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1</a:t>
              </a:r>
            </a:p>
          </p:txBody>
        </p:sp>
      </p:grpSp>
      <p:grpSp>
        <p:nvGrpSpPr>
          <p:cNvPr id="7" name="组合 34">
            <a:extLst>
              <a:ext uri="{FF2B5EF4-FFF2-40B4-BE49-F238E27FC236}">
                <a16:creationId xmlns:a16="http://schemas.microsoft.com/office/drawing/2014/main" id="{40C0A01A-CAB5-F8AD-B2C2-57A0B1E7E3BE}"/>
              </a:ext>
            </a:extLst>
          </p:cNvPr>
          <p:cNvGrpSpPr/>
          <p:nvPr/>
        </p:nvGrpSpPr>
        <p:grpSpPr>
          <a:xfrm>
            <a:off x="838200" y="1569781"/>
            <a:ext cx="2183765" cy="600710"/>
            <a:chOff x="1320" y="4641"/>
            <a:chExt cx="3439" cy="946"/>
          </a:xfrm>
          <a:solidFill>
            <a:srgbClr val="1D7FC6"/>
          </a:solidFill>
        </p:grpSpPr>
        <p:sp>
          <p:nvSpPr>
            <p:cNvPr id="8" name="椭圆 7">
              <a:extLst>
                <a:ext uri="{FF2B5EF4-FFF2-40B4-BE49-F238E27FC236}">
                  <a16:creationId xmlns:a16="http://schemas.microsoft.com/office/drawing/2014/main" id="{7AD37FB3-A6DC-E373-2E6F-D2BD17BD882D}"/>
                </a:ext>
              </a:extLst>
            </p:cNvPr>
            <p:cNvSpPr/>
            <p:nvPr/>
          </p:nvSpPr>
          <p:spPr>
            <a:xfrm>
              <a:off x="1320" y="4641"/>
              <a:ext cx="946" cy="946"/>
            </a:xfrm>
            <a:prstGeom prst="ellipse">
              <a:avLst/>
            </a:prstGeom>
            <a:grp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9" name="圆角矩形 14">
              <a:extLst>
                <a:ext uri="{FF2B5EF4-FFF2-40B4-BE49-F238E27FC236}">
                  <a16:creationId xmlns:a16="http://schemas.microsoft.com/office/drawing/2014/main" id="{9FDF8EB4-9D72-0EB1-3B9E-A3589DB6AA99}"/>
                </a:ext>
              </a:extLst>
            </p:cNvPr>
            <p:cNvSpPr/>
            <p:nvPr/>
          </p:nvSpPr>
          <p:spPr>
            <a:xfrm>
              <a:off x="1673" y="4793"/>
              <a:ext cx="3086" cy="643"/>
            </a:xfrm>
            <a:prstGeom prst="roundRect">
              <a:avLst/>
            </a:prstGeom>
            <a:grp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4</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0" name="文本框 36">
            <a:extLst>
              <a:ext uri="{FF2B5EF4-FFF2-40B4-BE49-F238E27FC236}">
                <a16:creationId xmlns:a16="http://schemas.microsoft.com/office/drawing/2014/main" id="{6559477D-D858-C030-04B3-E8612493D525}"/>
              </a:ext>
            </a:extLst>
          </p:cNvPr>
          <p:cNvSpPr txBox="1">
            <a:spLocks noChangeArrowheads="1"/>
          </p:cNvSpPr>
          <p:nvPr/>
        </p:nvSpPr>
        <p:spPr bwMode="auto">
          <a:xfrm>
            <a:off x="3278188" y="1686621"/>
            <a:ext cx="7778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dirty="0">
                <a:solidFill>
                  <a:srgbClr val="44546A"/>
                </a:solidFill>
                <a:latin typeface="微软雅黑" panose="020B0503020204020204" pitchFamily="34" charset="-122"/>
              </a:rPr>
              <a:t>从</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表中查询</a:t>
            </a:r>
            <a:r>
              <a:rPr lang="en-US" altLang="zh-CN" dirty="0">
                <a:solidFill>
                  <a:srgbClr val="44546A"/>
                </a:solidFill>
                <a:latin typeface="微软雅黑" panose="020B0503020204020204" pitchFamily="34" charset="-122"/>
              </a:rPr>
              <a:t>id</a:t>
            </a:r>
            <a:r>
              <a:rPr lang="zh-CN" altLang="en-US" dirty="0">
                <a:solidFill>
                  <a:srgbClr val="44546A"/>
                </a:solidFill>
                <a:latin typeface="微软雅黑" panose="020B0503020204020204" pitchFamily="34" charset="-122"/>
              </a:rPr>
              <a:t>值为</a:t>
            </a:r>
            <a:r>
              <a:rPr lang="en-US" altLang="zh-CN" dirty="0">
                <a:solidFill>
                  <a:srgbClr val="44546A"/>
                </a:solidFill>
                <a:latin typeface="微软雅黑" panose="020B0503020204020204" pitchFamily="34" charset="-122"/>
              </a:rPr>
              <a:t>3</a:t>
            </a:r>
            <a:r>
              <a:rPr lang="zh-CN" altLang="en-US" dirty="0">
                <a:solidFill>
                  <a:srgbClr val="44546A"/>
                </a:solidFill>
                <a:latin typeface="微软雅黑" panose="020B0503020204020204" pitchFamily="34" charset="-122"/>
              </a:rPr>
              <a:t>的记录。</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语句及其执行结果如下：</a:t>
            </a:r>
          </a:p>
        </p:txBody>
      </p:sp>
      <p:sp>
        <p:nvSpPr>
          <p:cNvPr id="11" name="矩形 10">
            <a:extLst>
              <a:ext uri="{FF2B5EF4-FFF2-40B4-BE49-F238E27FC236}">
                <a16:creationId xmlns:a16="http://schemas.microsoft.com/office/drawing/2014/main" id="{F1333F4F-7996-3E25-C571-48502FEDDF48}"/>
              </a:ext>
            </a:extLst>
          </p:cNvPr>
          <p:cNvSpPr/>
          <p:nvPr/>
        </p:nvSpPr>
        <p:spPr>
          <a:xfrm>
            <a:off x="1062355" y="2310387"/>
            <a:ext cx="9882453" cy="1902456"/>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2" name="文本框 38">
            <a:extLst>
              <a:ext uri="{FF2B5EF4-FFF2-40B4-BE49-F238E27FC236}">
                <a16:creationId xmlns:a16="http://schemas.microsoft.com/office/drawing/2014/main" id="{BF692EDE-4712-289C-5229-FA8FBD3BCB2F}"/>
              </a:ext>
            </a:extLst>
          </p:cNvPr>
          <p:cNvSpPr txBox="1">
            <a:spLocks noChangeArrowheads="1"/>
          </p:cNvSpPr>
          <p:nvPr/>
        </p:nvSpPr>
        <p:spPr bwMode="auto">
          <a:xfrm>
            <a:off x="2090250" y="2350305"/>
            <a:ext cx="8574639"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rgbClr val="1D7FC6"/>
                </a:solidFill>
                <a:latin typeface="+mn-lt"/>
              </a:rPr>
              <a:t>mysql&gt; SELECT * FROM goods WHERE id=3;</a:t>
            </a:r>
          </a:p>
          <a:p>
            <a:pPr eaLnBrk="1" hangingPunct="1"/>
            <a:r>
              <a:rPr lang="en-US" altLang="zh-CN" sz="1600" dirty="0">
                <a:solidFill>
                  <a:srgbClr val="1D7FC6"/>
                </a:solidFill>
                <a:latin typeface="+mn-lt"/>
              </a:rPr>
              <a:t>+----+----------+-----------+----------+----------+-----------------+</a:t>
            </a:r>
          </a:p>
          <a:p>
            <a:pPr eaLnBrk="1" hangingPunct="1"/>
            <a:r>
              <a:rPr lang="en-US" altLang="zh-CN" sz="1600" dirty="0">
                <a:solidFill>
                  <a:srgbClr val="1D7FC6"/>
                </a:solidFill>
                <a:latin typeface="+mn-lt"/>
              </a:rPr>
              <a:t>| id  | type	     | name    | price	  | num	| add_time      |</a:t>
            </a:r>
          </a:p>
          <a:p>
            <a:pPr eaLnBrk="1" hangingPunct="1"/>
            <a:r>
              <a:rPr lang="en-US" altLang="zh-CN" sz="1600" dirty="0">
                <a:solidFill>
                  <a:srgbClr val="1D7FC6"/>
                </a:solidFill>
                <a:latin typeface="+mn-lt"/>
              </a:rPr>
              <a:t>+----+----------+-----------+----------+----------+-----------------+</a:t>
            </a:r>
          </a:p>
          <a:p>
            <a:pPr eaLnBrk="1" hangingPunct="1"/>
            <a:r>
              <a:rPr lang="en-US" altLang="zh-CN" sz="1600" dirty="0">
                <a:solidFill>
                  <a:srgbClr val="1D7FC6"/>
                </a:solidFill>
                <a:latin typeface="+mn-lt"/>
              </a:rPr>
              <a:t>|  3  | </a:t>
            </a:r>
            <a:r>
              <a:rPr lang="zh-CN" altLang="en-US" sz="1600" dirty="0">
                <a:solidFill>
                  <a:srgbClr val="1D7FC6"/>
                </a:solidFill>
                <a:latin typeface="+mn-lt"/>
              </a:rPr>
              <a:t>糖类	     </a:t>
            </a:r>
            <a:r>
              <a:rPr lang="en-US" altLang="zh-CN" sz="1600" dirty="0">
                <a:solidFill>
                  <a:srgbClr val="1D7FC6"/>
                </a:solidFill>
                <a:latin typeface="+mn-lt"/>
              </a:rPr>
              <a:t>| </a:t>
            </a:r>
            <a:r>
              <a:rPr lang="zh-CN" altLang="en-US" sz="1600" dirty="0">
                <a:solidFill>
                  <a:srgbClr val="1D7FC6"/>
                </a:solidFill>
                <a:latin typeface="+mn-lt"/>
              </a:rPr>
              <a:t>水果糖  </a:t>
            </a:r>
            <a:r>
              <a:rPr lang="en-US" altLang="zh-CN" sz="1600" dirty="0">
                <a:solidFill>
                  <a:srgbClr val="1D7FC6"/>
                </a:solidFill>
                <a:latin typeface="+mn-lt"/>
              </a:rPr>
              <a:t>|  2.50	  |  100	| NULL	      |</a:t>
            </a:r>
          </a:p>
          <a:p>
            <a:pPr eaLnBrk="1" hangingPunct="1"/>
            <a:r>
              <a:rPr lang="en-US" altLang="zh-CN" sz="1600" dirty="0">
                <a:solidFill>
                  <a:srgbClr val="1D7FC6"/>
                </a:solidFill>
                <a:latin typeface="+mn-lt"/>
              </a:rPr>
              <a:t>+----+----------+-----------+----------+----------+-----------------+</a:t>
            </a:r>
          </a:p>
          <a:p>
            <a:pPr eaLnBrk="1" hangingPunct="1"/>
            <a:r>
              <a:rPr lang="en-US" altLang="zh-CN" sz="1600" dirty="0">
                <a:solidFill>
                  <a:srgbClr val="1D7FC6"/>
                </a:solidFill>
                <a:latin typeface="+mn-lt"/>
              </a:rPr>
              <a:t>1 row in set (0.06 sec)</a:t>
            </a:r>
          </a:p>
        </p:txBody>
      </p:sp>
    </p:spTree>
    <p:extLst>
      <p:ext uri="{BB962C8B-B14F-4D97-AF65-F5344CB8AC3E}">
        <p14:creationId xmlns:p14="http://schemas.microsoft.com/office/powerpoint/2010/main" val="11470458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1" grpId="0" animBg="1"/>
      <p:bldP spid="1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查询指定记录</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3">
            <a:extLst>
              <a:ext uri="{FF2B5EF4-FFF2-40B4-BE49-F238E27FC236}">
                <a16:creationId xmlns:a16="http://schemas.microsoft.com/office/drawing/2014/main" id="{2A063F1C-EC6F-50BC-3CAB-8CE8FD094589}"/>
              </a:ext>
            </a:extLst>
          </p:cNvPr>
          <p:cNvSpPr txBox="1">
            <a:spLocks noChangeArrowheads="1"/>
          </p:cNvSpPr>
          <p:nvPr/>
        </p:nvSpPr>
        <p:spPr bwMode="auto">
          <a:xfrm>
            <a:off x="1882586" y="944273"/>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dirty="0">
                <a:solidFill>
                  <a:srgbClr val="44546A"/>
                </a:solidFill>
                <a:latin typeface="微软雅黑" panose="020B0503020204020204" pitchFamily="34" charset="-122"/>
              </a:rPr>
              <a:t>使用“</a:t>
            </a:r>
            <a:r>
              <a:rPr lang="en-US" altLang="zh-CN" dirty="0">
                <a:solidFill>
                  <a:srgbClr val="44546A"/>
                </a:solidFill>
                <a:latin typeface="微软雅黑" panose="020B0503020204020204" pitchFamily="34" charset="-122"/>
              </a:rPr>
              <a:t>=”</a:t>
            </a:r>
            <a:r>
              <a:rPr lang="zh-CN" altLang="en-US" dirty="0">
                <a:solidFill>
                  <a:srgbClr val="44546A"/>
                </a:solidFill>
                <a:latin typeface="微软雅黑" panose="020B0503020204020204" pitchFamily="34" charset="-122"/>
              </a:rPr>
              <a:t>符号查询</a:t>
            </a:r>
            <a:endParaRPr lang="zh-CN" altLang="en-US" noProof="1">
              <a:solidFill>
                <a:srgbClr val="44546A"/>
              </a:solidFill>
              <a:latin typeface="微软雅黑" panose="020B0503020204020204" pitchFamily="34" charset="-122"/>
            </a:endParaRPr>
          </a:p>
        </p:txBody>
      </p:sp>
      <p:grpSp>
        <p:nvGrpSpPr>
          <p:cNvPr id="4" name="组合 3">
            <a:extLst>
              <a:ext uri="{FF2B5EF4-FFF2-40B4-BE49-F238E27FC236}">
                <a16:creationId xmlns:a16="http://schemas.microsoft.com/office/drawing/2014/main" id="{95651FE1-7436-1073-9E3D-5924F1815417}"/>
              </a:ext>
            </a:extLst>
          </p:cNvPr>
          <p:cNvGrpSpPr/>
          <p:nvPr/>
        </p:nvGrpSpPr>
        <p:grpSpPr>
          <a:xfrm>
            <a:off x="879286" y="856961"/>
            <a:ext cx="1003300" cy="722312"/>
            <a:chOff x="877888" y="1586140"/>
            <a:chExt cx="1003300" cy="722312"/>
          </a:xfrm>
        </p:grpSpPr>
        <p:sp>
          <p:nvSpPr>
            <p:cNvPr id="5" name="íṩľíḍè-Freeform: Shape 9">
              <a:extLst>
                <a:ext uri="{FF2B5EF4-FFF2-40B4-BE49-F238E27FC236}">
                  <a16:creationId xmlns:a16="http://schemas.microsoft.com/office/drawing/2014/main" id="{DD552A91-E8C4-3ED5-4310-AAD9A5D1668C}"/>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íṩľíḍè-Oval 10">
              <a:extLst>
                <a:ext uri="{FF2B5EF4-FFF2-40B4-BE49-F238E27FC236}">
                  <a16:creationId xmlns:a16="http://schemas.microsoft.com/office/drawing/2014/main" id="{6211E6A9-743A-7616-0367-5FA47FC18A49}"/>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1</a:t>
              </a:r>
            </a:p>
          </p:txBody>
        </p:sp>
      </p:grpSp>
      <p:grpSp>
        <p:nvGrpSpPr>
          <p:cNvPr id="7" name="组合 34">
            <a:extLst>
              <a:ext uri="{FF2B5EF4-FFF2-40B4-BE49-F238E27FC236}">
                <a16:creationId xmlns:a16="http://schemas.microsoft.com/office/drawing/2014/main" id="{40C0A01A-CAB5-F8AD-B2C2-57A0B1E7E3BE}"/>
              </a:ext>
            </a:extLst>
          </p:cNvPr>
          <p:cNvGrpSpPr/>
          <p:nvPr/>
        </p:nvGrpSpPr>
        <p:grpSpPr>
          <a:xfrm>
            <a:off x="838200" y="1569781"/>
            <a:ext cx="2183765" cy="600710"/>
            <a:chOff x="1320" y="4641"/>
            <a:chExt cx="3439" cy="946"/>
          </a:xfrm>
          <a:solidFill>
            <a:srgbClr val="1D7FC6"/>
          </a:solidFill>
        </p:grpSpPr>
        <p:sp>
          <p:nvSpPr>
            <p:cNvPr id="8" name="椭圆 7">
              <a:extLst>
                <a:ext uri="{FF2B5EF4-FFF2-40B4-BE49-F238E27FC236}">
                  <a16:creationId xmlns:a16="http://schemas.microsoft.com/office/drawing/2014/main" id="{7AD37FB3-A6DC-E373-2E6F-D2BD17BD882D}"/>
                </a:ext>
              </a:extLst>
            </p:cNvPr>
            <p:cNvSpPr/>
            <p:nvPr/>
          </p:nvSpPr>
          <p:spPr>
            <a:xfrm>
              <a:off x="1320" y="4641"/>
              <a:ext cx="946" cy="946"/>
            </a:xfrm>
            <a:prstGeom prst="ellipse">
              <a:avLst/>
            </a:prstGeom>
            <a:grp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9" name="圆角矩形 14">
              <a:extLst>
                <a:ext uri="{FF2B5EF4-FFF2-40B4-BE49-F238E27FC236}">
                  <a16:creationId xmlns:a16="http://schemas.microsoft.com/office/drawing/2014/main" id="{9FDF8EB4-9D72-0EB1-3B9E-A3589DB6AA99}"/>
                </a:ext>
              </a:extLst>
            </p:cNvPr>
            <p:cNvSpPr/>
            <p:nvPr/>
          </p:nvSpPr>
          <p:spPr>
            <a:xfrm>
              <a:off x="1673" y="4793"/>
              <a:ext cx="3086" cy="643"/>
            </a:xfrm>
            <a:prstGeom prst="roundRect">
              <a:avLst/>
            </a:prstGeom>
            <a:grp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5</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0" name="文本框 36">
            <a:extLst>
              <a:ext uri="{FF2B5EF4-FFF2-40B4-BE49-F238E27FC236}">
                <a16:creationId xmlns:a16="http://schemas.microsoft.com/office/drawing/2014/main" id="{6559477D-D858-C030-04B3-E8612493D525}"/>
              </a:ext>
            </a:extLst>
          </p:cNvPr>
          <p:cNvSpPr txBox="1">
            <a:spLocks noChangeArrowheads="1"/>
          </p:cNvSpPr>
          <p:nvPr/>
        </p:nvSpPr>
        <p:spPr bwMode="auto">
          <a:xfrm>
            <a:off x="3278188" y="1686621"/>
            <a:ext cx="7778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dirty="0">
                <a:solidFill>
                  <a:srgbClr val="44546A"/>
                </a:solidFill>
                <a:latin typeface="微软雅黑" panose="020B0503020204020204" pitchFamily="34" charset="-122"/>
              </a:rPr>
              <a:t>从</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表中查询</a:t>
            </a:r>
            <a:r>
              <a:rPr lang="en-US" altLang="zh-CN" dirty="0">
                <a:solidFill>
                  <a:srgbClr val="44546A"/>
                </a:solidFill>
                <a:latin typeface="微软雅黑" panose="020B0503020204020204" pitchFamily="34" charset="-122"/>
              </a:rPr>
              <a:t>type</a:t>
            </a:r>
            <a:r>
              <a:rPr lang="zh-CN" altLang="en-US" dirty="0">
                <a:solidFill>
                  <a:srgbClr val="44546A"/>
                </a:solidFill>
                <a:latin typeface="微软雅黑" panose="020B0503020204020204" pitchFamily="34" charset="-122"/>
              </a:rPr>
              <a:t>值为“糖类”的记录。</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语句及其执行结果如下：</a:t>
            </a:r>
          </a:p>
        </p:txBody>
      </p:sp>
      <p:sp>
        <p:nvSpPr>
          <p:cNvPr id="17" name="矩形 16">
            <a:extLst>
              <a:ext uri="{FF2B5EF4-FFF2-40B4-BE49-F238E27FC236}">
                <a16:creationId xmlns:a16="http://schemas.microsoft.com/office/drawing/2014/main" id="{B29EA1DF-23C0-A30A-EA51-929D15997637}"/>
              </a:ext>
            </a:extLst>
          </p:cNvPr>
          <p:cNvSpPr/>
          <p:nvPr/>
        </p:nvSpPr>
        <p:spPr>
          <a:xfrm>
            <a:off x="1065459" y="2302688"/>
            <a:ext cx="9882453" cy="2027869"/>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8" name="文本框 38">
            <a:extLst>
              <a:ext uri="{FF2B5EF4-FFF2-40B4-BE49-F238E27FC236}">
                <a16:creationId xmlns:a16="http://schemas.microsoft.com/office/drawing/2014/main" id="{E020BEF9-2122-233D-7206-D7E3EB70F323}"/>
              </a:ext>
            </a:extLst>
          </p:cNvPr>
          <p:cNvSpPr txBox="1">
            <a:spLocks noChangeArrowheads="1"/>
          </p:cNvSpPr>
          <p:nvPr/>
        </p:nvSpPr>
        <p:spPr bwMode="auto">
          <a:xfrm>
            <a:off x="2093354" y="2314614"/>
            <a:ext cx="8574639"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rgbClr val="1D7FC6"/>
                </a:solidFill>
                <a:latin typeface="+mn-lt"/>
              </a:rPr>
              <a:t>mysql&gt; SELECT * FROM goods WHERE type='</a:t>
            </a:r>
            <a:r>
              <a:rPr lang="zh-CN" altLang="en-US" sz="1600" dirty="0">
                <a:solidFill>
                  <a:srgbClr val="1D7FC6"/>
                </a:solidFill>
                <a:latin typeface="+mn-lt"/>
              </a:rPr>
              <a:t>糖类</a:t>
            </a:r>
            <a:r>
              <a:rPr lang="en-US" altLang="zh-CN" sz="1600" dirty="0">
                <a:solidFill>
                  <a:srgbClr val="1D7FC6"/>
                </a:solidFill>
                <a:latin typeface="+mn-lt"/>
              </a:rPr>
              <a:t>';</a:t>
            </a:r>
          </a:p>
          <a:p>
            <a:pPr eaLnBrk="1" hangingPunct="1"/>
            <a:r>
              <a:rPr lang="en-US" altLang="zh-CN" sz="1600" dirty="0">
                <a:solidFill>
                  <a:srgbClr val="1D7FC6"/>
                </a:solidFill>
                <a:latin typeface="+mn-lt"/>
              </a:rPr>
              <a:t>+----+--------+-----------+--------+--------+-------------------------------+</a:t>
            </a:r>
          </a:p>
          <a:p>
            <a:pPr eaLnBrk="1" hangingPunct="1"/>
            <a:r>
              <a:rPr lang="en-US" altLang="zh-CN" sz="1600" dirty="0">
                <a:solidFill>
                  <a:srgbClr val="1D7FC6"/>
                </a:solidFill>
                <a:latin typeface="+mn-lt"/>
              </a:rPr>
              <a:t>| id   | type  | name    | price  | num   | add_time	  	|</a:t>
            </a:r>
          </a:p>
          <a:p>
            <a:pPr eaLnBrk="1" hangingPunct="1"/>
            <a:r>
              <a:rPr lang="en-US" altLang="zh-CN" sz="1600" dirty="0">
                <a:solidFill>
                  <a:srgbClr val="1D7FC6"/>
                </a:solidFill>
                <a:latin typeface="+mn-lt"/>
              </a:rPr>
              <a:t>+----+--------+-----------+--------+--------+-------------------------------+</a:t>
            </a:r>
          </a:p>
          <a:p>
            <a:pPr eaLnBrk="1" hangingPunct="1"/>
            <a:r>
              <a:rPr lang="en-US" altLang="zh-CN" sz="1600" dirty="0">
                <a:solidFill>
                  <a:srgbClr val="1D7FC6"/>
                </a:solidFill>
                <a:latin typeface="+mn-lt"/>
              </a:rPr>
              <a:t>|  2   | </a:t>
            </a:r>
            <a:r>
              <a:rPr lang="zh-CN" altLang="en-US" sz="1600" dirty="0">
                <a:solidFill>
                  <a:srgbClr val="1D7FC6"/>
                </a:solidFill>
                <a:latin typeface="+mn-lt"/>
              </a:rPr>
              <a:t>糖类 </a:t>
            </a:r>
            <a:r>
              <a:rPr lang="en-US" altLang="zh-CN" sz="1600" dirty="0">
                <a:solidFill>
                  <a:srgbClr val="1D7FC6"/>
                </a:solidFill>
                <a:latin typeface="+mn-lt"/>
              </a:rPr>
              <a:t>| </a:t>
            </a:r>
            <a:r>
              <a:rPr lang="zh-CN" altLang="en-US" sz="1600" dirty="0">
                <a:solidFill>
                  <a:srgbClr val="1D7FC6"/>
                </a:solidFill>
                <a:latin typeface="+mn-lt"/>
              </a:rPr>
              <a:t>牛奶糖   </a:t>
            </a:r>
            <a:r>
              <a:rPr lang="en-US" altLang="zh-CN" sz="1600" dirty="0">
                <a:solidFill>
                  <a:srgbClr val="1D7FC6"/>
                </a:solidFill>
                <a:latin typeface="+mn-lt"/>
              </a:rPr>
              <a:t>|  7.50  |  200   | 2018-02-02 13:40:40	|</a:t>
            </a:r>
          </a:p>
          <a:p>
            <a:pPr eaLnBrk="1" hangingPunct="1"/>
            <a:r>
              <a:rPr lang="en-US" altLang="zh-CN" sz="1600" dirty="0">
                <a:solidFill>
                  <a:srgbClr val="1D7FC6"/>
                </a:solidFill>
                <a:latin typeface="+mn-lt"/>
              </a:rPr>
              <a:t>|  3   | </a:t>
            </a:r>
            <a:r>
              <a:rPr lang="zh-CN" altLang="en-US" sz="1600" dirty="0">
                <a:solidFill>
                  <a:srgbClr val="1D7FC6"/>
                </a:solidFill>
                <a:latin typeface="+mn-lt"/>
              </a:rPr>
              <a:t>糖类 </a:t>
            </a:r>
            <a:r>
              <a:rPr lang="en-US" altLang="zh-CN" sz="1600" dirty="0">
                <a:solidFill>
                  <a:srgbClr val="1D7FC6"/>
                </a:solidFill>
                <a:latin typeface="+mn-lt"/>
              </a:rPr>
              <a:t>| </a:t>
            </a:r>
            <a:r>
              <a:rPr lang="zh-CN" altLang="en-US" sz="1600" dirty="0">
                <a:solidFill>
                  <a:srgbClr val="1D7FC6"/>
                </a:solidFill>
                <a:latin typeface="+mn-lt"/>
              </a:rPr>
              <a:t>水果糖   </a:t>
            </a:r>
            <a:r>
              <a:rPr lang="en-US" altLang="zh-CN" sz="1600" dirty="0">
                <a:solidFill>
                  <a:srgbClr val="1D7FC6"/>
                </a:solidFill>
                <a:latin typeface="+mn-lt"/>
              </a:rPr>
              <a:t>|  2.50  |  100   | NULL		|</a:t>
            </a:r>
          </a:p>
          <a:p>
            <a:pPr eaLnBrk="1" hangingPunct="1"/>
            <a:r>
              <a:rPr lang="en-US" altLang="zh-CN" sz="1600" dirty="0">
                <a:solidFill>
                  <a:srgbClr val="1D7FC6"/>
                </a:solidFill>
                <a:latin typeface="+mn-lt"/>
              </a:rPr>
              <a:t>+----+--------+-----------+--------+--------+-------------------------------+</a:t>
            </a:r>
          </a:p>
          <a:p>
            <a:pPr eaLnBrk="1" hangingPunct="1"/>
            <a:r>
              <a:rPr lang="en-US" altLang="zh-CN" sz="1600" dirty="0">
                <a:solidFill>
                  <a:srgbClr val="1D7FC6"/>
                </a:solidFill>
                <a:latin typeface="+mn-lt"/>
              </a:rPr>
              <a:t>2 rows in set (0.00 sec)</a:t>
            </a:r>
          </a:p>
        </p:txBody>
      </p:sp>
    </p:spTree>
    <p:extLst>
      <p:ext uri="{BB962C8B-B14F-4D97-AF65-F5344CB8AC3E}">
        <p14:creationId xmlns:p14="http://schemas.microsoft.com/office/powerpoint/2010/main" val="24841333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500"/>
                            </p:stCondLst>
                            <p:childTnLst>
                              <p:par>
                                <p:cTn id="27" presetID="22" presetClass="entr" presetSubtype="4" fill="hold" grpId="0"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down)">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7" grpId="0" animBg="1"/>
      <p:bldP spid="1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查询指定记录</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3">
            <a:extLst>
              <a:ext uri="{FF2B5EF4-FFF2-40B4-BE49-F238E27FC236}">
                <a16:creationId xmlns:a16="http://schemas.microsoft.com/office/drawing/2014/main" id="{9C53DEE3-1BFB-3827-D69E-2AABAFBA5D0A}"/>
              </a:ext>
            </a:extLst>
          </p:cNvPr>
          <p:cNvSpPr txBox="1">
            <a:spLocks noChangeArrowheads="1"/>
          </p:cNvSpPr>
          <p:nvPr/>
        </p:nvSpPr>
        <p:spPr bwMode="auto">
          <a:xfrm>
            <a:off x="1882586" y="1046914"/>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dirty="0">
                <a:solidFill>
                  <a:srgbClr val="44546A"/>
                </a:solidFill>
                <a:latin typeface="微软雅黑" panose="020B0503020204020204" pitchFamily="34" charset="-122"/>
              </a:rPr>
              <a:t>使用“</a:t>
            </a:r>
            <a:r>
              <a:rPr lang="en-US" altLang="zh-CN" dirty="0">
                <a:solidFill>
                  <a:srgbClr val="44546A"/>
                </a:solidFill>
                <a:latin typeface="微软雅黑" panose="020B0503020204020204" pitchFamily="34" charset="-122"/>
              </a:rPr>
              <a:t>&gt;=”</a:t>
            </a:r>
            <a:r>
              <a:rPr lang="zh-CN" altLang="en-US" dirty="0">
                <a:solidFill>
                  <a:srgbClr val="44546A"/>
                </a:solidFill>
                <a:latin typeface="微软雅黑" panose="020B0503020204020204" pitchFamily="34" charset="-122"/>
              </a:rPr>
              <a:t>符号查询</a:t>
            </a:r>
            <a:endParaRPr lang="zh-CN" altLang="en-US" noProof="1">
              <a:solidFill>
                <a:srgbClr val="44546A"/>
              </a:solidFill>
              <a:latin typeface="微软雅黑" panose="020B0503020204020204" pitchFamily="34" charset="-122"/>
            </a:endParaRPr>
          </a:p>
        </p:txBody>
      </p:sp>
      <p:grpSp>
        <p:nvGrpSpPr>
          <p:cNvPr id="4" name="组合 3">
            <a:extLst>
              <a:ext uri="{FF2B5EF4-FFF2-40B4-BE49-F238E27FC236}">
                <a16:creationId xmlns:a16="http://schemas.microsoft.com/office/drawing/2014/main" id="{80952A37-073E-0823-A74D-5F25B4A6AB66}"/>
              </a:ext>
            </a:extLst>
          </p:cNvPr>
          <p:cNvGrpSpPr/>
          <p:nvPr/>
        </p:nvGrpSpPr>
        <p:grpSpPr>
          <a:xfrm>
            <a:off x="879286" y="959602"/>
            <a:ext cx="1003300" cy="722312"/>
            <a:chOff x="877888" y="1586140"/>
            <a:chExt cx="1003300" cy="722312"/>
          </a:xfrm>
        </p:grpSpPr>
        <p:sp>
          <p:nvSpPr>
            <p:cNvPr id="5" name="íṩľíḍè-Freeform: Shape 9">
              <a:extLst>
                <a:ext uri="{FF2B5EF4-FFF2-40B4-BE49-F238E27FC236}">
                  <a16:creationId xmlns:a16="http://schemas.microsoft.com/office/drawing/2014/main" id="{4D6C2E44-8577-5C6D-059C-9A950EBDED84}"/>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íṩľíḍè-Oval 10">
              <a:extLst>
                <a:ext uri="{FF2B5EF4-FFF2-40B4-BE49-F238E27FC236}">
                  <a16:creationId xmlns:a16="http://schemas.microsoft.com/office/drawing/2014/main" id="{D33499D0-A269-3E7B-F673-7DEAEA3AB2F1}"/>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2</a:t>
              </a:r>
            </a:p>
          </p:txBody>
        </p:sp>
      </p:grpSp>
      <p:grpSp>
        <p:nvGrpSpPr>
          <p:cNvPr id="7" name="组合 34">
            <a:extLst>
              <a:ext uri="{FF2B5EF4-FFF2-40B4-BE49-F238E27FC236}">
                <a16:creationId xmlns:a16="http://schemas.microsoft.com/office/drawing/2014/main" id="{D1A7C011-AD60-D778-9E9F-F3E600992381}"/>
              </a:ext>
            </a:extLst>
          </p:cNvPr>
          <p:cNvGrpSpPr/>
          <p:nvPr/>
        </p:nvGrpSpPr>
        <p:grpSpPr>
          <a:xfrm>
            <a:off x="838200" y="1793725"/>
            <a:ext cx="2183765" cy="600710"/>
            <a:chOff x="1320" y="4641"/>
            <a:chExt cx="3439" cy="946"/>
          </a:xfrm>
          <a:solidFill>
            <a:schemeClr val="accent6"/>
          </a:solidFill>
        </p:grpSpPr>
        <p:sp>
          <p:nvSpPr>
            <p:cNvPr id="8" name="椭圆 7">
              <a:extLst>
                <a:ext uri="{FF2B5EF4-FFF2-40B4-BE49-F238E27FC236}">
                  <a16:creationId xmlns:a16="http://schemas.microsoft.com/office/drawing/2014/main" id="{0528736D-980B-41A6-5466-66A86CE0F915}"/>
                </a:ext>
              </a:extLst>
            </p:cNvPr>
            <p:cNvSpPr/>
            <p:nvPr/>
          </p:nvSpPr>
          <p:spPr>
            <a:xfrm>
              <a:off x="1320" y="4641"/>
              <a:ext cx="946" cy="946"/>
            </a:xfrm>
            <a:prstGeom prst="ellipse">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9" name="圆角矩形 14">
              <a:extLst>
                <a:ext uri="{FF2B5EF4-FFF2-40B4-BE49-F238E27FC236}">
                  <a16:creationId xmlns:a16="http://schemas.microsoft.com/office/drawing/2014/main" id="{690C79F9-3C16-9781-5BD6-25792CB2007E}"/>
                </a:ext>
              </a:extLst>
            </p:cNvPr>
            <p:cNvSpPr/>
            <p:nvPr/>
          </p:nvSpPr>
          <p:spPr>
            <a:xfrm>
              <a:off x="1673" y="4793"/>
              <a:ext cx="3086" cy="643"/>
            </a:xfrm>
            <a:prstGeom prst="roundRect">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6</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0" name="文本框 36">
            <a:extLst>
              <a:ext uri="{FF2B5EF4-FFF2-40B4-BE49-F238E27FC236}">
                <a16:creationId xmlns:a16="http://schemas.microsoft.com/office/drawing/2014/main" id="{7CBD1D05-1299-08DB-B794-FBA3183C1A58}"/>
              </a:ext>
            </a:extLst>
          </p:cNvPr>
          <p:cNvSpPr txBox="1">
            <a:spLocks noChangeArrowheads="1"/>
          </p:cNvSpPr>
          <p:nvPr/>
        </p:nvSpPr>
        <p:spPr bwMode="auto">
          <a:xfrm>
            <a:off x="3278188" y="1910565"/>
            <a:ext cx="7778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dirty="0">
                <a:solidFill>
                  <a:srgbClr val="44546A"/>
                </a:solidFill>
                <a:latin typeface="微软雅黑" panose="020B0503020204020204" pitchFamily="34" charset="-122"/>
              </a:rPr>
              <a:t>从</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表中查询</a:t>
            </a:r>
            <a:r>
              <a:rPr lang="en-US" altLang="zh-CN" dirty="0">
                <a:solidFill>
                  <a:srgbClr val="44546A"/>
                </a:solidFill>
                <a:latin typeface="微软雅黑" panose="020B0503020204020204" pitchFamily="34" charset="-122"/>
              </a:rPr>
              <a:t>num</a:t>
            </a:r>
            <a:r>
              <a:rPr lang="zh-CN" altLang="en-US" dirty="0">
                <a:solidFill>
                  <a:srgbClr val="44546A"/>
                </a:solidFill>
                <a:latin typeface="微软雅黑" panose="020B0503020204020204" pitchFamily="34" charset="-122"/>
              </a:rPr>
              <a:t>值大于等于</a:t>
            </a:r>
            <a:r>
              <a:rPr lang="en-US" altLang="zh-CN" dirty="0">
                <a:solidFill>
                  <a:srgbClr val="44546A"/>
                </a:solidFill>
                <a:latin typeface="微软雅黑" panose="020B0503020204020204" pitchFamily="34" charset="-122"/>
              </a:rPr>
              <a:t>100</a:t>
            </a:r>
            <a:r>
              <a:rPr lang="zh-CN" altLang="en-US" dirty="0">
                <a:solidFill>
                  <a:srgbClr val="44546A"/>
                </a:solidFill>
                <a:latin typeface="微软雅黑" panose="020B0503020204020204" pitchFamily="34" charset="-122"/>
              </a:rPr>
              <a:t>的记录。</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语句及其执行结果如下：</a:t>
            </a:r>
          </a:p>
        </p:txBody>
      </p:sp>
      <p:sp>
        <p:nvSpPr>
          <p:cNvPr id="11" name="矩形 10">
            <a:extLst>
              <a:ext uri="{FF2B5EF4-FFF2-40B4-BE49-F238E27FC236}">
                <a16:creationId xmlns:a16="http://schemas.microsoft.com/office/drawing/2014/main" id="{737959C6-2516-2E62-49B0-331127510C99}"/>
              </a:ext>
            </a:extLst>
          </p:cNvPr>
          <p:cNvSpPr/>
          <p:nvPr/>
        </p:nvSpPr>
        <p:spPr>
          <a:xfrm>
            <a:off x="1062355" y="2610765"/>
            <a:ext cx="9882453" cy="3188072"/>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2" name="文本框 38">
            <a:extLst>
              <a:ext uri="{FF2B5EF4-FFF2-40B4-BE49-F238E27FC236}">
                <a16:creationId xmlns:a16="http://schemas.microsoft.com/office/drawing/2014/main" id="{C28071AD-9767-BA14-E19B-6BC27EE8C9C9}"/>
              </a:ext>
            </a:extLst>
          </p:cNvPr>
          <p:cNvSpPr txBox="1">
            <a:spLocks noChangeArrowheads="1"/>
          </p:cNvSpPr>
          <p:nvPr/>
        </p:nvSpPr>
        <p:spPr bwMode="auto">
          <a:xfrm>
            <a:off x="2090250" y="2678677"/>
            <a:ext cx="8574639"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ct val="150000"/>
              </a:lnSpc>
            </a:pPr>
            <a:r>
              <a:rPr lang="en-US" altLang="zh-CN" sz="1600" dirty="0">
                <a:solidFill>
                  <a:schemeClr val="accent1"/>
                </a:solidFill>
                <a:latin typeface="+mn-lt"/>
              </a:rPr>
              <a:t>mysql&gt; SELECT * FROM goods WHERE num&gt;=100;</a:t>
            </a:r>
          </a:p>
          <a:p>
            <a:pPr eaLnBrk="1" hangingPunct="1">
              <a:lnSpc>
                <a:spcPct val="150000"/>
              </a:lnSpc>
            </a:pPr>
            <a:r>
              <a:rPr lang="en-US" altLang="zh-CN" sz="1600" dirty="0">
                <a:solidFill>
                  <a:schemeClr val="accent1"/>
                </a:solidFill>
                <a:latin typeface="+mn-lt"/>
              </a:rPr>
              <a:t>+----+----------+-----------+----------+----------+-----------------------------+</a:t>
            </a:r>
          </a:p>
          <a:p>
            <a:pPr eaLnBrk="1" hangingPunct="1">
              <a:lnSpc>
                <a:spcPct val="150000"/>
              </a:lnSpc>
            </a:pPr>
            <a:r>
              <a:rPr lang="en-US" altLang="zh-CN" sz="1600" dirty="0">
                <a:solidFill>
                  <a:schemeClr val="accent1"/>
                </a:solidFill>
                <a:latin typeface="+mn-lt"/>
              </a:rPr>
              <a:t>| id  | type	     | name	    | price	  | num	| add_time	     |</a:t>
            </a:r>
          </a:p>
          <a:p>
            <a:pPr eaLnBrk="1" hangingPunct="1">
              <a:lnSpc>
                <a:spcPct val="150000"/>
              </a:lnSpc>
            </a:pPr>
            <a:r>
              <a:rPr lang="en-US" altLang="zh-CN" sz="1600" dirty="0">
                <a:solidFill>
                  <a:schemeClr val="accent1"/>
                </a:solidFill>
                <a:latin typeface="+mn-lt"/>
              </a:rPr>
              <a:t>+----+----------+-----------+----------+----------+-----------------------------+</a:t>
            </a:r>
          </a:p>
          <a:p>
            <a:pPr eaLnBrk="1" hangingPunct="1">
              <a:lnSpc>
                <a:spcPct val="150000"/>
              </a:lnSpc>
            </a:pPr>
            <a:r>
              <a:rPr lang="en-US" altLang="zh-CN" sz="1600" dirty="0">
                <a:solidFill>
                  <a:schemeClr val="accent1"/>
                </a:solidFill>
                <a:latin typeface="+mn-lt"/>
              </a:rPr>
              <a:t>|  2  | </a:t>
            </a:r>
            <a:r>
              <a:rPr lang="zh-CN" altLang="en-US" sz="1600" dirty="0">
                <a:solidFill>
                  <a:schemeClr val="accent1"/>
                </a:solidFill>
                <a:latin typeface="+mn-lt"/>
              </a:rPr>
              <a:t>糖类	     </a:t>
            </a:r>
            <a:r>
              <a:rPr lang="en-US" altLang="zh-CN" sz="1600" dirty="0">
                <a:solidFill>
                  <a:schemeClr val="accent1"/>
                </a:solidFill>
                <a:latin typeface="+mn-lt"/>
              </a:rPr>
              <a:t>| </a:t>
            </a:r>
            <a:r>
              <a:rPr lang="zh-CN" altLang="en-US" sz="1600" dirty="0">
                <a:solidFill>
                  <a:schemeClr val="accent1"/>
                </a:solidFill>
                <a:latin typeface="+mn-lt"/>
              </a:rPr>
              <a:t>牛奶糖  </a:t>
            </a:r>
            <a:r>
              <a:rPr lang="en-US" altLang="zh-CN" sz="1600" dirty="0">
                <a:solidFill>
                  <a:schemeClr val="accent1"/>
                </a:solidFill>
                <a:latin typeface="+mn-lt"/>
              </a:rPr>
              <a:t>|  7.50	  |  200	| 2018-02-02 13:40:40  |</a:t>
            </a:r>
          </a:p>
          <a:p>
            <a:pPr eaLnBrk="1" hangingPunct="1">
              <a:lnSpc>
                <a:spcPct val="150000"/>
              </a:lnSpc>
            </a:pPr>
            <a:r>
              <a:rPr lang="en-US" altLang="zh-CN" sz="1600" dirty="0">
                <a:solidFill>
                  <a:schemeClr val="accent1"/>
                </a:solidFill>
                <a:latin typeface="+mn-lt"/>
              </a:rPr>
              <a:t>|  3  | </a:t>
            </a:r>
            <a:r>
              <a:rPr lang="zh-CN" altLang="en-US" sz="1600" dirty="0">
                <a:solidFill>
                  <a:schemeClr val="accent1"/>
                </a:solidFill>
                <a:latin typeface="+mn-lt"/>
              </a:rPr>
              <a:t>糖类	     </a:t>
            </a:r>
            <a:r>
              <a:rPr lang="en-US" altLang="zh-CN" sz="1600" dirty="0">
                <a:solidFill>
                  <a:schemeClr val="accent1"/>
                </a:solidFill>
                <a:latin typeface="+mn-lt"/>
              </a:rPr>
              <a:t>| </a:t>
            </a:r>
            <a:r>
              <a:rPr lang="zh-CN" altLang="en-US" sz="1600" dirty="0">
                <a:solidFill>
                  <a:schemeClr val="accent1"/>
                </a:solidFill>
                <a:latin typeface="+mn-lt"/>
              </a:rPr>
              <a:t>水果糖  </a:t>
            </a:r>
            <a:r>
              <a:rPr lang="en-US" altLang="zh-CN" sz="1600" dirty="0">
                <a:solidFill>
                  <a:schemeClr val="accent1"/>
                </a:solidFill>
                <a:latin typeface="+mn-lt"/>
              </a:rPr>
              <a:t>|  2.50	  |  100	| NULL		     |</a:t>
            </a:r>
          </a:p>
          <a:p>
            <a:pPr eaLnBrk="1" hangingPunct="1">
              <a:lnSpc>
                <a:spcPct val="150000"/>
              </a:lnSpc>
            </a:pPr>
            <a:r>
              <a:rPr lang="en-US" altLang="zh-CN" sz="1600" dirty="0">
                <a:solidFill>
                  <a:schemeClr val="accent1"/>
                </a:solidFill>
                <a:latin typeface="+mn-lt"/>
              </a:rPr>
              <a:t>+----+----------+-----------+----------+----------+-----------------------------+</a:t>
            </a:r>
          </a:p>
          <a:p>
            <a:pPr eaLnBrk="1" hangingPunct="1">
              <a:lnSpc>
                <a:spcPct val="150000"/>
              </a:lnSpc>
            </a:pPr>
            <a:r>
              <a:rPr lang="en-US" altLang="zh-CN" sz="1600" dirty="0">
                <a:solidFill>
                  <a:schemeClr val="accent1"/>
                </a:solidFill>
                <a:latin typeface="+mn-lt"/>
              </a:rPr>
              <a:t>2 rows in set (0.00 sec)</a:t>
            </a:r>
          </a:p>
        </p:txBody>
      </p:sp>
    </p:spTree>
    <p:extLst>
      <p:ext uri="{BB962C8B-B14F-4D97-AF65-F5344CB8AC3E}">
        <p14:creationId xmlns:p14="http://schemas.microsoft.com/office/powerpoint/2010/main" val="8140092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1" grpId="0" animBg="1"/>
      <p:bldP spid="1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多条件查询</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3">
            <a:extLst>
              <a:ext uri="{FF2B5EF4-FFF2-40B4-BE49-F238E27FC236}">
                <a16:creationId xmlns:a16="http://schemas.microsoft.com/office/drawing/2014/main" id="{A4119377-0135-AE37-430D-621763A91DC6}"/>
              </a:ext>
            </a:extLst>
          </p:cNvPr>
          <p:cNvSpPr txBox="1">
            <a:spLocks noChangeArrowheads="1"/>
          </p:cNvSpPr>
          <p:nvPr/>
        </p:nvSpPr>
        <p:spPr bwMode="auto">
          <a:xfrm>
            <a:off x="1882586" y="1112231"/>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dirty="0">
                <a:solidFill>
                  <a:srgbClr val="44546A"/>
                </a:solidFill>
                <a:latin typeface="微软雅黑" panose="020B0503020204020204" pitchFamily="34" charset="-122"/>
              </a:rPr>
              <a:t>使用</a:t>
            </a:r>
            <a:r>
              <a:rPr lang="en-US" altLang="zh-CN" dirty="0">
                <a:solidFill>
                  <a:srgbClr val="44546A"/>
                </a:solidFill>
                <a:latin typeface="微软雅黑" panose="020B0503020204020204" pitchFamily="34" charset="-122"/>
              </a:rPr>
              <a:t>AND</a:t>
            </a:r>
            <a:r>
              <a:rPr lang="zh-CN" altLang="en-US" dirty="0">
                <a:solidFill>
                  <a:srgbClr val="44546A"/>
                </a:solidFill>
                <a:latin typeface="微软雅黑" panose="020B0503020204020204" pitchFamily="34" charset="-122"/>
              </a:rPr>
              <a:t>关键字查询</a:t>
            </a:r>
            <a:endParaRPr lang="zh-CN" altLang="en-US" noProof="1">
              <a:solidFill>
                <a:srgbClr val="44546A"/>
              </a:solidFill>
              <a:latin typeface="微软雅黑" panose="020B0503020204020204" pitchFamily="34" charset="-122"/>
            </a:endParaRPr>
          </a:p>
        </p:txBody>
      </p:sp>
      <p:grpSp>
        <p:nvGrpSpPr>
          <p:cNvPr id="4" name="组合 3">
            <a:extLst>
              <a:ext uri="{FF2B5EF4-FFF2-40B4-BE49-F238E27FC236}">
                <a16:creationId xmlns:a16="http://schemas.microsoft.com/office/drawing/2014/main" id="{362FDCFA-1040-B0C8-0E66-D54B77BF90A3}"/>
              </a:ext>
            </a:extLst>
          </p:cNvPr>
          <p:cNvGrpSpPr/>
          <p:nvPr/>
        </p:nvGrpSpPr>
        <p:grpSpPr>
          <a:xfrm>
            <a:off x="879286" y="1024919"/>
            <a:ext cx="1003300" cy="722312"/>
            <a:chOff x="877888" y="1586140"/>
            <a:chExt cx="1003300" cy="722312"/>
          </a:xfrm>
        </p:grpSpPr>
        <p:sp>
          <p:nvSpPr>
            <p:cNvPr id="5" name="íṩľíḍè-Freeform: Shape 9">
              <a:extLst>
                <a:ext uri="{FF2B5EF4-FFF2-40B4-BE49-F238E27FC236}">
                  <a16:creationId xmlns:a16="http://schemas.microsoft.com/office/drawing/2014/main" id="{A67BD539-B5CB-3033-7455-9606A5E8FD00}"/>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íṩľíḍè-Oval 10">
              <a:extLst>
                <a:ext uri="{FF2B5EF4-FFF2-40B4-BE49-F238E27FC236}">
                  <a16:creationId xmlns:a16="http://schemas.microsoft.com/office/drawing/2014/main" id="{FF108DE2-E691-8820-E8C0-6C0187468D6C}"/>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1</a:t>
              </a:r>
            </a:p>
          </p:txBody>
        </p:sp>
      </p:grpSp>
      <p:sp>
        <p:nvSpPr>
          <p:cNvPr id="7" name="文本框 10">
            <a:extLst>
              <a:ext uri="{FF2B5EF4-FFF2-40B4-BE49-F238E27FC236}">
                <a16:creationId xmlns:a16="http://schemas.microsoft.com/office/drawing/2014/main" id="{674F7095-836F-D146-E194-62AA7DEDA867}"/>
              </a:ext>
            </a:extLst>
          </p:cNvPr>
          <p:cNvSpPr txBox="1">
            <a:spLocks noChangeArrowheads="1"/>
          </p:cNvSpPr>
          <p:nvPr/>
        </p:nvSpPr>
        <p:spPr bwMode="auto">
          <a:xfrm>
            <a:off x="937796" y="1716448"/>
            <a:ext cx="10426887" cy="873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en-US" altLang="zh-CN" noProof="1">
                <a:solidFill>
                  <a:srgbClr val="44546A"/>
                </a:solidFill>
                <a:latin typeface="微软雅黑" panose="020B0503020204020204" pitchFamily="34" charset="-122"/>
              </a:rPr>
              <a:t>MySQL</a:t>
            </a:r>
            <a:r>
              <a:rPr lang="zh-CN" altLang="en-US" noProof="1">
                <a:solidFill>
                  <a:srgbClr val="44546A"/>
                </a:solidFill>
                <a:latin typeface="微软雅黑" panose="020B0503020204020204" pitchFamily="34" charset="-122"/>
              </a:rPr>
              <a:t>支持多条件查询，如果条件之间使用</a:t>
            </a:r>
            <a:r>
              <a:rPr lang="en-US" altLang="zh-CN" b="1" noProof="1">
                <a:solidFill>
                  <a:srgbClr val="44546A"/>
                </a:solidFill>
                <a:latin typeface="微软雅黑" panose="020B0503020204020204" pitchFamily="34" charset="-122"/>
              </a:rPr>
              <a:t>AND</a:t>
            </a:r>
            <a:r>
              <a:rPr lang="zh-CN" altLang="en-US" b="1" noProof="1">
                <a:solidFill>
                  <a:srgbClr val="44546A"/>
                </a:solidFill>
                <a:latin typeface="微软雅黑" panose="020B0503020204020204" pitchFamily="34" charset="-122"/>
              </a:rPr>
              <a:t>关键字</a:t>
            </a:r>
            <a:r>
              <a:rPr lang="zh-CN" altLang="en-US" noProof="1">
                <a:solidFill>
                  <a:srgbClr val="44546A"/>
                </a:solidFill>
                <a:latin typeface="微软雅黑" panose="020B0503020204020204" pitchFamily="34" charset="-122"/>
              </a:rPr>
              <a:t>连接，那么只有符合所有条件的记录才会被返回。</a:t>
            </a:r>
            <a:endParaRPr lang="zh-CN" altLang="en-US" dirty="0">
              <a:solidFill>
                <a:srgbClr val="44546A"/>
              </a:solidFill>
              <a:latin typeface="微软雅黑" panose="020B0503020204020204" pitchFamily="34" charset="-122"/>
            </a:endParaRPr>
          </a:p>
        </p:txBody>
      </p:sp>
      <p:grpSp>
        <p:nvGrpSpPr>
          <p:cNvPr id="8" name="组合 34">
            <a:extLst>
              <a:ext uri="{FF2B5EF4-FFF2-40B4-BE49-F238E27FC236}">
                <a16:creationId xmlns:a16="http://schemas.microsoft.com/office/drawing/2014/main" id="{DB3EE3E7-E2DE-3E19-7675-7842BC5774C5}"/>
              </a:ext>
            </a:extLst>
          </p:cNvPr>
          <p:cNvGrpSpPr/>
          <p:nvPr/>
        </p:nvGrpSpPr>
        <p:grpSpPr>
          <a:xfrm>
            <a:off x="838200" y="2605522"/>
            <a:ext cx="2183765" cy="600710"/>
            <a:chOff x="1320" y="4641"/>
            <a:chExt cx="3439" cy="946"/>
          </a:xfrm>
          <a:solidFill>
            <a:schemeClr val="accent6"/>
          </a:solidFill>
        </p:grpSpPr>
        <p:sp>
          <p:nvSpPr>
            <p:cNvPr id="9" name="椭圆 8">
              <a:extLst>
                <a:ext uri="{FF2B5EF4-FFF2-40B4-BE49-F238E27FC236}">
                  <a16:creationId xmlns:a16="http://schemas.microsoft.com/office/drawing/2014/main" id="{B5F6AB4D-DCCE-577F-CC23-B89CF8915DAB}"/>
                </a:ext>
              </a:extLst>
            </p:cNvPr>
            <p:cNvSpPr/>
            <p:nvPr/>
          </p:nvSpPr>
          <p:spPr>
            <a:xfrm>
              <a:off x="1320" y="4641"/>
              <a:ext cx="946" cy="946"/>
            </a:xfrm>
            <a:prstGeom prst="ellipse">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0" name="圆角矩形 8">
              <a:extLst>
                <a:ext uri="{FF2B5EF4-FFF2-40B4-BE49-F238E27FC236}">
                  <a16:creationId xmlns:a16="http://schemas.microsoft.com/office/drawing/2014/main" id="{DD1EF830-1E1C-6072-F5E1-CBDCD4B6C026}"/>
                </a:ext>
              </a:extLst>
            </p:cNvPr>
            <p:cNvSpPr/>
            <p:nvPr/>
          </p:nvSpPr>
          <p:spPr>
            <a:xfrm>
              <a:off x="1673" y="4793"/>
              <a:ext cx="3086" cy="643"/>
            </a:xfrm>
            <a:prstGeom prst="roundRect">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7</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1" name="文本框 36">
            <a:extLst>
              <a:ext uri="{FF2B5EF4-FFF2-40B4-BE49-F238E27FC236}">
                <a16:creationId xmlns:a16="http://schemas.microsoft.com/office/drawing/2014/main" id="{84057D9F-9813-E8B2-FE3E-3C00BAFAAAA6}"/>
              </a:ext>
            </a:extLst>
          </p:cNvPr>
          <p:cNvSpPr txBox="1">
            <a:spLocks noChangeArrowheads="1"/>
          </p:cNvSpPr>
          <p:nvPr/>
        </p:nvSpPr>
        <p:spPr bwMode="auto">
          <a:xfrm>
            <a:off x="3166220" y="2414495"/>
            <a:ext cx="7778588"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ct val="150000"/>
              </a:lnSpc>
            </a:pPr>
            <a:r>
              <a:rPr lang="zh-CN" altLang="en-US" dirty="0">
                <a:solidFill>
                  <a:srgbClr val="44546A"/>
                </a:solidFill>
                <a:latin typeface="微软雅黑" panose="020B0503020204020204" pitchFamily="34" charset="-122"/>
              </a:rPr>
              <a:t>从</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表中查询</a:t>
            </a:r>
            <a:r>
              <a:rPr lang="en-US" altLang="zh-CN" dirty="0">
                <a:solidFill>
                  <a:srgbClr val="44546A"/>
                </a:solidFill>
                <a:latin typeface="微软雅黑" panose="020B0503020204020204" pitchFamily="34" charset="-122"/>
              </a:rPr>
              <a:t>price</a:t>
            </a:r>
            <a:r>
              <a:rPr lang="zh-CN" altLang="en-US" dirty="0">
                <a:solidFill>
                  <a:srgbClr val="44546A"/>
                </a:solidFill>
                <a:latin typeface="微软雅黑" panose="020B0503020204020204" pitchFamily="34" charset="-122"/>
              </a:rPr>
              <a:t>值大于</a:t>
            </a:r>
            <a:r>
              <a:rPr lang="en-US" altLang="zh-CN" dirty="0">
                <a:solidFill>
                  <a:srgbClr val="44546A"/>
                </a:solidFill>
                <a:latin typeface="微软雅黑" panose="020B0503020204020204" pitchFamily="34" charset="-122"/>
              </a:rPr>
              <a:t>50</a:t>
            </a:r>
            <a:r>
              <a:rPr lang="zh-CN" altLang="en-US" dirty="0">
                <a:solidFill>
                  <a:srgbClr val="44546A"/>
                </a:solidFill>
                <a:latin typeface="微软雅黑" panose="020B0503020204020204" pitchFamily="34" charset="-122"/>
              </a:rPr>
              <a:t>，</a:t>
            </a:r>
            <a:r>
              <a:rPr lang="zh-CN" altLang="en-US" b="1" dirty="0">
                <a:solidFill>
                  <a:srgbClr val="44546A"/>
                </a:solidFill>
                <a:latin typeface="微软雅黑" panose="020B0503020204020204" pitchFamily="34" charset="-122"/>
              </a:rPr>
              <a:t>并且</a:t>
            </a:r>
            <a:r>
              <a:rPr lang="en-US" altLang="zh-CN" dirty="0">
                <a:solidFill>
                  <a:srgbClr val="44546A"/>
                </a:solidFill>
                <a:latin typeface="微软雅黑" panose="020B0503020204020204" pitchFamily="34" charset="-122"/>
              </a:rPr>
              <a:t>id</a:t>
            </a:r>
            <a:r>
              <a:rPr lang="zh-CN" altLang="en-US" dirty="0">
                <a:solidFill>
                  <a:srgbClr val="44546A"/>
                </a:solidFill>
                <a:latin typeface="微软雅黑" panose="020B0503020204020204" pitchFamily="34" charset="-122"/>
              </a:rPr>
              <a:t>值大于</a:t>
            </a:r>
            <a:r>
              <a:rPr lang="en-US" altLang="zh-CN" dirty="0">
                <a:solidFill>
                  <a:srgbClr val="44546A"/>
                </a:solidFill>
                <a:latin typeface="微软雅黑" panose="020B0503020204020204" pitchFamily="34" charset="-122"/>
              </a:rPr>
              <a:t>3</a:t>
            </a:r>
            <a:r>
              <a:rPr lang="zh-CN" altLang="en-US" dirty="0">
                <a:solidFill>
                  <a:srgbClr val="44546A"/>
                </a:solidFill>
                <a:latin typeface="微软雅黑" panose="020B0503020204020204" pitchFamily="34" charset="-122"/>
              </a:rPr>
              <a:t>的记录。</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语句及其执行结果如下：</a:t>
            </a:r>
          </a:p>
        </p:txBody>
      </p:sp>
      <p:sp>
        <p:nvSpPr>
          <p:cNvPr id="12" name="矩形 11">
            <a:extLst>
              <a:ext uri="{FF2B5EF4-FFF2-40B4-BE49-F238E27FC236}">
                <a16:creationId xmlns:a16="http://schemas.microsoft.com/office/drawing/2014/main" id="{698706A0-E5B1-6754-4CB3-68901F114A5D}"/>
              </a:ext>
            </a:extLst>
          </p:cNvPr>
          <p:cNvSpPr/>
          <p:nvPr/>
        </p:nvSpPr>
        <p:spPr>
          <a:xfrm>
            <a:off x="1062355" y="3422562"/>
            <a:ext cx="9882453" cy="2745568"/>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3" name="文本框 38">
            <a:extLst>
              <a:ext uri="{FF2B5EF4-FFF2-40B4-BE49-F238E27FC236}">
                <a16:creationId xmlns:a16="http://schemas.microsoft.com/office/drawing/2014/main" id="{50FD4D9A-FE2A-0825-E44D-02C0E38CFD7F}"/>
              </a:ext>
            </a:extLst>
          </p:cNvPr>
          <p:cNvSpPr txBox="1">
            <a:spLocks noChangeArrowheads="1"/>
          </p:cNvSpPr>
          <p:nvPr/>
        </p:nvSpPr>
        <p:spPr bwMode="auto">
          <a:xfrm>
            <a:off x="2090250" y="3490474"/>
            <a:ext cx="8574639"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ct val="150000"/>
              </a:lnSpc>
            </a:pPr>
            <a:r>
              <a:rPr lang="en-US" altLang="zh-CN" sz="1600" dirty="0">
                <a:solidFill>
                  <a:schemeClr val="accent3"/>
                </a:solidFill>
              </a:rPr>
              <a:t>mysql&gt; SELECT * FROM goods WHERE price&gt;50 AND id&gt;3;</a:t>
            </a:r>
          </a:p>
          <a:p>
            <a:pPr eaLnBrk="1" hangingPunct="1">
              <a:lnSpc>
                <a:spcPct val="150000"/>
              </a:lnSpc>
            </a:pPr>
            <a:r>
              <a:rPr lang="en-US" altLang="zh-CN" sz="1600" dirty="0">
                <a:solidFill>
                  <a:schemeClr val="accent3"/>
                </a:solidFill>
              </a:rPr>
              <a:t>+----+----------+-----------------+----------+------------+-----------------------------+</a:t>
            </a:r>
          </a:p>
          <a:p>
            <a:pPr eaLnBrk="1" hangingPunct="1">
              <a:lnSpc>
                <a:spcPct val="150000"/>
              </a:lnSpc>
            </a:pPr>
            <a:r>
              <a:rPr lang="en-US" altLang="zh-CN" sz="1600" dirty="0">
                <a:solidFill>
                  <a:schemeClr val="accent3"/>
                </a:solidFill>
              </a:rPr>
              <a:t>| id   | type     | name           | price    | num        | add_time	              |</a:t>
            </a:r>
          </a:p>
          <a:p>
            <a:pPr eaLnBrk="1" hangingPunct="1">
              <a:lnSpc>
                <a:spcPct val="150000"/>
              </a:lnSpc>
            </a:pPr>
            <a:r>
              <a:rPr lang="en-US" altLang="zh-CN" sz="1600" dirty="0">
                <a:solidFill>
                  <a:schemeClr val="accent3"/>
                </a:solidFill>
              </a:rPr>
              <a:t>+----+----------+-----------------+----------+------------+-----------------------------+</a:t>
            </a:r>
          </a:p>
          <a:p>
            <a:pPr eaLnBrk="1" hangingPunct="1">
              <a:lnSpc>
                <a:spcPct val="150000"/>
              </a:lnSpc>
            </a:pPr>
            <a:r>
              <a:rPr lang="en-US" altLang="zh-CN" sz="1600" dirty="0">
                <a:solidFill>
                  <a:schemeClr val="accent3"/>
                </a:solidFill>
              </a:rPr>
              <a:t>|  4   | </a:t>
            </a:r>
            <a:r>
              <a:rPr lang="zh-CN" altLang="en-US" sz="1600" dirty="0">
                <a:solidFill>
                  <a:schemeClr val="accent3"/>
                </a:solidFill>
              </a:rPr>
              <a:t>服饰    </a:t>
            </a:r>
            <a:r>
              <a:rPr lang="en-US" altLang="zh-CN" sz="1600" dirty="0">
                <a:solidFill>
                  <a:schemeClr val="accent3"/>
                </a:solidFill>
              </a:rPr>
              <a:t>| </a:t>
            </a:r>
            <a:r>
              <a:rPr lang="zh-CN" altLang="en-US" sz="1600" dirty="0">
                <a:solidFill>
                  <a:schemeClr val="accent3"/>
                </a:solidFill>
              </a:rPr>
              <a:t>休闲西服      </a:t>
            </a:r>
            <a:r>
              <a:rPr lang="en-US" altLang="zh-CN" sz="1600" dirty="0">
                <a:solidFill>
                  <a:schemeClr val="accent3"/>
                </a:solidFill>
              </a:rPr>
              <a:t>| 800.00 | NULL      | 2018-04-04 13:40:40  |</a:t>
            </a:r>
          </a:p>
          <a:p>
            <a:pPr eaLnBrk="1" hangingPunct="1">
              <a:lnSpc>
                <a:spcPct val="150000"/>
              </a:lnSpc>
            </a:pPr>
            <a:r>
              <a:rPr lang="en-US" altLang="zh-CN" sz="1600" dirty="0">
                <a:solidFill>
                  <a:schemeClr val="accent3"/>
                </a:solidFill>
              </a:rPr>
              <a:t>+----+----------+-----------------+----------+------------+-----------------------------+</a:t>
            </a:r>
          </a:p>
          <a:p>
            <a:pPr eaLnBrk="1" hangingPunct="1">
              <a:lnSpc>
                <a:spcPct val="150000"/>
              </a:lnSpc>
            </a:pPr>
            <a:r>
              <a:rPr lang="en-US" altLang="zh-CN" sz="1600" dirty="0">
                <a:solidFill>
                  <a:schemeClr val="accent3"/>
                </a:solidFill>
              </a:rPr>
              <a:t>1 row in set (0.06 sec)</a:t>
            </a:r>
          </a:p>
        </p:txBody>
      </p:sp>
    </p:spTree>
    <p:extLst>
      <p:ext uri="{BB962C8B-B14F-4D97-AF65-F5344CB8AC3E}">
        <p14:creationId xmlns:p14="http://schemas.microsoft.com/office/powerpoint/2010/main" val="2036702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P spid="12" grpId="0" animBg="1"/>
      <p:bldP spid="1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多条件查询</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3">
            <a:extLst>
              <a:ext uri="{FF2B5EF4-FFF2-40B4-BE49-F238E27FC236}">
                <a16:creationId xmlns:a16="http://schemas.microsoft.com/office/drawing/2014/main" id="{170FA63E-BA36-E188-E0F0-A4EB836AC182}"/>
              </a:ext>
            </a:extLst>
          </p:cNvPr>
          <p:cNvSpPr txBox="1">
            <a:spLocks noChangeArrowheads="1"/>
          </p:cNvSpPr>
          <p:nvPr/>
        </p:nvSpPr>
        <p:spPr bwMode="auto">
          <a:xfrm>
            <a:off x="1882586" y="962935"/>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dirty="0">
                <a:solidFill>
                  <a:srgbClr val="44546A"/>
                </a:solidFill>
                <a:latin typeface="微软雅黑" panose="020B0503020204020204" pitchFamily="34" charset="-122"/>
              </a:rPr>
              <a:t>使用</a:t>
            </a:r>
            <a:r>
              <a:rPr lang="en-US" altLang="zh-CN" dirty="0">
                <a:solidFill>
                  <a:srgbClr val="44546A"/>
                </a:solidFill>
                <a:latin typeface="微软雅黑" panose="020B0503020204020204" pitchFamily="34" charset="-122"/>
              </a:rPr>
              <a:t>OR</a:t>
            </a:r>
            <a:r>
              <a:rPr lang="zh-CN" altLang="en-US" dirty="0">
                <a:solidFill>
                  <a:srgbClr val="44546A"/>
                </a:solidFill>
                <a:latin typeface="微软雅黑" panose="020B0503020204020204" pitchFamily="34" charset="-122"/>
              </a:rPr>
              <a:t>关键字查询</a:t>
            </a:r>
            <a:endParaRPr lang="zh-CN" altLang="en-US" noProof="1">
              <a:solidFill>
                <a:srgbClr val="44546A"/>
              </a:solidFill>
              <a:latin typeface="微软雅黑" panose="020B0503020204020204" pitchFamily="34" charset="-122"/>
            </a:endParaRPr>
          </a:p>
        </p:txBody>
      </p:sp>
      <p:grpSp>
        <p:nvGrpSpPr>
          <p:cNvPr id="4" name="组合 3">
            <a:extLst>
              <a:ext uri="{FF2B5EF4-FFF2-40B4-BE49-F238E27FC236}">
                <a16:creationId xmlns:a16="http://schemas.microsoft.com/office/drawing/2014/main" id="{1FFCFC6B-2A5A-8595-1AC3-7691937FC518}"/>
              </a:ext>
            </a:extLst>
          </p:cNvPr>
          <p:cNvGrpSpPr/>
          <p:nvPr/>
        </p:nvGrpSpPr>
        <p:grpSpPr>
          <a:xfrm>
            <a:off x="879286" y="875623"/>
            <a:ext cx="1003300" cy="722312"/>
            <a:chOff x="877888" y="1586140"/>
            <a:chExt cx="1003300" cy="722312"/>
          </a:xfrm>
        </p:grpSpPr>
        <p:sp>
          <p:nvSpPr>
            <p:cNvPr id="5" name="íṩľíḍè-Freeform: Shape 9">
              <a:extLst>
                <a:ext uri="{FF2B5EF4-FFF2-40B4-BE49-F238E27FC236}">
                  <a16:creationId xmlns:a16="http://schemas.microsoft.com/office/drawing/2014/main" id="{205CC666-D6CF-4AF6-3355-573DC9FC2C9E}"/>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íṩľíḍè-Oval 10">
              <a:extLst>
                <a:ext uri="{FF2B5EF4-FFF2-40B4-BE49-F238E27FC236}">
                  <a16:creationId xmlns:a16="http://schemas.microsoft.com/office/drawing/2014/main" id="{EE04EC3E-9FBF-D1A0-9352-DDD979493CE0}"/>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2</a:t>
              </a:r>
            </a:p>
          </p:txBody>
        </p:sp>
      </p:grpSp>
      <p:sp>
        <p:nvSpPr>
          <p:cNvPr id="7" name="文本框 10">
            <a:extLst>
              <a:ext uri="{FF2B5EF4-FFF2-40B4-BE49-F238E27FC236}">
                <a16:creationId xmlns:a16="http://schemas.microsoft.com/office/drawing/2014/main" id="{3E155771-C5F9-6B43-514B-B1C21D647121}"/>
              </a:ext>
            </a:extLst>
          </p:cNvPr>
          <p:cNvSpPr txBox="1">
            <a:spLocks noChangeArrowheads="1"/>
          </p:cNvSpPr>
          <p:nvPr/>
        </p:nvSpPr>
        <p:spPr bwMode="auto">
          <a:xfrm>
            <a:off x="937796" y="1567152"/>
            <a:ext cx="10426887"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noProof="1">
                <a:solidFill>
                  <a:srgbClr val="44546A"/>
                </a:solidFill>
                <a:latin typeface="微软雅黑" panose="020B0503020204020204" pitchFamily="34" charset="-122"/>
              </a:rPr>
              <a:t>如果多条件查询中的条件使用</a:t>
            </a:r>
            <a:r>
              <a:rPr lang="en-US" altLang="zh-CN" b="1" noProof="1">
                <a:solidFill>
                  <a:srgbClr val="44546A"/>
                </a:solidFill>
                <a:latin typeface="微软雅黑" panose="020B0503020204020204" pitchFamily="34" charset="-122"/>
              </a:rPr>
              <a:t>OR</a:t>
            </a:r>
            <a:r>
              <a:rPr lang="zh-CN" altLang="en-US" b="1" noProof="1">
                <a:solidFill>
                  <a:srgbClr val="44546A"/>
                </a:solidFill>
                <a:latin typeface="微软雅黑" panose="020B0503020204020204" pitchFamily="34" charset="-122"/>
              </a:rPr>
              <a:t>关键字</a:t>
            </a:r>
            <a:r>
              <a:rPr lang="zh-CN" altLang="en-US" noProof="1">
                <a:solidFill>
                  <a:srgbClr val="44546A"/>
                </a:solidFill>
                <a:latin typeface="微软雅黑" panose="020B0503020204020204" pitchFamily="34" charset="-122"/>
              </a:rPr>
              <a:t>连接，表示</a:t>
            </a:r>
            <a:r>
              <a:rPr lang="zh-CN" altLang="en-US" b="1" noProof="1">
                <a:solidFill>
                  <a:srgbClr val="44546A"/>
                </a:solidFill>
                <a:latin typeface="微软雅黑" panose="020B0503020204020204" pitchFamily="34" charset="-122"/>
              </a:rPr>
              <a:t>只需要符合所有条件中的一个条件</a:t>
            </a:r>
            <a:r>
              <a:rPr lang="zh-CN" altLang="en-US" noProof="1">
                <a:solidFill>
                  <a:srgbClr val="44546A"/>
                </a:solidFill>
                <a:latin typeface="微软雅黑" panose="020B0503020204020204" pitchFamily="34" charset="-122"/>
              </a:rPr>
              <a:t>，此记录就会被返回。</a:t>
            </a:r>
            <a:endParaRPr lang="zh-CN" altLang="en-US" dirty="0">
              <a:solidFill>
                <a:srgbClr val="44546A"/>
              </a:solidFill>
              <a:latin typeface="微软雅黑" panose="020B0503020204020204" pitchFamily="34" charset="-122"/>
            </a:endParaRPr>
          </a:p>
        </p:txBody>
      </p:sp>
      <p:grpSp>
        <p:nvGrpSpPr>
          <p:cNvPr id="8" name="组合 34">
            <a:extLst>
              <a:ext uri="{FF2B5EF4-FFF2-40B4-BE49-F238E27FC236}">
                <a16:creationId xmlns:a16="http://schemas.microsoft.com/office/drawing/2014/main" id="{BC088975-D485-ED6C-6A42-6FC9144A8347}"/>
              </a:ext>
            </a:extLst>
          </p:cNvPr>
          <p:cNvGrpSpPr/>
          <p:nvPr/>
        </p:nvGrpSpPr>
        <p:grpSpPr>
          <a:xfrm>
            <a:off x="838200" y="2437564"/>
            <a:ext cx="2183765" cy="600710"/>
            <a:chOff x="1320" y="4641"/>
            <a:chExt cx="3439" cy="946"/>
          </a:xfrm>
          <a:solidFill>
            <a:schemeClr val="accent6"/>
          </a:solidFill>
        </p:grpSpPr>
        <p:sp>
          <p:nvSpPr>
            <p:cNvPr id="9" name="椭圆 8">
              <a:extLst>
                <a:ext uri="{FF2B5EF4-FFF2-40B4-BE49-F238E27FC236}">
                  <a16:creationId xmlns:a16="http://schemas.microsoft.com/office/drawing/2014/main" id="{DC1C9CBA-93C7-C231-2014-B70657BEF7A3}"/>
                </a:ext>
              </a:extLst>
            </p:cNvPr>
            <p:cNvSpPr/>
            <p:nvPr/>
          </p:nvSpPr>
          <p:spPr>
            <a:xfrm>
              <a:off x="1320" y="4641"/>
              <a:ext cx="946" cy="946"/>
            </a:xfrm>
            <a:prstGeom prst="ellipse">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0" name="圆角矩形 8">
              <a:extLst>
                <a:ext uri="{FF2B5EF4-FFF2-40B4-BE49-F238E27FC236}">
                  <a16:creationId xmlns:a16="http://schemas.microsoft.com/office/drawing/2014/main" id="{7327709E-5736-8464-963B-12E80F09DEF6}"/>
                </a:ext>
              </a:extLst>
            </p:cNvPr>
            <p:cNvSpPr/>
            <p:nvPr/>
          </p:nvSpPr>
          <p:spPr>
            <a:xfrm>
              <a:off x="1673" y="4793"/>
              <a:ext cx="3086" cy="643"/>
            </a:xfrm>
            <a:prstGeom prst="roundRect">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8</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1" name="文本框 36">
            <a:extLst>
              <a:ext uri="{FF2B5EF4-FFF2-40B4-BE49-F238E27FC236}">
                <a16:creationId xmlns:a16="http://schemas.microsoft.com/office/drawing/2014/main" id="{E7CCAF89-F0D7-D29D-482F-AD5F78FC702C}"/>
              </a:ext>
            </a:extLst>
          </p:cNvPr>
          <p:cNvSpPr txBox="1">
            <a:spLocks noChangeArrowheads="1"/>
          </p:cNvSpPr>
          <p:nvPr/>
        </p:nvSpPr>
        <p:spPr bwMode="auto">
          <a:xfrm>
            <a:off x="3166220" y="2361794"/>
            <a:ext cx="7778588"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ct val="150000"/>
              </a:lnSpc>
            </a:pPr>
            <a:r>
              <a:rPr lang="zh-CN" altLang="en-US" dirty="0">
                <a:solidFill>
                  <a:srgbClr val="44546A"/>
                </a:solidFill>
                <a:latin typeface="微软雅黑" panose="020B0503020204020204" pitchFamily="34" charset="-122"/>
              </a:rPr>
              <a:t>从</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表中查询</a:t>
            </a:r>
            <a:r>
              <a:rPr lang="en-US" altLang="zh-CN" dirty="0">
                <a:solidFill>
                  <a:srgbClr val="44546A"/>
                </a:solidFill>
                <a:latin typeface="微软雅黑" panose="020B0503020204020204" pitchFamily="34" charset="-122"/>
              </a:rPr>
              <a:t>type</a:t>
            </a:r>
            <a:r>
              <a:rPr lang="zh-CN" altLang="en-US" dirty="0">
                <a:solidFill>
                  <a:srgbClr val="44546A"/>
                </a:solidFill>
                <a:latin typeface="微软雅黑" panose="020B0503020204020204" pitchFamily="34" charset="-122"/>
              </a:rPr>
              <a:t>值为“糖类”或者“书籍”的记录。</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语句及其执行结果如下：</a:t>
            </a:r>
          </a:p>
        </p:txBody>
      </p:sp>
      <p:sp>
        <p:nvSpPr>
          <p:cNvPr id="12" name="矩形 11">
            <a:extLst>
              <a:ext uri="{FF2B5EF4-FFF2-40B4-BE49-F238E27FC236}">
                <a16:creationId xmlns:a16="http://schemas.microsoft.com/office/drawing/2014/main" id="{2A9D7954-1280-20B3-2060-7085ADCC5961}"/>
              </a:ext>
            </a:extLst>
          </p:cNvPr>
          <p:cNvSpPr/>
          <p:nvPr/>
        </p:nvSpPr>
        <p:spPr>
          <a:xfrm>
            <a:off x="1062355" y="3282597"/>
            <a:ext cx="9882453" cy="2525548"/>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3" name="文本框 38">
            <a:extLst>
              <a:ext uri="{FF2B5EF4-FFF2-40B4-BE49-F238E27FC236}">
                <a16:creationId xmlns:a16="http://schemas.microsoft.com/office/drawing/2014/main" id="{ADCB8875-FFDA-E30B-2072-E337F61C8CC1}"/>
              </a:ext>
            </a:extLst>
          </p:cNvPr>
          <p:cNvSpPr txBox="1">
            <a:spLocks noChangeArrowheads="1"/>
          </p:cNvSpPr>
          <p:nvPr/>
        </p:nvSpPr>
        <p:spPr bwMode="auto">
          <a:xfrm>
            <a:off x="2090250" y="3406495"/>
            <a:ext cx="8574639"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chemeClr val="accent1"/>
                </a:solidFill>
                <a:latin typeface="+mn-lt"/>
              </a:rPr>
              <a:t>mysql&gt; SELECT * FROM goods WHERE type='</a:t>
            </a:r>
            <a:r>
              <a:rPr lang="zh-CN" altLang="en-US" sz="1600" dirty="0">
                <a:solidFill>
                  <a:schemeClr val="accent1"/>
                </a:solidFill>
                <a:latin typeface="+mn-lt"/>
              </a:rPr>
              <a:t>糖类</a:t>
            </a:r>
            <a:r>
              <a:rPr lang="en-US" altLang="zh-CN" sz="1600" dirty="0">
                <a:solidFill>
                  <a:schemeClr val="accent1"/>
                </a:solidFill>
                <a:latin typeface="+mn-lt"/>
              </a:rPr>
              <a:t>' OR type='</a:t>
            </a:r>
            <a:r>
              <a:rPr lang="zh-CN" altLang="en-US" sz="1600" dirty="0">
                <a:solidFill>
                  <a:schemeClr val="accent1"/>
                </a:solidFill>
                <a:latin typeface="+mn-lt"/>
              </a:rPr>
              <a:t>书籍</a:t>
            </a:r>
            <a:r>
              <a:rPr lang="en-US" altLang="zh-CN" sz="1600" dirty="0">
                <a:solidFill>
                  <a:schemeClr val="accent1"/>
                </a:solidFill>
                <a:latin typeface="+mn-lt"/>
              </a:rPr>
              <a:t>';</a:t>
            </a:r>
          </a:p>
          <a:p>
            <a:pPr eaLnBrk="1" hangingPunct="1"/>
            <a:r>
              <a:rPr lang="en-US" altLang="zh-CN" sz="1600" dirty="0">
                <a:solidFill>
                  <a:schemeClr val="accent1"/>
                </a:solidFill>
                <a:latin typeface="+mn-lt"/>
              </a:rPr>
              <a:t>+----+----------+-----------+----------+----------+----------------------------+</a:t>
            </a:r>
          </a:p>
          <a:p>
            <a:pPr eaLnBrk="1" hangingPunct="1"/>
            <a:r>
              <a:rPr lang="en-US" altLang="zh-CN" sz="1600" dirty="0">
                <a:solidFill>
                  <a:schemeClr val="accent1"/>
                </a:solidFill>
                <a:latin typeface="+mn-lt"/>
              </a:rPr>
              <a:t>| id  | type	     | name    | price	  | num	| add_time	    |</a:t>
            </a:r>
          </a:p>
          <a:p>
            <a:pPr eaLnBrk="1" hangingPunct="1"/>
            <a:r>
              <a:rPr lang="en-US" altLang="zh-CN" sz="1600" dirty="0">
                <a:solidFill>
                  <a:schemeClr val="accent1"/>
                </a:solidFill>
                <a:latin typeface="+mn-lt"/>
              </a:rPr>
              <a:t>+----+----------+-----------+----------+----------+----------------------------+</a:t>
            </a:r>
          </a:p>
          <a:p>
            <a:pPr eaLnBrk="1" hangingPunct="1"/>
            <a:r>
              <a:rPr lang="en-US" altLang="zh-CN" sz="1600" dirty="0">
                <a:solidFill>
                  <a:schemeClr val="accent1"/>
                </a:solidFill>
                <a:latin typeface="+mn-lt"/>
              </a:rPr>
              <a:t>|  1  | </a:t>
            </a:r>
            <a:r>
              <a:rPr lang="zh-CN" altLang="en-US" sz="1600" dirty="0">
                <a:solidFill>
                  <a:schemeClr val="accent1"/>
                </a:solidFill>
                <a:latin typeface="+mn-lt"/>
              </a:rPr>
              <a:t>书籍     </a:t>
            </a:r>
            <a:r>
              <a:rPr lang="en-US" altLang="zh-CN" sz="1600" dirty="0">
                <a:solidFill>
                  <a:schemeClr val="accent1"/>
                </a:solidFill>
                <a:latin typeface="+mn-lt"/>
              </a:rPr>
              <a:t>| </a:t>
            </a:r>
            <a:r>
              <a:rPr lang="zh-CN" altLang="en-US" sz="1600" dirty="0">
                <a:solidFill>
                  <a:schemeClr val="accent1"/>
                </a:solidFill>
                <a:latin typeface="+mn-lt"/>
              </a:rPr>
              <a:t>西游记  </a:t>
            </a:r>
            <a:r>
              <a:rPr lang="en-US" altLang="zh-CN" sz="1600" dirty="0">
                <a:solidFill>
                  <a:schemeClr val="accent1"/>
                </a:solidFill>
                <a:latin typeface="+mn-lt"/>
              </a:rPr>
              <a:t>| 50.40    |   20	| 2018-01-01 13:40:40 |</a:t>
            </a:r>
          </a:p>
          <a:p>
            <a:pPr eaLnBrk="1" hangingPunct="1"/>
            <a:r>
              <a:rPr lang="en-US" altLang="zh-CN" sz="1600" dirty="0">
                <a:solidFill>
                  <a:schemeClr val="accent1"/>
                </a:solidFill>
                <a:latin typeface="+mn-lt"/>
              </a:rPr>
              <a:t>|  2  | </a:t>
            </a:r>
            <a:r>
              <a:rPr lang="zh-CN" altLang="en-US" sz="1600" dirty="0">
                <a:solidFill>
                  <a:schemeClr val="accent1"/>
                </a:solidFill>
                <a:latin typeface="+mn-lt"/>
              </a:rPr>
              <a:t>糖类     </a:t>
            </a:r>
            <a:r>
              <a:rPr lang="en-US" altLang="zh-CN" sz="1600" dirty="0">
                <a:solidFill>
                  <a:schemeClr val="accent1"/>
                </a:solidFill>
                <a:latin typeface="+mn-lt"/>
              </a:rPr>
              <a:t>| </a:t>
            </a:r>
            <a:r>
              <a:rPr lang="zh-CN" altLang="en-US" sz="1600" dirty="0">
                <a:solidFill>
                  <a:schemeClr val="accent1"/>
                </a:solidFill>
                <a:latin typeface="+mn-lt"/>
              </a:rPr>
              <a:t>牛奶糖  </a:t>
            </a:r>
            <a:r>
              <a:rPr lang="en-US" altLang="zh-CN" sz="1600" dirty="0">
                <a:solidFill>
                  <a:schemeClr val="accent1"/>
                </a:solidFill>
                <a:latin typeface="+mn-lt"/>
              </a:rPr>
              <a:t>|  7.50     |  200	| 2018-02-02 13:40:40 |</a:t>
            </a:r>
          </a:p>
          <a:p>
            <a:pPr eaLnBrk="1" hangingPunct="1"/>
            <a:r>
              <a:rPr lang="en-US" altLang="zh-CN" sz="1600" dirty="0">
                <a:solidFill>
                  <a:schemeClr val="accent1"/>
                </a:solidFill>
                <a:latin typeface="+mn-lt"/>
              </a:rPr>
              <a:t>|  3  | </a:t>
            </a:r>
            <a:r>
              <a:rPr lang="zh-CN" altLang="en-US" sz="1600" dirty="0">
                <a:solidFill>
                  <a:schemeClr val="accent1"/>
                </a:solidFill>
                <a:latin typeface="+mn-lt"/>
              </a:rPr>
              <a:t>糖类     </a:t>
            </a:r>
            <a:r>
              <a:rPr lang="en-US" altLang="zh-CN" sz="1600" dirty="0">
                <a:solidFill>
                  <a:schemeClr val="accent1"/>
                </a:solidFill>
                <a:latin typeface="+mn-lt"/>
              </a:rPr>
              <a:t>| </a:t>
            </a:r>
            <a:r>
              <a:rPr lang="zh-CN" altLang="en-US" sz="1600" dirty="0">
                <a:solidFill>
                  <a:schemeClr val="accent1"/>
                </a:solidFill>
                <a:latin typeface="+mn-lt"/>
              </a:rPr>
              <a:t>水果糖  </a:t>
            </a:r>
            <a:r>
              <a:rPr lang="en-US" altLang="zh-CN" sz="1600" dirty="0">
                <a:solidFill>
                  <a:schemeClr val="accent1"/>
                </a:solidFill>
                <a:latin typeface="+mn-lt"/>
              </a:rPr>
              <a:t>|  2.50	  |  100	| NULL		    |</a:t>
            </a:r>
          </a:p>
          <a:p>
            <a:pPr eaLnBrk="1" hangingPunct="1"/>
            <a:r>
              <a:rPr lang="en-US" altLang="zh-CN" sz="1600" dirty="0">
                <a:solidFill>
                  <a:schemeClr val="accent1"/>
                </a:solidFill>
                <a:latin typeface="+mn-lt"/>
              </a:rPr>
              <a:t>+----+----------+-----------+----------+----------+-----------------------------+</a:t>
            </a:r>
          </a:p>
          <a:p>
            <a:pPr eaLnBrk="1" hangingPunct="1"/>
            <a:r>
              <a:rPr lang="en-US" altLang="zh-CN" sz="1600" dirty="0">
                <a:solidFill>
                  <a:schemeClr val="accent1"/>
                </a:solidFill>
                <a:latin typeface="+mn-lt"/>
              </a:rPr>
              <a:t>3 rows in set (0.00 sec)</a:t>
            </a:r>
          </a:p>
        </p:txBody>
      </p:sp>
    </p:spTree>
    <p:extLst>
      <p:ext uri="{BB962C8B-B14F-4D97-AF65-F5344CB8AC3E}">
        <p14:creationId xmlns:p14="http://schemas.microsoft.com/office/powerpoint/2010/main" val="41858698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6" presetClass="entr" presetSubtype="16"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circle(in)">
                                      <p:cBhvr>
                                        <p:cTn id="19" dur="75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P spid="12" grpId="0" animBg="1"/>
      <p:bldP spid="1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多条件查询</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3">
            <a:extLst>
              <a:ext uri="{FF2B5EF4-FFF2-40B4-BE49-F238E27FC236}">
                <a16:creationId xmlns:a16="http://schemas.microsoft.com/office/drawing/2014/main" id="{BA67C4CD-188A-908B-2EAD-A27ECE0778C7}"/>
              </a:ext>
            </a:extLst>
          </p:cNvPr>
          <p:cNvSpPr txBox="1">
            <a:spLocks noChangeArrowheads="1"/>
          </p:cNvSpPr>
          <p:nvPr/>
        </p:nvSpPr>
        <p:spPr bwMode="auto">
          <a:xfrm>
            <a:off x="1882586" y="916280"/>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dirty="0">
                <a:solidFill>
                  <a:srgbClr val="44546A"/>
                </a:solidFill>
                <a:latin typeface="微软雅黑" panose="020B0503020204020204" pitchFamily="34" charset="-122"/>
              </a:rPr>
              <a:t>使用</a:t>
            </a:r>
            <a:r>
              <a:rPr lang="en-US" altLang="zh-CN" dirty="0">
                <a:solidFill>
                  <a:srgbClr val="44546A"/>
                </a:solidFill>
                <a:latin typeface="微软雅黑" panose="020B0503020204020204" pitchFamily="34" charset="-122"/>
              </a:rPr>
              <a:t>IN</a:t>
            </a:r>
            <a:r>
              <a:rPr lang="zh-CN" altLang="en-US" dirty="0">
                <a:solidFill>
                  <a:srgbClr val="44546A"/>
                </a:solidFill>
                <a:latin typeface="微软雅黑" panose="020B0503020204020204" pitchFamily="34" charset="-122"/>
              </a:rPr>
              <a:t>关键字查询</a:t>
            </a:r>
            <a:endParaRPr lang="zh-CN" altLang="en-US" noProof="1">
              <a:solidFill>
                <a:srgbClr val="44546A"/>
              </a:solidFill>
              <a:latin typeface="微软雅黑" panose="020B0503020204020204" pitchFamily="34" charset="-122"/>
            </a:endParaRPr>
          </a:p>
        </p:txBody>
      </p:sp>
      <p:grpSp>
        <p:nvGrpSpPr>
          <p:cNvPr id="4" name="组合 3">
            <a:extLst>
              <a:ext uri="{FF2B5EF4-FFF2-40B4-BE49-F238E27FC236}">
                <a16:creationId xmlns:a16="http://schemas.microsoft.com/office/drawing/2014/main" id="{2AFD8AAC-9691-5A2C-ED52-24FBCC79C65B}"/>
              </a:ext>
            </a:extLst>
          </p:cNvPr>
          <p:cNvGrpSpPr/>
          <p:nvPr/>
        </p:nvGrpSpPr>
        <p:grpSpPr>
          <a:xfrm>
            <a:off x="879286" y="828968"/>
            <a:ext cx="1003300" cy="722312"/>
            <a:chOff x="877888" y="1586140"/>
            <a:chExt cx="1003300" cy="722312"/>
          </a:xfrm>
        </p:grpSpPr>
        <p:sp>
          <p:nvSpPr>
            <p:cNvPr id="5" name="íṩľíḍè-Freeform: Shape 9">
              <a:extLst>
                <a:ext uri="{FF2B5EF4-FFF2-40B4-BE49-F238E27FC236}">
                  <a16:creationId xmlns:a16="http://schemas.microsoft.com/office/drawing/2014/main" id="{34BD9AD3-9AF8-F631-764B-E8792727CCEC}"/>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íṩľíḍè-Oval 10">
              <a:extLst>
                <a:ext uri="{FF2B5EF4-FFF2-40B4-BE49-F238E27FC236}">
                  <a16:creationId xmlns:a16="http://schemas.microsoft.com/office/drawing/2014/main" id="{EB9DF332-2872-83CA-3704-ABD6BB857AD0}"/>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3</a:t>
              </a:r>
            </a:p>
          </p:txBody>
        </p:sp>
      </p:grpSp>
      <p:sp>
        <p:nvSpPr>
          <p:cNvPr id="7" name="文本框 10">
            <a:extLst>
              <a:ext uri="{FF2B5EF4-FFF2-40B4-BE49-F238E27FC236}">
                <a16:creationId xmlns:a16="http://schemas.microsoft.com/office/drawing/2014/main" id="{6452251E-8969-7321-304D-928DC49C1F3A}"/>
              </a:ext>
            </a:extLst>
          </p:cNvPr>
          <p:cNvSpPr txBox="1">
            <a:spLocks noChangeArrowheads="1"/>
          </p:cNvSpPr>
          <p:nvPr/>
        </p:nvSpPr>
        <p:spPr bwMode="auto">
          <a:xfrm>
            <a:off x="937796" y="1520497"/>
            <a:ext cx="10426887"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noProof="1">
                <a:solidFill>
                  <a:srgbClr val="44546A"/>
                </a:solidFill>
                <a:latin typeface="微软雅黑" panose="020B0503020204020204" pitchFamily="34" charset="-122"/>
              </a:rPr>
              <a:t>使用</a:t>
            </a:r>
            <a:r>
              <a:rPr lang="en-US" altLang="zh-CN" noProof="1">
                <a:solidFill>
                  <a:srgbClr val="44546A"/>
                </a:solidFill>
                <a:latin typeface="微软雅黑" panose="020B0503020204020204" pitchFamily="34" charset="-122"/>
              </a:rPr>
              <a:t>IN</a:t>
            </a:r>
            <a:r>
              <a:rPr lang="zh-CN" altLang="en-US" noProof="1">
                <a:solidFill>
                  <a:srgbClr val="44546A"/>
                </a:solidFill>
                <a:latin typeface="微软雅黑" panose="020B0503020204020204" pitchFamily="34" charset="-122"/>
              </a:rPr>
              <a:t>关键字可以查询</a:t>
            </a:r>
            <a:r>
              <a:rPr lang="zh-CN" altLang="en-US" b="1" noProof="1">
                <a:solidFill>
                  <a:srgbClr val="44546A"/>
                </a:solidFill>
                <a:latin typeface="微软雅黑" panose="020B0503020204020204" pitchFamily="34" charset="-122"/>
              </a:rPr>
              <a:t>字段值等于指定集合中任意一个值的记录</a:t>
            </a:r>
            <a:r>
              <a:rPr lang="zh-CN" altLang="en-US" noProof="1">
                <a:solidFill>
                  <a:srgbClr val="44546A"/>
                </a:solidFill>
                <a:latin typeface="微软雅黑" panose="020B0503020204020204" pitchFamily="34" charset="-122"/>
              </a:rPr>
              <a:t>，语法形式如下：</a:t>
            </a:r>
            <a:endParaRPr lang="zh-CN" altLang="en-US" dirty="0">
              <a:solidFill>
                <a:srgbClr val="44546A"/>
              </a:solidFill>
              <a:latin typeface="微软雅黑" panose="020B0503020204020204" pitchFamily="34" charset="-122"/>
            </a:endParaRPr>
          </a:p>
        </p:txBody>
      </p:sp>
      <p:grpSp>
        <p:nvGrpSpPr>
          <p:cNvPr id="8" name="组合 34">
            <a:extLst>
              <a:ext uri="{FF2B5EF4-FFF2-40B4-BE49-F238E27FC236}">
                <a16:creationId xmlns:a16="http://schemas.microsoft.com/office/drawing/2014/main" id="{BCC6ED8F-1571-619E-CFE2-9DE3D852399C}"/>
              </a:ext>
            </a:extLst>
          </p:cNvPr>
          <p:cNvGrpSpPr/>
          <p:nvPr/>
        </p:nvGrpSpPr>
        <p:grpSpPr>
          <a:xfrm>
            <a:off x="838200" y="2876121"/>
            <a:ext cx="2183765" cy="600710"/>
            <a:chOff x="1320" y="4641"/>
            <a:chExt cx="3439" cy="946"/>
          </a:xfrm>
          <a:solidFill>
            <a:schemeClr val="accent6"/>
          </a:solidFill>
        </p:grpSpPr>
        <p:sp>
          <p:nvSpPr>
            <p:cNvPr id="9" name="椭圆 8">
              <a:extLst>
                <a:ext uri="{FF2B5EF4-FFF2-40B4-BE49-F238E27FC236}">
                  <a16:creationId xmlns:a16="http://schemas.microsoft.com/office/drawing/2014/main" id="{D2310D8A-1DED-68A8-CFEC-C50EB8745CF9}"/>
                </a:ext>
              </a:extLst>
            </p:cNvPr>
            <p:cNvSpPr/>
            <p:nvPr/>
          </p:nvSpPr>
          <p:spPr>
            <a:xfrm>
              <a:off x="1320" y="4641"/>
              <a:ext cx="946" cy="946"/>
            </a:xfrm>
            <a:prstGeom prst="ellipse">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0" name="圆角矩形 8">
              <a:extLst>
                <a:ext uri="{FF2B5EF4-FFF2-40B4-BE49-F238E27FC236}">
                  <a16:creationId xmlns:a16="http://schemas.microsoft.com/office/drawing/2014/main" id="{89B70A73-E42F-E612-E551-3ED67B8DB34D}"/>
                </a:ext>
              </a:extLst>
            </p:cNvPr>
            <p:cNvSpPr/>
            <p:nvPr/>
          </p:nvSpPr>
          <p:spPr>
            <a:xfrm>
              <a:off x="1673" y="4793"/>
              <a:ext cx="3086" cy="643"/>
            </a:xfrm>
            <a:prstGeom prst="roundRect">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9</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1" name="文本框 36">
            <a:extLst>
              <a:ext uri="{FF2B5EF4-FFF2-40B4-BE49-F238E27FC236}">
                <a16:creationId xmlns:a16="http://schemas.microsoft.com/office/drawing/2014/main" id="{56174322-39D3-96CD-B9E2-00A9518EB2A2}"/>
              </a:ext>
            </a:extLst>
          </p:cNvPr>
          <p:cNvSpPr txBox="1">
            <a:spLocks noChangeArrowheads="1"/>
          </p:cNvSpPr>
          <p:nvPr/>
        </p:nvSpPr>
        <p:spPr bwMode="auto">
          <a:xfrm>
            <a:off x="3278188" y="2992961"/>
            <a:ext cx="7778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dirty="0">
                <a:solidFill>
                  <a:srgbClr val="44546A"/>
                </a:solidFill>
                <a:latin typeface="微软雅黑" panose="020B0503020204020204" pitchFamily="34" charset="-122"/>
              </a:rPr>
              <a:t>执行</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语句，查询</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a:t>
            </a:r>
            <a:r>
              <a:rPr lang="en-US" altLang="zh-CN" dirty="0">
                <a:solidFill>
                  <a:srgbClr val="44546A"/>
                </a:solidFill>
                <a:latin typeface="微软雅黑" panose="020B0503020204020204" pitchFamily="34" charset="-122"/>
              </a:rPr>
              <a:t>id</a:t>
            </a:r>
            <a:r>
              <a:rPr lang="zh-CN" altLang="en-US" dirty="0">
                <a:solidFill>
                  <a:srgbClr val="44546A"/>
                </a:solidFill>
                <a:latin typeface="微软雅黑" panose="020B0503020204020204" pitchFamily="34" charset="-122"/>
              </a:rPr>
              <a:t>值为</a:t>
            </a:r>
            <a:r>
              <a:rPr lang="en-US" altLang="zh-CN" dirty="0">
                <a:solidFill>
                  <a:srgbClr val="44546A"/>
                </a:solidFill>
                <a:latin typeface="微软雅黑" panose="020B0503020204020204" pitchFamily="34" charset="-122"/>
              </a:rPr>
              <a:t>1</a:t>
            </a:r>
            <a:r>
              <a:rPr lang="zh-CN" altLang="en-US" dirty="0">
                <a:solidFill>
                  <a:srgbClr val="44546A"/>
                </a:solidFill>
                <a:latin typeface="微软雅黑" panose="020B0503020204020204" pitchFamily="34" charset="-122"/>
              </a:rPr>
              <a:t>和</a:t>
            </a:r>
            <a:r>
              <a:rPr lang="en-US" altLang="zh-CN" dirty="0">
                <a:solidFill>
                  <a:srgbClr val="44546A"/>
                </a:solidFill>
                <a:latin typeface="微软雅黑" panose="020B0503020204020204" pitchFamily="34" charset="-122"/>
              </a:rPr>
              <a:t>3</a:t>
            </a:r>
            <a:r>
              <a:rPr lang="zh-CN" altLang="en-US" dirty="0">
                <a:solidFill>
                  <a:srgbClr val="44546A"/>
                </a:solidFill>
                <a:latin typeface="微软雅黑" panose="020B0503020204020204" pitchFamily="34" charset="-122"/>
              </a:rPr>
              <a:t>的记录，结果如下：</a:t>
            </a:r>
          </a:p>
        </p:txBody>
      </p:sp>
      <p:sp>
        <p:nvSpPr>
          <p:cNvPr id="12" name="矩形 11">
            <a:extLst>
              <a:ext uri="{FF2B5EF4-FFF2-40B4-BE49-F238E27FC236}">
                <a16:creationId xmlns:a16="http://schemas.microsoft.com/office/drawing/2014/main" id="{3ED26BAC-A2E9-A2C5-6E59-6DAD10E13EE5}"/>
              </a:ext>
            </a:extLst>
          </p:cNvPr>
          <p:cNvSpPr/>
          <p:nvPr/>
        </p:nvSpPr>
        <p:spPr>
          <a:xfrm>
            <a:off x="1062355" y="3571858"/>
            <a:ext cx="9882453" cy="2130015"/>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3" name="文本框 38">
            <a:extLst>
              <a:ext uri="{FF2B5EF4-FFF2-40B4-BE49-F238E27FC236}">
                <a16:creationId xmlns:a16="http://schemas.microsoft.com/office/drawing/2014/main" id="{BA23253B-4672-6FC9-56DD-E098FF0AFEA6}"/>
              </a:ext>
            </a:extLst>
          </p:cNvPr>
          <p:cNvSpPr txBox="1">
            <a:spLocks noChangeArrowheads="1"/>
          </p:cNvSpPr>
          <p:nvPr/>
        </p:nvSpPr>
        <p:spPr bwMode="auto">
          <a:xfrm>
            <a:off x="2090250" y="3639770"/>
            <a:ext cx="8574639"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chemeClr val="accent1"/>
                </a:solidFill>
              </a:rPr>
              <a:t>mysql&gt; SELECT * FROM goods WHERE id IN (1,3);</a:t>
            </a:r>
          </a:p>
          <a:p>
            <a:pPr eaLnBrk="1" hangingPunct="1"/>
            <a:r>
              <a:rPr lang="en-US" altLang="zh-CN" sz="1600" dirty="0">
                <a:solidFill>
                  <a:schemeClr val="accent1"/>
                </a:solidFill>
              </a:rPr>
              <a:t>+----+----------+-----------+----------+----------+-----------------------------+</a:t>
            </a:r>
          </a:p>
          <a:p>
            <a:pPr eaLnBrk="1" hangingPunct="1"/>
            <a:r>
              <a:rPr lang="en-US" altLang="zh-CN" sz="1600" dirty="0">
                <a:solidFill>
                  <a:schemeClr val="accent1"/>
                </a:solidFill>
              </a:rPr>
              <a:t>| id  | type	     | name	    | price	  | num	| add_time	     |</a:t>
            </a:r>
          </a:p>
          <a:p>
            <a:pPr eaLnBrk="1" hangingPunct="1"/>
            <a:r>
              <a:rPr lang="en-US" altLang="zh-CN" sz="1600" dirty="0">
                <a:solidFill>
                  <a:schemeClr val="accent1"/>
                </a:solidFill>
              </a:rPr>
              <a:t>+----+----------+-----------+----------+----------+-----------------------------+</a:t>
            </a:r>
          </a:p>
          <a:p>
            <a:pPr eaLnBrk="1" hangingPunct="1"/>
            <a:r>
              <a:rPr lang="en-US" altLang="zh-CN" sz="1600" dirty="0">
                <a:solidFill>
                  <a:schemeClr val="accent1"/>
                </a:solidFill>
              </a:rPr>
              <a:t>|  1  | </a:t>
            </a:r>
            <a:r>
              <a:rPr lang="zh-CN" altLang="en-US" sz="1600" dirty="0">
                <a:solidFill>
                  <a:schemeClr val="accent1"/>
                </a:solidFill>
              </a:rPr>
              <a:t>书籍	     </a:t>
            </a:r>
            <a:r>
              <a:rPr lang="en-US" altLang="zh-CN" sz="1600" dirty="0">
                <a:solidFill>
                  <a:schemeClr val="accent1"/>
                </a:solidFill>
              </a:rPr>
              <a:t>| </a:t>
            </a:r>
            <a:r>
              <a:rPr lang="zh-CN" altLang="en-US" sz="1600" dirty="0">
                <a:solidFill>
                  <a:schemeClr val="accent1"/>
                </a:solidFill>
              </a:rPr>
              <a:t>西游记  </a:t>
            </a:r>
            <a:r>
              <a:rPr lang="en-US" altLang="zh-CN" sz="1600" dirty="0">
                <a:solidFill>
                  <a:schemeClr val="accent1"/>
                </a:solidFill>
              </a:rPr>
              <a:t>| 50.40	  |   20	| 2018-01-01 13:40:40  |</a:t>
            </a:r>
          </a:p>
          <a:p>
            <a:pPr eaLnBrk="1" hangingPunct="1"/>
            <a:r>
              <a:rPr lang="en-US" altLang="zh-CN" sz="1600" dirty="0">
                <a:solidFill>
                  <a:schemeClr val="accent1"/>
                </a:solidFill>
              </a:rPr>
              <a:t>|  3  | </a:t>
            </a:r>
            <a:r>
              <a:rPr lang="zh-CN" altLang="en-US" sz="1600" dirty="0">
                <a:solidFill>
                  <a:schemeClr val="accent1"/>
                </a:solidFill>
              </a:rPr>
              <a:t>糖类	     </a:t>
            </a:r>
            <a:r>
              <a:rPr lang="en-US" altLang="zh-CN" sz="1600" dirty="0">
                <a:solidFill>
                  <a:schemeClr val="accent1"/>
                </a:solidFill>
              </a:rPr>
              <a:t>| </a:t>
            </a:r>
            <a:r>
              <a:rPr lang="zh-CN" altLang="en-US" sz="1600" dirty="0">
                <a:solidFill>
                  <a:schemeClr val="accent1"/>
                </a:solidFill>
              </a:rPr>
              <a:t>水果糖  </a:t>
            </a:r>
            <a:r>
              <a:rPr lang="en-US" altLang="zh-CN" sz="1600" dirty="0">
                <a:solidFill>
                  <a:schemeClr val="accent1"/>
                </a:solidFill>
              </a:rPr>
              <a:t>|  2.50	  |  100	| NULL	    	     |</a:t>
            </a:r>
          </a:p>
          <a:p>
            <a:pPr eaLnBrk="1" hangingPunct="1"/>
            <a:r>
              <a:rPr lang="en-US" altLang="zh-CN" sz="1600" dirty="0">
                <a:solidFill>
                  <a:schemeClr val="accent1"/>
                </a:solidFill>
              </a:rPr>
              <a:t>+----+----------+-----------+----------+----------+-----------------------------+</a:t>
            </a:r>
          </a:p>
          <a:p>
            <a:pPr eaLnBrk="1" hangingPunct="1"/>
            <a:r>
              <a:rPr lang="en-US" altLang="zh-CN" sz="1600" dirty="0">
                <a:solidFill>
                  <a:schemeClr val="accent1"/>
                </a:solidFill>
              </a:rPr>
              <a:t>2 rows in set (0.01 sec)</a:t>
            </a:r>
          </a:p>
        </p:txBody>
      </p:sp>
      <p:sp>
        <p:nvSpPr>
          <p:cNvPr id="14" name="矩形 13">
            <a:extLst>
              <a:ext uri="{FF2B5EF4-FFF2-40B4-BE49-F238E27FC236}">
                <a16:creationId xmlns:a16="http://schemas.microsoft.com/office/drawing/2014/main" id="{2A01DE4E-13B3-F3B4-7F50-47E989D9FFA6}"/>
              </a:ext>
            </a:extLst>
          </p:cNvPr>
          <p:cNvSpPr/>
          <p:nvPr/>
        </p:nvSpPr>
        <p:spPr>
          <a:xfrm>
            <a:off x="1140291" y="2032175"/>
            <a:ext cx="10052154" cy="779038"/>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5" name="文本框 38">
            <a:extLst>
              <a:ext uri="{FF2B5EF4-FFF2-40B4-BE49-F238E27FC236}">
                <a16:creationId xmlns:a16="http://schemas.microsoft.com/office/drawing/2014/main" id="{C56DE57B-6E30-A43D-84DB-C0BFCA4B5BC8}"/>
              </a:ext>
            </a:extLst>
          </p:cNvPr>
          <p:cNvSpPr txBox="1">
            <a:spLocks noChangeArrowheads="1"/>
          </p:cNvSpPr>
          <p:nvPr/>
        </p:nvSpPr>
        <p:spPr bwMode="auto">
          <a:xfrm>
            <a:off x="2168187" y="2034769"/>
            <a:ext cx="6968444" cy="70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1"/>
                </a:solidFill>
              </a:rPr>
              <a:t>SELECT {*|col_list} FROM table_name </a:t>
            </a:r>
          </a:p>
          <a:p>
            <a:pPr eaLnBrk="1" hangingPunct="1">
              <a:lnSpc>
                <a:spcPts val="2500"/>
              </a:lnSpc>
            </a:pPr>
            <a:r>
              <a:rPr lang="en-US" altLang="zh-CN" sz="1600" dirty="0">
                <a:solidFill>
                  <a:schemeClr val="accent1"/>
                </a:solidFill>
              </a:rPr>
              <a:t>WHERE </a:t>
            </a:r>
            <a:r>
              <a:rPr lang="en-US" altLang="zh-CN" sz="1600" dirty="0" err="1">
                <a:solidFill>
                  <a:schemeClr val="accent1"/>
                </a:solidFill>
              </a:rPr>
              <a:t>col_name</a:t>
            </a:r>
            <a:r>
              <a:rPr lang="en-US" altLang="zh-CN" sz="1600" dirty="0">
                <a:solidFill>
                  <a:schemeClr val="accent1"/>
                </a:solidFill>
              </a:rPr>
              <a:t> IN (value1,value2,……</a:t>
            </a:r>
            <a:r>
              <a:rPr lang="en-US" altLang="zh-CN" sz="1600" dirty="0" err="1">
                <a:solidFill>
                  <a:schemeClr val="accent1"/>
                </a:solidFill>
              </a:rPr>
              <a:t>valuen</a:t>
            </a:r>
            <a:r>
              <a:rPr lang="en-US" altLang="zh-CN" sz="1600" dirty="0">
                <a:solidFill>
                  <a:schemeClr val="accent1"/>
                </a:solidFill>
              </a:rPr>
              <a:t>);</a:t>
            </a:r>
          </a:p>
        </p:txBody>
      </p:sp>
      <p:sp>
        <p:nvSpPr>
          <p:cNvPr id="16" name="矩形 15">
            <a:extLst>
              <a:ext uri="{FF2B5EF4-FFF2-40B4-BE49-F238E27FC236}">
                <a16:creationId xmlns:a16="http://schemas.microsoft.com/office/drawing/2014/main" id="{75999B2A-A0A9-8E2F-0247-4C8DAED4103B}"/>
              </a:ext>
            </a:extLst>
          </p:cNvPr>
          <p:cNvSpPr/>
          <p:nvPr/>
        </p:nvSpPr>
        <p:spPr>
          <a:xfrm>
            <a:off x="1062539" y="5994745"/>
            <a:ext cx="10052154" cy="578651"/>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7" name="文本框 38">
            <a:extLst>
              <a:ext uri="{FF2B5EF4-FFF2-40B4-BE49-F238E27FC236}">
                <a16:creationId xmlns:a16="http://schemas.microsoft.com/office/drawing/2014/main" id="{E3B69FE0-D43E-A880-B60C-4939613A5BE3}"/>
              </a:ext>
            </a:extLst>
          </p:cNvPr>
          <p:cNvSpPr txBox="1">
            <a:spLocks noChangeArrowheads="1"/>
          </p:cNvSpPr>
          <p:nvPr/>
        </p:nvSpPr>
        <p:spPr bwMode="auto">
          <a:xfrm>
            <a:off x="2090435" y="6071988"/>
            <a:ext cx="6968444" cy="3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1"/>
                </a:solidFill>
              </a:rPr>
              <a:t>SELECT * FROM goods WHERE id=1 OR id=3;</a:t>
            </a:r>
          </a:p>
        </p:txBody>
      </p:sp>
    </p:spTree>
    <p:extLst>
      <p:ext uri="{BB962C8B-B14F-4D97-AF65-F5344CB8AC3E}">
        <p14:creationId xmlns:p14="http://schemas.microsoft.com/office/powerpoint/2010/main" val="8815731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childTnLst>
                          </p:cTn>
                        </p:par>
                        <p:par>
                          <p:cTn id="56" fill="hold">
                            <p:stCondLst>
                              <p:cond delay="500"/>
                            </p:stCondLst>
                            <p:childTnLst>
                              <p:par>
                                <p:cTn id="57" presetID="22" presetClass="entr" presetSubtype="4" fill="hold" grpId="0" nodeType="after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down)">
                                      <p:cBhvr>
                                        <p:cTn id="5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P spid="12" grpId="0" animBg="1"/>
      <p:bldP spid="13" grpId="0"/>
      <p:bldP spid="14" grpId="0" animBg="1"/>
      <p:bldP spid="15" grpId="0"/>
      <p:bldP spid="16" grpId="0" animBg="1"/>
      <p:bldP spid="1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多条件查询</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3">
            <a:extLst>
              <a:ext uri="{FF2B5EF4-FFF2-40B4-BE49-F238E27FC236}">
                <a16:creationId xmlns:a16="http://schemas.microsoft.com/office/drawing/2014/main" id="{5D91EEE3-262C-9132-D3C5-49552A82C0A6}"/>
              </a:ext>
            </a:extLst>
          </p:cNvPr>
          <p:cNvSpPr txBox="1">
            <a:spLocks noChangeArrowheads="1"/>
          </p:cNvSpPr>
          <p:nvPr/>
        </p:nvSpPr>
        <p:spPr bwMode="auto">
          <a:xfrm>
            <a:off x="1882586" y="1037583"/>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ct val="150000"/>
              </a:lnSpc>
            </a:pPr>
            <a:r>
              <a:rPr lang="zh-CN" altLang="en-US" dirty="0">
                <a:solidFill>
                  <a:srgbClr val="44546A"/>
                </a:solidFill>
                <a:latin typeface="微软雅黑" panose="020B0503020204020204" pitchFamily="34" charset="-122"/>
              </a:rPr>
              <a:t>使用</a:t>
            </a:r>
            <a:r>
              <a:rPr lang="en-US" altLang="zh-CN" dirty="0">
                <a:solidFill>
                  <a:srgbClr val="44546A"/>
                </a:solidFill>
                <a:latin typeface="微软雅黑" panose="020B0503020204020204" pitchFamily="34" charset="-122"/>
              </a:rPr>
              <a:t>IN</a:t>
            </a:r>
            <a:r>
              <a:rPr lang="zh-CN" altLang="en-US" dirty="0">
                <a:solidFill>
                  <a:srgbClr val="44546A"/>
                </a:solidFill>
                <a:latin typeface="微软雅黑" panose="020B0503020204020204" pitchFamily="34" charset="-122"/>
              </a:rPr>
              <a:t>关键字查询</a:t>
            </a:r>
            <a:endParaRPr lang="zh-CN" altLang="en-US" noProof="1">
              <a:solidFill>
                <a:srgbClr val="44546A"/>
              </a:solidFill>
              <a:latin typeface="微软雅黑" panose="020B0503020204020204" pitchFamily="34" charset="-122"/>
            </a:endParaRPr>
          </a:p>
        </p:txBody>
      </p:sp>
      <p:grpSp>
        <p:nvGrpSpPr>
          <p:cNvPr id="4" name="组合 3">
            <a:extLst>
              <a:ext uri="{FF2B5EF4-FFF2-40B4-BE49-F238E27FC236}">
                <a16:creationId xmlns:a16="http://schemas.microsoft.com/office/drawing/2014/main" id="{83B46D2F-367A-2DD5-F932-9C23E3D115DC}"/>
              </a:ext>
            </a:extLst>
          </p:cNvPr>
          <p:cNvGrpSpPr/>
          <p:nvPr/>
        </p:nvGrpSpPr>
        <p:grpSpPr>
          <a:xfrm>
            <a:off x="879286" y="950271"/>
            <a:ext cx="1003300" cy="722312"/>
            <a:chOff x="877888" y="1586140"/>
            <a:chExt cx="1003300" cy="722312"/>
          </a:xfrm>
        </p:grpSpPr>
        <p:sp>
          <p:nvSpPr>
            <p:cNvPr id="5" name="íṩľíḍè-Freeform: Shape 9">
              <a:extLst>
                <a:ext uri="{FF2B5EF4-FFF2-40B4-BE49-F238E27FC236}">
                  <a16:creationId xmlns:a16="http://schemas.microsoft.com/office/drawing/2014/main" id="{02B0DB31-0A0E-F4C8-160F-567D8CE9ECBE}"/>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íṩľíḍè-Oval 10">
              <a:extLst>
                <a:ext uri="{FF2B5EF4-FFF2-40B4-BE49-F238E27FC236}">
                  <a16:creationId xmlns:a16="http://schemas.microsoft.com/office/drawing/2014/main" id="{0B5AA4BE-A75E-1BB7-47E9-9AC1811D2EDF}"/>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3</a:t>
              </a:r>
            </a:p>
          </p:txBody>
        </p:sp>
      </p:grpSp>
      <p:sp>
        <p:nvSpPr>
          <p:cNvPr id="7" name="文本框 10">
            <a:extLst>
              <a:ext uri="{FF2B5EF4-FFF2-40B4-BE49-F238E27FC236}">
                <a16:creationId xmlns:a16="http://schemas.microsoft.com/office/drawing/2014/main" id="{3C0C0456-4CD0-66BA-4EEF-6DA19EC4BE91}"/>
              </a:ext>
            </a:extLst>
          </p:cNvPr>
          <p:cNvSpPr txBox="1">
            <a:spLocks noChangeArrowheads="1"/>
          </p:cNvSpPr>
          <p:nvPr/>
        </p:nvSpPr>
        <p:spPr bwMode="auto">
          <a:xfrm>
            <a:off x="937796" y="1781765"/>
            <a:ext cx="10426887"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noProof="1">
                <a:solidFill>
                  <a:srgbClr val="44546A"/>
                </a:solidFill>
                <a:latin typeface="微软雅黑" panose="020B0503020204020204" pitchFamily="34" charset="-122"/>
              </a:rPr>
              <a:t>另外，</a:t>
            </a:r>
            <a:r>
              <a:rPr lang="en-US" altLang="zh-CN" noProof="1">
                <a:solidFill>
                  <a:srgbClr val="44546A"/>
                </a:solidFill>
                <a:latin typeface="微软雅黑" panose="020B0503020204020204" pitchFamily="34" charset="-122"/>
              </a:rPr>
              <a:t>IN</a:t>
            </a:r>
            <a:r>
              <a:rPr lang="zh-CN" altLang="en-US" noProof="1">
                <a:solidFill>
                  <a:srgbClr val="44546A"/>
                </a:solidFill>
                <a:latin typeface="微软雅黑" panose="020B0503020204020204" pitchFamily="34" charset="-122"/>
              </a:rPr>
              <a:t>关键字还可以与</a:t>
            </a:r>
            <a:r>
              <a:rPr lang="en-US" altLang="zh-CN" noProof="1">
                <a:solidFill>
                  <a:srgbClr val="44546A"/>
                </a:solidFill>
                <a:latin typeface="微软雅黑" panose="020B0503020204020204" pitchFamily="34" charset="-122"/>
              </a:rPr>
              <a:t>NOT</a:t>
            </a:r>
            <a:r>
              <a:rPr lang="zh-CN" altLang="en-US" noProof="1">
                <a:solidFill>
                  <a:srgbClr val="44546A"/>
                </a:solidFill>
                <a:latin typeface="微软雅黑" panose="020B0503020204020204" pitchFamily="34" charset="-122"/>
              </a:rPr>
              <a:t>关键字配合使用，作用是查询字段值不在指定集合中的记录。</a:t>
            </a:r>
            <a:endParaRPr lang="zh-CN" altLang="en-US" dirty="0">
              <a:solidFill>
                <a:srgbClr val="44546A"/>
              </a:solidFill>
              <a:latin typeface="微软雅黑" panose="020B0503020204020204" pitchFamily="34" charset="-122"/>
            </a:endParaRPr>
          </a:p>
        </p:txBody>
      </p:sp>
      <p:grpSp>
        <p:nvGrpSpPr>
          <p:cNvPr id="8" name="组合 34">
            <a:extLst>
              <a:ext uri="{FF2B5EF4-FFF2-40B4-BE49-F238E27FC236}">
                <a16:creationId xmlns:a16="http://schemas.microsoft.com/office/drawing/2014/main" id="{F1B2E49B-7441-9E58-E5DB-3D9ACB686D9A}"/>
              </a:ext>
            </a:extLst>
          </p:cNvPr>
          <p:cNvGrpSpPr/>
          <p:nvPr/>
        </p:nvGrpSpPr>
        <p:grpSpPr>
          <a:xfrm>
            <a:off x="838200" y="2390909"/>
            <a:ext cx="2183765" cy="600710"/>
            <a:chOff x="1320" y="4641"/>
            <a:chExt cx="3439" cy="946"/>
          </a:xfrm>
          <a:solidFill>
            <a:schemeClr val="accent6"/>
          </a:solidFill>
        </p:grpSpPr>
        <p:sp>
          <p:nvSpPr>
            <p:cNvPr id="9" name="椭圆 8">
              <a:extLst>
                <a:ext uri="{FF2B5EF4-FFF2-40B4-BE49-F238E27FC236}">
                  <a16:creationId xmlns:a16="http://schemas.microsoft.com/office/drawing/2014/main" id="{2C018E07-8463-18C4-4F46-38CAE91FF48F}"/>
                </a:ext>
              </a:extLst>
            </p:cNvPr>
            <p:cNvSpPr/>
            <p:nvPr/>
          </p:nvSpPr>
          <p:spPr>
            <a:xfrm>
              <a:off x="1320" y="4641"/>
              <a:ext cx="946" cy="946"/>
            </a:xfrm>
            <a:prstGeom prst="ellipse">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0" name="圆角矩形 8">
              <a:extLst>
                <a:ext uri="{FF2B5EF4-FFF2-40B4-BE49-F238E27FC236}">
                  <a16:creationId xmlns:a16="http://schemas.microsoft.com/office/drawing/2014/main" id="{6F1B7CD9-DA77-3F3B-267B-056413DD81B1}"/>
                </a:ext>
              </a:extLst>
            </p:cNvPr>
            <p:cNvSpPr/>
            <p:nvPr/>
          </p:nvSpPr>
          <p:spPr>
            <a:xfrm>
              <a:off x="1673" y="4793"/>
              <a:ext cx="3086" cy="643"/>
            </a:xfrm>
            <a:prstGeom prst="roundRect">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10</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1" name="文本框 36">
            <a:extLst>
              <a:ext uri="{FF2B5EF4-FFF2-40B4-BE49-F238E27FC236}">
                <a16:creationId xmlns:a16="http://schemas.microsoft.com/office/drawing/2014/main" id="{9BD849F8-5E13-50AE-2C54-D160D97A54C4}"/>
              </a:ext>
            </a:extLst>
          </p:cNvPr>
          <p:cNvSpPr txBox="1">
            <a:spLocks noChangeArrowheads="1"/>
          </p:cNvSpPr>
          <p:nvPr/>
        </p:nvSpPr>
        <p:spPr bwMode="auto">
          <a:xfrm>
            <a:off x="3278188" y="2507749"/>
            <a:ext cx="7778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dirty="0">
                <a:solidFill>
                  <a:srgbClr val="44546A"/>
                </a:solidFill>
                <a:latin typeface="微软雅黑" panose="020B0503020204020204" pitchFamily="34" charset="-122"/>
              </a:rPr>
              <a:t>执行</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语句，查询</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a:t>
            </a:r>
            <a:r>
              <a:rPr lang="en-US" altLang="zh-CN" dirty="0">
                <a:solidFill>
                  <a:srgbClr val="44546A"/>
                </a:solidFill>
                <a:latin typeface="微软雅黑" panose="020B0503020204020204" pitchFamily="34" charset="-122"/>
              </a:rPr>
              <a:t>id</a:t>
            </a:r>
            <a:r>
              <a:rPr lang="zh-CN" altLang="en-US" dirty="0">
                <a:solidFill>
                  <a:srgbClr val="44546A"/>
                </a:solidFill>
                <a:latin typeface="微软雅黑" panose="020B0503020204020204" pitchFamily="34" charset="-122"/>
              </a:rPr>
              <a:t>值不为</a:t>
            </a:r>
            <a:r>
              <a:rPr lang="en-US" altLang="zh-CN" dirty="0">
                <a:solidFill>
                  <a:srgbClr val="44546A"/>
                </a:solidFill>
                <a:latin typeface="微软雅黑" panose="020B0503020204020204" pitchFamily="34" charset="-122"/>
              </a:rPr>
              <a:t>1</a:t>
            </a:r>
            <a:r>
              <a:rPr lang="zh-CN" altLang="en-US" dirty="0">
                <a:solidFill>
                  <a:srgbClr val="44546A"/>
                </a:solidFill>
                <a:latin typeface="微软雅黑" panose="020B0503020204020204" pitchFamily="34" charset="-122"/>
              </a:rPr>
              <a:t>和</a:t>
            </a:r>
            <a:r>
              <a:rPr lang="en-US" altLang="zh-CN" dirty="0">
                <a:solidFill>
                  <a:srgbClr val="44546A"/>
                </a:solidFill>
                <a:latin typeface="微软雅黑" panose="020B0503020204020204" pitchFamily="34" charset="-122"/>
              </a:rPr>
              <a:t>3</a:t>
            </a:r>
            <a:r>
              <a:rPr lang="zh-CN" altLang="en-US" dirty="0">
                <a:solidFill>
                  <a:srgbClr val="44546A"/>
                </a:solidFill>
                <a:latin typeface="微软雅黑" panose="020B0503020204020204" pitchFamily="34" charset="-122"/>
              </a:rPr>
              <a:t>的记录，结果如下：</a:t>
            </a:r>
          </a:p>
        </p:txBody>
      </p:sp>
      <p:sp>
        <p:nvSpPr>
          <p:cNvPr id="12" name="矩形 11">
            <a:extLst>
              <a:ext uri="{FF2B5EF4-FFF2-40B4-BE49-F238E27FC236}">
                <a16:creationId xmlns:a16="http://schemas.microsoft.com/office/drawing/2014/main" id="{C4C5A024-FCE8-DA52-D3A5-464E6BC59C2E}"/>
              </a:ext>
            </a:extLst>
          </p:cNvPr>
          <p:cNvSpPr/>
          <p:nvPr/>
        </p:nvSpPr>
        <p:spPr>
          <a:xfrm>
            <a:off x="1062355" y="3086646"/>
            <a:ext cx="9882453" cy="2506901"/>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3" name="文本框 38">
            <a:extLst>
              <a:ext uri="{FF2B5EF4-FFF2-40B4-BE49-F238E27FC236}">
                <a16:creationId xmlns:a16="http://schemas.microsoft.com/office/drawing/2014/main" id="{0167E702-A883-EEB1-E508-E4BE97169868}"/>
              </a:ext>
            </a:extLst>
          </p:cNvPr>
          <p:cNvSpPr txBox="1">
            <a:spLocks noChangeArrowheads="1"/>
          </p:cNvSpPr>
          <p:nvPr/>
        </p:nvSpPr>
        <p:spPr bwMode="auto">
          <a:xfrm>
            <a:off x="2090250" y="3154558"/>
            <a:ext cx="8574639"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chemeClr val="accent1"/>
                </a:solidFill>
              </a:rPr>
              <a:t>mysql&gt; SELECT * FROM goods WHERE id NOT IN (1,3);</a:t>
            </a:r>
          </a:p>
          <a:p>
            <a:pPr eaLnBrk="1" hangingPunct="1"/>
            <a:r>
              <a:rPr lang="en-US" altLang="zh-CN" sz="1600" dirty="0">
                <a:solidFill>
                  <a:schemeClr val="accent1"/>
                </a:solidFill>
              </a:rPr>
              <a:t>+----+----------+--------------+-------------+-----------+-------------------------------+</a:t>
            </a:r>
          </a:p>
          <a:p>
            <a:pPr eaLnBrk="1" hangingPunct="1"/>
            <a:r>
              <a:rPr lang="en-US" altLang="zh-CN" sz="1600" dirty="0">
                <a:solidFill>
                  <a:schemeClr val="accent1"/>
                </a:solidFill>
              </a:rPr>
              <a:t>| id   | type     | name       | price        | num      | add_time		|</a:t>
            </a:r>
          </a:p>
          <a:p>
            <a:pPr eaLnBrk="1" hangingPunct="1"/>
            <a:r>
              <a:rPr lang="en-US" altLang="zh-CN" sz="1600" dirty="0">
                <a:solidFill>
                  <a:schemeClr val="accent1"/>
                </a:solidFill>
              </a:rPr>
              <a:t>+----+----------+--------------+-------------+-----------+-------------------------------+</a:t>
            </a:r>
          </a:p>
          <a:p>
            <a:pPr eaLnBrk="1" hangingPunct="1"/>
            <a:r>
              <a:rPr lang="en-US" altLang="zh-CN" sz="1600" dirty="0">
                <a:solidFill>
                  <a:schemeClr val="accent1"/>
                </a:solidFill>
              </a:rPr>
              <a:t>|  2   | </a:t>
            </a:r>
            <a:r>
              <a:rPr lang="zh-CN" altLang="en-US" sz="1600" dirty="0">
                <a:solidFill>
                  <a:schemeClr val="accent1"/>
                </a:solidFill>
              </a:rPr>
              <a:t>糖类    </a:t>
            </a:r>
            <a:r>
              <a:rPr lang="en-US" altLang="zh-CN" sz="1600" dirty="0">
                <a:solidFill>
                  <a:schemeClr val="accent1"/>
                </a:solidFill>
              </a:rPr>
              <a:t>| </a:t>
            </a:r>
            <a:r>
              <a:rPr lang="zh-CN" altLang="en-US" sz="1600" dirty="0">
                <a:solidFill>
                  <a:schemeClr val="accent1"/>
                </a:solidFill>
              </a:rPr>
              <a:t>牛奶糖     </a:t>
            </a:r>
            <a:r>
              <a:rPr lang="en-US" altLang="zh-CN" sz="1600" dirty="0">
                <a:solidFill>
                  <a:schemeClr val="accent1"/>
                </a:solidFill>
              </a:rPr>
              <a:t>|   7.50        |  200      | 2018-02-02 13:40:40	|</a:t>
            </a:r>
          </a:p>
          <a:p>
            <a:pPr eaLnBrk="1" hangingPunct="1"/>
            <a:r>
              <a:rPr lang="en-US" altLang="zh-CN" sz="1600" dirty="0">
                <a:solidFill>
                  <a:schemeClr val="accent1"/>
                </a:solidFill>
              </a:rPr>
              <a:t>|  4   | </a:t>
            </a:r>
            <a:r>
              <a:rPr lang="zh-CN" altLang="en-US" sz="1600" dirty="0">
                <a:solidFill>
                  <a:schemeClr val="accent1"/>
                </a:solidFill>
              </a:rPr>
              <a:t>服饰    </a:t>
            </a:r>
            <a:r>
              <a:rPr lang="en-US" altLang="zh-CN" sz="1600" dirty="0">
                <a:solidFill>
                  <a:schemeClr val="accent1"/>
                </a:solidFill>
              </a:rPr>
              <a:t>| </a:t>
            </a:r>
            <a:r>
              <a:rPr lang="zh-CN" altLang="en-US" sz="1600" dirty="0">
                <a:solidFill>
                  <a:schemeClr val="accent1"/>
                </a:solidFill>
              </a:rPr>
              <a:t>休闲西服  </a:t>
            </a:r>
            <a:r>
              <a:rPr lang="en-US" altLang="zh-CN" sz="1600" dirty="0">
                <a:solidFill>
                  <a:schemeClr val="accent1"/>
                </a:solidFill>
              </a:rPr>
              <a:t>| 800.00      | NULL    | 2018-04-04 13:40:40	|</a:t>
            </a:r>
          </a:p>
          <a:p>
            <a:pPr eaLnBrk="1" hangingPunct="1"/>
            <a:r>
              <a:rPr lang="en-US" altLang="zh-CN" sz="1600" dirty="0">
                <a:solidFill>
                  <a:schemeClr val="accent1"/>
                </a:solidFill>
              </a:rPr>
              <a:t>|  5   | </a:t>
            </a:r>
            <a:r>
              <a:rPr lang="zh-CN" altLang="en-US" sz="1600" dirty="0">
                <a:solidFill>
                  <a:schemeClr val="accent1"/>
                </a:solidFill>
              </a:rPr>
              <a:t>饮品    </a:t>
            </a:r>
            <a:r>
              <a:rPr lang="en-US" altLang="zh-CN" sz="1600" dirty="0">
                <a:solidFill>
                  <a:schemeClr val="accent1"/>
                </a:solidFill>
              </a:rPr>
              <a:t>| </a:t>
            </a:r>
            <a:r>
              <a:rPr lang="zh-CN" altLang="en-US" sz="1600" dirty="0">
                <a:solidFill>
                  <a:schemeClr val="accent1"/>
                </a:solidFill>
              </a:rPr>
              <a:t>果汁         </a:t>
            </a:r>
            <a:r>
              <a:rPr lang="en-US" altLang="zh-CN" sz="1600" dirty="0">
                <a:solidFill>
                  <a:schemeClr val="accent1"/>
                </a:solidFill>
              </a:rPr>
              <a:t>|   3.00        |   70       | 2018-05-05 13:40:40	|</a:t>
            </a:r>
          </a:p>
          <a:p>
            <a:pPr eaLnBrk="1" hangingPunct="1"/>
            <a:r>
              <a:rPr lang="en-US" altLang="zh-CN" sz="1600" dirty="0">
                <a:solidFill>
                  <a:schemeClr val="accent1"/>
                </a:solidFill>
              </a:rPr>
              <a:t>+----+----------+--------------+-------------+-----------+-------------------------------+</a:t>
            </a:r>
          </a:p>
          <a:p>
            <a:pPr eaLnBrk="1" hangingPunct="1"/>
            <a:r>
              <a:rPr lang="en-US" altLang="zh-CN" sz="1600" dirty="0">
                <a:solidFill>
                  <a:schemeClr val="accent1"/>
                </a:solidFill>
              </a:rPr>
              <a:t>3 rows in set (0.00 sec)</a:t>
            </a:r>
          </a:p>
        </p:txBody>
      </p:sp>
    </p:spTree>
    <p:extLst>
      <p:ext uri="{BB962C8B-B14F-4D97-AF65-F5344CB8AC3E}">
        <p14:creationId xmlns:p14="http://schemas.microsoft.com/office/powerpoint/2010/main" val="39826086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P spid="12" grpId="0" animBg="1"/>
      <p:bldP spid="1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查询空值</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10">
            <a:extLst>
              <a:ext uri="{FF2B5EF4-FFF2-40B4-BE49-F238E27FC236}">
                <a16:creationId xmlns:a16="http://schemas.microsoft.com/office/drawing/2014/main" id="{58588C63-4634-D78A-9ED5-55A3E044DC9A}"/>
              </a:ext>
            </a:extLst>
          </p:cNvPr>
          <p:cNvSpPr txBox="1">
            <a:spLocks noChangeArrowheads="1"/>
          </p:cNvSpPr>
          <p:nvPr/>
        </p:nvSpPr>
        <p:spPr bwMode="auto">
          <a:xfrm>
            <a:off x="937796" y="1072609"/>
            <a:ext cx="10426887"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en-US" altLang="zh-CN" noProof="1">
                <a:solidFill>
                  <a:srgbClr val="44546A"/>
                </a:solidFill>
                <a:latin typeface="微软雅黑" panose="020B0503020204020204" pitchFamily="34" charset="-122"/>
              </a:rPr>
              <a:t>MySQL</a:t>
            </a:r>
            <a:r>
              <a:rPr lang="zh-CN" altLang="en-US" noProof="1">
                <a:solidFill>
                  <a:srgbClr val="44546A"/>
                </a:solidFill>
                <a:latin typeface="微软雅黑" panose="020B0503020204020204" pitchFamily="34" charset="-122"/>
              </a:rPr>
              <a:t>提供</a:t>
            </a:r>
            <a:r>
              <a:rPr lang="en-US" altLang="zh-CN" b="1" noProof="1">
                <a:solidFill>
                  <a:srgbClr val="44546A"/>
                </a:solidFill>
                <a:latin typeface="微软雅黑" panose="020B0503020204020204" pitchFamily="34" charset="-122"/>
              </a:rPr>
              <a:t>IS NULL</a:t>
            </a:r>
            <a:r>
              <a:rPr lang="zh-CN" altLang="en-US" b="1" noProof="1">
                <a:solidFill>
                  <a:srgbClr val="44546A"/>
                </a:solidFill>
                <a:latin typeface="微软雅黑" panose="020B0503020204020204" pitchFamily="34" charset="-122"/>
              </a:rPr>
              <a:t>关键字</a:t>
            </a:r>
            <a:r>
              <a:rPr lang="zh-CN" altLang="en-US" noProof="1">
                <a:solidFill>
                  <a:srgbClr val="44546A"/>
                </a:solidFill>
                <a:latin typeface="微软雅黑" panose="020B0503020204020204" pitchFamily="34" charset="-122"/>
              </a:rPr>
              <a:t>，用于查询</a:t>
            </a:r>
            <a:r>
              <a:rPr lang="zh-CN" altLang="en-US" b="1" noProof="1">
                <a:solidFill>
                  <a:srgbClr val="44546A"/>
                </a:solidFill>
                <a:latin typeface="微软雅黑" panose="020B0503020204020204" pitchFamily="34" charset="-122"/>
              </a:rPr>
              <a:t>字段值为</a:t>
            </a:r>
            <a:r>
              <a:rPr lang="en-US" altLang="zh-CN" b="1" noProof="1">
                <a:solidFill>
                  <a:srgbClr val="44546A"/>
                </a:solidFill>
                <a:latin typeface="微软雅黑" panose="020B0503020204020204" pitchFamily="34" charset="-122"/>
              </a:rPr>
              <a:t>NULL</a:t>
            </a:r>
            <a:r>
              <a:rPr lang="zh-CN" altLang="en-US" b="1" noProof="1">
                <a:solidFill>
                  <a:srgbClr val="44546A"/>
                </a:solidFill>
                <a:latin typeface="微软雅黑" panose="020B0503020204020204" pitchFamily="34" charset="-122"/>
              </a:rPr>
              <a:t>的记录</a:t>
            </a:r>
            <a:r>
              <a:rPr lang="zh-CN" altLang="en-US" noProof="1">
                <a:solidFill>
                  <a:srgbClr val="44546A"/>
                </a:solidFill>
                <a:latin typeface="微软雅黑" panose="020B0503020204020204" pitchFamily="34" charset="-122"/>
              </a:rPr>
              <a:t>，语法形式如下：</a:t>
            </a:r>
            <a:endParaRPr lang="zh-CN" altLang="en-US" dirty="0">
              <a:solidFill>
                <a:srgbClr val="44546A"/>
              </a:solidFill>
              <a:latin typeface="微软雅黑" panose="020B0503020204020204" pitchFamily="34" charset="-122"/>
            </a:endParaRPr>
          </a:p>
        </p:txBody>
      </p:sp>
      <p:sp>
        <p:nvSpPr>
          <p:cNvPr id="4" name="矩形 3">
            <a:extLst>
              <a:ext uri="{FF2B5EF4-FFF2-40B4-BE49-F238E27FC236}">
                <a16:creationId xmlns:a16="http://schemas.microsoft.com/office/drawing/2014/main" id="{0A496A92-F370-C421-72AA-4A5EF1420B3B}"/>
              </a:ext>
            </a:extLst>
          </p:cNvPr>
          <p:cNvSpPr/>
          <p:nvPr/>
        </p:nvSpPr>
        <p:spPr>
          <a:xfrm>
            <a:off x="1140291" y="1677597"/>
            <a:ext cx="10052154" cy="491615"/>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5" name="文本框 38">
            <a:extLst>
              <a:ext uri="{FF2B5EF4-FFF2-40B4-BE49-F238E27FC236}">
                <a16:creationId xmlns:a16="http://schemas.microsoft.com/office/drawing/2014/main" id="{754E0FD3-61BE-DF78-4F3C-35E663A22E6C}"/>
              </a:ext>
            </a:extLst>
          </p:cNvPr>
          <p:cNvSpPr txBox="1">
            <a:spLocks noChangeArrowheads="1"/>
          </p:cNvSpPr>
          <p:nvPr/>
        </p:nvSpPr>
        <p:spPr bwMode="auto">
          <a:xfrm>
            <a:off x="2168187" y="1708184"/>
            <a:ext cx="6968444" cy="3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1"/>
                </a:solidFill>
              </a:rPr>
              <a:t>SELECT {*|col_list} FROM table_name WHERE </a:t>
            </a:r>
            <a:r>
              <a:rPr lang="en-US" altLang="zh-CN" sz="1600" dirty="0" err="1">
                <a:solidFill>
                  <a:schemeClr val="accent1"/>
                </a:solidFill>
              </a:rPr>
              <a:t>col_name</a:t>
            </a:r>
            <a:r>
              <a:rPr lang="en-US" altLang="zh-CN" sz="1600" dirty="0">
                <a:solidFill>
                  <a:schemeClr val="accent1"/>
                </a:solidFill>
              </a:rPr>
              <a:t> IS NULL;</a:t>
            </a:r>
          </a:p>
        </p:txBody>
      </p:sp>
      <p:grpSp>
        <p:nvGrpSpPr>
          <p:cNvPr id="6" name="组合 34">
            <a:extLst>
              <a:ext uri="{FF2B5EF4-FFF2-40B4-BE49-F238E27FC236}">
                <a16:creationId xmlns:a16="http://schemas.microsoft.com/office/drawing/2014/main" id="{82D26BBD-3C09-F5AB-8074-E48CB1BB920C}"/>
              </a:ext>
            </a:extLst>
          </p:cNvPr>
          <p:cNvGrpSpPr/>
          <p:nvPr/>
        </p:nvGrpSpPr>
        <p:grpSpPr>
          <a:xfrm>
            <a:off x="838200" y="2390909"/>
            <a:ext cx="2183765" cy="600710"/>
            <a:chOff x="1320" y="4641"/>
            <a:chExt cx="3439" cy="946"/>
          </a:xfrm>
          <a:solidFill>
            <a:schemeClr val="accent6"/>
          </a:solidFill>
        </p:grpSpPr>
        <p:sp>
          <p:nvSpPr>
            <p:cNvPr id="7" name="椭圆 6">
              <a:extLst>
                <a:ext uri="{FF2B5EF4-FFF2-40B4-BE49-F238E27FC236}">
                  <a16:creationId xmlns:a16="http://schemas.microsoft.com/office/drawing/2014/main" id="{34DFEB54-7D20-5E3C-7B2A-383E5B24C716}"/>
                </a:ext>
              </a:extLst>
            </p:cNvPr>
            <p:cNvSpPr/>
            <p:nvPr/>
          </p:nvSpPr>
          <p:spPr>
            <a:xfrm>
              <a:off x="1320" y="4641"/>
              <a:ext cx="946" cy="946"/>
            </a:xfrm>
            <a:prstGeom prst="ellipse">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8" name="圆角矩形 6">
              <a:extLst>
                <a:ext uri="{FF2B5EF4-FFF2-40B4-BE49-F238E27FC236}">
                  <a16:creationId xmlns:a16="http://schemas.microsoft.com/office/drawing/2014/main" id="{891712DD-AB6C-43A3-AE52-A93150688218}"/>
                </a:ext>
              </a:extLst>
            </p:cNvPr>
            <p:cNvSpPr/>
            <p:nvPr/>
          </p:nvSpPr>
          <p:spPr>
            <a:xfrm>
              <a:off x="1673" y="4793"/>
              <a:ext cx="3086" cy="643"/>
            </a:xfrm>
            <a:prstGeom prst="roundRect">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11</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9" name="文本框 36">
            <a:extLst>
              <a:ext uri="{FF2B5EF4-FFF2-40B4-BE49-F238E27FC236}">
                <a16:creationId xmlns:a16="http://schemas.microsoft.com/office/drawing/2014/main" id="{74635389-1CD7-27E7-0286-14647F68B6E6}"/>
              </a:ext>
            </a:extLst>
          </p:cNvPr>
          <p:cNvSpPr txBox="1">
            <a:spLocks noChangeArrowheads="1"/>
          </p:cNvSpPr>
          <p:nvPr/>
        </p:nvSpPr>
        <p:spPr bwMode="auto">
          <a:xfrm>
            <a:off x="3278188" y="2507749"/>
            <a:ext cx="7778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dirty="0">
                <a:solidFill>
                  <a:srgbClr val="44546A"/>
                </a:solidFill>
                <a:latin typeface="微软雅黑" panose="020B0503020204020204" pitchFamily="34" charset="-122"/>
              </a:rPr>
              <a:t>执行</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语句，查询</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a:t>
            </a:r>
            <a:r>
              <a:rPr lang="en-US" altLang="zh-CN" dirty="0">
                <a:solidFill>
                  <a:srgbClr val="44546A"/>
                </a:solidFill>
                <a:latin typeface="微软雅黑" panose="020B0503020204020204" pitchFamily="34" charset="-122"/>
              </a:rPr>
              <a:t>num</a:t>
            </a:r>
            <a:r>
              <a:rPr lang="zh-CN" altLang="en-US" dirty="0">
                <a:solidFill>
                  <a:srgbClr val="44546A"/>
                </a:solidFill>
                <a:latin typeface="微软雅黑" panose="020B0503020204020204" pitchFamily="34" charset="-122"/>
              </a:rPr>
              <a:t>值为</a:t>
            </a:r>
            <a:r>
              <a:rPr lang="en-US" altLang="zh-CN" dirty="0">
                <a:solidFill>
                  <a:srgbClr val="44546A"/>
                </a:solidFill>
                <a:latin typeface="微软雅黑" panose="020B0503020204020204" pitchFamily="34" charset="-122"/>
              </a:rPr>
              <a:t>NULL</a:t>
            </a:r>
            <a:r>
              <a:rPr lang="zh-CN" altLang="en-US" dirty="0">
                <a:solidFill>
                  <a:srgbClr val="44546A"/>
                </a:solidFill>
                <a:latin typeface="微软雅黑" panose="020B0503020204020204" pitchFamily="34" charset="-122"/>
              </a:rPr>
              <a:t>的记录，结果如下：</a:t>
            </a:r>
          </a:p>
        </p:txBody>
      </p:sp>
      <p:sp>
        <p:nvSpPr>
          <p:cNvPr id="10" name="矩形 9">
            <a:extLst>
              <a:ext uri="{FF2B5EF4-FFF2-40B4-BE49-F238E27FC236}">
                <a16:creationId xmlns:a16="http://schemas.microsoft.com/office/drawing/2014/main" id="{DC3195D3-9CD0-CEA0-BBE3-DEAD52E62E89}"/>
              </a:ext>
            </a:extLst>
          </p:cNvPr>
          <p:cNvSpPr/>
          <p:nvPr/>
        </p:nvSpPr>
        <p:spPr>
          <a:xfrm>
            <a:off x="1062355" y="3086646"/>
            <a:ext cx="9882453" cy="2861464"/>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1" name="文本框 38">
            <a:extLst>
              <a:ext uri="{FF2B5EF4-FFF2-40B4-BE49-F238E27FC236}">
                <a16:creationId xmlns:a16="http://schemas.microsoft.com/office/drawing/2014/main" id="{1D939A16-CFC3-8D4B-5983-39F6242EBFBE}"/>
              </a:ext>
            </a:extLst>
          </p:cNvPr>
          <p:cNvSpPr txBox="1">
            <a:spLocks noChangeArrowheads="1"/>
          </p:cNvSpPr>
          <p:nvPr/>
        </p:nvSpPr>
        <p:spPr bwMode="auto">
          <a:xfrm>
            <a:off x="2090250" y="3154558"/>
            <a:ext cx="8574639"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ct val="150000"/>
              </a:lnSpc>
            </a:pPr>
            <a:r>
              <a:rPr lang="en-US" altLang="zh-CN" sz="1600" dirty="0">
                <a:solidFill>
                  <a:schemeClr val="accent1"/>
                </a:solidFill>
              </a:rPr>
              <a:t>mysql&gt; SELECT * FROM goods WHERE num IS NULL;</a:t>
            </a:r>
          </a:p>
          <a:p>
            <a:pPr eaLnBrk="1" hangingPunct="1">
              <a:lnSpc>
                <a:spcPct val="150000"/>
              </a:lnSpc>
            </a:pPr>
            <a:r>
              <a:rPr lang="en-US" altLang="zh-CN" sz="1600" dirty="0">
                <a:solidFill>
                  <a:schemeClr val="accent1"/>
                </a:solidFill>
              </a:rPr>
              <a:t>+----+----------+-----------------+----------+--------+----------------------------+</a:t>
            </a:r>
          </a:p>
          <a:p>
            <a:pPr eaLnBrk="1" hangingPunct="1">
              <a:lnSpc>
                <a:spcPct val="150000"/>
              </a:lnSpc>
            </a:pPr>
            <a:r>
              <a:rPr lang="en-US" altLang="zh-CN" sz="1600" dirty="0">
                <a:solidFill>
                  <a:schemeClr val="accent1"/>
                </a:solidFill>
              </a:rPr>
              <a:t>| id   | type     | name           | price    | num   | add_time  	         |</a:t>
            </a:r>
          </a:p>
          <a:p>
            <a:pPr eaLnBrk="1" hangingPunct="1">
              <a:lnSpc>
                <a:spcPct val="150000"/>
              </a:lnSpc>
            </a:pPr>
            <a:r>
              <a:rPr lang="en-US" altLang="zh-CN" sz="1600" dirty="0">
                <a:solidFill>
                  <a:schemeClr val="accent1"/>
                </a:solidFill>
              </a:rPr>
              <a:t>+----+----------+-----------------+----------+--------+-----------------------------+</a:t>
            </a:r>
          </a:p>
          <a:p>
            <a:pPr eaLnBrk="1" hangingPunct="1">
              <a:lnSpc>
                <a:spcPct val="150000"/>
              </a:lnSpc>
            </a:pPr>
            <a:r>
              <a:rPr lang="en-US" altLang="zh-CN" sz="1600" dirty="0">
                <a:solidFill>
                  <a:schemeClr val="accent1"/>
                </a:solidFill>
              </a:rPr>
              <a:t>|  4   | </a:t>
            </a:r>
            <a:r>
              <a:rPr lang="zh-CN" altLang="en-US" sz="1600" dirty="0">
                <a:solidFill>
                  <a:schemeClr val="accent1"/>
                </a:solidFill>
              </a:rPr>
              <a:t>服饰    </a:t>
            </a:r>
            <a:r>
              <a:rPr lang="en-US" altLang="zh-CN" sz="1600" dirty="0">
                <a:solidFill>
                  <a:schemeClr val="accent1"/>
                </a:solidFill>
              </a:rPr>
              <a:t>| </a:t>
            </a:r>
            <a:r>
              <a:rPr lang="zh-CN" altLang="en-US" sz="1600" dirty="0">
                <a:solidFill>
                  <a:schemeClr val="accent1"/>
                </a:solidFill>
              </a:rPr>
              <a:t>休闲西服      </a:t>
            </a:r>
            <a:r>
              <a:rPr lang="en-US" altLang="zh-CN" sz="1600" dirty="0">
                <a:solidFill>
                  <a:schemeClr val="accent1"/>
                </a:solidFill>
              </a:rPr>
              <a:t>| 800.00 | NUL L | 2018-04-04 13:40:40 |</a:t>
            </a:r>
          </a:p>
          <a:p>
            <a:pPr eaLnBrk="1" hangingPunct="1">
              <a:lnSpc>
                <a:spcPct val="150000"/>
              </a:lnSpc>
            </a:pPr>
            <a:r>
              <a:rPr lang="en-US" altLang="zh-CN" sz="1600" dirty="0">
                <a:solidFill>
                  <a:schemeClr val="accent1"/>
                </a:solidFill>
              </a:rPr>
              <a:t>+----+----------+-----------------+----------+--------+-----------------------------+</a:t>
            </a:r>
          </a:p>
          <a:p>
            <a:pPr eaLnBrk="1" hangingPunct="1">
              <a:lnSpc>
                <a:spcPct val="150000"/>
              </a:lnSpc>
            </a:pPr>
            <a:r>
              <a:rPr lang="en-US" altLang="zh-CN" sz="1600" dirty="0">
                <a:solidFill>
                  <a:schemeClr val="accent1"/>
                </a:solidFill>
              </a:rPr>
              <a:t>1 row in set (0.02 sec)</a:t>
            </a:r>
          </a:p>
        </p:txBody>
      </p:sp>
    </p:spTree>
    <p:extLst>
      <p:ext uri="{BB962C8B-B14F-4D97-AF65-F5344CB8AC3E}">
        <p14:creationId xmlns:p14="http://schemas.microsoft.com/office/powerpoint/2010/main" val="3489238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par>
                          <p:cTn id="23" fill="hold">
                            <p:stCondLst>
                              <p:cond delay="500"/>
                            </p:stCondLst>
                            <p:childTnLst>
                              <p:par>
                                <p:cTn id="24" presetID="22" presetClass="entr" presetSubtype="4"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down)">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9" grpId="0"/>
      <p:bldP spid="10" grpId="0" animBg="1"/>
      <p:bldP spid="1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查询空值</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10">
            <a:extLst>
              <a:ext uri="{FF2B5EF4-FFF2-40B4-BE49-F238E27FC236}">
                <a16:creationId xmlns:a16="http://schemas.microsoft.com/office/drawing/2014/main" id="{0478D67B-7E31-4E48-50A7-B29838EDD252}"/>
              </a:ext>
            </a:extLst>
          </p:cNvPr>
          <p:cNvSpPr txBox="1">
            <a:spLocks noChangeArrowheads="1"/>
          </p:cNvSpPr>
          <p:nvPr/>
        </p:nvSpPr>
        <p:spPr bwMode="auto">
          <a:xfrm>
            <a:off x="937796" y="1072609"/>
            <a:ext cx="10426887"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en-US" altLang="zh-CN" noProof="1">
                <a:solidFill>
                  <a:srgbClr val="44546A"/>
                </a:solidFill>
                <a:latin typeface="微软雅黑" panose="020B0503020204020204" pitchFamily="34" charset="-122"/>
              </a:rPr>
              <a:t>IS NULL</a:t>
            </a:r>
            <a:r>
              <a:rPr lang="zh-CN" altLang="en-US" noProof="1">
                <a:solidFill>
                  <a:srgbClr val="44546A"/>
                </a:solidFill>
                <a:latin typeface="微软雅黑" panose="020B0503020204020204" pitchFamily="34" charset="-122"/>
              </a:rPr>
              <a:t>也可以和</a:t>
            </a:r>
            <a:r>
              <a:rPr lang="en-US" altLang="zh-CN" b="1" noProof="1">
                <a:solidFill>
                  <a:srgbClr val="44546A"/>
                </a:solidFill>
                <a:latin typeface="微软雅黑" panose="020B0503020204020204" pitchFamily="34" charset="-122"/>
              </a:rPr>
              <a:t>NOT</a:t>
            </a:r>
            <a:r>
              <a:rPr lang="zh-CN" altLang="en-US" b="1" noProof="1">
                <a:solidFill>
                  <a:srgbClr val="44546A"/>
                </a:solidFill>
                <a:latin typeface="微软雅黑" panose="020B0503020204020204" pitchFamily="34" charset="-122"/>
              </a:rPr>
              <a:t>关键字</a:t>
            </a:r>
            <a:r>
              <a:rPr lang="zh-CN" altLang="en-US" noProof="1">
                <a:solidFill>
                  <a:srgbClr val="44546A"/>
                </a:solidFill>
                <a:latin typeface="微软雅黑" panose="020B0503020204020204" pitchFamily="34" charset="-122"/>
              </a:rPr>
              <a:t>配合使用，用于</a:t>
            </a:r>
            <a:r>
              <a:rPr lang="zh-CN" altLang="en-US" b="1" noProof="1">
                <a:solidFill>
                  <a:srgbClr val="44546A"/>
                </a:solidFill>
                <a:latin typeface="微软雅黑" panose="020B0503020204020204" pitchFamily="34" charset="-122"/>
              </a:rPr>
              <a:t>查询字段值不为</a:t>
            </a:r>
            <a:r>
              <a:rPr lang="en-US" altLang="zh-CN" b="1" noProof="1">
                <a:solidFill>
                  <a:srgbClr val="44546A"/>
                </a:solidFill>
                <a:latin typeface="微软雅黑" panose="020B0503020204020204" pitchFamily="34" charset="-122"/>
              </a:rPr>
              <a:t>NULL</a:t>
            </a:r>
            <a:r>
              <a:rPr lang="zh-CN" altLang="en-US" noProof="1">
                <a:solidFill>
                  <a:srgbClr val="44546A"/>
                </a:solidFill>
                <a:latin typeface="微软雅黑" panose="020B0503020204020204" pitchFamily="34" charset="-122"/>
              </a:rPr>
              <a:t>的记录。</a:t>
            </a:r>
            <a:endParaRPr lang="zh-CN" altLang="en-US" dirty="0">
              <a:solidFill>
                <a:srgbClr val="44546A"/>
              </a:solidFill>
              <a:latin typeface="微软雅黑" panose="020B0503020204020204" pitchFamily="34" charset="-122"/>
            </a:endParaRPr>
          </a:p>
        </p:txBody>
      </p:sp>
      <p:grpSp>
        <p:nvGrpSpPr>
          <p:cNvPr id="4" name="组合 34">
            <a:extLst>
              <a:ext uri="{FF2B5EF4-FFF2-40B4-BE49-F238E27FC236}">
                <a16:creationId xmlns:a16="http://schemas.microsoft.com/office/drawing/2014/main" id="{0258A2B5-59EF-B8B4-EB32-6E2CE7AC1AFA}"/>
              </a:ext>
            </a:extLst>
          </p:cNvPr>
          <p:cNvGrpSpPr/>
          <p:nvPr/>
        </p:nvGrpSpPr>
        <p:grpSpPr>
          <a:xfrm>
            <a:off x="838200" y="1579112"/>
            <a:ext cx="2183765" cy="600710"/>
            <a:chOff x="1320" y="4641"/>
            <a:chExt cx="3439" cy="946"/>
          </a:xfrm>
          <a:solidFill>
            <a:schemeClr val="accent6"/>
          </a:solidFill>
        </p:grpSpPr>
        <p:sp>
          <p:nvSpPr>
            <p:cNvPr id="5" name="椭圆 4">
              <a:extLst>
                <a:ext uri="{FF2B5EF4-FFF2-40B4-BE49-F238E27FC236}">
                  <a16:creationId xmlns:a16="http://schemas.microsoft.com/office/drawing/2014/main" id="{ADDFC257-DAAA-04B2-E471-D84DC0691DF1}"/>
                </a:ext>
              </a:extLst>
            </p:cNvPr>
            <p:cNvSpPr/>
            <p:nvPr/>
          </p:nvSpPr>
          <p:spPr>
            <a:xfrm>
              <a:off x="1320" y="4641"/>
              <a:ext cx="946" cy="946"/>
            </a:xfrm>
            <a:prstGeom prst="ellipse">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6" name="圆角矩形 6">
              <a:extLst>
                <a:ext uri="{FF2B5EF4-FFF2-40B4-BE49-F238E27FC236}">
                  <a16:creationId xmlns:a16="http://schemas.microsoft.com/office/drawing/2014/main" id="{7B213732-2CA8-4046-F03D-80997D65BCD9}"/>
                </a:ext>
              </a:extLst>
            </p:cNvPr>
            <p:cNvSpPr/>
            <p:nvPr/>
          </p:nvSpPr>
          <p:spPr>
            <a:xfrm>
              <a:off x="1673" y="4793"/>
              <a:ext cx="3086" cy="643"/>
            </a:xfrm>
            <a:prstGeom prst="roundRect">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12</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7" name="文本框 36">
            <a:extLst>
              <a:ext uri="{FF2B5EF4-FFF2-40B4-BE49-F238E27FC236}">
                <a16:creationId xmlns:a16="http://schemas.microsoft.com/office/drawing/2014/main" id="{96A5A949-1C38-C639-9381-5E7DCE92FACD}"/>
              </a:ext>
            </a:extLst>
          </p:cNvPr>
          <p:cNvSpPr txBox="1">
            <a:spLocks noChangeArrowheads="1"/>
          </p:cNvSpPr>
          <p:nvPr/>
        </p:nvSpPr>
        <p:spPr bwMode="auto">
          <a:xfrm>
            <a:off x="3278188" y="1695952"/>
            <a:ext cx="7778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dirty="0">
                <a:solidFill>
                  <a:srgbClr val="44546A"/>
                </a:solidFill>
                <a:latin typeface="微软雅黑" panose="020B0503020204020204" pitchFamily="34" charset="-122"/>
              </a:rPr>
              <a:t>执行</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语句，查询</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a:t>
            </a:r>
            <a:r>
              <a:rPr lang="en-US" altLang="zh-CN" dirty="0">
                <a:solidFill>
                  <a:srgbClr val="44546A"/>
                </a:solidFill>
                <a:latin typeface="微软雅黑" panose="020B0503020204020204" pitchFamily="34" charset="-122"/>
              </a:rPr>
              <a:t>num</a:t>
            </a:r>
            <a:r>
              <a:rPr lang="zh-CN" altLang="en-US" dirty="0">
                <a:solidFill>
                  <a:srgbClr val="44546A"/>
                </a:solidFill>
                <a:latin typeface="微软雅黑" panose="020B0503020204020204" pitchFamily="34" charset="-122"/>
              </a:rPr>
              <a:t>值不为</a:t>
            </a:r>
            <a:r>
              <a:rPr lang="en-US" altLang="zh-CN" dirty="0">
                <a:solidFill>
                  <a:srgbClr val="44546A"/>
                </a:solidFill>
                <a:latin typeface="微软雅黑" panose="020B0503020204020204" pitchFamily="34" charset="-122"/>
              </a:rPr>
              <a:t>NULL</a:t>
            </a:r>
            <a:r>
              <a:rPr lang="zh-CN" altLang="en-US" dirty="0">
                <a:solidFill>
                  <a:srgbClr val="44546A"/>
                </a:solidFill>
                <a:latin typeface="微软雅黑" panose="020B0503020204020204" pitchFamily="34" charset="-122"/>
              </a:rPr>
              <a:t>的记录，结果如下：</a:t>
            </a:r>
          </a:p>
        </p:txBody>
      </p:sp>
      <p:sp>
        <p:nvSpPr>
          <p:cNvPr id="8" name="矩形 7">
            <a:extLst>
              <a:ext uri="{FF2B5EF4-FFF2-40B4-BE49-F238E27FC236}">
                <a16:creationId xmlns:a16="http://schemas.microsoft.com/office/drawing/2014/main" id="{A778A915-889B-ED52-B3FD-CA0AB52FE7C3}"/>
              </a:ext>
            </a:extLst>
          </p:cNvPr>
          <p:cNvSpPr/>
          <p:nvPr/>
        </p:nvSpPr>
        <p:spPr>
          <a:xfrm>
            <a:off x="1062355" y="2274848"/>
            <a:ext cx="9882453" cy="3878535"/>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9" name="文本框 38">
            <a:extLst>
              <a:ext uri="{FF2B5EF4-FFF2-40B4-BE49-F238E27FC236}">
                <a16:creationId xmlns:a16="http://schemas.microsoft.com/office/drawing/2014/main" id="{09EB22A7-D031-1770-49AB-F9042FE8801C}"/>
              </a:ext>
            </a:extLst>
          </p:cNvPr>
          <p:cNvSpPr txBox="1">
            <a:spLocks noChangeArrowheads="1"/>
          </p:cNvSpPr>
          <p:nvPr/>
        </p:nvSpPr>
        <p:spPr bwMode="auto">
          <a:xfrm>
            <a:off x="2090250" y="2342761"/>
            <a:ext cx="8574639" cy="3739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ct val="150000"/>
              </a:lnSpc>
            </a:pPr>
            <a:r>
              <a:rPr lang="en-US" altLang="zh-CN" sz="1600" dirty="0">
                <a:solidFill>
                  <a:schemeClr val="accent1"/>
                </a:solidFill>
              </a:rPr>
              <a:t>mysql&gt; SELECT * FROM goods WHERE num IS NOT NULL;</a:t>
            </a:r>
          </a:p>
          <a:p>
            <a:pPr eaLnBrk="1" hangingPunct="1">
              <a:lnSpc>
                <a:spcPct val="150000"/>
              </a:lnSpc>
            </a:pPr>
            <a:r>
              <a:rPr lang="en-US" altLang="zh-CN" sz="1600" dirty="0">
                <a:solidFill>
                  <a:schemeClr val="accent1"/>
                </a:solidFill>
              </a:rPr>
              <a:t>+----+----------+-----------+----------+----------+-----------------------------+</a:t>
            </a:r>
          </a:p>
          <a:p>
            <a:pPr eaLnBrk="1" hangingPunct="1">
              <a:lnSpc>
                <a:spcPct val="150000"/>
              </a:lnSpc>
            </a:pPr>
            <a:r>
              <a:rPr lang="en-US" altLang="zh-CN" sz="1600" dirty="0">
                <a:solidFill>
                  <a:schemeClr val="accent1"/>
                </a:solidFill>
              </a:rPr>
              <a:t>| id   | type     | name    | price	  | num	| </a:t>
            </a:r>
            <a:r>
              <a:rPr lang="en-US" altLang="zh-CN" sz="1600" dirty="0" err="1">
                <a:solidFill>
                  <a:schemeClr val="accent1"/>
                </a:solidFill>
              </a:rPr>
              <a:t>add_time</a:t>
            </a:r>
            <a:r>
              <a:rPr lang="en-US" altLang="zh-CN" sz="1600" dirty="0">
                <a:solidFill>
                  <a:schemeClr val="accent1"/>
                </a:solidFill>
              </a:rPr>
              <a:t>	     |</a:t>
            </a:r>
          </a:p>
          <a:p>
            <a:pPr eaLnBrk="1" hangingPunct="1">
              <a:lnSpc>
                <a:spcPct val="150000"/>
              </a:lnSpc>
            </a:pPr>
            <a:r>
              <a:rPr lang="en-US" altLang="zh-CN" sz="1600" dirty="0">
                <a:solidFill>
                  <a:schemeClr val="accent1"/>
                </a:solidFill>
              </a:rPr>
              <a:t>+----+----------+-----------+----------+----------+-----------------------------+</a:t>
            </a:r>
          </a:p>
          <a:p>
            <a:pPr eaLnBrk="1" hangingPunct="1">
              <a:lnSpc>
                <a:spcPct val="150000"/>
              </a:lnSpc>
            </a:pPr>
            <a:r>
              <a:rPr lang="en-US" altLang="zh-CN" sz="1600" dirty="0">
                <a:solidFill>
                  <a:schemeClr val="accent1"/>
                </a:solidFill>
              </a:rPr>
              <a:t>|  1   | </a:t>
            </a:r>
            <a:r>
              <a:rPr lang="zh-CN" altLang="en-US" sz="1600" dirty="0">
                <a:solidFill>
                  <a:schemeClr val="accent1"/>
                </a:solidFill>
              </a:rPr>
              <a:t>书籍    </a:t>
            </a:r>
            <a:r>
              <a:rPr lang="en-US" altLang="zh-CN" sz="1600" dirty="0">
                <a:solidFill>
                  <a:schemeClr val="accent1"/>
                </a:solidFill>
              </a:rPr>
              <a:t>| </a:t>
            </a:r>
            <a:r>
              <a:rPr lang="zh-CN" altLang="en-US" sz="1600" dirty="0">
                <a:solidFill>
                  <a:schemeClr val="accent1"/>
                </a:solidFill>
              </a:rPr>
              <a:t>西游记   </a:t>
            </a:r>
            <a:r>
              <a:rPr lang="en-US" altLang="zh-CN" sz="1600" dirty="0">
                <a:solidFill>
                  <a:schemeClr val="accent1"/>
                </a:solidFill>
              </a:rPr>
              <a:t>| 50.40	  |   20	| 2018-01-01 13:40:40   |</a:t>
            </a:r>
          </a:p>
          <a:p>
            <a:pPr eaLnBrk="1" hangingPunct="1">
              <a:lnSpc>
                <a:spcPct val="150000"/>
              </a:lnSpc>
            </a:pPr>
            <a:r>
              <a:rPr lang="en-US" altLang="zh-CN" sz="1600" dirty="0">
                <a:solidFill>
                  <a:schemeClr val="accent1"/>
                </a:solidFill>
              </a:rPr>
              <a:t>|  2   | </a:t>
            </a:r>
            <a:r>
              <a:rPr lang="zh-CN" altLang="en-US" sz="1600" dirty="0">
                <a:solidFill>
                  <a:schemeClr val="accent1"/>
                </a:solidFill>
              </a:rPr>
              <a:t>糖类    </a:t>
            </a:r>
            <a:r>
              <a:rPr lang="en-US" altLang="zh-CN" sz="1600" dirty="0">
                <a:solidFill>
                  <a:schemeClr val="accent1"/>
                </a:solidFill>
              </a:rPr>
              <a:t>| </a:t>
            </a:r>
            <a:r>
              <a:rPr lang="zh-CN" altLang="en-US" sz="1600" dirty="0">
                <a:solidFill>
                  <a:schemeClr val="accent1"/>
                </a:solidFill>
              </a:rPr>
              <a:t>牛奶糖   </a:t>
            </a:r>
            <a:r>
              <a:rPr lang="en-US" altLang="zh-CN" sz="1600" dirty="0">
                <a:solidFill>
                  <a:schemeClr val="accent1"/>
                </a:solidFill>
              </a:rPr>
              <a:t>|  7.50	  |  200	| 2018-02-02 13:40:40   |</a:t>
            </a:r>
          </a:p>
          <a:p>
            <a:pPr eaLnBrk="1" hangingPunct="1">
              <a:lnSpc>
                <a:spcPct val="150000"/>
              </a:lnSpc>
            </a:pPr>
            <a:r>
              <a:rPr lang="en-US" altLang="zh-CN" sz="1600" dirty="0">
                <a:solidFill>
                  <a:schemeClr val="accent1"/>
                </a:solidFill>
              </a:rPr>
              <a:t>|  3   | </a:t>
            </a:r>
            <a:r>
              <a:rPr lang="zh-CN" altLang="en-US" sz="1600" dirty="0">
                <a:solidFill>
                  <a:schemeClr val="accent1"/>
                </a:solidFill>
              </a:rPr>
              <a:t>糖类    </a:t>
            </a:r>
            <a:r>
              <a:rPr lang="en-US" altLang="zh-CN" sz="1600" dirty="0">
                <a:solidFill>
                  <a:schemeClr val="accent1"/>
                </a:solidFill>
              </a:rPr>
              <a:t>| </a:t>
            </a:r>
            <a:r>
              <a:rPr lang="zh-CN" altLang="en-US" sz="1600" dirty="0">
                <a:solidFill>
                  <a:schemeClr val="accent1"/>
                </a:solidFill>
              </a:rPr>
              <a:t>水果糖   </a:t>
            </a:r>
            <a:r>
              <a:rPr lang="en-US" altLang="zh-CN" sz="1600" dirty="0">
                <a:solidFill>
                  <a:schemeClr val="accent1"/>
                </a:solidFill>
              </a:rPr>
              <a:t>|  2.50	  |  100	| NULL		      |</a:t>
            </a:r>
          </a:p>
          <a:p>
            <a:pPr eaLnBrk="1" hangingPunct="1">
              <a:lnSpc>
                <a:spcPct val="150000"/>
              </a:lnSpc>
            </a:pPr>
            <a:r>
              <a:rPr lang="en-US" altLang="zh-CN" sz="1600" dirty="0">
                <a:solidFill>
                  <a:schemeClr val="accent1"/>
                </a:solidFill>
              </a:rPr>
              <a:t>|  5   | </a:t>
            </a:r>
            <a:r>
              <a:rPr lang="zh-CN" altLang="en-US" sz="1600" dirty="0">
                <a:solidFill>
                  <a:schemeClr val="accent1"/>
                </a:solidFill>
              </a:rPr>
              <a:t>饮品    </a:t>
            </a:r>
            <a:r>
              <a:rPr lang="en-US" altLang="zh-CN" sz="1600" dirty="0">
                <a:solidFill>
                  <a:schemeClr val="accent1"/>
                </a:solidFill>
              </a:rPr>
              <a:t>| </a:t>
            </a:r>
            <a:r>
              <a:rPr lang="zh-CN" altLang="en-US" sz="1600" dirty="0">
                <a:solidFill>
                  <a:schemeClr val="accent1"/>
                </a:solidFill>
              </a:rPr>
              <a:t>果汁	     </a:t>
            </a:r>
            <a:r>
              <a:rPr lang="en-US" altLang="zh-CN" sz="1600" dirty="0">
                <a:solidFill>
                  <a:schemeClr val="accent1"/>
                </a:solidFill>
              </a:rPr>
              <a:t>|  3.00	  |   70	| 2018-05-05 13:40:40   |</a:t>
            </a:r>
          </a:p>
          <a:p>
            <a:pPr eaLnBrk="1" hangingPunct="1">
              <a:lnSpc>
                <a:spcPct val="150000"/>
              </a:lnSpc>
            </a:pPr>
            <a:r>
              <a:rPr lang="en-US" altLang="zh-CN" sz="1600" dirty="0">
                <a:solidFill>
                  <a:schemeClr val="accent1"/>
                </a:solidFill>
              </a:rPr>
              <a:t>+----+----------+-----------+----------+----------+-----------------------------+</a:t>
            </a:r>
          </a:p>
          <a:p>
            <a:pPr eaLnBrk="1" hangingPunct="1">
              <a:lnSpc>
                <a:spcPct val="150000"/>
              </a:lnSpc>
            </a:pPr>
            <a:r>
              <a:rPr lang="en-US" altLang="zh-CN" sz="1600" dirty="0">
                <a:solidFill>
                  <a:schemeClr val="accent1"/>
                </a:solidFill>
              </a:rPr>
              <a:t>4 rows in set (0.00 sec)</a:t>
            </a:r>
          </a:p>
        </p:txBody>
      </p:sp>
    </p:spTree>
    <p:extLst>
      <p:ext uri="{BB962C8B-B14F-4D97-AF65-F5344CB8AC3E}">
        <p14:creationId xmlns:p14="http://schemas.microsoft.com/office/powerpoint/2010/main" val="129527240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animBg="1"/>
      <p:bldP spid="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查询空值</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10">
            <a:extLst>
              <a:ext uri="{FF2B5EF4-FFF2-40B4-BE49-F238E27FC236}">
                <a16:creationId xmlns:a16="http://schemas.microsoft.com/office/drawing/2014/main" id="{3CBB0E4F-7D97-07FE-9277-B5CE9D7728B7}"/>
              </a:ext>
            </a:extLst>
          </p:cNvPr>
          <p:cNvSpPr txBox="1">
            <a:spLocks noChangeArrowheads="1"/>
          </p:cNvSpPr>
          <p:nvPr/>
        </p:nvSpPr>
        <p:spPr bwMode="auto">
          <a:xfrm>
            <a:off x="592549" y="1016623"/>
            <a:ext cx="1103338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noProof="1">
                <a:solidFill>
                  <a:srgbClr val="44546A"/>
                </a:solidFill>
                <a:latin typeface="微软雅黑" panose="020B0503020204020204" pitchFamily="34" charset="-122"/>
              </a:rPr>
              <a:t>需要注意的是，如果某些字段值为</a:t>
            </a:r>
            <a:r>
              <a:rPr lang="en-US" altLang="zh-CN" noProof="1">
                <a:solidFill>
                  <a:srgbClr val="44546A"/>
                </a:solidFill>
                <a:latin typeface="微软雅黑" panose="020B0503020204020204" pitchFamily="34" charset="-122"/>
              </a:rPr>
              <a:t>NULL</a:t>
            </a:r>
            <a:r>
              <a:rPr lang="zh-CN" altLang="en-US" noProof="1">
                <a:solidFill>
                  <a:srgbClr val="44546A"/>
                </a:solidFill>
                <a:latin typeface="微软雅黑" panose="020B0503020204020204" pitchFamily="34" charset="-122"/>
              </a:rPr>
              <a:t>，在将这些字段与其他值进行比较时，就会返回不准确的数据。</a:t>
            </a:r>
            <a:endParaRPr lang="zh-CN" altLang="en-US" dirty="0">
              <a:solidFill>
                <a:srgbClr val="44546A"/>
              </a:solidFill>
              <a:latin typeface="微软雅黑" panose="020B0503020204020204" pitchFamily="34" charset="-122"/>
            </a:endParaRPr>
          </a:p>
        </p:txBody>
      </p:sp>
      <p:grpSp>
        <p:nvGrpSpPr>
          <p:cNvPr id="4" name="组合 34">
            <a:extLst>
              <a:ext uri="{FF2B5EF4-FFF2-40B4-BE49-F238E27FC236}">
                <a16:creationId xmlns:a16="http://schemas.microsoft.com/office/drawing/2014/main" id="{1AFC3169-928D-18D1-B581-5E06252B128B}"/>
              </a:ext>
            </a:extLst>
          </p:cNvPr>
          <p:cNvGrpSpPr/>
          <p:nvPr/>
        </p:nvGrpSpPr>
        <p:grpSpPr>
          <a:xfrm>
            <a:off x="838200" y="1877704"/>
            <a:ext cx="2183765" cy="600710"/>
            <a:chOff x="1320" y="4641"/>
            <a:chExt cx="3439" cy="946"/>
          </a:xfrm>
          <a:solidFill>
            <a:schemeClr val="accent6"/>
          </a:solidFill>
        </p:grpSpPr>
        <p:sp>
          <p:nvSpPr>
            <p:cNvPr id="5" name="椭圆 4">
              <a:extLst>
                <a:ext uri="{FF2B5EF4-FFF2-40B4-BE49-F238E27FC236}">
                  <a16:creationId xmlns:a16="http://schemas.microsoft.com/office/drawing/2014/main" id="{B3D5C947-696F-F146-23E0-74159F00F373}"/>
                </a:ext>
              </a:extLst>
            </p:cNvPr>
            <p:cNvSpPr/>
            <p:nvPr/>
          </p:nvSpPr>
          <p:spPr>
            <a:xfrm>
              <a:off x="1320" y="4641"/>
              <a:ext cx="946" cy="946"/>
            </a:xfrm>
            <a:prstGeom prst="ellipse">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6" name="圆角矩形 6">
              <a:extLst>
                <a:ext uri="{FF2B5EF4-FFF2-40B4-BE49-F238E27FC236}">
                  <a16:creationId xmlns:a16="http://schemas.microsoft.com/office/drawing/2014/main" id="{405F0F21-BDDC-9365-1BC8-694CEF847076}"/>
                </a:ext>
              </a:extLst>
            </p:cNvPr>
            <p:cNvSpPr/>
            <p:nvPr/>
          </p:nvSpPr>
          <p:spPr>
            <a:xfrm>
              <a:off x="1673" y="4793"/>
              <a:ext cx="3086" cy="643"/>
            </a:xfrm>
            <a:prstGeom prst="roundRect">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13</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7" name="文本框 36">
            <a:extLst>
              <a:ext uri="{FF2B5EF4-FFF2-40B4-BE49-F238E27FC236}">
                <a16:creationId xmlns:a16="http://schemas.microsoft.com/office/drawing/2014/main" id="{4D825CBD-B1D9-689F-44DA-34C41E26DF3E}"/>
              </a:ext>
            </a:extLst>
          </p:cNvPr>
          <p:cNvSpPr txBox="1">
            <a:spLocks noChangeArrowheads="1"/>
          </p:cNvSpPr>
          <p:nvPr/>
        </p:nvSpPr>
        <p:spPr bwMode="auto">
          <a:xfrm>
            <a:off x="3278188" y="1994544"/>
            <a:ext cx="7778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dirty="0">
                <a:solidFill>
                  <a:srgbClr val="44546A"/>
                </a:solidFill>
                <a:latin typeface="微软雅黑" panose="020B0503020204020204" pitchFamily="34" charset="-122"/>
              </a:rPr>
              <a:t>执行</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语句，查询</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a:t>
            </a:r>
            <a:r>
              <a:rPr lang="en-US" altLang="zh-CN" dirty="0">
                <a:solidFill>
                  <a:srgbClr val="44546A"/>
                </a:solidFill>
                <a:latin typeface="微软雅黑" panose="020B0503020204020204" pitchFamily="34" charset="-122"/>
              </a:rPr>
              <a:t>num</a:t>
            </a:r>
            <a:r>
              <a:rPr lang="zh-CN" altLang="en-US" dirty="0">
                <a:solidFill>
                  <a:srgbClr val="44546A"/>
                </a:solidFill>
                <a:latin typeface="微软雅黑" panose="020B0503020204020204" pitchFamily="34" charset="-122"/>
              </a:rPr>
              <a:t>值不等于</a:t>
            </a:r>
            <a:r>
              <a:rPr lang="en-US" altLang="zh-CN" dirty="0">
                <a:solidFill>
                  <a:srgbClr val="44546A"/>
                </a:solidFill>
                <a:latin typeface="微软雅黑" panose="020B0503020204020204" pitchFamily="34" charset="-122"/>
              </a:rPr>
              <a:t>100</a:t>
            </a:r>
            <a:r>
              <a:rPr lang="zh-CN" altLang="en-US" dirty="0">
                <a:solidFill>
                  <a:srgbClr val="44546A"/>
                </a:solidFill>
                <a:latin typeface="微软雅黑" panose="020B0503020204020204" pitchFamily="34" charset="-122"/>
              </a:rPr>
              <a:t>的记录，查询结果如下：</a:t>
            </a:r>
          </a:p>
        </p:txBody>
      </p:sp>
      <p:sp>
        <p:nvSpPr>
          <p:cNvPr id="8" name="矩形 7">
            <a:extLst>
              <a:ext uri="{FF2B5EF4-FFF2-40B4-BE49-F238E27FC236}">
                <a16:creationId xmlns:a16="http://schemas.microsoft.com/office/drawing/2014/main" id="{EDE9FE97-0E06-8979-C5ED-CC157741A902}"/>
              </a:ext>
            </a:extLst>
          </p:cNvPr>
          <p:cNvSpPr/>
          <p:nvPr/>
        </p:nvSpPr>
        <p:spPr>
          <a:xfrm>
            <a:off x="1062355" y="2573441"/>
            <a:ext cx="9882453" cy="3514629"/>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9" name="文本框 38">
            <a:extLst>
              <a:ext uri="{FF2B5EF4-FFF2-40B4-BE49-F238E27FC236}">
                <a16:creationId xmlns:a16="http://schemas.microsoft.com/office/drawing/2014/main" id="{CA3D4302-E2C5-8F63-D1F2-76F1B0CACC0B}"/>
              </a:ext>
            </a:extLst>
          </p:cNvPr>
          <p:cNvSpPr txBox="1">
            <a:spLocks noChangeArrowheads="1"/>
          </p:cNvSpPr>
          <p:nvPr/>
        </p:nvSpPr>
        <p:spPr bwMode="auto">
          <a:xfrm>
            <a:off x="2090250" y="2641353"/>
            <a:ext cx="8574639" cy="3370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ct val="150000"/>
              </a:lnSpc>
            </a:pPr>
            <a:r>
              <a:rPr lang="en-US" altLang="zh-CN" sz="1600" dirty="0">
                <a:solidFill>
                  <a:schemeClr val="accent3"/>
                </a:solidFill>
              </a:rPr>
              <a:t>mysql&gt; SELECT * FROM goods WHERE num&lt;&gt;100;</a:t>
            </a:r>
          </a:p>
          <a:p>
            <a:pPr eaLnBrk="1" hangingPunct="1">
              <a:lnSpc>
                <a:spcPct val="150000"/>
              </a:lnSpc>
            </a:pPr>
            <a:r>
              <a:rPr lang="en-US" altLang="zh-CN" sz="1600" dirty="0">
                <a:solidFill>
                  <a:schemeClr val="accent3"/>
                </a:solidFill>
              </a:rPr>
              <a:t>+----+--------+----------+------------+----------+----------------------------------------+</a:t>
            </a:r>
          </a:p>
          <a:p>
            <a:pPr eaLnBrk="1" hangingPunct="1">
              <a:lnSpc>
                <a:spcPct val="150000"/>
              </a:lnSpc>
            </a:pPr>
            <a:r>
              <a:rPr lang="en-US" altLang="zh-CN" sz="1600" dirty="0">
                <a:solidFill>
                  <a:schemeClr val="accent3"/>
                </a:solidFill>
              </a:rPr>
              <a:t>| id   | type  | name	| price	| num	| add_time		|</a:t>
            </a:r>
          </a:p>
          <a:p>
            <a:pPr eaLnBrk="1" hangingPunct="1">
              <a:lnSpc>
                <a:spcPct val="150000"/>
              </a:lnSpc>
            </a:pPr>
            <a:r>
              <a:rPr lang="en-US" altLang="zh-CN" sz="1600" dirty="0">
                <a:solidFill>
                  <a:schemeClr val="accent3"/>
                </a:solidFill>
              </a:rPr>
              <a:t>+----+--------+----------+------------+----------+----------------------------------------+</a:t>
            </a:r>
          </a:p>
          <a:p>
            <a:pPr eaLnBrk="1" hangingPunct="1">
              <a:lnSpc>
                <a:spcPct val="150000"/>
              </a:lnSpc>
            </a:pPr>
            <a:r>
              <a:rPr lang="en-US" altLang="zh-CN" sz="1600" dirty="0">
                <a:solidFill>
                  <a:schemeClr val="accent3"/>
                </a:solidFill>
              </a:rPr>
              <a:t>|  1  | </a:t>
            </a:r>
            <a:r>
              <a:rPr lang="zh-CN" altLang="en-US" sz="1600" dirty="0">
                <a:solidFill>
                  <a:schemeClr val="accent3"/>
                </a:solidFill>
              </a:rPr>
              <a:t>书籍	  </a:t>
            </a:r>
            <a:r>
              <a:rPr lang="en-US" altLang="zh-CN" sz="1600" dirty="0">
                <a:solidFill>
                  <a:schemeClr val="accent3"/>
                </a:solidFill>
              </a:rPr>
              <a:t>| </a:t>
            </a:r>
            <a:r>
              <a:rPr lang="zh-CN" altLang="en-US" sz="1600" dirty="0">
                <a:solidFill>
                  <a:schemeClr val="accent3"/>
                </a:solidFill>
              </a:rPr>
              <a:t>西游记	</a:t>
            </a:r>
            <a:r>
              <a:rPr lang="en-US" altLang="zh-CN" sz="1600" dirty="0">
                <a:solidFill>
                  <a:schemeClr val="accent3"/>
                </a:solidFill>
              </a:rPr>
              <a:t>| 50.40	|   20	| 2018-01-01 13:40:40	|</a:t>
            </a:r>
          </a:p>
          <a:p>
            <a:pPr eaLnBrk="1" hangingPunct="1">
              <a:lnSpc>
                <a:spcPct val="150000"/>
              </a:lnSpc>
            </a:pPr>
            <a:r>
              <a:rPr lang="en-US" altLang="zh-CN" sz="1600" dirty="0">
                <a:solidFill>
                  <a:schemeClr val="accent3"/>
                </a:solidFill>
              </a:rPr>
              <a:t>|  2  | </a:t>
            </a:r>
            <a:r>
              <a:rPr lang="zh-CN" altLang="en-US" sz="1600" dirty="0">
                <a:solidFill>
                  <a:schemeClr val="accent3"/>
                </a:solidFill>
              </a:rPr>
              <a:t>糖类	  </a:t>
            </a:r>
            <a:r>
              <a:rPr lang="en-US" altLang="zh-CN" sz="1600" dirty="0">
                <a:solidFill>
                  <a:schemeClr val="accent3"/>
                </a:solidFill>
              </a:rPr>
              <a:t>| </a:t>
            </a:r>
            <a:r>
              <a:rPr lang="zh-CN" altLang="en-US" sz="1600" dirty="0">
                <a:solidFill>
                  <a:schemeClr val="accent3"/>
                </a:solidFill>
              </a:rPr>
              <a:t>牛奶糖	</a:t>
            </a:r>
            <a:r>
              <a:rPr lang="en-US" altLang="zh-CN" sz="1600" dirty="0">
                <a:solidFill>
                  <a:schemeClr val="accent3"/>
                </a:solidFill>
              </a:rPr>
              <a:t>|  7.50	|  200	| 2018-02-02 13:40:40	|</a:t>
            </a:r>
          </a:p>
          <a:p>
            <a:pPr eaLnBrk="1" hangingPunct="1">
              <a:lnSpc>
                <a:spcPct val="150000"/>
              </a:lnSpc>
            </a:pPr>
            <a:r>
              <a:rPr lang="en-US" altLang="zh-CN" sz="1600" dirty="0">
                <a:solidFill>
                  <a:schemeClr val="accent3"/>
                </a:solidFill>
              </a:rPr>
              <a:t>|  5  | </a:t>
            </a:r>
            <a:r>
              <a:rPr lang="zh-CN" altLang="en-US" sz="1600" dirty="0">
                <a:solidFill>
                  <a:schemeClr val="accent3"/>
                </a:solidFill>
              </a:rPr>
              <a:t>饮品  </a:t>
            </a:r>
            <a:r>
              <a:rPr lang="en-US" altLang="zh-CN" sz="1600" dirty="0">
                <a:solidFill>
                  <a:schemeClr val="accent3"/>
                </a:solidFill>
              </a:rPr>
              <a:t>| </a:t>
            </a:r>
            <a:r>
              <a:rPr lang="zh-CN" altLang="en-US" sz="1600" dirty="0">
                <a:solidFill>
                  <a:schemeClr val="accent3"/>
                </a:solidFill>
              </a:rPr>
              <a:t>果汁	</a:t>
            </a:r>
            <a:r>
              <a:rPr lang="en-US" altLang="zh-CN" sz="1600" dirty="0">
                <a:solidFill>
                  <a:schemeClr val="accent3"/>
                </a:solidFill>
              </a:rPr>
              <a:t>|  3.00	|   70	| 2018-05-05 13:40:40	|</a:t>
            </a:r>
          </a:p>
          <a:p>
            <a:pPr eaLnBrk="1" hangingPunct="1">
              <a:lnSpc>
                <a:spcPct val="150000"/>
              </a:lnSpc>
            </a:pPr>
            <a:r>
              <a:rPr lang="en-US" altLang="zh-CN" sz="1600" dirty="0">
                <a:solidFill>
                  <a:schemeClr val="accent3"/>
                </a:solidFill>
              </a:rPr>
              <a:t>+----+--------+----------+------------+-----------+---------------------------------------+</a:t>
            </a:r>
          </a:p>
          <a:p>
            <a:pPr eaLnBrk="1" hangingPunct="1">
              <a:lnSpc>
                <a:spcPct val="150000"/>
              </a:lnSpc>
            </a:pPr>
            <a:r>
              <a:rPr lang="en-US" altLang="zh-CN" sz="1600" dirty="0">
                <a:solidFill>
                  <a:schemeClr val="accent3"/>
                </a:solidFill>
              </a:rPr>
              <a:t>3 rows in set (0.00 sec)</a:t>
            </a:r>
          </a:p>
        </p:txBody>
      </p:sp>
    </p:spTree>
    <p:extLst>
      <p:ext uri="{BB962C8B-B14F-4D97-AF65-F5344CB8AC3E}">
        <p14:creationId xmlns:p14="http://schemas.microsoft.com/office/powerpoint/2010/main" val="17195677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animBg="1"/>
      <p:bldP spid="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范围查询</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10">
            <a:extLst>
              <a:ext uri="{FF2B5EF4-FFF2-40B4-BE49-F238E27FC236}">
                <a16:creationId xmlns:a16="http://schemas.microsoft.com/office/drawing/2014/main" id="{7C97CCB4-31C5-F37F-B0DB-9BAC384DE1F0}"/>
              </a:ext>
            </a:extLst>
          </p:cNvPr>
          <p:cNvSpPr txBox="1">
            <a:spLocks noChangeArrowheads="1"/>
          </p:cNvSpPr>
          <p:nvPr/>
        </p:nvSpPr>
        <p:spPr bwMode="auto">
          <a:xfrm>
            <a:off x="592549" y="1016623"/>
            <a:ext cx="1103338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en-US" altLang="zh-CN" noProof="1">
                <a:solidFill>
                  <a:srgbClr val="44546A"/>
                </a:solidFill>
                <a:latin typeface="微软雅黑" panose="020B0503020204020204" pitchFamily="34" charset="-122"/>
              </a:rPr>
              <a:t>MySQL</a:t>
            </a:r>
            <a:r>
              <a:rPr lang="zh-CN" altLang="en-US" noProof="1">
                <a:solidFill>
                  <a:srgbClr val="44546A"/>
                </a:solidFill>
                <a:latin typeface="微软雅黑" panose="020B0503020204020204" pitchFamily="34" charset="-122"/>
              </a:rPr>
              <a:t>提供</a:t>
            </a:r>
            <a:r>
              <a:rPr lang="en-US" altLang="zh-CN" noProof="1">
                <a:solidFill>
                  <a:srgbClr val="44546A"/>
                </a:solidFill>
                <a:latin typeface="微软雅黑" panose="020B0503020204020204" pitchFamily="34" charset="-122"/>
              </a:rPr>
              <a:t>BETWEEN AND</a:t>
            </a:r>
            <a:r>
              <a:rPr lang="zh-CN" altLang="en-US" noProof="1">
                <a:solidFill>
                  <a:srgbClr val="44546A"/>
                </a:solidFill>
                <a:latin typeface="微软雅黑" panose="020B0503020204020204" pitchFamily="34" charset="-122"/>
              </a:rPr>
              <a:t>关键字，用于查询字段值在某个范围内的记录，语法形式为：</a:t>
            </a:r>
            <a:endParaRPr lang="zh-CN" altLang="en-US" dirty="0">
              <a:solidFill>
                <a:srgbClr val="44546A"/>
              </a:solidFill>
              <a:latin typeface="微软雅黑" panose="020B0503020204020204" pitchFamily="34" charset="-122"/>
            </a:endParaRPr>
          </a:p>
        </p:txBody>
      </p:sp>
      <p:sp>
        <p:nvSpPr>
          <p:cNvPr id="7" name="文本框 36">
            <a:extLst>
              <a:ext uri="{FF2B5EF4-FFF2-40B4-BE49-F238E27FC236}">
                <a16:creationId xmlns:a16="http://schemas.microsoft.com/office/drawing/2014/main" id="{6A8A3E41-1777-AE0F-599A-604432E7316D}"/>
              </a:ext>
            </a:extLst>
          </p:cNvPr>
          <p:cNvSpPr txBox="1">
            <a:spLocks noChangeArrowheads="1"/>
          </p:cNvSpPr>
          <p:nvPr/>
        </p:nvSpPr>
        <p:spPr bwMode="auto">
          <a:xfrm>
            <a:off x="3400746" y="2575338"/>
            <a:ext cx="74487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sz="1600" dirty="0">
                <a:solidFill>
                  <a:srgbClr val="44546A"/>
                </a:solidFill>
                <a:latin typeface="微软雅黑" panose="020B0503020204020204" pitchFamily="34" charset="-122"/>
              </a:rPr>
              <a:t>执行</a:t>
            </a:r>
            <a:r>
              <a:rPr lang="en-US" altLang="zh-CN" sz="1600" dirty="0">
                <a:solidFill>
                  <a:srgbClr val="44546A"/>
                </a:solidFill>
                <a:latin typeface="微软雅黑" panose="020B0503020204020204" pitchFamily="34" charset="-122"/>
              </a:rPr>
              <a:t>SQL</a:t>
            </a:r>
            <a:r>
              <a:rPr lang="zh-CN" altLang="en-US" sz="1600" dirty="0">
                <a:solidFill>
                  <a:srgbClr val="44546A"/>
                </a:solidFill>
                <a:latin typeface="微软雅黑" panose="020B0503020204020204" pitchFamily="34" charset="-122"/>
              </a:rPr>
              <a:t>语句，查询</a:t>
            </a:r>
            <a:r>
              <a:rPr lang="en-US" altLang="zh-CN" sz="1600" dirty="0">
                <a:solidFill>
                  <a:srgbClr val="44546A"/>
                </a:solidFill>
                <a:latin typeface="微软雅黑" panose="020B0503020204020204" pitchFamily="34" charset="-122"/>
              </a:rPr>
              <a:t>goods</a:t>
            </a:r>
            <a:r>
              <a:rPr lang="zh-CN" altLang="en-US" sz="1600" dirty="0">
                <a:solidFill>
                  <a:srgbClr val="44546A"/>
                </a:solidFill>
                <a:latin typeface="微软雅黑" panose="020B0503020204020204" pitchFamily="34" charset="-122"/>
              </a:rPr>
              <a:t>表中</a:t>
            </a:r>
            <a:r>
              <a:rPr lang="en-US" altLang="zh-CN" sz="1600" dirty="0">
                <a:solidFill>
                  <a:srgbClr val="44546A"/>
                </a:solidFill>
                <a:latin typeface="微软雅黑" panose="020B0503020204020204" pitchFamily="34" charset="-122"/>
              </a:rPr>
              <a:t>price</a:t>
            </a:r>
            <a:r>
              <a:rPr lang="zh-CN" altLang="en-US" sz="1600" dirty="0">
                <a:solidFill>
                  <a:srgbClr val="44546A"/>
                </a:solidFill>
                <a:latin typeface="微软雅黑" panose="020B0503020204020204" pitchFamily="34" charset="-122"/>
              </a:rPr>
              <a:t>值为</a:t>
            </a:r>
            <a:r>
              <a:rPr lang="en-US" altLang="zh-CN" sz="1600" dirty="0">
                <a:solidFill>
                  <a:srgbClr val="44546A"/>
                </a:solidFill>
                <a:latin typeface="微软雅黑" panose="020B0503020204020204" pitchFamily="34" charset="-122"/>
              </a:rPr>
              <a:t>2.5</a:t>
            </a:r>
            <a:r>
              <a:rPr lang="zh-CN" altLang="en-US" sz="1600" dirty="0">
                <a:solidFill>
                  <a:srgbClr val="44546A"/>
                </a:solidFill>
                <a:latin typeface="微软雅黑" panose="020B0503020204020204" pitchFamily="34" charset="-122"/>
              </a:rPr>
              <a:t>到</a:t>
            </a:r>
            <a:r>
              <a:rPr lang="en-US" altLang="zh-CN" sz="1600" dirty="0">
                <a:solidFill>
                  <a:srgbClr val="44546A"/>
                </a:solidFill>
                <a:latin typeface="微软雅黑" panose="020B0503020204020204" pitchFamily="34" charset="-122"/>
              </a:rPr>
              <a:t>50</a:t>
            </a:r>
            <a:r>
              <a:rPr lang="zh-CN" altLang="en-US" sz="1600" dirty="0">
                <a:solidFill>
                  <a:srgbClr val="44546A"/>
                </a:solidFill>
                <a:latin typeface="微软雅黑" panose="020B0503020204020204" pitchFamily="34" charset="-122"/>
              </a:rPr>
              <a:t>的商品名称和价格，结果如下：</a:t>
            </a:r>
          </a:p>
        </p:txBody>
      </p:sp>
      <p:sp>
        <p:nvSpPr>
          <p:cNvPr id="8" name="矩形 7">
            <a:extLst>
              <a:ext uri="{FF2B5EF4-FFF2-40B4-BE49-F238E27FC236}">
                <a16:creationId xmlns:a16="http://schemas.microsoft.com/office/drawing/2014/main" id="{9A54E61A-E1B8-8B0E-302C-B7FA785E8504}"/>
              </a:ext>
            </a:extLst>
          </p:cNvPr>
          <p:cNvSpPr/>
          <p:nvPr/>
        </p:nvSpPr>
        <p:spPr>
          <a:xfrm>
            <a:off x="1062355" y="3275861"/>
            <a:ext cx="10052154" cy="2847422"/>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9" name="文本框 38">
            <a:extLst>
              <a:ext uri="{FF2B5EF4-FFF2-40B4-BE49-F238E27FC236}">
                <a16:creationId xmlns:a16="http://schemas.microsoft.com/office/drawing/2014/main" id="{F05AF0E4-9401-9357-CC74-D10D2CF8FB2C}"/>
              </a:ext>
            </a:extLst>
          </p:cNvPr>
          <p:cNvSpPr txBox="1">
            <a:spLocks noChangeArrowheads="1"/>
          </p:cNvSpPr>
          <p:nvPr/>
        </p:nvSpPr>
        <p:spPr bwMode="auto">
          <a:xfrm>
            <a:off x="2077631" y="3322516"/>
            <a:ext cx="3657407"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chemeClr val="accent1"/>
                </a:solidFill>
              </a:rPr>
              <a:t>mysql&gt; SELECT name, price FROM goods WHERE price BETWEEN 2.5 AND 50;</a:t>
            </a:r>
          </a:p>
          <a:p>
            <a:pPr eaLnBrk="1" hangingPunct="1"/>
            <a:r>
              <a:rPr lang="en-US" altLang="zh-CN" sz="1600" dirty="0">
                <a:solidFill>
                  <a:schemeClr val="accent1"/>
                </a:solidFill>
              </a:rPr>
              <a:t>+----------+----------+</a:t>
            </a:r>
          </a:p>
          <a:p>
            <a:pPr eaLnBrk="1" hangingPunct="1"/>
            <a:r>
              <a:rPr lang="en-US" altLang="zh-CN" sz="1600" dirty="0">
                <a:solidFill>
                  <a:schemeClr val="accent1"/>
                </a:solidFill>
              </a:rPr>
              <a:t>| name	| price	|</a:t>
            </a:r>
          </a:p>
          <a:p>
            <a:pPr eaLnBrk="1" hangingPunct="1"/>
            <a:r>
              <a:rPr lang="en-US" altLang="zh-CN" sz="1600" dirty="0">
                <a:solidFill>
                  <a:schemeClr val="accent1"/>
                </a:solidFill>
              </a:rPr>
              <a:t>+----------+----------+</a:t>
            </a:r>
          </a:p>
          <a:p>
            <a:pPr eaLnBrk="1" hangingPunct="1"/>
            <a:r>
              <a:rPr lang="en-US" altLang="zh-CN" sz="1600" dirty="0">
                <a:solidFill>
                  <a:schemeClr val="accent1"/>
                </a:solidFill>
              </a:rPr>
              <a:t>| </a:t>
            </a:r>
            <a:r>
              <a:rPr lang="zh-CN" altLang="en-US" sz="1600" dirty="0">
                <a:solidFill>
                  <a:schemeClr val="accent1"/>
                </a:solidFill>
              </a:rPr>
              <a:t>牛奶糖	</a:t>
            </a:r>
            <a:r>
              <a:rPr lang="en-US" altLang="zh-CN" sz="1600" dirty="0">
                <a:solidFill>
                  <a:schemeClr val="accent1"/>
                </a:solidFill>
              </a:rPr>
              <a:t>|  7.50	|</a:t>
            </a:r>
          </a:p>
          <a:p>
            <a:pPr eaLnBrk="1" hangingPunct="1"/>
            <a:r>
              <a:rPr lang="en-US" altLang="zh-CN" sz="1600" dirty="0">
                <a:solidFill>
                  <a:schemeClr val="accent1"/>
                </a:solidFill>
              </a:rPr>
              <a:t>| </a:t>
            </a:r>
            <a:r>
              <a:rPr lang="zh-CN" altLang="en-US" sz="1600" dirty="0">
                <a:solidFill>
                  <a:schemeClr val="accent1"/>
                </a:solidFill>
              </a:rPr>
              <a:t>水果糖	</a:t>
            </a:r>
            <a:r>
              <a:rPr lang="en-US" altLang="zh-CN" sz="1600" dirty="0">
                <a:solidFill>
                  <a:schemeClr val="accent1"/>
                </a:solidFill>
              </a:rPr>
              <a:t>|  2.50	|</a:t>
            </a:r>
          </a:p>
          <a:p>
            <a:pPr eaLnBrk="1" hangingPunct="1"/>
            <a:r>
              <a:rPr lang="en-US" altLang="zh-CN" sz="1600" dirty="0">
                <a:solidFill>
                  <a:schemeClr val="accent1"/>
                </a:solidFill>
              </a:rPr>
              <a:t>| </a:t>
            </a:r>
            <a:r>
              <a:rPr lang="zh-CN" altLang="en-US" sz="1600" dirty="0">
                <a:solidFill>
                  <a:schemeClr val="accent1"/>
                </a:solidFill>
              </a:rPr>
              <a:t>果汁	</a:t>
            </a:r>
            <a:r>
              <a:rPr lang="en-US" altLang="zh-CN" sz="1600" dirty="0">
                <a:solidFill>
                  <a:schemeClr val="accent1"/>
                </a:solidFill>
              </a:rPr>
              <a:t>|  3.00	|</a:t>
            </a:r>
          </a:p>
          <a:p>
            <a:pPr eaLnBrk="1" hangingPunct="1"/>
            <a:r>
              <a:rPr lang="en-US" altLang="zh-CN" sz="1600" dirty="0">
                <a:solidFill>
                  <a:schemeClr val="accent1"/>
                </a:solidFill>
              </a:rPr>
              <a:t>+----------+----------+</a:t>
            </a:r>
          </a:p>
          <a:p>
            <a:pPr eaLnBrk="1" hangingPunct="1"/>
            <a:r>
              <a:rPr lang="en-US" altLang="zh-CN" sz="1600" dirty="0">
                <a:solidFill>
                  <a:schemeClr val="accent1"/>
                </a:solidFill>
              </a:rPr>
              <a:t>3 rows in set (0.00 sec)</a:t>
            </a:r>
          </a:p>
        </p:txBody>
      </p:sp>
      <p:sp>
        <p:nvSpPr>
          <p:cNvPr id="16" name="矩形 15">
            <a:extLst>
              <a:ext uri="{FF2B5EF4-FFF2-40B4-BE49-F238E27FC236}">
                <a16:creationId xmlns:a16="http://schemas.microsoft.com/office/drawing/2014/main" id="{D449BCF7-2B74-423D-9262-D4B8A88B9149}"/>
              </a:ext>
            </a:extLst>
          </p:cNvPr>
          <p:cNvSpPr/>
          <p:nvPr/>
        </p:nvSpPr>
        <p:spPr>
          <a:xfrm>
            <a:off x="1140291" y="1481646"/>
            <a:ext cx="10052154" cy="779038"/>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7" name="文本框 38">
            <a:extLst>
              <a:ext uri="{FF2B5EF4-FFF2-40B4-BE49-F238E27FC236}">
                <a16:creationId xmlns:a16="http://schemas.microsoft.com/office/drawing/2014/main" id="{60E42B0A-6EEA-BE2C-9F9E-8767428F7CDF}"/>
              </a:ext>
            </a:extLst>
          </p:cNvPr>
          <p:cNvSpPr txBox="1">
            <a:spLocks noChangeArrowheads="1"/>
          </p:cNvSpPr>
          <p:nvPr/>
        </p:nvSpPr>
        <p:spPr bwMode="auto">
          <a:xfrm>
            <a:off x="2168187" y="1484240"/>
            <a:ext cx="6968444" cy="70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1"/>
                </a:solidFill>
              </a:rPr>
              <a:t>SELECT {*|col_list} FROM table_name </a:t>
            </a:r>
          </a:p>
          <a:p>
            <a:pPr eaLnBrk="1" hangingPunct="1">
              <a:lnSpc>
                <a:spcPts val="2500"/>
              </a:lnSpc>
            </a:pPr>
            <a:r>
              <a:rPr lang="en-US" altLang="zh-CN" sz="1600" dirty="0">
                <a:solidFill>
                  <a:schemeClr val="accent1"/>
                </a:solidFill>
              </a:rPr>
              <a:t>WHERE </a:t>
            </a:r>
            <a:r>
              <a:rPr lang="en-US" altLang="zh-CN" sz="1600" dirty="0" err="1">
                <a:solidFill>
                  <a:schemeClr val="accent1"/>
                </a:solidFill>
              </a:rPr>
              <a:t>col_namea</a:t>
            </a:r>
            <a:r>
              <a:rPr lang="en-US" altLang="zh-CN" sz="1600" dirty="0">
                <a:solidFill>
                  <a:schemeClr val="accent1"/>
                </a:solidFill>
              </a:rPr>
              <a:t> BETWEEN value1 AND value2;</a:t>
            </a:r>
          </a:p>
        </p:txBody>
      </p:sp>
      <p:grpSp>
        <p:nvGrpSpPr>
          <p:cNvPr id="18" name="组合 34">
            <a:extLst>
              <a:ext uri="{FF2B5EF4-FFF2-40B4-BE49-F238E27FC236}">
                <a16:creationId xmlns:a16="http://schemas.microsoft.com/office/drawing/2014/main" id="{1CE8B5B4-EF8C-3E24-CBC9-5EA0D54455F2}"/>
              </a:ext>
            </a:extLst>
          </p:cNvPr>
          <p:cNvGrpSpPr/>
          <p:nvPr/>
        </p:nvGrpSpPr>
        <p:grpSpPr>
          <a:xfrm>
            <a:off x="838200" y="2442141"/>
            <a:ext cx="2183765" cy="600710"/>
            <a:chOff x="1320" y="4641"/>
            <a:chExt cx="3439" cy="946"/>
          </a:xfrm>
          <a:solidFill>
            <a:schemeClr val="accent6"/>
          </a:solidFill>
        </p:grpSpPr>
        <p:sp>
          <p:nvSpPr>
            <p:cNvPr id="19" name="椭圆 18">
              <a:extLst>
                <a:ext uri="{FF2B5EF4-FFF2-40B4-BE49-F238E27FC236}">
                  <a16:creationId xmlns:a16="http://schemas.microsoft.com/office/drawing/2014/main" id="{7E094E05-BE3F-2588-8416-26DE2F7D39F0}"/>
                </a:ext>
              </a:extLst>
            </p:cNvPr>
            <p:cNvSpPr/>
            <p:nvPr/>
          </p:nvSpPr>
          <p:spPr>
            <a:xfrm>
              <a:off x="1320" y="4641"/>
              <a:ext cx="946" cy="946"/>
            </a:xfrm>
            <a:prstGeom prst="ellipse">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20" name="圆角矩形 6">
              <a:extLst>
                <a:ext uri="{FF2B5EF4-FFF2-40B4-BE49-F238E27FC236}">
                  <a16:creationId xmlns:a16="http://schemas.microsoft.com/office/drawing/2014/main" id="{16603225-2517-63DA-87A5-F337C403983E}"/>
                </a:ext>
              </a:extLst>
            </p:cNvPr>
            <p:cNvSpPr/>
            <p:nvPr/>
          </p:nvSpPr>
          <p:spPr>
            <a:xfrm>
              <a:off x="1673" y="4793"/>
              <a:ext cx="3086" cy="643"/>
            </a:xfrm>
            <a:prstGeom prst="roundRect">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14</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Tree>
    <p:extLst>
      <p:ext uri="{BB962C8B-B14F-4D97-AF65-F5344CB8AC3E}">
        <p14:creationId xmlns:p14="http://schemas.microsoft.com/office/powerpoint/2010/main" val="908829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animBg="1"/>
      <p:bldP spid="9" grpId="0"/>
      <p:bldP spid="16" grpId="0" animBg="1"/>
      <p:bldP spid="1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范围查询</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10">
            <a:extLst>
              <a:ext uri="{FF2B5EF4-FFF2-40B4-BE49-F238E27FC236}">
                <a16:creationId xmlns:a16="http://schemas.microsoft.com/office/drawing/2014/main" id="{7C97CCB4-31C5-F37F-B0DB-9BAC384DE1F0}"/>
              </a:ext>
            </a:extLst>
          </p:cNvPr>
          <p:cNvSpPr txBox="1">
            <a:spLocks noChangeArrowheads="1"/>
          </p:cNvSpPr>
          <p:nvPr/>
        </p:nvSpPr>
        <p:spPr bwMode="auto">
          <a:xfrm>
            <a:off x="592549" y="1016623"/>
            <a:ext cx="1103338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en-US" altLang="zh-CN" noProof="1">
                <a:solidFill>
                  <a:srgbClr val="44546A"/>
                </a:solidFill>
                <a:latin typeface="微软雅黑" panose="020B0503020204020204" pitchFamily="34" charset="-122"/>
              </a:rPr>
              <a:t>MySQL</a:t>
            </a:r>
            <a:r>
              <a:rPr lang="zh-CN" altLang="en-US" noProof="1">
                <a:solidFill>
                  <a:srgbClr val="44546A"/>
                </a:solidFill>
                <a:latin typeface="微软雅黑" panose="020B0503020204020204" pitchFamily="34" charset="-122"/>
              </a:rPr>
              <a:t>提供</a:t>
            </a:r>
            <a:r>
              <a:rPr lang="en-US" altLang="zh-CN" noProof="1">
                <a:solidFill>
                  <a:srgbClr val="44546A"/>
                </a:solidFill>
                <a:latin typeface="微软雅黑" panose="020B0503020204020204" pitchFamily="34" charset="-122"/>
              </a:rPr>
              <a:t>BETWEEN AND</a:t>
            </a:r>
            <a:r>
              <a:rPr lang="zh-CN" altLang="en-US" noProof="1">
                <a:solidFill>
                  <a:srgbClr val="44546A"/>
                </a:solidFill>
                <a:latin typeface="微软雅黑" panose="020B0503020204020204" pitchFamily="34" charset="-122"/>
              </a:rPr>
              <a:t>关键字，用于查询字段值在某个范围内的记录，语法形式为：</a:t>
            </a:r>
            <a:endParaRPr lang="zh-CN" altLang="en-US" dirty="0">
              <a:solidFill>
                <a:srgbClr val="44546A"/>
              </a:solidFill>
              <a:latin typeface="微软雅黑" panose="020B0503020204020204" pitchFamily="34" charset="-122"/>
            </a:endParaRPr>
          </a:p>
        </p:txBody>
      </p:sp>
      <p:sp>
        <p:nvSpPr>
          <p:cNvPr id="13" name="文本框 36">
            <a:extLst>
              <a:ext uri="{FF2B5EF4-FFF2-40B4-BE49-F238E27FC236}">
                <a16:creationId xmlns:a16="http://schemas.microsoft.com/office/drawing/2014/main" id="{A3B98CA4-3D3F-755C-8F46-16F8853E6794}"/>
              </a:ext>
            </a:extLst>
          </p:cNvPr>
          <p:cNvSpPr txBox="1">
            <a:spLocks noChangeArrowheads="1"/>
          </p:cNvSpPr>
          <p:nvPr/>
        </p:nvSpPr>
        <p:spPr bwMode="auto">
          <a:xfrm>
            <a:off x="3116772" y="2608412"/>
            <a:ext cx="8219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sz="1600" dirty="0">
                <a:solidFill>
                  <a:srgbClr val="44546A"/>
                </a:solidFill>
                <a:latin typeface="微软雅黑" panose="020B0503020204020204" pitchFamily="34" charset="-122"/>
              </a:rPr>
              <a:t>执行</a:t>
            </a:r>
            <a:r>
              <a:rPr lang="en-US" altLang="zh-CN" sz="1600" dirty="0">
                <a:solidFill>
                  <a:srgbClr val="44546A"/>
                </a:solidFill>
                <a:latin typeface="微软雅黑" panose="020B0503020204020204" pitchFamily="34" charset="-122"/>
              </a:rPr>
              <a:t>SQL</a:t>
            </a:r>
            <a:r>
              <a:rPr lang="zh-CN" altLang="en-US" sz="1600" dirty="0">
                <a:solidFill>
                  <a:srgbClr val="44546A"/>
                </a:solidFill>
                <a:latin typeface="微软雅黑" panose="020B0503020204020204" pitchFamily="34" charset="-122"/>
              </a:rPr>
              <a:t>语句，查询</a:t>
            </a:r>
            <a:r>
              <a:rPr lang="en-US" altLang="zh-CN" sz="1600" dirty="0">
                <a:solidFill>
                  <a:srgbClr val="44546A"/>
                </a:solidFill>
                <a:latin typeface="微软雅黑" panose="020B0503020204020204" pitchFamily="34" charset="-122"/>
              </a:rPr>
              <a:t>goods</a:t>
            </a:r>
            <a:r>
              <a:rPr lang="zh-CN" altLang="en-US" sz="1600" dirty="0">
                <a:solidFill>
                  <a:srgbClr val="44546A"/>
                </a:solidFill>
                <a:latin typeface="微软雅黑" panose="020B0503020204020204" pitchFamily="34" charset="-122"/>
              </a:rPr>
              <a:t>表中</a:t>
            </a:r>
            <a:r>
              <a:rPr lang="en-US" altLang="zh-CN" sz="1600" dirty="0">
                <a:solidFill>
                  <a:srgbClr val="44546A"/>
                </a:solidFill>
                <a:latin typeface="微软雅黑" panose="020B0503020204020204" pitchFamily="34" charset="-122"/>
              </a:rPr>
              <a:t>price</a:t>
            </a:r>
            <a:r>
              <a:rPr lang="zh-CN" altLang="en-US" sz="1600" dirty="0">
                <a:solidFill>
                  <a:srgbClr val="44546A"/>
                </a:solidFill>
                <a:latin typeface="微软雅黑" panose="020B0503020204020204" pitchFamily="34" charset="-122"/>
              </a:rPr>
              <a:t>值不在</a:t>
            </a:r>
            <a:r>
              <a:rPr lang="en-US" altLang="zh-CN" sz="1600" dirty="0">
                <a:solidFill>
                  <a:srgbClr val="44546A"/>
                </a:solidFill>
                <a:latin typeface="微软雅黑" panose="020B0503020204020204" pitchFamily="34" charset="-122"/>
              </a:rPr>
              <a:t>2.5</a:t>
            </a:r>
            <a:r>
              <a:rPr lang="zh-CN" altLang="en-US" sz="1600" dirty="0">
                <a:solidFill>
                  <a:srgbClr val="44546A"/>
                </a:solidFill>
                <a:latin typeface="微软雅黑" panose="020B0503020204020204" pitchFamily="34" charset="-122"/>
              </a:rPr>
              <a:t>和</a:t>
            </a:r>
            <a:r>
              <a:rPr lang="en-US" altLang="zh-CN" sz="1600" dirty="0">
                <a:solidFill>
                  <a:srgbClr val="44546A"/>
                </a:solidFill>
                <a:latin typeface="微软雅黑" panose="020B0503020204020204" pitchFamily="34" charset="-122"/>
              </a:rPr>
              <a:t>50</a:t>
            </a:r>
            <a:r>
              <a:rPr lang="zh-CN" altLang="en-US" sz="1600" dirty="0">
                <a:solidFill>
                  <a:srgbClr val="44546A"/>
                </a:solidFill>
                <a:latin typeface="微软雅黑" panose="020B0503020204020204" pitchFamily="34" charset="-122"/>
              </a:rPr>
              <a:t>之间的商品名称和价格，结果如下：</a:t>
            </a:r>
          </a:p>
        </p:txBody>
      </p:sp>
      <p:sp>
        <p:nvSpPr>
          <p:cNvPr id="14" name="矩形 13">
            <a:extLst>
              <a:ext uri="{FF2B5EF4-FFF2-40B4-BE49-F238E27FC236}">
                <a16:creationId xmlns:a16="http://schemas.microsoft.com/office/drawing/2014/main" id="{A106FDCF-0729-A4BD-8942-7F1BE1C09D64}"/>
              </a:ext>
            </a:extLst>
          </p:cNvPr>
          <p:cNvSpPr/>
          <p:nvPr/>
        </p:nvSpPr>
        <p:spPr>
          <a:xfrm>
            <a:off x="1140291" y="3278965"/>
            <a:ext cx="10196403" cy="2519856"/>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5" name="文本框 38">
            <a:extLst>
              <a:ext uri="{FF2B5EF4-FFF2-40B4-BE49-F238E27FC236}">
                <a16:creationId xmlns:a16="http://schemas.microsoft.com/office/drawing/2014/main" id="{21426627-E214-EAC8-D148-692A2A41D347}"/>
              </a:ext>
            </a:extLst>
          </p:cNvPr>
          <p:cNvSpPr txBox="1">
            <a:spLocks noChangeArrowheads="1"/>
          </p:cNvSpPr>
          <p:nvPr/>
        </p:nvSpPr>
        <p:spPr bwMode="auto">
          <a:xfrm>
            <a:off x="2168187" y="3294694"/>
            <a:ext cx="4531209"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chemeClr val="accent1"/>
                </a:solidFill>
              </a:rPr>
              <a:t>mysql&gt; SELECT </a:t>
            </a:r>
            <a:r>
              <a:rPr lang="en-US" altLang="zh-CN" sz="1600" dirty="0" err="1">
                <a:solidFill>
                  <a:schemeClr val="accent1"/>
                </a:solidFill>
              </a:rPr>
              <a:t>name,price</a:t>
            </a:r>
            <a:r>
              <a:rPr lang="en-US" altLang="zh-CN" sz="1600" dirty="0">
                <a:solidFill>
                  <a:schemeClr val="accent1"/>
                </a:solidFill>
              </a:rPr>
              <a:t> FROM goods WHERE price NOT BETWEEN 2.5 AND 50;</a:t>
            </a:r>
          </a:p>
          <a:p>
            <a:pPr eaLnBrk="1" hangingPunct="1"/>
            <a:r>
              <a:rPr lang="en-US" altLang="zh-CN" sz="1600" dirty="0">
                <a:solidFill>
                  <a:schemeClr val="accent1"/>
                </a:solidFill>
              </a:rPr>
              <a:t>+----------------+----------+</a:t>
            </a:r>
          </a:p>
          <a:p>
            <a:pPr eaLnBrk="1" hangingPunct="1"/>
            <a:r>
              <a:rPr lang="en-US" altLang="zh-CN" sz="1600" dirty="0">
                <a:solidFill>
                  <a:schemeClr val="accent1"/>
                </a:solidFill>
              </a:rPr>
              <a:t>| name		| price	|</a:t>
            </a:r>
          </a:p>
          <a:p>
            <a:pPr eaLnBrk="1" hangingPunct="1"/>
            <a:r>
              <a:rPr lang="en-US" altLang="zh-CN" sz="1600" dirty="0">
                <a:solidFill>
                  <a:schemeClr val="accent1"/>
                </a:solidFill>
              </a:rPr>
              <a:t>+----------------+----------+</a:t>
            </a:r>
          </a:p>
          <a:p>
            <a:pPr eaLnBrk="1" hangingPunct="1"/>
            <a:r>
              <a:rPr lang="en-US" altLang="zh-CN" sz="1600" dirty="0">
                <a:solidFill>
                  <a:schemeClr val="accent1"/>
                </a:solidFill>
              </a:rPr>
              <a:t>| </a:t>
            </a:r>
            <a:r>
              <a:rPr lang="zh-CN" altLang="en-US" sz="1600" dirty="0">
                <a:solidFill>
                  <a:schemeClr val="accent1"/>
                </a:solidFill>
              </a:rPr>
              <a:t>西游记		</a:t>
            </a:r>
            <a:r>
              <a:rPr lang="en-US" altLang="zh-CN" sz="1600" dirty="0">
                <a:solidFill>
                  <a:schemeClr val="accent1"/>
                </a:solidFill>
              </a:rPr>
              <a:t>|  50.40	|</a:t>
            </a:r>
          </a:p>
          <a:p>
            <a:pPr eaLnBrk="1" hangingPunct="1"/>
            <a:r>
              <a:rPr lang="en-US" altLang="zh-CN" sz="1600" dirty="0">
                <a:solidFill>
                  <a:schemeClr val="accent1"/>
                </a:solidFill>
              </a:rPr>
              <a:t>| </a:t>
            </a:r>
            <a:r>
              <a:rPr lang="zh-CN" altLang="en-US" sz="1600" dirty="0">
                <a:solidFill>
                  <a:schemeClr val="accent1"/>
                </a:solidFill>
              </a:rPr>
              <a:t>休闲西服	</a:t>
            </a:r>
            <a:r>
              <a:rPr lang="en-US" altLang="zh-CN" sz="1600" dirty="0">
                <a:solidFill>
                  <a:schemeClr val="accent1"/>
                </a:solidFill>
              </a:rPr>
              <a:t>| 800.00	|</a:t>
            </a:r>
          </a:p>
          <a:p>
            <a:pPr eaLnBrk="1" hangingPunct="1"/>
            <a:r>
              <a:rPr lang="en-US" altLang="zh-CN" sz="1600" dirty="0">
                <a:solidFill>
                  <a:schemeClr val="accent1"/>
                </a:solidFill>
              </a:rPr>
              <a:t>+----------------+----------+</a:t>
            </a:r>
          </a:p>
          <a:p>
            <a:pPr eaLnBrk="1" hangingPunct="1"/>
            <a:r>
              <a:rPr lang="en-US" altLang="zh-CN" sz="1600" dirty="0">
                <a:solidFill>
                  <a:schemeClr val="accent1"/>
                </a:solidFill>
              </a:rPr>
              <a:t>2 rows in set (0.00 sec)</a:t>
            </a:r>
          </a:p>
        </p:txBody>
      </p:sp>
      <p:sp>
        <p:nvSpPr>
          <p:cNvPr id="16" name="矩形 15">
            <a:extLst>
              <a:ext uri="{FF2B5EF4-FFF2-40B4-BE49-F238E27FC236}">
                <a16:creationId xmlns:a16="http://schemas.microsoft.com/office/drawing/2014/main" id="{D449BCF7-2B74-423D-9262-D4B8A88B9149}"/>
              </a:ext>
            </a:extLst>
          </p:cNvPr>
          <p:cNvSpPr/>
          <p:nvPr/>
        </p:nvSpPr>
        <p:spPr>
          <a:xfrm>
            <a:off x="1140291" y="1481646"/>
            <a:ext cx="10052154" cy="779038"/>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7" name="文本框 38">
            <a:extLst>
              <a:ext uri="{FF2B5EF4-FFF2-40B4-BE49-F238E27FC236}">
                <a16:creationId xmlns:a16="http://schemas.microsoft.com/office/drawing/2014/main" id="{60E42B0A-6EEA-BE2C-9F9E-8767428F7CDF}"/>
              </a:ext>
            </a:extLst>
          </p:cNvPr>
          <p:cNvSpPr txBox="1">
            <a:spLocks noChangeArrowheads="1"/>
          </p:cNvSpPr>
          <p:nvPr/>
        </p:nvSpPr>
        <p:spPr bwMode="auto">
          <a:xfrm>
            <a:off x="2168187" y="1484240"/>
            <a:ext cx="6968444" cy="70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1"/>
                </a:solidFill>
              </a:rPr>
              <a:t>SELECT {*|col_list} FROM table_name </a:t>
            </a:r>
          </a:p>
          <a:p>
            <a:pPr eaLnBrk="1" hangingPunct="1">
              <a:lnSpc>
                <a:spcPts val="2500"/>
              </a:lnSpc>
            </a:pPr>
            <a:r>
              <a:rPr lang="en-US" altLang="zh-CN" sz="1600" dirty="0">
                <a:solidFill>
                  <a:schemeClr val="accent1"/>
                </a:solidFill>
              </a:rPr>
              <a:t>WHERE </a:t>
            </a:r>
            <a:r>
              <a:rPr lang="en-US" altLang="zh-CN" sz="1600" dirty="0" err="1">
                <a:solidFill>
                  <a:schemeClr val="accent1"/>
                </a:solidFill>
              </a:rPr>
              <a:t>col_namea</a:t>
            </a:r>
            <a:r>
              <a:rPr lang="en-US" altLang="zh-CN" sz="1600" dirty="0">
                <a:solidFill>
                  <a:schemeClr val="accent1"/>
                </a:solidFill>
              </a:rPr>
              <a:t> BETWEEN value1 AND value2;</a:t>
            </a:r>
          </a:p>
        </p:txBody>
      </p:sp>
      <p:grpSp>
        <p:nvGrpSpPr>
          <p:cNvPr id="18" name="组合 34">
            <a:extLst>
              <a:ext uri="{FF2B5EF4-FFF2-40B4-BE49-F238E27FC236}">
                <a16:creationId xmlns:a16="http://schemas.microsoft.com/office/drawing/2014/main" id="{6457888F-E7DB-7F52-1922-5AB3EF8847E7}"/>
              </a:ext>
            </a:extLst>
          </p:cNvPr>
          <p:cNvGrpSpPr/>
          <p:nvPr/>
        </p:nvGrpSpPr>
        <p:grpSpPr>
          <a:xfrm>
            <a:off x="838200" y="2442141"/>
            <a:ext cx="2183765" cy="600710"/>
            <a:chOff x="1320" y="4641"/>
            <a:chExt cx="3439" cy="946"/>
          </a:xfrm>
          <a:solidFill>
            <a:schemeClr val="accent6"/>
          </a:solidFill>
        </p:grpSpPr>
        <p:sp>
          <p:nvSpPr>
            <p:cNvPr id="19" name="椭圆 18">
              <a:extLst>
                <a:ext uri="{FF2B5EF4-FFF2-40B4-BE49-F238E27FC236}">
                  <a16:creationId xmlns:a16="http://schemas.microsoft.com/office/drawing/2014/main" id="{58C374FD-E8C1-7E0D-A397-D8F8972F84AC}"/>
                </a:ext>
              </a:extLst>
            </p:cNvPr>
            <p:cNvSpPr/>
            <p:nvPr/>
          </p:nvSpPr>
          <p:spPr>
            <a:xfrm>
              <a:off x="1320" y="4641"/>
              <a:ext cx="946" cy="946"/>
            </a:xfrm>
            <a:prstGeom prst="ellipse">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20" name="圆角矩形 6">
              <a:extLst>
                <a:ext uri="{FF2B5EF4-FFF2-40B4-BE49-F238E27FC236}">
                  <a16:creationId xmlns:a16="http://schemas.microsoft.com/office/drawing/2014/main" id="{22784ECF-72D1-7767-7AC8-C3D10AC787C5}"/>
                </a:ext>
              </a:extLst>
            </p:cNvPr>
            <p:cNvSpPr/>
            <p:nvPr/>
          </p:nvSpPr>
          <p:spPr>
            <a:xfrm>
              <a:off x="1673" y="4793"/>
              <a:ext cx="3086" cy="643"/>
            </a:xfrm>
            <a:prstGeom prst="roundRect">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15</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Tree>
    <p:extLst>
      <p:ext uri="{BB962C8B-B14F-4D97-AF65-F5344CB8AC3E}">
        <p14:creationId xmlns:p14="http://schemas.microsoft.com/office/powerpoint/2010/main" val="2321826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P spid="14" grpId="0" animBg="1"/>
      <p:bldP spid="15" grpId="0"/>
      <p:bldP spid="16" grpId="0" animBg="1"/>
      <p:bldP spid="1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字符匹配查询</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10">
            <a:extLst>
              <a:ext uri="{FF2B5EF4-FFF2-40B4-BE49-F238E27FC236}">
                <a16:creationId xmlns:a16="http://schemas.microsoft.com/office/drawing/2014/main" id="{BE2D67A9-3D0B-F0AC-3887-968DBE89FF1A}"/>
              </a:ext>
            </a:extLst>
          </p:cNvPr>
          <p:cNvSpPr txBox="1">
            <a:spLocks noChangeArrowheads="1"/>
          </p:cNvSpPr>
          <p:nvPr/>
        </p:nvSpPr>
        <p:spPr bwMode="auto">
          <a:xfrm>
            <a:off x="592549" y="1016623"/>
            <a:ext cx="1103338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noProof="1">
                <a:solidFill>
                  <a:srgbClr val="44546A"/>
                </a:solidFill>
                <a:latin typeface="微软雅黑" panose="020B0503020204020204" pitchFamily="34" charset="-122"/>
              </a:rPr>
              <a:t>使用</a:t>
            </a:r>
            <a:r>
              <a:rPr lang="en-US" altLang="zh-CN" noProof="1">
                <a:solidFill>
                  <a:srgbClr val="44546A"/>
                </a:solidFill>
                <a:latin typeface="微软雅黑" panose="020B0503020204020204" pitchFamily="34" charset="-122"/>
              </a:rPr>
              <a:t>LIKE</a:t>
            </a:r>
            <a:r>
              <a:rPr lang="zh-CN" altLang="en-US" noProof="1">
                <a:solidFill>
                  <a:srgbClr val="44546A"/>
                </a:solidFill>
                <a:latin typeface="微软雅黑" panose="020B0503020204020204" pitchFamily="34" charset="-122"/>
              </a:rPr>
              <a:t>关键字的查询又称为模糊查询，通常用于查询字段值包含某些字符的记录，语法形式如下：</a:t>
            </a:r>
            <a:endParaRPr lang="zh-CN" altLang="en-US" dirty="0">
              <a:solidFill>
                <a:srgbClr val="44546A"/>
              </a:solidFill>
              <a:latin typeface="微软雅黑" panose="020B0503020204020204" pitchFamily="34" charset="-122"/>
            </a:endParaRPr>
          </a:p>
        </p:txBody>
      </p:sp>
      <p:sp>
        <p:nvSpPr>
          <p:cNvPr id="4" name="矩形 3">
            <a:extLst>
              <a:ext uri="{FF2B5EF4-FFF2-40B4-BE49-F238E27FC236}">
                <a16:creationId xmlns:a16="http://schemas.microsoft.com/office/drawing/2014/main" id="{1B9116B4-ABE6-7886-B705-C358700D853B}"/>
              </a:ext>
            </a:extLst>
          </p:cNvPr>
          <p:cNvSpPr/>
          <p:nvPr/>
        </p:nvSpPr>
        <p:spPr>
          <a:xfrm>
            <a:off x="1140291" y="1593618"/>
            <a:ext cx="10052154" cy="415528"/>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5" name="文本框 38">
            <a:extLst>
              <a:ext uri="{FF2B5EF4-FFF2-40B4-BE49-F238E27FC236}">
                <a16:creationId xmlns:a16="http://schemas.microsoft.com/office/drawing/2014/main" id="{498E395A-11EE-6C34-157C-3DA9CFD0A4B3}"/>
              </a:ext>
            </a:extLst>
          </p:cNvPr>
          <p:cNvSpPr txBox="1">
            <a:spLocks noChangeArrowheads="1"/>
          </p:cNvSpPr>
          <p:nvPr/>
        </p:nvSpPr>
        <p:spPr bwMode="auto">
          <a:xfrm>
            <a:off x="2168187" y="1577550"/>
            <a:ext cx="6968444" cy="3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1"/>
                </a:solidFill>
              </a:rPr>
              <a:t>SELECT {*|col_list} FROM table_name WHERE col_namea LIKE </a:t>
            </a:r>
            <a:r>
              <a:rPr lang="en-US" altLang="zh-CN" sz="1600" dirty="0" err="1">
                <a:solidFill>
                  <a:schemeClr val="accent1"/>
                </a:solidFill>
              </a:rPr>
              <a:t>valueb</a:t>
            </a:r>
            <a:r>
              <a:rPr lang="en-US" altLang="zh-CN" sz="1600" dirty="0">
                <a:solidFill>
                  <a:schemeClr val="accent1"/>
                </a:solidFill>
              </a:rPr>
              <a:t>;</a:t>
            </a:r>
          </a:p>
        </p:txBody>
      </p:sp>
      <p:sp>
        <p:nvSpPr>
          <p:cNvPr id="6" name="文本框 3">
            <a:extLst>
              <a:ext uri="{FF2B5EF4-FFF2-40B4-BE49-F238E27FC236}">
                <a16:creationId xmlns:a16="http://schemas.microsoft.com/office/drawing/2014/main" id="{03C3A6FF-F521-C600-B0BF-B8C6F967D2CE}"/>
              </a:ext>
            </a:extLst>
          </p:cNvPr>
          <p:cNvSpPr txBox="1">
            <a:spLocks noChangeArrowheads="1"/>
          </p:cNvSpPr>
          <p:nvPr/>
        </p:nvSpPr>
        <p:spPr bwMode="auto">
          <a:xfrm>
            <a:off x="1882586" y="2138641"/>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dirty="0">
                <a:solidFill>
                  <a:srgbClr val="44546A"/>
                </a:solidFill>
                <a:latin typeface="微软雅黑" panose="020B0503020204020204" pitchFamily="34" charset="-122"/>
              </a:rPr>
              <a:t>通配符“</a:t>
            </a:r>
            <a:r>
              <a:rPr lang="en-US" altLang="zh-CN" dirty="0">
                <a:solidFill>
                  <a:srgbClr val="44546A"/>
                </a:solidFill>
                <a:latin typeface="微软雅黑" panose="020B0503020204020204" pitchFamily="34" charset="-122"/>
              </a:rPr>
              <a:t>%”</a:t>
            </a:r>
            <a:endParaRPr lang="zh-CN" altLang="en-US" noProof="1">
              <a:solidFill>
                <a:srgbClr val="44546A"/>
              </a:solidFill>
              <a:latin typeface="微软雅黑" panose="020B0503020204020204" pitchFamily="34" charset="-122"/>
            </a:endParaRPr>
          </a:p>
        </p:txBody>
      </p:sp>
      <p:grpSp>
        <p:nvGrpSpPr>
          <p:cNvPr id="7" name="组合 6">
            <a:extLst>
              <a:ext uri="{FF2B5EF4-FFF2-40B4-BE49-F238E27FC236}">
                <a16:creationId xmlns:a16="http://schemas.microsoft.com/office/drawing/2014/main" id="{BC718C90-50C1-D8BA-68D4-5FA56A34CE30}"/>
              </a:ext>
            </a:extLst>
          </p:cNvPr>
          <p:cNvGrpSpPr/>
          <p:nvPr/>
        </p:nvGrpSpPr>
        <p:grpSpPr>
          <a:xfrm>
            <a:off x="879286" y="2051329"/>
            <a:ext cx="1003300" cy="722312"/>
            <a:chOff x="877888" y="1586140"/>
            <a:chExt cx="1003300" cy="722312"/>
          </a:xfrm>
        </p:grpSpPr>
        <p:sp>
          <p:nvSpPr>
            <p:cNvPr id="8" name="íṩľíḍè-Freeform: Shape 9">
              <a:extLst>
                <a:ext uri="{FF2B5EF4-FFF2-40B4-BE49-F238E27FC236}">
                  <a16:creationId xmlns:a16="http://schemas.microsoft.com/office/drawing/2014/main" id="{0D6B7FB5-2158-9657-E74B-E3CF668597CD}"/>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 name="íṩľíḍè-Oval 10">
              <a:extLst>
                <a:ext uri="{FF2B5EF4-FFF2-40B4-BE49-F238E27FC236}">
                  <a16:creationId xmlns:a16="http://schemas.microsoft.com/office/drawing/2014/main" id="{18CAD5AC-0AC3-968E-8630-5C00396D20B5}"/>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1</a:t>
              </a:r>
            </a:p>
          </p:txBody>
        </p:sp>
      </p:grpSp>
      <p:sp>
        <p:nvSpPr>
          <p:cNvPr id="10" name="矩形 9">
            <a:extLst>
              <a:ext uri="{FF2B5EF4-FFF2-40B4-BE49-F238E27FC236}">
                <a16:creationId xmlns:a16="http://schemas.microsoft.com/office/drawing/2014/main" id="{DB95B317-001F-C302-6CCE-E5161A19D3F2}"/>
              </a:ext>
            </a:extLst>
          </p:cNvPr>
          <p:cNvSpPr/>
          <p:nvPr/>
        </p:nvSpPr>
        <p:spPr>
          <a:xfrm>
            <a:off x="1078699" y="2868948"/>
            <a:ext cx="7814960" cy="369332"/>
          </a:xfrm>
          <a:prstGeom prst="rect">
            <a:avLst/>
          </a:prstGeom>
        </p:spPr>
        <p:txBody>
          <a:bodyPr wrap="none">
            <a:spAutoFit/>
          </a:bodyPr>
          <a:lstStyle/>
          <a:p>
            <a:r>
              <a:rPr lang="zh-CN" altLang="en-US" dirty="0">
                <a:solidFill>
                  <a:srgbClr val="44546A"/>
                </a:solidFill>
                <a:latin typeface="微软雅黑" panose="020B0503020204020204" pitchFamily="34" charset="-122"/>
                <a:ea typeface="微软雅黑" pitchFamily="34" charset="-122"/>
              </a:rPr>
              <a:t>通配符“</a:t>
            </a:r>
            <a:r>
              <a:rPr lang="en-US" altLang="zh-CN" dirty="0">
                <a:solidFill>
                  <a:srgbClr val="44546A"/>
                </a:solidFill>
                <a:latin typeface="微软雅黑" panose="020B0503020204020204" pitchFamily="34" charset="-122"/>
                <a:ea typeface="微软雅黑" pitchFamily="34" charset="-122"/>
              </a:rPr>
              <a:t>%”</a:t>
            </a:r>
            <a:r>
              <a:rPr lang="zh-CN" altLang="en-US" dirty="0">
                <a:solidFill>
                  <a:srgbClr val="44546A"/>
                </a:solidFill>
                <a:latin typeface="微软雅黑" panose="020B0503020204020204" pitchFamily="34" charset="-122"/>
                <a:ea typeface="微软雅黑" pitchFamily="34" charset="-122"/>
              </a:rPr>
              <a:t>可以匹配任意长度的字符，可以是</a:t>
            </a:r>
            <a:r>
              <a:rPr lang="en-US" altLang="zh-CN" dirty="0">
                <a:solidFill>
                  <a:srgbClr val="44546A"/>
                </a:solidFill>
                <a:latin typeface="微软雅黑" panose="020B0503020204020204" pitchFamily="34" charset="-122"/>
                <a:ea typeface="微软雅黑" pitchFamily="34" charset="-122"/>
              </a:rPr>
              <a:t>0</a:t>
            </a:r>
            <a:r>
              <a:rPr lang="zh-CN" altLang="en-US" dirty="0">
                <a:solidFill>
                  <a:srgbClr val="44546A"/>
                </a:solidFill>
                <a:latin typeface="微软雅黑" panose="020B0503020204020204" pitchFamily="34" charset="-122"/>
                <a:ea typeface="微软雅黑" pitchFamily="34" charset="-122"/>
              </a:rPr>
              <a:t>个，也可以是</a:t>
            </a:r>
            <a:r>
              <a:rPr lang="en-US" altLang="zh-CN" dirty="0">
                <a:solidFill>
                  <a:srgbClr val="44546A"/>
                </a:solidFill>
                <a:latin typeface="微软雅黑" panose="020B0503020204020204" pitchFamily="34" charset="-122"/>
                <a:ea typeface="微软雅黑" pitchFamily="34" charset="-122"/>
              </a:rPr>
              <a:t>1</a:t>
            </a:r>
            <a:r>
              <a:rPr lang="zh-CN" altLang="en-US" dirty="0">
                <a:solidFill>
                  <a:srgbClr val="44546A"/>
                </a:solidFill>
                <a:latin typeface="微软雅黑" panose="020B0503020204020204" pitchFamily="34" charset="-122"/>
                <a:ea typeface="微软雅黑" pitchFamily="34" charset="-122"/>
              </a:rPr>
              <a:t>个或多个。</a:t>
            </a:r>
          </a:p>
        </p:txBody>
      </p:sp>
      <p:grpSp>
        <p:nvGrpSpPr>
          <p:cNvPr id="11" name="组合 34">
            <a:extLst>
              <a:ext uri="{FF2B5EF4-FFF2-40B4-BE49-F238E27FC236}">
                <a16:creationId xmlns:a16="http://schemas.microsoft.com/office/drawing/2014/main" id="{37FEC246-6B10-B807-E73F-F93C45D87414}"/>
              </a:ext>
            </a:extLst>
          </p:cNvPr>
          <p:cNvGrpSpPr/>
          <p:nvPr/>
        </p:nvGrpSpPr>
        <p:grpSpPr>
          <a:xfrm>
            <a:off x="838200" y="3240030"/>
            <a:ext cx="2183765" cy="600710"/>
            <a:chOff x="1320" y="4641"/>
            <a:chExt cx="3439" cy="946"/>
          </a:xfrm>
          <a:solidFill>
            <a:schemeClr val="accent6"/>
          </a:solidFill>
        </p:grpSpPr>
        <p:sp>
          <p:nvSpPr>
            <p:cNvPr id="12" name="椭圆 11">
              <a:extLst>
                <a:ext uri="{FF2B5EF4-FFF2-40B4-BE49-F238E27FC236}">
                  <a16:creationId xmlns:a16="http://schemas.microsoft.com/office/drawing/2014/main" id="{75C9BABD-69FB-DF21-2157-FAC1E1E58E23}"/>
                </a:ext>
              </a:extLst>
            </p:cNvPr>
            <p:cNvSpPr/>
            <p:nvPr/>
          </p:nvSpPr>
          <p:spPr>
            <a:xfrm>
              <a:off x="1320" y="4641"/>
              <a:ext cx="946" cy="946"/>
            </a:xfrm>
            <a:prstGeom prst="ellipse">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3" name="圆角矩形 11">
              <a:extLst>
                <a:ext uri="{FF2B5EF4-FFF2-40B4-BE49-F238E27FC236}">
                  <a16:creationId xmlns:a16="http://schemas.microsoft.com/office/drawing/2014/main" id="{10D20C59-D989-22E4-F7C3-32E8E782D1B7}"/>
                </a:ext>
              </a:extLst>
            </p:cNvPr>
            <p:cNvSpPr/>
            <p:nvPr/>
          </p:nvSpPr>
          <p:spPr>
            <a:xfrm>
              <a:off x="1673" y="4793"/>
              <a:ext cx="3086" cy="643"/>
            </a:xfrm>
            <a:prstGeom prst="roundRect">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16</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4" name="文本框 36">
            <a:extLst>
              <a:ext uri="{FF2B5EF4-FFF2-40B4-BE49-F238E27FC236}">
                <a16:creationId xmlns:a16="http://schemas.microsoft.com/office/drawing/2014/main" id="{687C3360-5249-4C5F-C030-8EA78BF8A5B2}"/>
              </a:ext>
            </a:extLst>
          </p:cNvPr>
          <p:cNvSpPr txBox="1">
            <a:spLocks noChangeArrowheads="1"/>
          </p:cNvSpPr>
          <p:nvPr/>
        </p:nvSpPr>
        <p:spPr bwMode="auto">
          <a:xfrm>
            <a:off x="3278188" y="3356870"/>
            <a:ext cx="7778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dirty="0">
                <a:solidFill>
                  <a:srgbClr val="44546A"/>
                </a:solidFill>
                <a:latin typeface="微软雅黑" panose="020B0503020204020204" pitchFamily="34" charset="-122"/>
              </a:rPr>
              <a:t>执行</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语句，查询</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a:t>
            </a:r>
            <a:r>
              <a:rPr lang="en-US" altLang="zh-CN" dirty="0">
                <a:solidFill>
                  <a:srgbClr val="44546A"/>
                </a:solidFill>
                <a:latin typeface="微软雅黑" panose="020B0503020204020204" pitchFamily="34" charset="-122"/>
              </a:rPr>
              <a:t>name</a:t>
            </a:r>
            <a:r>
              <a:rPr lang="zh-CN" altLang="en-US" dirty="0">
                <a:solidFill>
                  <a:srgbClr val="44546A"/>
                </a:solidFill>
                <a:latin typeface="微软雅黑" panose="020B0503020204020204" pitchFamily="34" charset="-122"/>
              </a:rPr>
              <a:t>值以“果”开头的记录，结果如下：</a:t>
            </a:r>
          </a:p>
        </p:txBody>
      </p:sp>
      <p:sp>
        <p:nvSpPr>
          <p:cNvPr id="15" name="矩形 14">
            <a:extLst>
              <a:ext uri="{FF2B5EF4-FFF2-40B4-BE49-F238E27FC236}">
                <a16:creationId xmlns:a16="http://schemas.microsoft.com/office/drawing/2014/main" id="{D2890718-6BDA-64ED-2B55-80B8C690B42F}"/>
              </a:ext>
            </a:extLst>
          </p:cNvPr>
          <p:cNvSpPr/>
          <p:nvPr/>
        </p:nvSpPr>
        <p:spPr>
          <a:xfrm>
            <a:off x="1062355" y="3889113"/>
            <a:ext cx="9882453" cy="2745568"/>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6" name="文本框 38">
            <a:extLst>
              <a:ext uri="{FF2B5EF4-FFF2-40B4-BE49-F238E27FC236}">
                <a16:creationId xmlns:a16="http://schemas.microsoft.com/office/drawing/2014/main" id="{6B3EEA67-3074-8140-83FE-A6A41205367D}"/>
              </a:ext>
            </a:extLst>
          </p:cNvPr>
          <p:cNvSpPr txBox="1">
            <a:spLocks noChangeArrowheads="1"/>
          </p:cNvSpPr>
          <p:nvPr/>
        </p:nvSpPr>
        <p:spPr bwMode="auto">
          <a:xfrm>
            <a:off x="2090250" y="3957024"/>
            <a:ext cx="8574639"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ct val="150000"/>
              </a:lnSpc>
            </a:pPr>
            <a:r>
              <a:rPr lang="en-US" altLang="zh-CN" sz="1600" dirty="0">
                <a:solidFill>
                  <a:schemeClr val="accent3"/>
                </a:solidFill>
              </a:rPr>
              <a:t>mysql&gt; SELECT * FROM goods WHERE name LIKE '</a:t>
            </a:r>
            <a:r>
              <a:rPr lang="zh-CN" altLang="en-US" sz="1600" dirty="0">
                <a:solidFill>
                  <a:schemeClr val="accent3"/>
                </a:solidFill>
              </a:rPr>
              <a:t>果</a:t>
            </a:r>
            <a:r>
              <a:rPr lang="en-US" altLang="zh-CN" sz="1600" dirty="0">
                <a:solidFill>
                  <a:schemeClr val="accent3"/>
                </a:solidFill>
              </a:rPr>
              <a:t>%';</a:t>
            </a:r>
          </a:p>
          <a:p>
            <a:pPr eaLnBrk="1" hangingPunct="1">
              <a:lnSpc>
                <a:spcPct val="150000"/>
              </a:lnSpc>
            </a:pPr>
            <a:r>
              <a:rPr lang="en-US" altLang="zh-CN" sz="1600" dirty="0">
                <a:solidFill>
                  <a:schemeClr val="accent3"/>
                </a:solidFill>
              </a:rPr>
              <a:t>+----+--------+-------+----------+----------+-------------------------------+</a:t>
            </a:r>
          </a:p>
          <a:p>
            <a:pPr eaLnBrk="1" hangingPunct="1">
              <a:lnSpc>
                <a:spcPct val="150000"/>
              </a:lnSpc>
            </a:pPr>
            <a:r>
              <a:rPr lang="en-US" altLang="zh-CN" sz="1600" dirty="0">
                <a:solidFill>
                  <a:schemeClr val="accent3"/>
                </a:solidFill>
              </a:rPr>
              <a:t>| id   | type  | name| price    | num     | add_time		|</a:t>
            </a:r>
          </a:p>
          <a:p>
            <a:pPr eaLnBrk="1" hangingPunct="1">
              <a:lnSpc>
                <a:spcPct val="150000"/>
              </a:lnSpc>
            </a:pPr>
            <a:r>
              <a:rPr lang="en-US" altLang="zh-CN" sz="1600" dirty="0">
                <a:solidFill>
                  <a:schemeClr val="accent3"/>
                </a:solidFill>
              </a:rPr>
              <a:t>+----+--------+-------+----------+----------+-------------------------------+</a:t>
            </a:r>
          </a:p>
          <a:p>
            <a:pPr eaLnBrk="1" hangingPunct="1">
              <a:lnSpc>
                <a:spcPct val="150000"/>
              </a:lnSpc>
            </a:pPr>
            <a:r>
              <a:rPr lang="en-US" altLang="zh-CN" sz="1600" dirty="0">
                <a:solidFill>
                  <a:schemeClr val="accent3"/>
                </a:solidFill>
              </a:rPr>
              <a:t>|  5   | </a:t>
            </a:r>
            <a:r>
              <a:rPr lang="zh-CN" altLang="en-US" sz="1600" dirty="0">
                <a:solidFill>
                  <a:schemeClr val="accent3"/>
                </a:solidFill>
              </a:rPr>
              <a:t>饮品 </a:t>
            </a:r>
            <a:r>
              <a:rPr lang="en-US" altLang="zh-CN" sz="1600" dirty="0">
                <a:solidFill>
                  <a:schemeClr val="accent3"/>
                </a:solidFill>
              </a:rPr>
              <a:t>| </a:t>
            </a:r>
            <a:r>
              <a:rPr lang="zh-CN" altLang="en-US" sz="1600" dirty="0">
                <a:solidFill>
                  <a:schemeClr val="accent3"/>
                </a:solidFill>
              </a:rPr>
              <a:t>果汁  </a:t>
            </a:r>
            <a:r>
              <a:rPr lang="en-US" altLang="zh-CN" sz="1600" dirty="0">
                <a:solidFill>
                  <a:schemeClr val="accent3"/>
                </a:solidFill>
              </a:rPr>
              <a:t>|  3.00    |   70      | 2018-05-05 13:40:40	|</a:t>
            </a:r>
          </a:p>
          <a:p>
            <a:pPr eaLnBrk="1" hangingPunct="1">
              <a:lnSpc>
                <a:spcPct val="150000"/>
              </a:lnSpc>
            </a:pPr>
            <a:r>
              <a:rPr lang="en-US" altLang="zh-CN" sz="1600" dirty="0">
                <a:solidFill>
                  <a:schemeClr val="accent3"/>
                </a:solidFill>
              </a:rPr>
              <a:t>+----+--------+-------+----------+----------+-------------------------------+</a:t>
            </a:r>
          </a:p>
          <a:p>
            <a:pPr eaLnBrk="1" hangingPunct="1">
              <a:lnSpc>
                <a:spcPct val="150000"/>
              </a:lnSpc>
            </a:pPr>
            <a:r>
              <a:rPr lang="en-US" altLang="zh-CN" sz="1600" dirty="0">
                <a:solidFill>
                  <a:schemeClr val="accent3"/>
                </a:solidFill>
              </a:rPr>
              <a:t>1 row in set (0.00 sec)</a:t>
            </a:r>
          </a:p>
        </p:txBody>
      </p:sp>
    </p:spTree>
    <p:extLst>
      <p:ext uri="{BB962C8B-B14F-4D97-AF65-F5344CB8AC3E}">
        <p14:creationId xmlns:p14="http://schemas.microsoft.com/office/powerpoint/2010/main" val="11873492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par>
                          <p:cTn id="45" fill="hold">
                            <p:stCondLst>
                              <p:cond delay="500"/>
                            </p:stCondLst>
                            <p:childTnLst>
                              <p:par>
                                <p:cTn id="46" presetID="22" presetClass="entr" presetSubtype="4" fill="hold" grpId="0" nodeType="after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down)">
                                      <p:cBhvr>
                                        <p:cTn id="48" dur="500"/>
                                        <p:tgtEl>
                                          <p:spTgt spid="1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10" grpId="0"/>
      <p:bldP spid="14" grpId="0"/>
      <p:bldP spid="15" grpId="0" animBg="1"/>
      <p:bldP spid="1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字符匹配查询</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10">
            <a:extLst>
              <a:ext uri="{FF2B5EF4-FFF2-40B4-BE49-F238E27FC236}">
                <a16:creationId xmlns:a16="http://schemas.microsoft.com/office/drawing/2014/main" id="{13F1052E-0E63-646C-704E-55E4D5171B56}"/>
              </a:ext>
            </a:extLst>
          </p:cNvPr>
          <p:cNvSpPr txBox="1">
            <a:spLocks noChangeArrowheads="1"/>
          </p:cNvSpPr>
          <p:nvPr/>
        </p:nvSpPr>
        <p:spPr bwMode="auto">
          <a:xfrm>
            <a:off x="592549" y="1813852"/>
            <a:ext cx="1103338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noProof="1">
                <a:solidFill>
                  <a:srgbClr val="44546A"/>
                </a:solidFill>
                <a:latin typeface="微软雅黑" panose="020B0503020204020204" pitchFamily="34" charset="-122"/>
              </a:rPr>
              <a:t>执行以下语句，可查询</a:t>
            </a:r>
            <a:r>
              <a:rPr lang="en-US" altLang="zh-CN" noProof="1">
                <a:solidFill>
                  <a:srgbClr val="44546A"/>
                </a:solidFill>
                <a:latin typeface="微软雅黑" panose="020B0503020204020204" pitchFamily="34" charset="-122"/>
              </a:rPr>
              <a:t>goods</a:t>
            </a:r>
            <a:r>
              <a:rPr lang="zh-CN" altLang="en-US" noProof="1">
                <a:solidFill>
                  <a:srgbClr val="44546A"/>
                </a:solidFill>
                <a:latin typeface="微软雅黑" panose="020B0503020204020204" pitchFamily="34" charset="-122"/>
              </a:rPr>
              <a:t>表中</a:t>
            </a:r>
            <a:r>
              <a:rPr lang="en-US" altLang="zh-CN" noProof="1">
                <a:solidFill>
                  <a:srgbClr val="44546A"/>
                </a:solidFill>
                <a:latin typeface="微软雅黑" panose="020B0503020204020204" pitchFamily="34" charset="-122"/>
              </a:rPr>
              <a:t>name</a:t>
            </a:r>
            <a:r>
              <a:rPr lang="zh-CN" altLang="en-US" noProof="1">
                <a:solidFill>
                  <a:srgbClr val="44546A"/>
                </a:solidFill>
                <a:latin typeface="微软雅黑" panose="020B0503020204020204" pitchFamily="34" charset="-122"/>
              </a:rPr>
              <a:t>值以“糖”结尾的记录。</a:t>
            </a:r>
            <a:endParaRPr lang="zh-CN" altLang="en-US" dirty="0">
              <a:solidFill>
                <a:srgbClr val="44546A"/>
              </a:solidFill>
              <a:latin typeface="微软雅黑" panose="020B0503020204020204" pitchFamily="34" charset="-122"/>
            </a:endParaRPr>
          </a:p>
        </p:txBody>
      </p:sp>
      <p:sp>
        <p:nvSpPr>
          <p:cNvPr id="4" name="矩形 3">
            <a:extLst>
              <a:ext uri="{FF2B5EF4-FFF2-40B4-BE49-F238E27FC236}">
                <a16:creationId xmlns:a16="http://schemas.microsoft.com/office/drawing/2014/main" id="{0D15FA05-5B7F-2AA1-CEB3-635C47DE6AA2}"/>
              </a:ext>
            </a:extLst>
          </p:cNvPr>
          <p:cNvSpPr/>
          <p:nvPr/>
        </p:nvSpPr>
        <p:spPr>
          <a:xfrm>
            <a:off x="1140291" y="2390847"/>
            <a:ext cx="10052154" cy="415528"/>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5" name="文本框 38">
            <a:extLst>
              <a:ext uri="{FF2B5EF4-FFF2-40B4-BE49-F238E27FC236}">
                <a16:creationId xmlns:a16="http://schemas.microsoft.com/office/drawing/2014/main" id="{378216AF-A216-8CCF-CCF8-064A6501863D}"/>
              </a:ext>
            </a:extLst>
          </p:cNvPr>
          <p:cNvSpPr txBox="1">
            <a:spLocks noChangeArrowheads="1"/>
          </p:cNvSpPr>
          <p:nvPr/>
        </p:nvSpPr>
        <p:spPr bwMode="auto">
          <a:xfrm>
            <a:off x="2168187" y="2374779"/>
            <a:ext cx="6968444" cy="381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3"/>
                </a:solidFill>
              </a:rPr>
              <a:t>SELECT * FROM goods WHERE name LIKE '%</a:t>
            </a:r>
            <a:r>
              <a:rPr lang="zh-CN" altLang="en-US" sz="1600" dirty="0">
                <a:solidFill>
                  <a:schemeClr val="accent3"/>
                </a:solidFill>
              </a:rPr>
              <a:t>糖</a:t>
            </a:r>
            <a:r>
              <a:rPr lang="en-US" altLang="zh-CN" sz="1600" dirty="0">
                <a:solidFill>
                  <a:schemeClr val="accent3"/>
                </a:solidFill>
              </a:rPr>
              <a:t>';</a:t>
            </a:r>
          </a:p>
        </p:txBody>
      </p:sp>
      <p:sp>
        <p:nvSpPr>
          <p:cNvPr id="6" name="文本框 3">
            <a:extLst>
              <a:ext uri="{FF2B5EF4-FFF2-40B4-BE49-F238E27FC236}">
                <a16:creationId xmlns:a16="http://schemas.microsoft.com/office/drawing/2014/main" id="{CD7E9FBB-FD74-11DB-E83F-657FCACD007B}"/>
              </a:ext>
            </a:extLst>
          </p:cNvPr>
          <p:cNvSpPr txBox="1">
            <a:spLocks noChangeArrowheads="1"/>
          </p:cNvSpPr>
          <p:nvPr/>
        </p:nvSpPr>
        <p:spPr bwMode="auto">
          <a:xfrm>
            <a:off x="1882586" y="1130893"/>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dirty="0">
                <a:solidFill>
                  <a:srgbClr val="44546A"/>
                </a:solidFill>
                <a:latin typeface="微软雅黑" panose="020B0503020204020204" pitchFamily="34" charset="-122"/>
              </a:rPr>
              <a:t>通配符“</a:t>
            </a:r>
            <a:r>
              <a:rPr lang="en-US" altLang="zh-CN" dirty="0">
                <a:solidFill>
                  <a:srgbClr val="44546A"/>
                </a:solidFill>
                <a:latin typeface="微软雅黑" panose="020B0503020204020204" pitchFamily="34" charset="-122"/>
              </a:rPr>
              <a:t>%”</a:t>
            </a:r>
            <a:endParaRPr lang="zh-CN" altLang="en-US" noProof="1">
              <a:solidFill>
                <a:srgbClr val="44546A"/>
              </a:solidFill>
              <a:latin typeface="微软雅黑" panose="020B0503020204020204" pitchFamily="34" charset="-122"/>
            </a:endParaRPr>
          </a:p>
        </p:txBody>
      </p:sp>
      <p:grpSp>
        <p:nvGrpSpPr>
          <p:cNvPr id="7" name="组合 6">
            <a:extLst>
              <a:ext uri="{FF2B5EF4-FFF2-40B4-BE49-F238E27FC236}">
                <a16:creationId xmlns:a16="http://schemas.microsoft.com/office/drawing/2014/main" id="{D0B82A1B-1BB8-C3F9-3FC5-C22AC287DBFE}"/>
              </a:ext>
            </a:extLst>
          </p:cNvPr>
          <p:cNvGrpSpPr/>
          <p:nvPr/>
        </p:nvGrpSpPr>
        <p:grpSpPr>
          <a:xfrm>
            <a:off x="879286" y="987595"/>
            <a:ext cx="1003300" cy="722312"/>
            <a:chOff x="877888" y="1586140"/>
            <a:chExt cx="1003300" cy="722312"/>
          </a:xfrm>
        </p:grpSpPr>
        <p:sp>
          <p:nvSpPr>
            <p:cNvPr id="8" name="íṩľíḍè-Freeform: Shape 9">
              <a:extLst>
                <a:ext uri="{FF2B5EF4-FFF2-40B4-BE49-F238E27FC236}">
                  <a16:creationId xmlns:a16="http://schemas.microsoft.com/office/drawing/2014/main" id="{74F35C7C-A723-B4DB-312F-91925F61452A}"/>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 name="íṩľíḍè-Oval 10">
              <a:extLst>
                <a:ext uri="{FF2B5EF4-FFF2-40B4-BE49-F238E27FC236}">
                  <a16:creationId xmlns:a16="http://schemas.microsoft.com/office/drawing/2014/main" id="{D2CFFDAB-A06D-AAED-E8D5-4601FAF97947}"/>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1</a:t>
              </a:r>
            </a:p>
          </p:txBody>
        </p:sp>
      </p:grpSp>
      <p:sp>
        <p:nvSpPr>
          <p:cNvPr id="10" name="文本框 10">
            <a:extLst>
              <a:ext uri="{FF2B5EF4-FFF2-40B4-BE49-F238E27FC236}">
                <a16:creationId xmlns:a16="http://schemas.microsoft.com/office/drawing/2014/main" id="{15C75B90-3719-61F2-E360-AB4E013B8669}"/>
              </a:ext>
            </a:extLst>
          </p:cNvPr>
          <p:cNvSpPr txBox="1">
            <a:spLocks noChangeArrowheads="1"/>
          </p:cNvSpPr>
          <p:nvPr/>
        </p:nvSpPr>
        <p:spPr bwMode="auto">
          <a:xfrm>
            <a:off x="586322" y="2852697"/>
            <a:ext cx="1103338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noProof="1">
                <a:solidFill>
                  <a:srgbClr val="44546A"/>
                </a:solidFill>
                <a:latin typeface="微软雅黑" panose="020B0503020204020204" pitchFamily="34" charset="-122"/>
              </a:rPr>
              <a:t>执行以下语句，可查询</a:t>
            </a:r>
            <a:r>
              <a:rPr lang="en-US" altLang="zh-CN" noProof="1">
                <a:solidFill>
                  <a:srgbClr val="44546A"/>
                </a:solidFill>
                <a:latin typeface="微软雅黑" panose="020B0503020204020204" pitchFamily="34" charset="-122"/>
              </a:rPr>
              <a:t>goods</a:t>
            </a:r>
            <a:r>
              <a:rPr lang="zh-CN" altLang="en-US" noProof="1">
                <a:solidFill>
                  <a:srgbClr val="44546A"/>
                </a:solidFill>
                <a:latin typeface="微软雅黑" panose="020B0503020204020204" pitchFamily="34" charset="-122"/>
              </a:rPr>
              <a:t>表中</a:t>
            </a:r>
            <a:r>
              <a:rPr lang="en-US" altLang="zh-CN" noProof="1">
                <a:solidFill>
                  <a:srgbClr val="44546A"/>
                </a:solidFill>
                <a:latin typeface="微软雅黑" panose="020B0503020204020204" pitchFamily="34" charset="-122"/>
              </a:rPr>
              <a:t>name</a:t>
            </a:r>
            <a:r>
              <a:rPr lang="zh-CN" altLang="en-US" noProof="1">
                <a:solidFill>
                  <a:srgbClr val="44546A"/>
                </a:solidFill>
                <a:latin typeface="微软雅黑" panose="020B0503020204020204" pitchFamily="34" charset="-122"/>
              </a:rPr>
              <a:t>值包含“游”的记录。</a:t>
            </a:r>
            <a:endParaRPr lang="zh-CN" altLang="en-US" dirty="0">
              <a:solidFill>
                <a:srgbClr val="44546A"/>
              </a:solidFill>
              <a:latin typeface="微软雅黑" panose="020B0503020204020204" pitchFamily="34" charset="-122"/>
            </a:endParaRPr>
          </a:p>
        </p:txBody>
      </p:sp>
      <p:sp>
        <p:nvSpPr>
          <p:cNvPr id="11" name="矩形 10">
            <a:extLst>
              <a:ext uri="{FF2B5EF4-FFF2-40B4-BE49-F238E27FC236}">
                <a16:creationId xmlns:a16="http://schemas.microsoft.com/office/drawing/2014/main" id="{597612DD-CE70-5B5C-E34B-9742ED4F659F}"/>
              </a:ext>
            </a:extLst>
          </p:cNvPr>
          <p:cNvSpPr/>
          <p:nvPr/>
        </p:nvSpPr>
        <p:spPr>
          <a:xfrm>
            <a:off x="1134064" y="3429692"/>
            <a:ext cx="10052154" cy="415528"/>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2" name="文本框 38">
            <a:extLst>
              <a:ext uri="{FF2B5EF4-FFF2-40B4-BE49-F238E27FC236}">
                <a16:creationId xmlns:a16="http://schemas.microsoft.com/office/drawing/2014/main" id="{7A410FFF-A2EA-F2D5-5859-247E5D8F287E}"/>
              </a:ext>
            </a:extLst>
          </p:cNvPr>
          <p:cNvSpPr txBox="1">
            <a:spLocks noChangeArrowheads="1"/>
          </p:cNvSpPr>
          <p:nvPr/>
        </p:nvSpPr>
        <p:spPr bwMode="auto">
          <a:xfrm>
            <a:off x="2161960" y="3413624"/>
            <a:ext cx="6968444" cy="381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3"/>
                </a:solidFill>
              </a:rPr>
              <a:t>SELECT * FROM goods WHERE name LIKE '%</a:t>
            </a:r>
            <a:r>
              <a:rPr lang="zh-CN" altLang="en-US" sz="1600" dirty="0">
                <a:solidFill>
                  <a:schemeClr val="accent3"/>
                </a:solidFill>
              </a:rPr>
              <a:t>游</a:t>
            </a:r>
            <a:r>
              <a:rPr lang="en-US" altLang="zh-CN" sz="1600" dirty="0">
                <a:solidFill>
                  <a:schemeClr val="accent3"/>
                </a:solidFill>
              </a:rPr>
              <a:t>%';</a:t>
            </a:r>
          </a:p>
        </p:txBody>
      </p:sp>
      <p:sp>
        <p:nvSpPr>
          <p:cNvPr id="13" name="文本框 10">
            <a:extLst>
              <a:ext uri="{FF2B5EF4-FFF2-40B4-BE49-F238E27FC236}">
                <a16:creationId xmlns:a16="http://schemas.microsoft.com/office/drawing/2014/main" id="{51DF5F41-B09D-FA91-FFC8-37B90DD4B345}"/>
              </a:ext>
            </a:extLst>
          </p:cNvPr>
          <p:cNvSpPr txBox="1">
            <a:spLocks noChangeArrowheads="1"/>
          </p:cNvSpPr>
          <p:nvPr/>
        </p:nvSpPr>
        <p:spPr bwMode="auto">
          <a:xfrm>
            <a:off x="589426" y="3872880"/>
            <a:ext cx="1103338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noProof="1">
                <a:solidFill>
                  <a:srgbClr val="44546A"/>
                </a:solidFill>
                <a:latin typeface="微软雅黑" panose="020B0503020204020204" pitchFamily="34" charset="-122"/>
              </a:rPr>
              <a:t>执行以下语句，可查询</a:t>
            </a:r>
            <a:r>
              <a:rPr lang="en-US" altLang="zh-CN" noProof="1">
                <a:solidFill>
                  <a:srgbClr val="44546A"/>
                </a:solidFill>
                <a:latin typeface="微软雅黑" panose="020B0503020204020204" pitchFamily="34" charset="-122"/>
              </a:rPr>
              <a:t>goods</a:t>
            </a:r>
            <a:r>
              <a:rPr lang="zh-CN" altLang="en-US" noProof="1">
                <a:solidFill>
                  <a:srgbClr val="44546A"/>
                </a:solidFill>
                <a:latin typeface="微软雅黑" panose="020B0503020204020204" pitchFamily="34" charset="-122"/>
              </a:rPr>
              <a:t>表中</a:t>
            </a:r>
            <a:r>
              <a:rPr lang="en-US" altLang="zh-CN" noProof="1">
                <a:solidFill>
                  <a:srgbClr val="44546A"/>
                </a:solidFill>
                <a:latin typeface="微软雅黑" panose="020B0503020204020204" pitchFamily="34" charset="-122"/>
              </a:rPr>
              <a:t>name</a:t>
            </a:r>
            <a:r>
              <a:rPr lang="zh-CN" altLang="en-US" noProof="1">
                <a:solidFill>
                  <a:srgbClr val="44546A"/>
                </a:solidFill>
                <a:latin typeface="微软雅黑" panose="020B0503020204020204" pitchFamily="34" charset="-122"/>
              </a:rPr>
              <a:t>值以“休”开头，以“服”结尾的记录。</a:t>
            </a:r>
            <a:endParaRPr lang="zh-CN" altLang="en-US" dirty="0">
              <a:solidFill>
                <a:srgbClr val="44546A"/>
              </a:solidFill>
              <a:latin typeface="微软雅黑" panose="020B0503020204020204" pitchFamily="34" charset="-122"/>
            </a:endParaRPr>
          </a:p>
        </p:txBody>
      </p:sp>
      <p:sp>
        <p:nvSpPr>
          <p:cNvPr id="14" name="矩形 13">
            <a:extLst>
              <a:ext uri="{FF2B5EF4-FFF2-40B4-BE49-F238E27FC236}">
                <a16:creationId xmlns:a16="http://schemas.microsoft.com/office/drawing/2014/main" id="{F3A8F323-6EE0-8648-042E-B7062E2AFE7C}"/>
              </a:ext>
            </a:extLst>
          </p:cNvPr>
          <p:cNvSpPr/>
          <p:nvPr/>
        </p:nvSpPr>
        <p:spPr>
          <a:xfrm>
            <a:off x="1137168" y="4449875"/>
            <a:ext cx="10052154" cy="415528"/>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5" name="文本框 38">
            <a:extLst>
              <a:ext uri="{FF2B5EF4-FFF2-40B4-BE49-F238E27FC236}">
                <a16:creationId xmlns:a16="http://schemas.microsoft.com/office/drawing/2014/main" id="{B6A21B2D-D250-E63B-4562-7397C5DA76AB}"/>
              </a:ext>
            </a:extLst>
          </p:cNvPr>
          <p:cNvSpPr txBox="1">
            <a:spLocks noChangeArrowheads="1"/>
          </p:cNvSpPr>
          <p:nvPr/>
        </p:nvSpPr>
        <p:spPr bwMode="auto">
          <a:xfrm>
            <a:off x="2165064" y="4433807"/>
            <a:ext cx="6968444" cy="381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3"/>
                </a:solidFill>
              </a:rPr>
              <a:t>SELECT * FROM goods WHERE name LIKE '</a:t>
            </a:r>
            <a:r>
              <a:rPr lang="zh-CN" altLang="en-US" sz="1600" dirty="0">
                <a:solidFill>
                  <a:schemeClr val="accent3"/>
                </a:solidFill>
              </a:rPr>
              <a:t>休</a:t>
            </a:r>
            <a:r>
              <a:rPr lang="en-US" altLang="zh-CN" sz="1600" dirty="0">
                <a:solidFill>
                  <a:schemeClr val="accent3"/>
                </a:solidFill>
              </a:rPr>
              <a:t>%</a:t>
            </a:r>
            <a:r>
              <a:rPr lang="zh-CN" altLang="en-US" sz="1600" dirty="0">
                <a:solidFill>
                  <a:schemeClr val="accent3"/>
                </a:solidFill>
              </a:rPr>
              <a:t>服</a:t>
            </a:r>
            <a:r>
              <a:rPr lang="en-US" altLang="zh-CN" sz="1600" dirty="0">
                <a:solidFill>
                  <a:schemeClr val="accent3"/>
                </a:solidFill>
              </a:rPr>
              <a:t>';</a:t>
            </a:r>
          </a:p>
        </p:txBody>
      </p:sp>
      <p:sp>
        <p:nvSpPr>
          <p:cNvPr id="16" name="文本框 10">
            <a:extLst>
              <a:ext uri="{FF2B5EF4-FFF2-40B4-BE49-F238E27FC236}">
                <a16:creationId xmlns:a16="http://schemas.microsoft.com/office/drawing/2014/main" id="{70A1B7EA-7EE8-72BB-0666-8490240FD262}"/>
              </a:ext>
            </a:extLst>
          </p:cNvPr>
          <p:cNvSpPr txBox="1">
            <a:spLocks noChangeArrowheads="1"/>
          </p:cNvSpPr>
          <p:nvPr/>
        </p:nvSpPr>
        <p:spPr bwMode="auto">
          <a:xfrm>
            <a:off x="772942" y="5017489"/>
            <a:ext cx="10694388" cy="873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noProof="1">
                <a:solidFill>
                  <a:srgbClr val="44546A"/>
                </a:solidFill>
                <a:latin typeface="微软雅黑" panose="020B0503020204020204" pitchFamily="34" charset="-122"/>
              </a:rPr>
              <a:t>通过以上多个语句可以看出，通配符“</a:t>
            </a:r>
            <a:r>
              <a:rPr lang="en-US" altLang="zh-CN" noProof="1">
                <a:solidFill>
                  <a:srgbClr val="44546A"/>
                </a:solidFill>
                <a:latin typeface="微软雅黑" panose="020B0503020204020204" pitchFamily="34" charset="-122"/>
              </a:rPr>
              <a:t>%”</a:t>
            </a:r>
            <a:r>
              <a:rPr lang="zh-CN" altLang="en-US" noProof="1">
                <a:solidFill>
                  <a:srgbClr val="44546A"/>
                </a:solidFill>
                <a:latin typeface="微软雅黑" panose="020B0503020204020204" pitchFamily="34" charset="-122"/>
              </a:rPr>
              <a:t>可以出现在</a:t>
            </a:r>
            <a:r>
              <a:rPr lang="zh-CN" altLang="en-US" b="1" noProof="1">
                <a:solidFill>
                  <a:srgbClr val="44546A"/>
                </a:solidFill>
                <a:latin typeface="微软雅黑" panose="020B0503020204020204" pitchFamily="34" charset="-122"/>
              </a:rPr>
              <a:t>匹配字符的任意位置</a:t>
            </a:r>
            <a:r>
              <a:rPr lang="zh-CN" altLang="en-US" noProof="1">
                <a:solidFill>
                  <a:srgbClr val="44546A"/>
                </a:solidFill>
                <a:latin typeface="微软雅黑" panose="020B0503020204020204" pitchFamily="34" charset="-122"/>
              </a:rPr>
              <a:t>，并且</a:t>
            </a:r>
            <a:r>
              <a:rPr lang="zh-CN" altLang="en-US" b="1" noProof="1">
                <a:solidFill>
                  <a:srgbClr val="44546A"/>
                </a:solidFill>
                <a:latin typeface="微软雅黑" panose="020B0503020204020204" pitchFamily="34" charset="-122"/>
              </a:rPr>
              <a:t>可以匹配任意数目的字符。</a:t>
            </a:r>
            <a:endParaRPr lang="zh-CN" altLang="en-US" b="1" dirty="0">
              <a:solidFill>
                <a:srgbClr val="44546A"/>
              </a:solidFill>
              <a:latin typeface="微软雅黑" panose="020B0503020204020204" pitchFamily="34" charset="-122"/>
            </a:endParaRPr>
          </a:p>
        </p:txBody>
      </p:sp>
    </p:spTree>
    <p:extLst>
      <p:ext uri="{BB962C8B-B14F-4D97-AF65-F5344CB8AC3E}">
        <p14:creationId xmlns:p14="http://schemas.microsoft.com/office/powerpoint/2010/main" val="160132874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10" grpId="0"/>
      <p:bldP spid="11" grpId="0" animBg="1"/>
      <p:bldP spid="12" grpId="0"/>
      <p:bldP spid="13" grpId="0"/>
      <p:bldP spid="14" grpId="0" animBg="1"/>
      <p:bldP spid="15" grpId="0"/>
      <p:bldP spid="1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字符匹配查询</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10">
            <a:extLst>
              <a:ext uri="{FF2B5EF4-FFF2-40B4-BE49-F238E27FC236}">
                <a16:creationId xmlns:a16="http://schemas.microsoft.com/office/drawing/2014/main" id="{479BAB42-4EC3-1292-4019-6BF3C2F4AA6A}"/>
              </a:ext>
            </a:extLst>
          </p:cNvPr>
          <p:cNvSpPr txBox="1">
            <a:spLocks noChangeArrowheads="1"/>
          </p:cNvSpPr>
          <p:nvPr/>
        </p:nvSpPr>
        <p:spPr bwMode="auto">
          <a:xfrm>
            <a:off x="592549" y="1016623"/>
            <a:ext cx="1103338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noProof="1">
                <a:solidFill>
                  <a:srgbClr val="44546A"/>
                </a:solidFill>
                <a:latin typeface="微软雅黑" panose="020B0503020204020204" pitchFamily="34" charset="-122"/>
              </a:rPr>
              <a:t>使用</a:t>
            </a:r>
            <a:r>
              <a:rPr lang="en-US" altLang="zh-CN" noProof="1">
                <a:solidFill>
                  <a:srgbClr val="44546A"/>
                </a:solidFill>
                <a:latin typeface="微软雅黑" panose="020B0503020204020204" pitchFamily="34" charset="-122"/>
              </a:rPr>
              <a:t>LIKE</a:t>
            </a:r>
            <a:r>
              <a:rPr lang="zh-CN" altLang="en-US" noProof="1">
                <a:solidFill>
                  <a:srgbClr val="44546A"/>
                </a:solidFill>
                <a:latin typeface="微软雅黑" panose="020B0503020204020204" pitchFamily="34" charset="-122"/>
              </a:rPr>
              <a:t>关键字的查询又称为模糊查询，通常用于查询字段值包含某些字符的记录，语法形式如下：</a:t>
            </a:r>
            <a:endParaRPr lang="zh-CN" altLang="en-US" dirty="0">
              <a:solidFill>
                <a:srgbClr val="44546A"/>
              </a:solidFill>
              <a:latin typeface="微软雅黑" panose="020B0503020204020204" pitchFamily="34" charset="-122"/>
            </a:endParaRPr>
          </a:p>
        </p:txBody>
      </p:sp>
      <p:sp>
        <p:nvSpPr>
          <p:cNvPr id="4" name="矩形 3">
            <a:extLst>
              <a:ext uri="{FF2B5EF4-FFF2-40B4-BE49-F238E27FC236}">
                <a16:creationId xmlns:a16="http://schemas.microsoft.com/office/drawing/2014/main" id="{E271F23F-6102-05D4-1B21-AAFD07253332}"/>
              </a:ext>
            </a:extLst>
          </p:cNvPr>
          <p:cNvSpPr/>
          <p:nvPr/>
        </p:nvSpPr>
        <p:spPr>
          <a:xfrm>
            <a:off x="1140291" y="1593618"/>
            <a:ext cx="10052154" cy="415528"/>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5" name="文本框 38">
            <a:extLst>
              <a:ext uri="{FF2B5EF4-FFF2-40B4-BE49-F238E27FC236}">
                <a16:creationId xmlns:a16="http://schemas.microsoft.com/office/drawing/2014/main" id="{911B4800-E2BF-3751-23AC-D197491BC4DF}"/>
              </a:ext>
            </a:extLst>
          </p:cNvPr>
          <p:cNvSpPr txBox="1">
            <a:spLocks noChangeArrowheads="1"/>
          </p:cNvSpPr>
          <p:nvPr/>
        </p:nvSpPr>
        <p:spPr bwMode="auto">
          <a:xfrm>
            <a:off x="2168187" y="1577550"/>
            <a:ext cx="6968444" cy="3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1"/>
                </a:solidFill>
              </a:rPr>
              <a:t>SELECT {*|col_list} FROM table_name WHERE col_namea LIKE </a:t>
            </a:r>
            <a:r>
              <a:rPr lang="en-US" altLang="zh-CN" sz="1600" dirty="0" err="1">
                <a:solidFill>
                  <a:schemeClr val="accent1"/>
                </a:solidFill>
              </a:rPr>
              <a:t>valueb</a:t>
            </a:r>
            <a:r>
              <a:rPr lang="en-US" altLang="zh-CN" sz="1600" dirty="0">
                <a:solidFill>
                  <a:schemeClr val="accent1"/>
                </a:solidFill>
              </a:rPr>
              <a:t>;</a:t>
            </a:r>
          </a:p>
        </p:txBody>
      </p:sp>
      <p:sp>
        <p:nvSpPr>
          <p:cNvPr id="6" name="文本框 3">
            <a:extLst>
              <a:ext uri="{FF2B5EF4-FFF2-40B4-BE49-F238E27FC236}">
                <a16:creationId xmlns:a16="http://schemas.microsoft.com/office/drawing/2014/main" id="{7720B51E-0785-A2D2-E7BE-1C6AFFE3D66C}"/>
              </a:ext>
            </a:extLst>
          </p:cNvPr>
          <p:cNvSpPr txBox="1">
            <a:spLocks noChangeArrowheads="1"/>
          </p:cNvSpPr>
          <p:nvPr/>
        </p:nvSpPr>
        <p:spPr bwMode="auto">
          <a:xfrm>
            <a:off x="1882586" y="2008007"/>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dirty="0">
                <a:solidFill>
                  <a:srgbClr val="44546A"/>
                </a:solidFill>
                <a:latin typeface="微软雅黑" panose="020B0503020204020204" pitchFamily="34" charset="-122"/>
              </a:rPr>
              <a:t>通配符“</a:t>
            </a:r>
            <a:r>
              <a:rPr lang="en-US" altLang="zh-CN" dirty="0">
                <a:solidFill>
                  <a:srgbClr val="44546A"/>
                </a:solidFill>
                <a:latin typeface="微软雅黑" panose="020B0503020204020204" pitchFamily="34" charset="-122"/>
              </a:rPr>
              <a:t>_”</a:t>
            </a:r>
            <a:endParaRPr lang="zh-CN" altLang="en-US" noProof="1">
              <a:solidFill>
                <a:srgbClr val="44546A"/>
              </a:solidFill>
              <a:latin typeface="微软雅黑" panose="020B0503020204020204" pitchFamily="34" charset="-122"/>
            </a:endParaRPr>
          </a:p>
        </p:txBody>
      </p:sp>
      <p:grpSp>
        <p:nvGrpSpPr>
          <p:cNvPr id="7" name="组合 6">
            <a:extLst>
              <a:ext uri="{FF2B5EF4-FFF2-40B4-BE49-F238E27FC236}">
                <a16:creationId xmlns:a16="http://schemas.microsoft.com/office/drawing/2014/main" id="{8AF54F2F-1D47-1F38-28F2-8E62850A7994}"/>
              </a:ext>
            </a:extLst>
          </p:cNvPr>
          <p:cNvGrpSpPr/>
          <p:nvPr/>
        </p:nvGrpSpPr>
        <p:grpSpPr>
          <a:xfrm>
            <a:off x="879286" y="1920695"/>
            <a:ext cx="1003300" cy="722312"/>
            <a:chOff x="877888" y="1586140"/>
            <a:chExt cx="1003300" cy="722312"/>
          </a:xfrm>
        </p:grpSpPr>
        <p:sp>
          <p:nvSpPr>
            <p:cNvPr id="8" name="íṩľíḍè-Freeform: Shape 9">
              <a:extLst>
                <a:ext uri="{FF2B5EF4-FFF2-40B4-BE49-F238E27FC236}">
                  <a16:creationId xmlns:a16="http://schemas.microsoft.com/office/drawing/2014/main" id="{59C4FC65-D8C0-EB5A-382A-702EC0BB65AB}"/>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 name="íṩľíḍè-Oval 10">
              <a:extLst>
                <a:ext uri="{FF2B5EF4-FFF2-40B4-BE49-F238E27FC236}">
                  <a16:creationId xmlns:a16="http://schemas.microsoft.com/office/drawing/2014/main" id="{1257A14A-8880-591A-4728-EDB1181814F1}"/>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2</a:t>
              </a:r>
            </a:p>
          </p:txBody>
        </p:sp>
      </p:grpSp>
      <p:sp>
        <p:nvSpPr>
          <p:cNvPr id="10" name="矩形 9">
            <a:extLst>
              <a:ext uri="{FF2B5EF4-FFF2-40B4-BE49-F238E27FC236}">
                <a16:creationId xmlns:a16="http://schemas.microsoft.com/office/drawing/2014/main" id="{AB44F307-3158-9427-19A9-5D30E118DFEE}"/>
              </a:ext>
            </a:extLst>
          </p:cNvPr>
          <p:cNvSpPr/>
          <p:nvPr/>
        </p:nvSpPr>
        <p:spPr>
          <a:xfrm>
            <a:off x="665926" y="2700990"/>
            <a:ext cx="11271034" cy="418191"/>
          </a:xfrm>
          <a:prstGeom prst="rect">
            <a:avLst/>
          </a:prstGeom>
        </p:spPr>
        <p:txBody>
          <a:bodyPr wrap="none">
            <a:spAutoFit/>
          </a:bodyPr>
          <a:lstStyle/>
          <a:p>
            <a:pPr indent="457200" algn="just">
              <a:lnSpc>
                <a:spcPct val="150000"/>
              </a:lnSpc>
            </a:pPr>
            <a:r>
              <a:rPr lang="zh-CN" altLang="en-US" sz="1600" dirty="0">
                <a:solidFill>
                  <a:srgbClr val="44546A"/>
                </a:solidFill>
                <a:latin typeface="微软雅黑" panose="020B0503020204020204" pitchFamily="34" charset="-122"/>
                <a:ea typeface="微软雅黑" pitchFamily="34" charset="-122"/>
              </a:rPr>
              <a:t>通配符“</a:t>
            </a:r>
            <a:r>
              <a:rPr lang="en-US" altLang="zh-CN" sz="1600" dirty="0">
                <a:solidFill>
                  <a:srgbClr val="44546A"/>
                </a:solidFill>
                <a:latin typeface="微软雅黑" panose="020B0503020204020204" pitchFamily="34" charset="-122"/>
                <a:ea typeface="微软雅黑" pitchFamily="34" charset="-122"/>
              </a:rPr>
              <a:t>_”</a:t>
            </a:r>
            <a:r>
              <a:rPr lang="zh-CN" altLang="en-US" sz="1600" dirty="0">
                <a:solidFill>
                  <a:srgbClr val="44546A"/>
                </a:solidFill>
                <a:latin typeface="微软雅黑" panose="020B0503020204020204" pitchFamily="34" charset="-122"/>
                <a:ea typeface="微软雅黑" pitchFamily="34" charset="-122"/>
              </a:rPr>
              <a:t>的使用方法与通配符“</a:t>
            </a:r>
            <a:r>
              <a:rPr lang="en-US" altLang="zh-CN" sz="1600" dirty="0">
                <a:solidFill>
                  <a:srgbClr val="44546A"/>
                </a:solidFill>
                <a:latin typeface="微软雅黑" panose="020B0503020204020204" pitchFamily="34" charset="-122"/>
                <a:ea typeface="微软雅黑" pitchFamily="34" charset="-122"/>
              </a:rPr>
              <a:t>%”</a:t>
            </a:r>
            <a:r>
              <a:rPr lang="zh-CN" altLang="en-US" sz="1600" dirty="0">
                <a:solidFill>
                  <a:srgbClr val="44546A"/>
                </a:solidFill>
                <a:latin typeface="微软雅黑" panose="020B0503020204020204" pitchFamily="34" charset="-122"/>
                <a:ea typeface="微软雅黑" pitchFamily="34" charset="-122"/>
              </a:rPr>
              <a:t>类似，都可以出现在匹配字符的</a:t>
            </a:r>
            <a:r>
              <a:rPr lang="zh-CN" altLang="en-US" sz="1600" b="1" dirty="0">
                <a:solidFill>
                  <a:srgbClr val="44546A"/>
                </a:solidFill>
                <a:latin typeface="微软雅黑" panose="020B0503020204020204" pitchFamily="34" charset="-122"/>
                <a:ea typeface="微软雅黑" pitchFamily="34" charset="-122"/>
              </a:rPr>
              <a:t>任意位置</a:t>
            </a:r>
            <a:r>
              <a:rPr lang="zh-CN" altLang="en-US" sz="1600" dirty="0">
                <a:solidFill>
                  <a:srgbClr val="44546A"/>
                </a:solidFill>
                <a:latin typeface="微软雅黑" panose="020B0503020204020204" pitchFamily="34" charset="-122"/>
                <a:ea typeface="微软雅黑" pitchFamily="34" charset="-122"/>
              </a:rPr>
              <a:t>，但</a:t>
            </a:r>
            <a:r>
              <a:rPr lang="zh-CN" altLang="en-US" sz="1600" b="1" dirty="0">
                <a:solidFill>
                  <a:srgbClr val="44546A"/>
                </a:solidFill>
                <a:latin typeface="微软雅黑" panose="020B0503020204020204" pitchFamily="34" charset="-122"/>
                <a:ea typeface="微软雅黑" pitchFamily="34" charset="-122"/>
              </a:rPr>
              <a:t>通配符“</a:t>
            </a:r>
            <a:r>
              <a:rPr lang="en-US" altLang="zh-CN" sz="1600" b="1" dirty="0">
                <a:solidFill>
                  <a:srgbClr val="44546A"/>
                </a:solidFill>
                <a:latin typeface="微软雅黑" panose="020B0503020204020204" pitchFamily="34" charset="-122"/>
                <a:ea typeface="微软雅黑" pitchFamily="34" charset="-122"/>
              </a:rPr>
              <a:t>_”</a:t>
            </a:r>
            <a:r>
              <a:rPr lang="zh-CN" altLang="en-US" sz="1600" b="1" dirty="0">
                <a:solidFill>
                  <a:srgbClr val="44546A"/>
                </a:solidFill>
                <a:latin typeface="微软雅黑" panose="020B0503020204020204" pitchFamily="34" charset="-122"/>
                <a:ea typeface="微软雅黑" pitchFamily="34" charset="-122"/>
              </a:rPr>
              <a:t>只能匹配一个字符</a:t>
            </a:r>
            <a:r>
              <a:rPr lang="zh-CN" altLang="en-US" sz="1600" dirty="0">
                <a:solidFill>
                  <a:srgbClr val="44546A"/>
                </a:solidFill>
                <a:latin typeface="微软雅黑" panose="020B0503020204020204" pitchFamily="34" charset="-122"/>
                <a:ea typeface="微软雅黑" pitchFamily="34" charset="-122"/>
              </a:rPr>
              <a:t>。</a:t>
            </a:r>
          </a:p>
        </p:txBody>
      </p:sp>
      <p:grpSp>
        <p:nvGrpSpPr>
          <p:cNvPr id="11" name="组合 34">
            <a:extLst>
              <a:ext uri="{FF2B5EF4-FFF2-40B4-BE49-F238E27FC236}">
                <a16:creationId xmlns:a16="http://schemas.microsoft.com/office/drawing/2014/main" id="{64DDEB18-70B5-40B1-957A-522A331329C6}"/>
              </a:ext>
            </a:extLst>
          </p:cNvPr>
          <p:cNvGrpSpPr/>
          <p:nvPr/>
        </p:nvGrpSpPr>
        <p:grpSpPr>
          <a:xfrm>
            <a:off x="838200" y="3109396"/>
            <a:ext cx="2183765" cy="600710"/>
            <a:chOff x="1320" y="4641"/>
            <a:chExt cx="3439" cy="946"/>
          </a:xfrm>
          <a:solidFill>
            <a:schemeClr val="accent6"/>
          </a:solidFill>
        </p:grpSpPr>
        <p:sp>
          <p:nvSpPr>
            <p:cNvPr id="12" name="椭圆 11">
              <a:extLst>
                <a:ext uri="{FF2B5EF4-FFF2-40B4-BE49-F238E27FC236}">
                  <a16:creationId xmlns:a16="http://schemas.microsoft.com/office/drawing/2014/main" id="{32D8A14C-32FD-F6CA-8D85-D5627364737F}"/>
                </a:ext>
              </a:extLst>
            </p:cNvPr>
            <p:cNvSpPr/>
            <p:nvPr/>
          </p:nvSpPr>
          <p:spPr>
            <a:xfrm>
              <a:off x="1320" y="4641"/>
              <a:ext cx="946" cy="946"/>
            </a:xfrm>
            <a:prstGeom prst="ellipse">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3" name="圆角矩形 11">
              <a:extLst>
                <a:ext uri="{FF2B5EF4-FFF2-40B4-BE49-F238E27FC236}">
                  <a16:creationId xmlns:a16="http://schemas.microsoft.com/office/drawing/2014/main" id="{2246D302-F301-BDDF-50D3-3B3487621069}"/>
                </a:ext>
              </a:extLst>
            </p:cNvPr>
            <p:cNvSpPr/>
            <p:nvPr/>
          </p:nvSpPr>
          <p:spPr>
            <a:xfrm>
              <a:off x="1673" y="4793"/>
              <a:ext cx="3086" cy="643"/>
            </a:xfrm>
            <a:prstGeom prst="roundRect">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19</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4" name="文本框 36">
            <a:extLst>
              <a:ext uri="{FF2B5EF4-FFF2-40B4-BE49-F238E27FC236}">
                <a16:creationId xmlns:a16="http://schemas.microsoft.com/office/drawing/2014/main" id="{CA383CD2-BF0C-A4B0-746C-E7A43B421600}"/>
              </a:ext>
            </a:extLst>
          </p:cNvPr>
          <p:cNvSpPr txBox="1">
            <a:spLocks noChangeArrowheads="1"/>
          </p:cNvSpPr>
          <p:nvPr/>
        </p:nvSpPr>
        <p:spPr bwMode="auto">
          <a:xfrm>
            <a:off x="3246120" y="3020882"/>
            <a:ext cx="7778588" cy="787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ct val="150000"/>
              </a:lnSpc>
            </a:pPr>
            <a:r>
              <a:rPr lang="zh-CN" altLang="en-US" sz="1600" dirty="0">
                <a:solidFill>
                  <a:srgbClr val="44546A"/>
                </a:solidFill>
                <a:latin typeface="微软雅黑" panose="020B0503020204020204" pitchFamily="34" charset="-122"/>
              </a:rPr>
              <a:t>执行</a:t>
            </a:r>
            <a:r>
              <a:rPr lang="en-US" altLang="zh-CN" sz="1600" dirty="0">
                <a:solidFill>
                  <a:srgbClr val="44546A"/>
                </a:solidFill>
                <a:latin typeface="微软雅黑" panose="020B0503020204020204" pitchFamily="34" charset="-122"/>
              </a:rPr>
              <a:t>SQL</a:t>
            </a:r>
            <a:r>
              <a:rPr lang="zh-CN" altLang="en-US" sz="1600" dirty="0">
                <a:solidFill>
                  <a:srgbClr val="44546A"/>
                </a:solidFill>
                <a:latin typeface="微软雅黑" panose="020B0503020204020204" pitchFamily="34" charset="-122"/>
              </a:rPr>
              <a:t>语句，查询</a:t>
            </a:r>
            <a:r>
              <a:rPr lang="en-US" altLang="zh-CN" sz="1600" dirty="0">
                <a:solidFill>
                  <a:srgbClr val="44546A"/>
                </a:solidFill>
                <a:latin typeface="微软雅黑" panose="020B0503020204020204" pitchFamily="34" charset="-122"/>
              </a:rPr>
              <a:t>goods</a:t>
            </a:r>
            <a:r>
              <a:rPr lang="zh-CN" altLang="en-US" sz="1600" dirty="0">
                <a:solidFill>
                  <a:srgbClr val="44546A"/>
                </a:solidFill>
                <a:latin typeface="微软雅黑" panose="020B0503020204020204" pitchFamily="34" charset="-122"/>
              </a:rPr>
              <a:t>表中</a:t>
            </a:r>
            <a:r>
              <a:rPr lang="en-US" altLang="zh-CN" sz="1600" dirty="0">
                <a:solidFill>
                  <a:srgbClr val="44546A"/>
                </a:solidFill>
                <a:latin typeface="微软雅黑" panose="020B0503020204020204" pitchFamily="34" charset="-122"/>
              </a:rPr>
              <a:t>name</a:t>
            </a:r>
            <a:r>
              <a:rPr lang="zh-CN" altLang="en-US" sz="1600" dirty="0">
                <a:solidFill>
                  <a:srgbClr val="44546A"/>
                </a:solidFill>
                <a:latin typeface="微软雅黑" panose="020B0503020204020204" pitchFamily="34" charset="-122"/>
              </a:rPr>
              <a:t>值以“西”开头，“西”后有两个字符的记录，结果如下所示。</a:t>
            </a:r>
          </a:p>
        </p:txBody>
      </p:sp>
      <p:sp>
        <p:nvSpPr>
          <p:cNvPr id="15" name="矩形 14">
            <a:extLst>
              <a:ext uri="{FF2B5EF4-FFF2-40B4-BE49-F238E27FC236}">
                <a16:creationId xmlns:a16="http://schemas.microsoft.com/office/drawing/2014/main" id="{EB5866C0-988A-941C-2D84-0722D84CAAD1}"/>
              </a:ext>
            </a:extLst>
          </p:cNvPr>
          <p:cNvSpPr/>
          <p:nvPr/>
        </p:nvSpPr>
        <p:spPr>
          <a:xfrm>
            <a:off x="1062355" y="3795803"/>
            <a:ext cx="9882453" cy="1956361"/>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6" name="文本框 38">
            <a:extLst>
              <a:ext uri="{FF2B5EF4-FFF2-40B4-BE49-F238E27FC236}">
                <a16:creationId xmlns:a16="http://schemas.microsoft.com/office/drawing/2014/main" id="{1031D1B0-E2B7-1745-AB60-50AA26BD1CD4}"/>
              </a:ext>
            </a:extLst>
          </p:cNvPr>
          <p:cNvSpPr txBox="1">
            <a:spLocks noChangeArrowheads="1"/>
          </p:cNvSpPr>
          <p:nvPr/>
        </p:nvSpPr>
        <p:spPr bwMode="auto">
          <a:xfrm>
            <a:off x="2090250" y="3863714"/>
            <a:ext cx="8574639"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chemeClr val="accent1"/>
                </a:solidFill>
              </a:rPr>
              <a:t>mysql&gt; SELECT * FROM goods WHERE name LIKE '</a:t>
            </a:r>
            <a:r>
              <a:rPr lang="zh-CN" altLang="en-US" sz="1600" dirty="0">
                <a:solidFill>
                  <a:schemeClr val="accent1"/>
                </a:solidFill>
              </a:rPr>
              <a:t>西</a:t>
            </a:r>
            <a:r>
              <a:rPr lang="en-US" altLang="zh-CN" sz="1600" dirty="0">
                <a:solidFill>
                  <a:schemeClr val="accent1"/>
                </a:solidFill>
              </a:rPr>
              <a:t>__';</a:t>
            </a:r>
          </a:p>
          <a:p>
            <a:pPr eaLnBrk="1" hangingPunct="1"/>
            <a:r>
              <a:rPr lang="en-US" altLang="zh-CN" sz="1600" dirty="0">
                <a:solidFill>
                  <a:schemeClr val="accent1"/>
                </a:solidFill>
              </a:rPr>
              <a:t>+----+--------+-------------+----------+----------+-----------------------------+</a:t>
            </a:r>
          </a:p>
          <a:p>
            <a:pPr eaLnBrk="1" hangingPunct="1"/>
            <a:r>
              <a:rPr lang="en-US" altLang="zh-CN" sz="1600" dirty="0">
                <a:solidFill>
                  <a:schemeClr val="accent1"/>
                </a:solidFill>
              </a:rPr>
              <a:t>| id   | type   | name	    | price	  | num	| add_time   	     |</a:t>
            </a:r>
          </a:p>
          <a:p>
            <a:pPr eaLnBrk="1" hangingPunct="1"/>
            <a:r>
              <a:rPr lang="en-US" altLang="zh-CN" sz="1600" dirty="0">
                <a:solidFill>
                  <a:schemeClr val="accent1"/>
                </a:solidFill>
              </a:rPr>
              <a:t>+----+--------+-------------+----------+----------+-----------------------------+</a:t>
            </a:r>
          </a:p>
          <a:p>
            <a:pPr eaLnBrk="1" hangingPunct="1"/>
            <a:r>
              <a:rPr lang="en-US" altLang="zh-CN" sz="1600" dirty="0">
                <a:solidFill>
                  <a:schemeClr val="accent1"/>
                </a:solidFill>
              </a:rPr>
              <a:t>|  1   | </a:t>
            </a:r>
            <a:r>
              <a:rPr lang="zh-CN" altLang="en-US" sz="1600" dirty="0">
                <a:solidFill>
                  <a:schemeClr val="accent1"/>
                </a:solidFill>
              </a:rPr>
              <a:t>书籍  </a:t>
            </a:r>
            <a:r>
              <a:rPr lang="en-US" altLang="zh-CN" sz="1600" dirty="0">
                <a:solidFill>
                  <a:schemeClr val="accent1"/>
                </a:solidFill>
              </a:rPr>
              <a:t>| </a:t>
            </a:r>
            <a:r>
              <a:rPr lang="zh-CN" altLang="en-US" sz="1600" dirty="0">
                <a:solidFill>
                  <a:schemeClr val="accent1"/>
                </a:solidFill>
              </a:rPr>
              <a:t>西游记	    </a:t>
            </a:r>
            <a:r>
              <a:rPr lang="en-US" altLang="zh-CN" sz="1600" dirty="0">
                <a:solidFill>
                  <a:schemeClr val="accent1"/>
                </a:solidFill>
              </a:rPr>
              <a:t>| 50.40	  |   20	| 2018-01-01 13:40:40  |</a:t>
            </a:r>
          </a:p>
          <a:p>
            <a:pPr eaLnBrk="1" hangingPunct="1"/>
            <a:r>
              <a:rPr lang="en-US" altLang="zh-CN" sz="1600" dirty="0">
                <a:solidFill>
                  <a:schemeClr val="accent1"/>
                </a:solidFill>
              </a:rPr>
              <a:t>+----+--------+-------------+----------+----------+-----------------------------+</a:t>
            </a:r>
          </a:p>
          <a:p>
            <a:pPr eaLnBrk="1" hangingPunct="1"/>
            <a:r>
              <a:rPr lang="en-US" altLang="zh-CN" sz="1600" dirty="0">
                <a:solidFill>
                  <a:schemeClr val="accent1"/>
                </a:solidFill>
              </a:rPr>
              <a:t>1 row in set (0.00 sec)</a:t>
            </a:r>
          </a:p>
        </p:txBody>
      </p:sp>
      <p:sp>
        <p:nvSpPr>
          <p:cNvPr id="17" name="文本框 10">
            <a:extLst>
              <a:ext uri="{FF2B5EF4-FFF2-40B4-BE49-F238E27FC236}">
                <a16:creationId xmlns:a16="http://schemas.microsoft.com/office/drawing/2014/main" id="{F58510E1-E0E5-6D47-AE91-5C8C794203E1}"/>
              </a:ext>
            </a:extLst>
          </p:cNvPr>
          <p:cNvSpPr txBox="1">
            <a:spLocks noChangeArrowheads="1"/>
          </p:cNvSpPr>
          <p:nvPr/>
        </p:nvSpPr>
        <p:spPr bwMode="auto">
          <a:xfrm>
            <a:off x="311465" y="5709554"/>
            <a:ext cx="11033380" cy="45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noProof="1">
                <a:solidFill>
                  <a:srgbClr val="44546A"/>
                </a:solidFill>
                <a:latin typeface="微软雅黑" panose="020B0503020204020204" pitchFamily="34" charset="-122"/>
              </a:rPr>
              <a:t>如果要查询</a:t>
            </a:r>
            <a:r>
              <a:rPr lang="en-US" altLang="zh-CN" noProof="1">
                <a:solidFill>
                  <a:srgbClr val="44546A"/>
                </a:solidFill>
                <a:latin typeface="微软雅黑" panose="020B0503020204020204" pitchFamily="34" charset="-122"/>
              </a:rPr>
              <a:t>goods</a:t>
            </a:r>
            <a:r>
              <a:rPr lang="zh-CN" altLang="en-US" noProof="1">
                <a:solidFill>
                  <a:srgbClr val="44546A"/>
                </a:solidFill>
                <a:latin typeface="微软雅黑" panose="020B0503020204020204" pitchFamily="34" charset="-122"/>
              </a:rPr>
              <a:t>表中</a:t>
            </a:r>
            <a:r>
              <a:rPr lang="en-US" altLang="zh-CN" noProof="1">
                <a:solidFill>
                  <a:srgbClr val="44546A"/>
                </a:solidFill>
                <a:latin typeface="微软雅黑" panose="020B0503020204020204" pitchFamily="34" charset="-122"/>
              </a:rPr>
              <a:t>name</a:t>
            </a:r>
            <a:r>
              <a:rPr lang="zh-CN" altLang="en-US" noProof="1">
                <a:solidFill>
                  <a:srgbClr val="44546A"/>
                </a:solidFill>
                <a:latin typeface="微软雅黑" panose="020B0503020204020204" pitchFamily="34" charset="-122"/>
              </a:rPr>
              <a:t>值以“西”开头，“西”后有一个字符的记录，则执行以下语句即可。</a:t>
            </a:r>
            <a:endParaRPr lang="zh-CN" altLang="en-US" dirty="0">
              <a:solidFill>
                <a:srgbClr val="44546A"/>
              </a:solidFill>
              <a:latin typeface="微软雅黑" panose="020B0503020204020204" pitchFamily="34" charset="-122"/>
            </a:endParaRPr>
          </a:p>
        </p:txBody>
      </p:sp>
      <p:sp>
        <p:nvSpPr>
          <p:cNvPr id="18" name="矩形 17">
            <a:extLst>
              <a:ext uri="{FF2B5EF4-FFF2-40B4-BE49-F238E27FC236}">
                <a16:creationId xmlns:a16="http://schemas.microsoft.com/office/drawing/2014/main" id="{B4B0819C-45E1-181F-FE2A-240AFD07A4AE}"/>
              </a:ext>
            </a:extLst>
          </p:cNvPr>
          <p:cNvSpPr/>
          <p:nvPr/>
        </p:nvSpPr>
        <p:spPr>
          <a:xfrm>
            <a:off x="859207" y="6230563"/>
            <a:ext cx="10052154" cy="415528"/>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9" name="文本框 38">
            <a:extLst>
              <a:ext uri="{FF2B5EF4-FFF2-40B4-BE49-F238E27FC236}">
                <a16:creationId xmlns:a16="http://schemas.microsoft.com/office/drawing/2014/main" id="{6BE29C7E-75FE-9DC3-8A14-19F173193CA4}"/>
              </a:ext>
            </a:extLst>
          </p:cNvPr>
          <p:cNvSpPr txBox="1">
            <a:spLocks noChangeArrowheads="1"/>
          </p:cNvSpPr>
          <p:nvPr/>
        </p:nvSpPr>
        <p:spPr bwMode="auto">
          <a:xfrm>
            <a:off x="1887103" y="6214495"/>
            <a:ext cx="6968444" cy="381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1"/>
                </a:solidFill>
              </a:rPr>
              <a:t>SELECT * FROM goods WHERE name LIKE '</a:t>
            </a:r>
            <a:r>
              <a:rPr lang="zh-CN" altLang="en-US" sz="1600" dirty="0">
                <a:solidFill>
                  <a:schemeClr val="accent1"/>
                </a:solidFill>
              </a:rPr>
              <a:t>西</a:t>
            </a:r>
            <a:r>
              <a:rPr lang="en-US" altLang="zh-CN" sz="1600" dirty="0">
                <a:solidFill>
                  <a:schemeClr val="accent1"/>
                </a:solidFill>
              </a:rPr>
              <a:t>_';</a:t>
            </a:r>
          </a:p>
        </p:txBody>
      </p:sp>
    </p:spTree>
    <p:extLst>
      <p:ext uri="{BB962C8B-B14F-4D97-AF65-F5344CB8AC3E}">
        <p14:creationId xmlns:p14="http://schemas.microsoft.com/office/powerpoint/2010/main" val="36770757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42"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500"/>
                                        <p:tgtEl>
                                          <p:spTgt spid="1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10" grpId="0"/>
      <p:bldP spid="14" grpId="0"/>
      <p:bldP spid="15" grpId="0" animBg="1"/>
      <p:bldP spid="16" grpId="0"/>
      <p:bldP spid="17" grpId="0"/>
      <p:bldP spid="18" grpId="0" animBg="1"/>
      <p:bldP spid="1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排序查询</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10">
            <a:extLst>
              <a:ext uri="{FF2B5EF4-FFF2-40B4-BE49-F238E27FC236}">
                <a16:creationId xmlns:a16="http://schemas.microsoft.com/office/drawing/2014/main" id="{F3BA49D8-98C1-2281-F1C4-0ED0EE7ED142}"/>
              </a:ext>
            </a:extLst>
          </p:cNvPr>
          <p:cNvSpPr txBox="1">
            <a:spLocks noChangeArrowheads="1"/>
          </p:cNvSpPr>
          <p:nvPr/>
        </p:nvSpPr>
        <p:spPr bwMode="auto">
          <a:xfrm>
            <a:off x="579310" y="679112"/>
            <a:ext cx="11033380"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noProof="1">
                <a:solidFill>
                  <a:srgbClr val="44546A"/>
                </a:solidFill>
                <a:latin typeface="微软雅黑" panose="020B0503020204020204" pitchFamily="34" charset="-122"/>
              </a:rPr>
              <a:t>使用前面的方法查询到的结果是按照记录在表中的默认顺序进行排列的。如果需要将查询结果按照指定的顺序排列，可以使用</a:t>
            </a:r>
            <a:r>
              <a:rPr lang="en-US" altLang="zh-CN" b="1" noProof="1">
                <a:solidFill>
                  <a:srgbClr val="44546A"/>
                </a:solidFill>
                <a:latin typeface="微软雅黑" panose="020B0503020204020204" pitchFamily="34" charset="-122"/>
              </a:rPr>
              <a:t>ORDER BY</a:t>
            </a:r>
            <a:r>
              <a:rPr lang="zh-CN" altLang="en-US" b="1" noProof="1">
                <a:solidFill>
                  <a:srgbClr val="44546A"/>
                </a:solidFill>
                <a:latin typeface="微软雅黑" panose="020B0503020204020204" pitchFamily="34" charset="-122"/>
              </a:rPr>
              <a:t>关键字</a:t>
            </a:r>
            <a:r>
              <a:rPr lang="zh-CN" altLang="en-US" noProof="1">
                <a:solidFill>
                  <a:srgbClr val="44546A"/>
                </a:solidFill>
                <a:latin typeface="微软雅黑" panose="020B0503020204020204" pitchFamily="34" charset="-122"/>
              </a:rPr>
              <a:t>。语法形式如下：</a:t>
            </a:r>
            <a:endParaRPr lang="zh-CN" altLang="en-US" dirty="0">
              <a:solidFill>
                <a:srgbClr val="44546A"/>
              </a:solidFill>
              <a:latin typeface="微软雅黑" panose="020B0503020204020204" pitchFamily="34" charset="-122"/>
            </a:endParaRPr>
          </a:p>
        </p:txBody>
      </p:sp>
      <p:sp>
        <p:nvSpPr>
          <p:cNvPr id="4" name="矩形 3">
            <a:extLst>
              <a:ext uri="{FF2B5EF4-FFF2-40B4-BE49-F238E27FC236}">
                <a16:creationId xmlns:a16="http://schemas.microsoft.com/office/drawing/2014/main" id="{363934BE-A5F7-404B-DD6B-06189BEB3332}"/>
              </a:ext>
            </a:extLst>
          </p:cNvPr>
          <p:cNvSpPr/>
          <p:nvPr/>
        </p:nvSpPr>
        <p:spPr>
          <a:xfrm>
            <a:off x="1140291" y="1611337"/>
            <a:ext cx="10052154" cy="510262"/>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5" name="文本框 38">
            <a:extLst>
              <a:ext uri="{FF2B5EF4-FFF2-40B4-BE49-F238E27FC236}">
                <a16:creationId xmlns:a16="http://schemas.microsoft.com/office/drawing/2014/main" id="{DAA3C698-3BBD-C7C3-FF02-6F970BC0127B}"/>
              </a:ext>
            </a:extLst>
          </p:cNvPr>
          <p:cNvSpPr txBox="1">
            <a:spLocks noChangeArrowheads="1"/>
          </p:cNvSpPr>
          <p:nvPr/>
        </p:nvSpPr>
        <p:spPr bwMode="auto">
          <a:xfrm>
            <a:off x="2168187" y="1651255"/>
            <a:ext cx="8459380" cy="3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1"/>
                </a:solidFill>
              </a:rPr>
              <a:t>SELECT {*|col_list} FROM table_name ORDER BY col_namea [ASC|DESC];</a:t>
            </a:r>
          </a:p>
        </p:txBody>
      </p:sp>
      <p:sp>
        <p:nvSpPr>
          <p:cNvPr id="6" name="文本框 3">
            <a:extLst>
              <a:ext uri="{FF2B5EF4-FFF2-40B4-BE49-F238E27FC236}">
                <a16:creationId xmlns:a16="http://schemas.microsoft.com/office/drawing/2014/main" id="{E8743A5A-54ED-9295-BD64-68C0D3D886DA}"/>
              </a:ext>
            </a:extLst>
          </p:cNvPr>
          <p:cNvSpPr txBox="1">
            <a:spLocks noChangeArrowheads="1"/>
          </p:cNvSpPr>
          <p:nvPr/>
        </p:nvSpPr>
        <p:spPr bwMode="auto">
          <a:xfrm>
            <a:off x="1882586" y="2231008"/>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dirty="0">
                <a:solidFill>
                  <a:srgbClr val="44546A"/>
                </a:solidFill>
                <a:latin typeface="微软雅黑" panose="020B0503020204020204" pitchFamily="34" charset="-122"/>
              </a:rPr>
              <a:t>单字段排序</a:t>
            </a:r>
            <a:endParaRPr lang="zh-CN" altLang="en-US" noProof="1">
              <a:solidFill>
                <a:srgbClr val="44546A"/>
              </a:solidFill>
              <a:latin typeface="微软雅黑" panose="020B0503020204020204" pitchFamily="34" charset="-122"/>
            </a:endParaRPr>
          </a:p>
        </p:txBody>
      </p:sp>
      <p:grpSp>
        <p:nvGrpSpPr>
          <p:cNvPr id="7" name="组合 6">
            <a:extLst>
              <a:ext uri="{FF2B5EF4-FFF2-40B4-BE49-F238E27FC236}">
                <a16:creationId xmlns:a16="http://schemas.microsoft.com/office/drawing/2014/main" id="{679E3ABF-FBA0-AA80-513B-FB22040ECFB0}"/>
              </a:ext>
            </a:extLst>
          </p:cNvPr>
          <p:cNvGrpSpPr/>
          <p:nvPr/>
        </p:nvGrpSpPr>
        <p:grpSpPr>
          <a:xfrm>
            <a:off x="879286" y="2115703"/>
            <a:ext cx="1003300" cy="722312"/>
            <a:chOff x="877888" y="1586140"/>
            <a:chExt cx="1003300" cy="722312"/>
          </a:xfrm>
        </p:grpSpPr>
        <p:sp>
          <p:nvSpPr>
            <p:cNvPr id="8" name="íṩľíḍè-Freeform: Shape 9">
              <a:extLst>
                <a:ext uri="{FF2B5EF4-FFF2-40B4-BE49-F238E27FC236}">
                  <a16:creationId xmlns:a16="http://schemas.microsoft.com/office/drawing/2014/main" id="{03BB24EF-8D46-9973-0FAD-161D7C6E49C2}"/>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 name="íṩľíḍè-Oval 10">
              <a:extLst>
                <a:ext uri="{FF2B5EF4-FFF2-40B4-BE49-F238E27FC236}">
                  <a16:creationId xmlns:a16="http://schemas.microsoft.com/office/drawing/2014/main" id="{B7F0C6CA-6984-C1D3-A1CA-F31BB6E34079}"/>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1</a:t>
              </a:r>
            </a:p>
          </p:txBody>
        </p:sp>
      </p:grpSp>
      <p:sp>
        <p:nvSpPr>
          <p:cNvPr id="10" name="矩形 9">
            <a:extLst>
              <a:ext uri="{FF2B5EF4-FFF2-40B4-BE49-F238E27FC236}">
                <a16:creationId xmlns:a16="http://schemas.microsoft.com/office/drawing/2014/main" id="{A15C7540-1826-52EA-8099-4B7F5C7E7554}"/>
              </a:ext>
            </a:extLst>
          </p:cNvPr>
          <p:cNvSpPr/>
          <p:nvPr/>
        </p:nvSpPr>
        <p:spPr>
          <a:xfrm>
            <a:off x="847867" y="2858674"/>
            <a:ext cx="7622600" cy="418191"/>
          </a:xfrm>
          <a:prstGeom prst="rect">
            <a:avLst/>
          </a:prstGeom>
        </p:spPr>
        <p:txBody>
          <a:bodyPr wrap="none">
            <a:spAutoFit/>
          </a:bodyPr>
          <a:lstStyle/>
          <a:p>
            <a:pPr indent="457200" algn="just">
              <a:lnSpc>
                <a:spcPct val="150000"/>
              </a:lnSpc>
            </a:pPr>
            <a:r>
              <a:rPr lang="zh-CN" altLang="zh-CN" sz="1600" dirty="0">
                <a:solidFill>
                  <a:srgbClr val="44546A"/>
                </a:solidFill>
                <a:latin typeface="微软雅黑" panose="020B0503020204020204" pitchFamily="34" charset="-122"/>
                <a:ea typeface="微软雅黑" pitchFamily="34" charset="-122"/>
              </a:rPr>
              <a:t>在排序之前最好将有空值的记录补充完整，否则，空值记录将被排在最前面。</a:t>
            </a:r>
            <a:endParaRPr lang="zh-CN" altLang="en-US" sz="1600" dirty="0">
              <a:solidFill>
                <a:srgbClr val="44546A"/>
              </a:solidFill>
              <a:latin typeface="微软雅黑" panose="020B0503020204020204" pitchFamily="34" charset="-122"/>
              <a:ea typeface="微软雅黑" pitchFamily="34" charset="-122"/>
            </a:endParaRPr>
          </a:p>
        </p:txBody>
      </p:sp>
      <p:grpSp>
        <p:nvGrpSpPr>
          <p:cNvPr id="11" name="组合 34">
            <a:extLst>
              <a:ext uri="{FF2B5EF4-FFF2-40B4-BE49-F238E27FC236}">
                <a16:creationId xmlns:a16="http://schemas.microsoft.com/office/drawing/2014/main" id="{13A9B248-E12E-DB10-D40A-9ADB65851A30}"/>
              </a:ext>
            </a:extLst>
          </p:cNvPr>
          <p:cNvGrpSpPr/>
          <p:nvPr/>
        </p:nvGrpSpPr>
        <p:grpSpPr>
          <a:xfrm>
            <a:off x="838200" y="3211094"/>
            <a:ext cx="2183765" cy="600710"/>
            <a:chOff x="1320" y="4641"/>
            <a:chExt cx="3439" cy="946"/>
          </a:xfrm>
          <a:solidFill>
            <a:schemeClr val="accent6"/>
          </a:solidFill>
        </p:grpSpPr>
        <p:sp>
          <p:nvSpPr>
            <p:cNvPr id="12" name="椭圆 11">
              <a:extLst>
                <a:ext uri="{FF2B5EF4-FFF2-40B4-BE49-F238E27FC236}">
                  <a16:creationId xmlns:a16="http://schemas.microsoft.com/office/drawing/2014/main" id="{1F3A070D-5475-83C3-1A76-8F7126946DF4}"/>
                </a:ext>
              </a:extLst>
            </p:cNvPr>
            <p:cNvSpPr/>
            <p:nvPr/>
          </p:nvSpPr>
          <p:spPr>
            <a:xfrm>
              <a:off x="1320" y="4641"/>
              <a:ext cx="946" cy="946"/>
            </a:xfrm>
            <a:prstGeom prst="ellipse">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3" name="圆角矩形 11">
              <a:extLst>
                <a:ext uri="{FF2B5EF4-FFF2-40B4-BE49-F238E27FC236}">
                  <a16:creationId xmlns:a16="http://schemas.microsoft.com/office/drawing/2014/main" id="{9EB38EC4-025E-CA65-704F-A6FE3077E9FE}"/>
                </a:ext>
              </a:extLst>
            </p:cNvPr>
            <p:cNvSpPr/>
            <p:nvPr/>
          </p:nvSpPr>
          <p:spPr>
            <a:xfrm>
              <a:off x="1673" y="4793"/>
              <a:ext cx="3086" cy="643"/>
            </a:xfrm>
            <a:prstGeom prst="roundRect">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20</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4" name="文本框 36">
            <a:extLst>
              <a:ext uri="{FF2B5EF4-FFF2-40B4-BE49-F238E27FC236}">
                <a16:creationId xmlns:a16="http://schemas.microsoft.com/office/drawing/2014/main" id="{F0D9FF70-F58E-04FD-F2CD-3624F55C9281}"/>
              </a:ext>
            </a:extLst>
          </p:cNvPr>
          <p:cNvSpPr txBox="1">
            <a:spLocks noChangeArrowheads="1"/>
          </p:cNvSpPr>
          <p:nvPr/>
        </p:nvSpPr>
        <p:spPr bwMode="auto">
          <a:xfrm>
            <a:off x="3166220" y="3150573"/>
            <a:ext cx="7778588" cy="787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ct val="150000"/>
              </a:lnSpc>
            </a:pPr>
            <a:r>
              <a:rPr lang="zh-CN" altLang="en-US" sz="1600" dirty="0">
                <a:solidFill>
                  <a:srgbClr val="44546A"/>
                </a:solidFill>
                <a:latin typeface="微软雅黑" panose="020B0503020204020204" pitchFamily="34" charset="-122"/>
              </a:rPr>
              <a:t>执行</a:t>
            </a:r>
            <a:r>
              <a:rPr lang="en-US" altLang="zh-CN" sz="1600" dirty="0">
                <a:solidFill>
                  <a:srgbClr val="44546A"/>
                </a:solidFill>
                <a:latin typeface="微软雅黑" panose="020B0503020204020204" pitchFamily="34" charset="-122"/>
              </a:rPr>
              <a:t>SQL</a:t>
            </a:r>
            <a:r>
              <a:rPr lang="zh-CN" altLang="en-US" sz="1600" dirty="0">
                <a:solidFill>
                  <a:srgbClr val="44546A"/>
                </a:solidFill>
                <a:latin typeface="微软雅黑" panose="020B0503020204020204" pitchFamily="34" charset="-122"/>
              </a:rPr>
              <a:t>语句，查询</a:t>
            </a:r>
            <a:r>
              <a:rPr lang="en-US" altLang="zh-CN" sz="1600" dirty="0">
                <a:solidFill>
                  <a:srgbClr val="44546A"/>
                </a:solidFill>
                <a:latin typeface="微软雅黑" panose="020B0503020204020204" pitchFamily="34" charset="-122"/>
              </a:rPr>
              <a:t>goods</a:t>
            </a:r>
            <a:r>
              <a:rPr lang="zh-CN" altLang="en-US" sz="1600" dirty="0">
                <a:solidFill>
                  <a:srgbClr val="44546A"/>
                </a:solidFill>
                <a:latin typeface="微软雅黑" panose="020B0503020204020204" pitchFamily="34" charset="-122"/>
              </a:rPr>
              <a:t>表中</a:t>
            </a:r>
            <a:r>
              <a:rPr lang="en-US" altLang="zh-CN" sz="1600" dirty="0">
                <a:solidFill>
                  <a:srgbClr val="44546A"/>
                </a:solidFill>
                <a:latin typeface="微软雅黑" panose="020B0503020204020204" pitchFamily="34" charset="-122"/>
              </a:rPr>
              <a:t>id</a:t>
            </a:r>
            <a:r>
              <a:rPr lang="zh-CN" altLang="en-US" sz="1600" dirty="0">
                <a:solidFill>
                  <a:srgbClr val="44546A"/>
                </a:solidFill>
                <a:latin typeface="微软雅黑" panose="020B0503020204020204" pitchFamily="34" charset="-122"/>
              </a:rPr>
              <a:t>、</a:t>
            </a:r>
            <a:r>
              <a:rPr lang="en-US" altLang="zh-CN" sz="1600" dirty="0">
                <a:solidFill>
                  <a:srgbClr val="44546A"/>
                </a:solidFill>
                <a:latin typeface="微软雅黑" panose="020B0503020204020204" pitchFamily="34" charset="-122"/>
              </a:rPr>
              <a:t>name</a:t>
            </a:r>
            <a:r>
              <a:rPr lang="zh-CN" altLang="en-US" sz="1600" dirty="0">
                <a:solidFill>
                  <a:srgbClr val="44546A"/>
                </a:solidFill>
                <a:latin typeface="微软雅黑" panose="020B0503020204020204" pitchFamily="34" charset="-122"/>
              </a:rPr>
              <a:t>和</a:t>
            </a:r>
            <a:r>
              <a:rPr lang="en-US" altLang="zh-CN" sz="1600" dirty="0">
                <a:solidFill>
                  <a:srgbClr val="44546A"/>
                </a:solidFill>
                <a:latin typeface="微软雅黑" panose="020B0503020204020204" pitchFamily="34" charset="-122"/>
              </a:rPr>
              <a:t>add_time</a:t>
            </a:r>
            <a:r>
              <a:rPr lang="zh-CN" altLang="en-US" sz="1600" dirty="0">
                <a:solidFill>
                  <a:srgbClr val="44546A"/>
                </a:solidFill>
                <a:latin typeface="微软雅黑" panose="020B0503020204020204" pitchFamily="34" charset="-122"/>
              </a:rPr>
              <a:t>字段的数据，并按照</a:t>
            </a:r>
            <a:r>
              <a:rPr lang="en-US" altLang="zh-CN" sz="1600" dirty="0">
                <a:solidFill>
                  <a:srgbClr val="44546A"/>
                </a:solidFill>
                <a:latin typeface="微软雅黑" panose="020B0503020204020204" pitchFamily="34" charset="-122"/>
              </a:rPr>
              <a:t>add_time</a:t>
            </a:r>
            <a:r>
              <a:rPr lang="zh-CN" altLang="en-US" sz="1600" dirty="0">
                <a:solidFill>
                  <a:srgbClr val="44546A"/>
                </a:solidFill>
                <a:latin typeface="微软雅黑" panose="020B0503020204020204" pitchFamily="34" charset="-122"/>
              </a:rPr>
              <a:t>字段值进行排序，结果如下：</a:t>
            </a:r>
          </a:p>
        </p:txBody>
      </p:sp>
      <p:sp>
        <p:nvSpPr>
          <p:cNvPr id="15" name="矩形 14">
            <a:extLst>
              <a:ext uri="{FF2B5EF4-FFF2-40B4-BE49-F238E27FC236}">
                <a16:creationId xmlns:a16="http://schemas.microsoft.com/office/drawing/2014/main" id="{D2600F2B-E7D7-8E7B-110C-416D401974A1}"/>
              </a:ext>
            </a:extLst>
          </p:cNvPr>
          <p:cNvSpPr/>
          <p:nvPr/>
        </p:nvSpPr>
        <p:spPr>
          <a:xfrm>
            <a:off x="1062355" y="3897501"/>
            <a:ext cx="9882453" cy="2796115"/>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6" name="文本框 38">
            <a:extLst>
              <a:ext uri="{FF2B5EF4-FFF2-40B4-BE49-F238E27FC236}">
                <a16:creationId xmlns:a16="http://schemas.microsoft.com/office/drawing/2014/main" id="{58FAA546-2B6F-CA7F-119D-0ACD510ABA2F}"/>
              </a:ext>
            </a:extLst>
          </p:cNvPr>
          <p:cNvSpPr txBox="1">
            <a:spLocks noChangeArrowheads="1"/>
          </p:cNvSpPr>
          <p:nvPr/>
        </p:nvSpPr>
        <p:spPr bwMode="auto">
          <a:xfrm>
            <a:off x="2090250" y="3890764"/>
            <a:ext cx="8574639"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chemeClr val="accent1"/>
                </a:solidFill>
              </a:rPr>
              <a:t>mysql&gt; SELECT </a:t>
            </a:r>
            <a:r>
              <a:rPr lang="en-US" altLang="zh-CN" sz="1600" dirty="0" err="1">
                <a:solidFill>
                  <a:schemeClr val="accent1"/>
                </a:solidFill>
              </a:rPr>
              <a:t>id,name,add_time</a:t>
            </a:r>
            <a:r>
              <a:rPr lang="en-US" altLang="zh-CN" sz="1600" dirty="0">
                <a:solidFill>
                  <a:schemeClr val="accent1"/>
                </a:solidFill>
              </a:rPr>
              <a:t> FROM goods ORDER BY add_time;</a:t>
            </a:r>
          </a:p>
          <a:p>
            <a:pPr eaLnBrk="1" hangingPunct="1"/>
            <a:r>
              <a:rPr lang="en-US" altLang="zh-CN" sz="1600" dirty="0">
                <a:solidFill>
                  <a:schemeClr val="accent1"/>
                </a:solidFill>
              </a:rPr>
              <a:t>+----+--------------+-------------------------------+</a:t>
            </a:r>
          </a:p>
          <a:p>
            <a:pPr eaLnBrk="1" hangingPunct="1"/>
            <a:r>
              <a:rPr lang="en-US" altLang="zh-CN" sz="1600" dirty="0">
                <a:solidFill>
                  <a:schemeClr val="accent1"/>
                </a:solidFill>
              </a:rPr>
              <a:t>| id   | name       | add_time		|</a:t>
            </a:r>
          </a:p>
          <a:p>
            <a:pPr eaLnBrk="1" hangingPunct="1"/>
            <a:r>
              <a:rPr lang="en-US" altLang="zh-CN" sz="1600" dirty="0">
                <a:solidFill>
                  <a:schemeClr val="accent1"/>
                </a:solidFill>
              </a:rPr>
              <a:t>+----+--------------+-------------------------------+</a:t>
            </a:r>
          </a:p>
          <a:p>
            <a:pPr eaLnBrk="1" hangingPunct="1"/>
            <a:r>
              <a:rPr lang="en-US" altLang="zh-CN" sz="1600" dirty="0">
                <a:solidFill>
                  <a:schemeClr val="accent1"/>
                </a:solidFill>
              </a:rPr>
              <a:t>|  1   | </a:t>
            </a:r>
            <a:r>
              <a:rPr lang="zh-CN" altLang="en-US" sz="1600" dirty="0">
                <a:solidFill>
                  <a:schemeClr val="accent1"/>
                </a:solidFill>
              </a:rPr>
              <a:t>西游记     </a:t>
            </a:r>
            <a:r>
              <a:rPr lang="en-US" altLang="zh-CN" sz="1600" dirty="0">
                <a:solidFill>
                  <a:schemeClr val="accent1"/>
                </a:solidFill>
              </a:rPr>
              <a:t>| 2018-01-01 13:40:40	|</a:t>
            </a:r>
          </a:p>
          <a:p>
            <a:pPr eaLnBrk="1" hangingPunct="1"/>
            <a:r>
              <a:rPr lang="en-US" altLang="zh-CN" sz="1600" dirty="0">
                <a:solidFill>
                  <a:schemeClr val="accent1"/>
                </a:solidFill>
              </a:rPr>
              <a:t>|  2   | </a:t>
            </a:r>
            <a:r>
              <a:rPr lang="zh-CN" altLang="en-US" sz="1600" dirty="0">
                <a:solidFill>
                  <a:schemeClr val="accent1"/>
                </a:solidFill>
              </a:rPr>
              <a:t>牛奶糖     </a:t>
            </a:r>
            <a:r>
              <a:rPr lang="en-US" altLang="zh-CN" sz="1600" dirty="0">
                <a:solidFill>
                  <a:schemeClr val="accent1"/>
                </a:solidFill>
              </a:rPr>
              <a:t>| 2018-02-02 13:40:40	|</a:t>
            </a:r>
          </a:p>
          <a:p>
            <a:pPr eaLnBrk="1" hangingPunct="1"/>
            <a:r>
              <a:rPr lang="en-US" altLang="zh-CN" sz="1600" dirty="0">
                <a:solidFill>
                  <a:schemeClr val="accent1"/>
                </a:solidFill>
              </a:rPr>
              <a:t>|  4   | </a:t>
            </a:r>
            <a:r>
              <a:rPr lang="zh-CN" altLang="en-US" sz="1600" dirty="0">
                <a:solidFill>
                  <a:schemeClr val="accent1"/>
                </a:solidFill>
              </a:rPr>
              <a:t>休闲西服 </a:t>
            </a:r>
            <a:r>
              <a:rPr lang="en-US" altLang="zh-CN" sz="1600" dirty="0">
                <a:solidFill>
                  <a:schemeClr val="accent1"/>
                </a:solidFill>
              </a:rPr>
              <a:t>| 2018-04-04 13:40:40	|</a:t>
            </a:r>
          </a:p>
          <a:p>
            <a:pPr eaLnBrk="1" hangingPunct="1"/>
            <a:r>
              <a:rPr lang="en-US" altLang="zh-CN" sz="1600" dirty="0">
                <a:solidFill>
                  <a:schemeClr val="accent1"/>
                </a:solidFill>
              </a:rPr>
              <a:t>|  5   | </a:t>
            </a:r>
            <a:r>
              <a:rPr lang="zh-CN" altLang="en-US" sz="1600" dirty="0">
                <a:solidFill>
                  <a:schemeClr val="accent1"/>
                </a:solidFill>
              </a:rPr>
              <a:t>果汁        </a:t>
            </a:r>
            <a:r>
              <a:rPr lang="en-US" altLang="zh-CN" sz="1600" dirty="0">
                <a:solidFill>
                  <a:schemeClr val="accent1"/>
                </a:solidFill>
              </a:rPr>
              <a:t>| 2018-05-05 13:40:40	|</a:t>
            </a:r>
          </a:p>
          <a:p>
            <a:pPr eaLnBrk="1" hangingPunct="1"/>
            <a:r>
              <a:rPr lang="en-US" altLang="zh-CN" sz="1600" dirty="0">
                <a:solidFill>
                  <a:schemeClr val="accent1"/>
                </a:solidFill>
              </a:rPr>
              <a:t>|  3   | </a:t>
            </a:r>
            <a:r>
              <a:rPr lang="zh-CN" altLang="en-US" sz="1600" dirty="0">
                <a:solidFill>
                  <a:schemeClr val="accent1"/>
                </a:solidFill>
              </a:rPr>
              <a:t>水果糖     </a:t>
            </a:r>
            <a:r>
              <a:rPr lang="en-US" altLang="zh-CN" sz="1600" dirty="0">
                <a:solidFill>
                  <a:schemeClr val="accent1"/>
                </a:solidFill>
              </a:rPr>
              <a:t>| 2018-06-09 11:20:55	|</a:t>
            </a:r>
          </a:p>
          <a:p>
            <a:pPr eaLnBrk="1" hangingPunct="1"/>
            <a:r>
              <a:rPr lang="en-US" altLang="zh-CN" sz="1600" dirty="0">
                <a:solidFill>
                  <a:schemeClr val="accent1"/>
                </a:solidFill>
              </a:rPr>
              <a:t>+----+--------------+-------------------------------+</a:t>
            </a:r>
          </a:p>
          <a:p>
            <a:pPr eaLnBrk="1" hangingPunct="1"/>
            <a:r>
              <a:rPr lang="en-US" altLang="zh-CN" sz="1600" dirty="0">
                <a:solidFill>
                  <a:schemeClr val="accent1"/>
                </a:solidFill>
              </a:rPr>
              <a:t>5 rows in set (0.00 sec)</a:t>
            </a:r>
          </a:p>
        </p:txBody>
      </p:sp>
    </p:spTree>
    <p:extLst>
      <p:ext uri="{BB962C8B-B14F-4D97-AF65-F5344CB8AC3E}">
        <p14:creationId xmlns:p14="http://schemas.microsoft.com/office/powerpoint/2010/main" val="34260149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42"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down)">
                                      <p:cBhvr>
                                        <p:cTn id="40" dur="500"/>
                                        <p:tgtEl>
                                          <p:spTgt spid="11"/>
                                        </p:tgtEl>
                                      </p:cBhvr>
                                    </p:animEffect>
                                  </p:childTnLst>
                                </p:cTn>
                              </p:par>
                            </p:childTnLst>
                          </p:cTn>
                        </p:par>
                        <p:par>
                          <p:cTn id="41" fill="hold">
                            <p:stCondLst>
                              <p:cond delay="500"/>
                            </p:stCondLst>
                            <p:childTnLst>
                              <p:par>
                                <p:cTn id="42" presetID="22" presetClass="entr" presetSubtype="4"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down)">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10" grpId="0"/>
      <p:bldP spid="14" grpId="0"/>
      <p:bldP spid="15" grpId="0" animBg="1"/>
      <p:bldP spid="1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排序查询</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3">
            <a:extLst>
              <a:ext uri="{FF2B5EF4-FFF2-40B4-BE49-F238E27FC236}">
                <a16:creationId xmlns:a16="http://schemas.microsoft.com/office/drawing/2014/main" id="{32FEFF3D-008C-B410-4212-505C9B939520}"/>
              </a:ext>
            </a:extLst>
          </p:cNvPr>
          <p:cNvSpPr txBox="1">
            <a:spLocks noChangeArrowheads="1"/>
          </p:cNvSpPr>
          <p:nvPr/>
        </p:nvSpPr>
        <p:spPr bwMode="auto">
          <a:xfrm>
            <a:off x="1923672" y="1150168"/>
            <a:ext cx="9271000" cy="45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dirty="0">
                <a:solidFill>
                  <a:srgbClr val="44546A"/>
                </a:solidFill>
                <a:latin typeface="微软雅黑" panose="020B0503020204020204" pitchFamily="34" charset="-122"/>
              </a:rPr>
              <a:t>多字段排序</a:t>
            </a:r>
            <a:endParaRPr lang="zh-CN" altLang="en-US" noProof="1">
              <a:solidFill>
                <a:srgbClr val="44546A"/>
              </a:solidFill>
              <a:latin typeface="微软雅黑" panose="020B0503020204020204" pitchFamily="34" charset="-122"/>
            </a:endParaRPr>
          </a:p>
        </p:txBody>
      </p:sp>
      <p:grpSp>
        <p:nvGrpSpPr>
          <p:cNvPr id="4" name="组合 3">
            <a:extLst>
              <a:ext uri="{FF2B5EF4-FFF2-40B4-BE49-F238E27FC236}">
                <a16:creationId xmlns:a16="http://schemas.microsoft.com/office/drawing/2014/main" id="{BF11E071-2AD1-D6F2-E58C-9324E405605E}"/>
              </a:ext>
            </a:extLst>
          </p:cNvPr>
          <p:cNvGrpSpPr/>
          <p:nvPr/>
        </p:nvGrpSpPr>
        <p:grpSpPr>
          <a:xfrm>
            <a:off x="920372" y="1034863"/>
            <a:ext cx="1003300" cy="722312"/>
            <a:chOff x="877888" y="1586140"/>
            <a:chExt cx="1003300" cy="722312"/>
          </a:xfrm>
        </p:grpSpPr>
        <p:sp>
          <p:nvSpPr>
            <p:cNvPr id="5" name="íṩľíḍè-Freeform: Shape 9">
              <a:extLst>
                <a:ext uri="{FF2B5EF4-FFF2-40B4-BE49-F238E27FC236}">
                  <a16:creationId xmlns:a16="http://schemas.microsoft.com/office/drawing/2014/main" id="{E6C15EDA-4A2B-6935-AC5F-5A076E025630}"/>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íṩľíḍè-Oval 10">
              <a:extLst>
                <a:ext uri="{FF2B5EF4-FFF2-40B4-BE49-F238E27FC236}">
                  <a16:creationId xmlns:a16="http://schemas.microsoft.com/office/drawing/2014/main" id="{500049D3-D135-5C8E-FE32-4DC0A68EE346}"/>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2</a:t>
              </a:r>
            </a:p>
          </p:txBody>
        </p:sp>
      </p:grpSp>
      <p:sp>
        <p:nvSpPr>
          <p:cNvPr id="7" name="矩形 6">
            <a:extLst>
              <a:ext uri="{FF2B5EF4-FFF2-40B4-BE49-F238E27FC236}">
                <a16:creationId xmlns:a16="http://schemas.microsoft.com/office/drawing/2014/main" id="{674A4773-DDBC-4C72-BC83-FDBC35D91E5A}"/>
              </a:ext>
            </a:extLst>
          </p:cNvPr>
          <p:cNvSpPr/>
          <p:nvPr/>
        </p:nvSpPr>
        <p:spPr>
          <a:xfrm>
            <a:off x="824809" y="1671232"/>
            <a:ext cx="11168442" cy="874407"/>
          </a:xfrm>
          <a:prstGeom prst="rect">
            <a:avLst/>
          </a:prstGeom>
        </p:spPr>
        <p:txBody>
          <a:bodyPr wrap="none">
            <a:spAutoFit/>
          </a:bodyPr>
          <a:lstStyle/>
          <a:p>
            <a:pPr indent="457200" algn="just">
              <a:lnSpc>
                <a:spcPct val="150000"/>
              </a:lnSpc>
            </a:pPr>
            <a:r>
              <a:rPr lang="zh-CN" altLang="en-US" dirty="0">
                <a:solidFill>
                  <a:srgbClr val="44546A"/>
                </a:solidFill>
                <a:latin typeface="微软雅黑" panose="020B0503020204020204" pitchFamily="34" charset="-122"/>
                <a:ea typeface="微软雅黑" pitchFamily="34" charset="-122"/>
              </a:rPr>
              <a:t>有些情况下，可能需要使用多个字段作为排序条件对查询结果进行排序。为查看查询结果，此处将第</a:t>
            </a:r>
            <a:r>
              <a:rPr lang="en-US" altLang="zh-CN" dirty="0">
                <a:solidFill>
                  <a:srgbClr val="44546A"/>
                </a:solidFill>
                <a:latin typeface="微软雅黑" panose="020B0503020204020204" pitchFamily="34" charset="-122"/>
                <a:ea typeface="微软雅黑" pitchFamily="34" charset="-122"/>
              </a:rPr>
              <a:t>5</a:t>
            </a:r>
            <a:r>
              <a:rPr lang="zh-CN" altLang="en-US" dirty="0">
                <a:solidFill>
                  <a:srgbClr val="44546A"/>
                </a:solidFill>
                <a:latin typeface="微软雅黑" panose="020B0503020204020204" pitchFamily="34" charset="-122"/>
                <a:ea typeface="微软雅黑" pitchFamily="34" charset="-122"/>
              </a:rPr>
              <a:t>条</a:t>
            </a:r>
            <a:endParaRPr lang="en-US" altLang="zh-CN" dirty="0">
              <a:solidFill>
                <a:srgbClr val="44546A"/>
              </a:solidFill>
              <a:latin typeface="微软雅黑" panose="020B0503020204020204" pitchFamily="34" charset="-122"/>
              <a:ea typeface="微软雅黑" pitchFamily="34" charset="-122"/>
            </a:endParaRPr>
          </a:p>
          <a:p>
            <a:pPr indent="457200" algn="just">
              <a:lnSpc>
                <a:spcPct val="150000"/>
              </a:lnSpc>
            </a:pPr>
            <a:r>
              <a:rPr lang="zh-CN" altLang="en-US" dirty="0">
                <a:solidFill>
                  <a:srgbClr val="44546A"/>
                </a:solidFill>
                <a:latin typeface="微软雅黑" panose="020B0503020204020204" pitchFamily="34" charset="-122"/>
                <a:ea typeface="微软雅黑" pitchFamily="34" charset="-122"/>
              </a:rPr>
              <a:t>记录的</a:t>
            </a:r>
            <a:r>
              <a:rPr lang="en-US" altLang="zh-CN" dirty="0">
                <a:solidFill>
                  <a:srgbClr val="44546A"/>
                </a:solidFill>
                <a:latin typeface="微软雅黑" panose="020B0503020204020204" pitchFamily="34" charset="-122"/>
                <a:ea typeface="微软雅黑" pitchFamily="34" charset="-122"/>
              </a:rPr>
              <a:t>price</a:t>
            </a:r>
            <a:r>
              <a:rPr lang="zh-CN" altLang="en-US" dirty="0">
                <a:solidFill>
                  <a:srgbClr val="44546A"/>
                </a:solidFill>
                <a:latin typeface="微软雅黑" panose="020B0503020204020204" pitchFamily="34" charset="-122"/>
                <a:ea typeface="微软雅黑" pitchFamily="34" charset="-122"/>
              </a:rPr>
              <a:t>值改为</a:t>
            </a:r>
            <a:r>
              <a:rPr lang="en-US" altLang="zh-CN" dirty="0">
                <a:solidFill>
                  <a:srgbClr val="44546A"/>
                </a:solidFill>
                <a:latin typeface="微软雅黑" panose="020B0503020204020204" pitchFamily="34" charset="-122"/>
                <a:ea typeface="微软雅黑" pitchFamily="34" charset="-122"/>
              </a:rPr>
              <a:t>2.5</a:t>
            </a:r>
            <a:r>
              <a:rPr lang="zh-CN" altLang="en-US" dirty="0">
                <a:solidFill>
                  <a:srgbClr val="44546A"/>
                </a:solidFill>
                <a:latin typeface="微软雅黑" panose="020B0503020204020204" pitchFamily="34" charset="-122"/>
                <a:ea typeface="微软雅黑" pitchFamily="34" charset="-122"/>
              </a:rPr>
              <a:t>（与第</a:t>
            </a:r>
            <a:r>
              <a:rPr lang="en-US" altLang="zh-CN" dirty="0">
                <a:solidFill>
                  <a:srgbClr val="44546A"/>
                </a:solidFill>
                <a:latin typeface="微软雅黑" panose="020B0503020204020204" pitchFamily="34" charset="-122"/>
                <a:ea typeface="微软雅黑" pitchFamily="34" charset="-122"/>
              </a:rPr>
              <a:t>3</a:t>
            </a:r>
            <a:r>
              <a:rPr lang="zh-CN" altLang="en-US" dirty="0">
                <a:solidFill>
                  <a:srgbClr val="44546A"/>
                </a:solidFill>
                <a:latin typeface="微软雅黑" panose="020B0503020204020204" pitchFamily="34" charset="-122"/>
                <a:ea typeface="微软雅黑" pitchFamily="34" charset="-122"/>
              </a:rPr>
              <a:t>条记录值相同）。</a:t>
            </a:r>
          </a:p>
        </p:txBody>
      </p:sp>
      <p:grpSp>
        <p:nvGrpSpPr>
          <p:cNvPr id="8" name="组合 34">
            <a:extLst>
              <a:ext uri="{FF2B5EF4-FFF2-40B4-BE49-F238E27FC236}">
                <a16:creationId xmlns:a16="http://schemas.microsoft.com/office/drawing/2014/main" id="{DCB1F2CA-AD4E-40D7-4F3A-36389B1794D9}"/>
              </a:ext>
            </a:extLst>
          </p:cNvPr>
          <p:cNvGrpSpPr/>
          <p:nvPr/>
        </p:nvGrpSpPr>
        <p:grpSpPr>
          <a:xfrm>
            <a:off x="869661" y="2578590"/>
            <a:ext cx="2183765" cy="600710"/>
            <a:chOff x="1320" y="4641"/>
            <a:chExt cx="3439" cy="946"/>
          </a:xfrm>
          <a:solidFill>
            <a:schemeClr val="accent6"/>
          </a:solidFill>
        </p:grpSpPr>
        <p:sp>
          <p:nvSpPr>
            <p:cNvPr id="9" name="椭圆 8">
              <a:extLst>
                <a:ext uri="{FF2B5EF4-FFF2-40B4-BE49-F238E27FC236}">
                  <a16:creationId xmlns:a16="http://schemas.microsoft.com/office/drawing/2014/main" id="{76BA31B4-E5C5-B76B-B4A9-E59FA797576E}"/>
                </a:ext>
              </a:extLst>
            </p:cNvPr>
            <p:cNvSpPr/>
            <p:nvPr/>
          </p:nvSpPr>
          <p:spPr>
            <a:xfrm>
              <a:off x="1320" y="4641"/>
              <a:ext cx="946" cy="946"/>
            </a:xfrm>
            <a:prstGeom prst="ellipse">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0" name="圆角矩形 11">
              <a:extLst>
                <a:ext uri="{FF2B5EF4-FFF2-40B4-BE49-F238E27FC236}">
                  <a16:creationId xmlns:a16="http://schemas.microsoft.com/office/drawing/2014/main" id="{86336F21-9925-D1F8-4681-570DE7131C6F}"/>
                </a:ext>
              </a:extLst>
            </p:cNvPr>
            <p:cNvSpPr/>
            <p:nvPr/>
          </p:nvSpPr>
          <p:spPr>
            <a:xfrm>
              <a:off x="1673" y="4793"/>
              <a:ext cx="3086" cy="643"/>
            </a:xfrm>
            <a:prstGeom prst="roundRect">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21</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1" name="文本框 36">
            <a:extLst>
              <a:ext uri="{FF2B5EF4-FFF2-40B4-BE49-F238E27FC236}">
                <a16:creationId xmlns:a16="http://schemas.microsoft.com/office/drawing/2014/main" id="{3A0B0521-8645-2EF4-6007-9179C22E3001}"/>
              </a:ext>
            </a:extLst>
          </p:cNvPr>
          <p:cNvSpPr txBox="1">
            <a:spLocks noChangeArrowheads="1"/>
          </p:cNvSpPr>
          <p:nvPr/>
        </p:nvSpPr>
        <p:spPr bwMode="auto">
          <a:xfrm>
            <a:off x="3319596" y="2534629"/>
            <a:ext cx="7778588"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ct val="150000"/>
              </a:lnSpc>
            </a:pPr>
            <a:r>
              <a:rPr lang="zh-CN" altLang="en-US" dirty="0">
                <a:solidFill>
                  <a:srgbClr val="44546A"/>
                </a:solidFill>
                <a:latin typeface="微软雅黑" panose="020B0503020204020204" pitchFamily="34" charset="-122"/>
              </a:rPr>
              <a:t>执行</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语句，查询</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表中所有记录，并按照</a:t>
            </a:r>
            <a:r>
              <a:rPr lang="en-US" altLang="zh-CN" dirty="0">
                <a:solidFill>
                  <a:srgbClr val="44546A"/>
                </a:solidFill>
                <a:latin typeface="微软雅黑" panose="020B0503020204020204" pitchFamily="34" charset="-122"/>
              </a:rPr>
              <a:t>price</a:t>
            </a:r>
            <a:r>
              <a:rPr lang="zh-CN" altLang="en-US" dirty="0">
                <a:solidFill>
                  <a:srgbClr val="44546A"/>
                </a:solidFill>
                <a:latin typeface="微软雅黑" panose="020B0503020204020204" pitchFamily="34" charset="-122"/>
              </a:rPr>
              <a:t>和</a:t>
            </a:r>
            <a:r>
              <a:rPr lang="en-US" altLang="zh-CN" dirty="0">
                <a:solidFill>
                  <a:srgbClr val="44546A"/>
                </a:solidFill>
                <a:latin typeface="微软雅黑" panose="020B0503020204020204" pitchFamily="34" charset="-122"/>
              </a:rPr>
              <a:t>num</a:t>
            </a:r>
            <a:r>
              <a:rPr lang="zh-CN" altLang="en-US" dirty="0">
                <a:solidFill>
                  <a:srgbClr val="44546A"/>
                </a:solidFill>
                <a:latin typeface="微软雅黑" panose="020B0503020204020204" pitchFamily="34" charset="-122"/>
              </a:rPr>
              <a:t>字段值进行排序，结果如下：</a:t>
            </a:r>
          </a:p>
        </p:txBody>
      </p:sp>
      <p:sp>
        <p:nvSpPr>
          <p:cNvPr id="12" name="矩形 11">
            <a:extLst>
              <a:ext uri="{FF2B5EF4-FFF2-40B4-BE49-F238E27FC236}">
                <a16:creationId xmlns:a16="http://schemas.microsoft.com/office/drawing/2014/main" id="{ECD3814C-A08F-F1B8-2BF5-87C629868589}"/>
              </a:ext>
            </a:extLst>
          </p:cNvPr>
          <p:cNvSpPr/>
          <p:nvPr/>
        </p:nvSpPr>
        <p:spPr>
          <a:xfrm>
            <a:off x="1093816" y="3488941"/>
            <a:ext cx="9882453" cy="2796115"/>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3" name="文本框 38">
            <a:extLst>
              <a:ext uri="{FF2B5EF4-FFF2-40B4-BE49-F238E27FC236}">
                <a16:creationId xmlns:a16="http://schemas.microsoft.com/office/drawing/2014/main" id="{30654F12-3A56-CF4F-84CD-1A2D25B0FB74}"/>
              </a:ext>
            </a:extLst>
          </p:cNvPr>
          <p:cNvSpPr txBox="1">
            <a:spLocks noChangeArrowheads="1"/>
          </p:cNvSpPr>
          <p:nvPr/>
        </p:nvSpPr>
        <p:spPr bwMode="auto">
          <a:xfrm>
            <a:off x="2121711" y="3482204"/>
            <a:ext cx="8574639"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chemeClr val="accent1"/>
                </a:solidFill>
              </a:rPr>
              <a:t>mysql&gt; SELECT * FROM goods ORDER BY </a:t>
            </a:r>
            <a:r>
              <a:rPr lang="en-US" altLang="zh-CN" sz="1600" dirty="0" err="1">
                <a:solidFill>
                  <a:schemeClr val="accent1"/>
                </a:solidFill>
              </a:rPr>
              <a:t>price,num</a:t>
            </a:r>
            <a:r>
              <a:rPr lang="en-US" altLang="zh-CN" sz="1600" dirty="0">
                <a:solidFill>
                  <a:schemeClr val="accent1"/>
                </a:solidFill>
              </a:rPr>
              <a:t>;</a:t>
            </a:r>
          </a:p>
          <a:p>
            <a:pPr eaLnBrk="1" hangingPunct="1"/>
            <a:r>
              <a:rPr lang="en-US" altLang="zh-CN" sz="1600" dirty="0">
                <a:solidFill>
                  <a:schemeClr val="accent1"/>
                </a:solidFill>
              </a:rPr>
              <a:t>+----+--------+-------------+----------+----------+-----------------------------+</a:t>
            </a:r>
          </a:p>
          <a:p>
            <a:pPr eaLnBrk="1" hangingPunct="1"/>
            <a:r>
              <a:rPr lang="en-US" altLang="zh-CN" sz="1600" dirty="0">
                <a:solidFill>
                  <a:schemeClr val="accent1"/>
                </a:solidFill>
              </a:rPr>
              <a:t>| id	| type  | name     | price	| num	| add_time	|</a:t>
            </a:r>
          </a:p>
          <a:p>
            <a:pPr eaLnBrk="1" hangingPunct="1"/>
            <a:r>
              <a:rPr lang="en-US" altLang="zh-CN" sz="1600" dirty="0">
                <a:solidFill>
                  <a:schemeClr val="accent1"/>
                </a:solidFill>
              </a:rPr>
              <a:t>+----+--------+-------------+----------+----------+-----------------------------+</a:t>
            </a:r>
          </a:p>
          <a:p>
            <a:pPr eaLnBrk="1" hangingPunct="1"/>
            <a:r>
              <a:rPr lang="en-US" altLang="zh-CN" sz="1600" dirty="0">
                <a:solidFill>
                  <a:schemeClr val="accent1"/>
                </a:solidFill>
              </a:rPr>
              <a:t>|  5 | </a:t>
            </a:r>
            <a:r>
              <a:rPr lang="zh-CN" altLang="en-US" sz="1600" dirty="0">
                <a:solidFill>
                  <a:schemeClr val="accent1"/>
                </a:solidFill>
              </a:rPr>
              <a:t>饮品 </a:t>
            </a:r>
            <a:r>
              <a:rPr lang="en-US" altLang="zh-CN" sz="1600" dirty="0">
                <a:solidFill>
                  <a:schemeClr val="accent1"/>
                </a:solidFill>
              </a:rPr>
              <a:t>| </a:t>
            </a:r>
            <a:r>
              <a:rPr lang="zh-CN" altLang="en-US" sz="1600" dirty="0">
                <a:solidFill>
                  <a:schemeClr val="accent1"/>
                </a:solidFill>
              </a:rPr>
              <a:t>果汁     </a:t>
            </a:r>
            <a:r>
              <a:rPr lang="en-US" altLang="zh-CN" sz="1600" dirty="0">
                <a:solidFill>
                  <a:schemeClr val="accent1"/>
                </a:solidFill>
              </a:rPr>
              <a:t>|   2.50 |   70	| 2018-05-05 13:40:40	|</a:t>
            </a:r>
          </a:p>
          <a:p>
            <a:pPr eaLnBrk="1" hangingPunct="1"/>
            <a:r>
              <a:rPr lang="en-US" altLang="zh-CN" sz="1600" dirty="0">
                <a:solidFill>
                  <a:schemeClr val="accent1"/>
                </a:solidFill>
              </a:rPr>
              <a:t>|  3 | </a:t>
            </a:r>
            <a:r>
              <a:rPr lang="zh-CN" altLang="en-US" sz="1600" dirty="0">
                <a:solidFill>
                  <a:schemeClr val="accent1"/>
                </a:solidFill>
              </a:rPr>
              <a:t>糖类 </a:t>
            </a:r>
            <a:r>
              <a:rPr lang="en-US" altLang="zh-CN" sz="1600" dirty="0">
                <a:solidFill>
                  <a:schemeClr val="accent1"/>
                </a:solidFill>
              </a:rPr>
              <a:t>| </a:t>
            </a:r>
            <a:r>
              <a:rPr lang="zh-CN" altLang="en-US" sz="1600" dirty="0">
                <a:solidFill>
                  <a:schemeClr val="accent1"/>
                </a:solidFill>
              </a:rPr>
              <a:t>水果糖   </a:t>
            </a:r>
            <a:r>
              <a:rPr lang="en-US" altLang="zh-CN" sz="1600" dirty="0">
                <a:solidFill>
                  <a:schemeClr val="accent1"/>
                </a:solidFill>
              </a:rPr>
              <a:t>|   2.50 |  100	| 2018-06-09 11:20:55	|</a:t>
            </a:r>
          </a:p>
          <a:p>
            <a:pPr eaLnBrk="1" hangingPunct="1"/>
            <a:r>
              <a:rPr lang="en-US" altLang="zh-CN" sz="1600" dirty="0">
                <a:solidFill>
                  <a:schemeClr val="accent1"/>
                </a:solidFill>
              </a:rPr>
              <a:t>|  2 | </a:t>
            </a:r>
            <a:r>
              <a:rPr lang="zh-CN" altLang="en-US" sz="1600" dirty="0">
                <a:solidFill>
                  <a:schemeClr val="accent1"/>
                </a:solidFill>
              </a:rPr>
              <a:t>糖类 </a:t>
            </a:r>
            <a:r>
              <a:rPr lang="en-US" altLang="zh-CN" sz="1600" dirty="0">
                <a:solidFill>
                  <a:schemeClr val="accent1"/>
                </a:solidFill>
              </a:rPr>
              <a:t>| </a:t>
            </a:r>
            <a:r>
              <a:rPr lang="zh-CN" altLang="en-US" sz="1600" dirty="0">
                <a:solidFill>
                  <a:schemeClr val="accent1"/>
                </a:solidFill>
              </a:rPr>
              <a:t>牛奶糖   </a:t>
            </a:r>
            <a:r>
              <a:rPr lang="en-US" altLang="zh-CN" sz="1600" dirty="0">
                <a:solidFill>
                  <a:schemeClr val="accent1"/>
                </a:solidFill>
              </a:rPr>
              <a:t>|   7.50 |  200	| 2018-02-02 13:40:40	|</a:t>
            </a:r>
          </a:p>
          <a:p>
            <a:pPr eaLnBrk="1" hangingPunct="1"/>
            <a:r>
              <a:rPr lang="en-US" altLang="zh-CN" sz="1600" dirty="0">
                <a:solidFill>
                  <a:schemeClr val="accent1"/>
                </a:solidFill>
              </a:rPr>
              <a:t>|  1 | </a:t>
            </a:r>
            <a:r>
              <a:rPr lang="zh-CN" altLang="en-US" sz="1600" dirty="0">
                <a:solidFill>
                  <a:schemeClr val="accent1"/>
                </a:solidFill>
              </a:rPr>
              <a:t>书籍 </a:t>
            </a:r>
            <a:r>
              <a:rPr lang="en-US" altLang="zh-CN" sz="1600" dirty="0">
                <a:solidFill>
                  <a:schemeClr val="accent1"/>
                </a:solidFill>
              </a:rPr>
              <a:t>| </a:t>
            </a:r>
            <a:r>
              <a:rPr lang="zh-CN" altLang="en-US" sz="1600" dirty="0">
                <a:solidFill>
                  <a:schemeClr val="accent1"/>
                </a:solidFill>
              </a:rPr>
              <a:t>西游记   </a:t>
            </a:r>
            <a:r>
              <a:rPr lang="en-US" altLang="zh-CN" sz="1600" dirty="0">
                <a:solidFill>
                  <a:schemeClr val="accent1"/>
                </a:solidFill>
              </a:rPr>
              <a:t>|  50.40 |   20	| 2018-01-01 13:40:40	|</a:t>
            </a:r>
          </a:p>
          <a:p>
            <a:pPr eaLnBrk="1" hangingPunct="1"/>
            <a:r>
              <a:rPr lang="en-US" altLang="zh-CN" sz="1600" dirty="0">
                <a:solidFill>
                  <a:schemeClr val="accent1"/>
                </a:solidFill>
              </a:rPr>
              <a:t>|  4 | </a:t>
            </a:r>
            <a:r>
              <a:rPr lang="zh-CN" altLang="en-US" sz="1600" dirty="0">
                <a:solidFill>
                  <a:schemeClr val="accent1"/>
                </a:solidFill>
              </a:rPr>
              <a:t>服饰 </a:t>
            </a:r>
            <a:r>
              <a:rPr lang="en-US" altLang="zh-CN" sz="1600" dirty="0">
                <a:solidFill>
                  <a:schemeClr val="accent1"/>
                </a:solidFill>
              </a:rPr>
              <a:t>| </a:t>
            </a:r>
            <a:r>
              <a:rPr lang="zh-CN" altLang="en-US" sz="1600" dirty="0">
                <a:solidFill>
                  <a:schemeClr val="accent1"/>
                </a:solidFill>
              </a:rPr>
              <a:t>休闲西服 </a:t>
            </a:r>
            <a:r>
              <a:rPr lang="en-US" altLang="zh-CN" sz="1600" dirty="0">
                <a:solidFill>
                  <a:schemeClr val="accent1"/>
                </a:solidFill>
              </a:rPr>
              <a:t>| 800.00	|   10	| 2018-04-04 13:40:40	|</a:t>
            </a:r>
          </a:p>
          <a:p>
            <a:pPr eaLnBrk="1" hangingPunct="1"/>
            <a:r>
              <a:rPr lang="en-US" altLang="zh-CN" sz="1600" dirty="0">
                <a:solidFill>
                  <a:schemeClr val="accent1"/>
                </a:solidFill>
              </a:rPr>
              <a:t>+----+--------+-------------+----------+----------+-----------------------------+</a:t>
            </a:r>
          </a:p>
          <a:p>
            <a:pPr eaLnBrk="1" hangingPunct="1"/>
            <a:r>
              <a:rPr lang="en-US" altLang="zh-CN" sz="1600" dirty="0">
                <a:solidFill>
                  <a:schemeClr val="accent1"/>
                </a:solidFill>
              </a:rPr>
              <a:t>5 rows in set (0.00 sec)</a:t>
            </a:r>
          </a:p>
        </p:txBody>
      </p:sp>
    </p:spTree>
    <p:extLst>
      <p:ext uri="{BB962C8B-B14F-4D97-AF65-F5344CB8AC3E}">
        <p14:creationId xmlns:p14="http://schemas.microsoft.com/office/powerpoint/2010/main" val="11288964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P spid="12" grpId="0" animBg="1"/>
      <p:bldP spid="1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dirty="0">
                <a:solidFill>
                  <a:srgbClr val="44546A"/>
                </a:solidFill>
                <a:latin typeface="微软雅黑" panose="020B0503020204020204" pitchFamily="34" charset="-122"/>
                <a:ea typeface="微软雅黑" panose="020B0503020204020204" pitchFamily="34" charset="-122"/>
              </a:rPr>
              <a:t>基本查询语句</a:t>
            </a:r>
            <a:r>
              <a:rPr lang="en-US" altLang="zh-CN" b="1" dirty="0">
                <a:solidFill>
                  <a:srgbClr val="44546A"/>
                </a:solidFill>
                <a:latin typeface="微软雅黑" panose="020B0503020204020204" pitchFamily="34" charset="-122"/>
                <a:ea typeface="微软雅黑" panose="020B0503020204020204" pitchFamily="34" charset="-122"/>
              </a:rPr>
              <a:t>-</a:t>
            </a:r>
            <a:r>
              <a:rPr lang="zh-CN" altLang="en-US" b="1" dirty="0">
                <a:solidFill>
                  <a:srgbClr val="44546A"/>
                </a:solidFill>
                <a:latin typeface="微软雅黑" panose="020B0503020204020204" pitchFamily="34" charset="-122"/>
                <a:ea typeface="微软雅黑" panose="020B0503020204020204" pitchFamily="34" charset="-122"/>
              </a:rPr>
              <a:t>排序查询</a:t>
            </a:r>
            <a:endParaRPr lang="en-US" altLang="zh-CN" b="1" dirty="0">
              <a:solidFill>
                <a:srgbClr val="44546A"/>
              </a:solidFill>
              <a:latin typeface="微软雅黑" panose="020B0503020204020204" pitchFamily="34" charset="-122"/>
              <a:ea typeface="微软雅黑" panose="020B0503020204020204" pitchFamily="34" charset="-122"/>
            </a:endParaRPr>
          </a:p>
        </p:txBody>
      </p:sp>
      <p:sp>
        <p:nvSpPr>
          <p:cNvPr id="3" name="文本框 3">
            <a:extLst>
              <a:ext uri="{FF2B5EF4-FFF2-40B4-BE49-F238E27FC236}">
                <a16:creationId xmlns:a16="http://schemas.microsoft.com/office/drawing/2014/main" id="{BC53681B-1E45-D968-3088-CB2E76351AC5}"/>
              </a:ext>
            </a:extLst>
          </p:cNvPr>
          <p:cNvSpPr txBox="1">
            <a:spLocks noChangeArrowheads="1"/>
          </p:cNvSpPr>
          <p:nvPr/>
        </p:nvSpPr>
        <p:spPr bwMode="auto">
          <a:xfrm>
            <a:off x="1923672" y="996058"/>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dirty="0">
                <a:solidFill>
                  <a:srgbClr val="44546A"/>
                </a:solidFill>
                <a:latin typeface="微软雅黑" panose="020B0503020204020204" pitchFamily="34" charset="-122"/>
              </a:rPr>
              <a:t>降序排序</a:t>
            </a:r>
            <a:endParaRPr lang="zh-CN" altLang="en-US" noProof="1">
              <a:solidFill>
                <a:srgbClr val="44546A"/>
              </a:solidFill>
              <a:latin typeface="微软雅黑" panose="020B0503020204020204" pitchFamily="34" charset="-122"/>
            </a:endParaRPr>
          </a:p>
        </p:txBody>
      </p:sp>
      <p:grpSp>
        <p:nvGrpSpPr>
          <p:cNvPr id="4" name="组合 3">
            <a:extLst>
              <a:ext uri="{FF2B5EF4-FFF2-40B4-BE49-F238E27FC236}">
                <a16:creationId xmlns:a16="http://schemas.microsoft.com/office/drawing/2014/main" id="{44E6DB0C-9AC9-D02E-4B34-606F983CCB06}"/>
              </a:ext>
            </a:extLst>
          </p:cNvPr>
          <p:cNvGrpSpPr/>
          <p:nvPr/>
        </p:nvGrpSpPr>
        <p:grpSpPr>
          <a:xfrm>
            <a:off x="920372" y="880753"/>
            <a:ext cx="1003300" cy="722312"/>
            <a:chOff x="877888" y="1586140"/>
            <a:chExt cx="1003300" cy="722312"/>
          </a:xfrm>
        </p:grpSpPr>
        <p:sp>
          <p:nvSpPr>
            <p:cNvPr id="5" name="íṩľíḍè-Freeform: Shape 9">
              <a:extLst>
                <a:ext uri="{FF2B5EF4-FFF2-40B4-BE49-F238E27FC236}">
                  <a16:creationId xmlns:a16="http://schemas.microsoft.com/office/drawing/2014/main" id="{758A08BA-8A17-737D-ED8A-B2F8BE0AE6A7}"/>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íṩľíḍè-Oval 10">
              <a:extLst>
                <a:ext uri="{FF2B5EF4-FFF2-40B4-BE49-F238E27FC236}">
                  <a16:creationId xmlns:a16="http://schemas.microsoft.com/office/drawing/2014/main" id="{ECB2E0B9-440E-2478-3D5E-323B68A0B38E}"/>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3</a:t>
              </a:r>
            </a:p>
          </p:txBody>
        </p:sp>
      </p:grpSp>
      <p:sp>
        <p:nvSpPr>
          <p:cNvPr id="7" name="矩形 6">
            <a:extLst>
              <a:ext uri="{FF2B5EF4-FFF2-40B4-BE49-F238E27FC236}">
                <a16:creationId xmlns:a16="http://schemas.microsoft.com/office/drawing/2014/main" id="{CFEBB7FF-6E48-F13B-D332-A5C9DC4A004E}"/>
              </a:ext>
            </a:extLst>
          </p:cNvPr>
          <p:cNvSpPr/>
          <p:nvPr/>
        </p:nvSpPr>
        <p:spPr>
          <a:xfrm>
            <a:off x="904983" y="1747673"/>
            <a:ext cx="6795450" cy="369332"/>
          </a:xfrm>
          <a:prstGeom prst="rect">
            <a:avLst/>
          </a:prstGeom>
        </p:spPr>
        <p:txBody>
          <a:bodyPr wrap="none">
            <a:spAutoFit/>
          </a:bodyPr>
          <a:lstStyle/>
          <a:p>
            <a:pPr indent="457200" algn="just"/>
            <a:r>
              <a:rPr lang="zh-CN" altLang="en-US" dirty="0">
                <a:solidFill>
                  <a:srgbClr val="44546A"/>
                </a:solidFill>
                <a:latin typeface="微软雅黑" panose="020B0503020204020204" pitchFamily="34" charset="-122"/>
                <a:ea typeface="微软雅黑" pitchFamily="34" charset="-122"/>
              </a:rPr>
              <a:t>如果需要对查询结果进行降序排序，可以使用</a:t>
            </a:r>
            <a:r>
              <a:rPr lang="en-US" altLang="zh-CN" b="1" dirty="0">
                <a:solidFill>
                  <a:srgbClr val="44546A"/>
                </a:solidFill>
                <a:latin typeface="微软雅黑" panose="020B0503020204020204" pitchFamily="34" charset="-122"/>
                <a:ea typeface="微软雅黑" pitchFamily="34" charset="-122"/>
              </a:rPr>
              <a:t>DESC</a:t>
            </a:r>
            <a:r>
              <a:rPr lang="zh-CN" altLang="en-US" b="1" dirty="0">
                <a:solidFill>
                  <a:srgbClr val="44546A"/>
                </a:solidFill>
                <a:latin typeface="微软雅黑" panose="020B0503020204020204" pitchFamily="34" charset="-122"/>
                <a:ea typeface="微软雅黑" pitchFamily="34" charset="-122"/>
              </a:rPr>
              <a:t>关键字</a:t>
            </a:r>
            <a:r>
              <a:rPr lang="zh-CN" altLang="en-US" dirty="0">
                <a:solidFill>
                  <a:srgbClr val="44546A"/>
                </a:solidFill>
                <a:latin typeface="微软雅黑" panose="020B0503020204020204" pitchFamily="34" charset="-122"/>
                <a:ea typeface="微软雅黑" pitchFamily="34" charset="-122"/>
              </a:rPr>
              <a:t>。</a:t>
            </a:r>
          </a:p>
        </p:txBody>
      </p:sp>
      <p:grpSp>
        <p:nvGrpSpPr>
          <p:cNvPr id="8" name="组合 34">
            <a:extLst>
              <a:ext uri="{FF2B5EF4-FFF2-40B4-BE49-F238E27FC236}">
                <a16:creationId xmlns:a16="http://schemas.microsoft.com/office/drawing/2014/main" id="{5D48E184-675A-C6CA-44C1-9E7EFD234BB3}"/>
              </a:ext>
            </a:extLst>
          </p:cNvPr>
          <p:cNvGrpSpPr/>
          <p:nvPr/>
        </p:nvGrpSpPr>
        <p:grpSpPr>
          <a:xfrm>
            <a:off x="879286" y="2208985"/>
            <a:ext cx="2183765" cy="600710"/>
            <a:chOff x="1320" y="4641"/>
            <a:chExt cx="3439" cy="946"/>
          </a:xfrm>
          <a:solidFill>
            <a:schemeClr val="accent6"/>
          </a:solidFill>
        </p:grpSpPr>
        <p:sp>
          <p:nvSpPr>
            <p:cNvPr id="9" name="椭圆 8">
              <a:extLst>
                <a:ext uri="{FF2B5EF4-FFF2-40B4-BE49-F238E27FC236}">
                  <a16:creationId xmlns:a16="http://schemas.microsoft.com/office/drawing/2014/main" id="{0C448993-0739-B684-3011-F67365F99758}"/>
                </a:ext>
              </a:extLst>
            </p:cNvPr>
            <p:cNvSpPr/>
            <p:nvPr/>
          </p:nvSpPr>
          <p:spPr>
            <a:xfrm>
              <a:off x="1320" y="4641"/>
              <a:ext cx="946" cy="946"/>
            </a:xfrm>
            <a:prstGeom prst="ellipse">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0" name="圆角矩形 11">
              <a:extLst>
                <a:ext uri="{FF2B5EF4-FFF2-40B4-BE49-F238E27FC236}">
                  <a16:creationId xmlns:a16="http://schemas.microsoft.com/office/drawing/2014/main" id="{FF7EDCE6-BE02-3855-F5F9-48ADB3E24C48}"/>
                </a:ext>
              </a:extLst>
            </p:cNvPr>
            <p:cNvSpPr/>
            <p:nvPr/>
          </p:nvSpPr>
          <p:spPr>
            <a:xfrm>
              <a:off x="1673" y="4793"/>
              <a:ext cx="3086" cy="643"/>
            </a:xfrm>
            <a:prstGeom prst="roundRect">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22</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1" name="文本框 36">
            <a:extLst>
              <a:ext uri="{FF2B5EF4-FFF2-40B4-BE49-F238E27FC236}">
                <a16:creationId xmlns:a16="http://schemas.microsoft.com/office/drawing/2014/main" id="{27DB457D-16B9-43AB-CD60-75D26EDF4C3E}"/>
              </a:ext>
            </a:extLst>
          </p:cNvPr>
          <p:cNvSpPr txBox="1">
            <a:spLocks noChangeArrowheads="1"/>
          </p:cNvSpPr>
          <p:nvPr/>
        </p:nvSpPr>
        <p:spPr bwMode="auto">
          <a:xfrm>
            <a:off x="3287206" y="2153643"/>
            <a:ext cx="7778588"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ct val="150000"/>
              </a:lnSpc>
            </a:pPr>
            <a:r>
              <a:rPr lang="zh-CN" altLang="en-US" dirty="0">
                <a:solidFill>
                  <a:srgbClr val="44546A"/>
                </a:solidFill>
                <a:latin typeface="微软雅黑" panose="020B0503020204020204" pitchFamily="34" charset="-122"/>
              </a:rPr>
              <a:t>执行</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语句，将</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表中所有记录查询出来，并按照</a:t>
            </a:r>
            <a:r>
              <a:rPr lang="en-US" altLang="zh-CN" dirty="0">
                <a:solidFill>
                  <a:srgbClr val="44546A"/>
                </a:solidFill>
                <a:latin typeface="微软雅黑" panose="020B0503020204020204" pitchFamily="34" charset="-122"/>
              </a:rPr>
              <a:t>price</a:t>
            </a:r>
            <a:r>
              <a:rPr lang="zh-CN" altLang="en-US" dirty="0">
                <a:solidFill>
                  <a:srgbClr val="44546A"/>
                </a:solidFill>
                <a:latin typeface="微软雅黑" panose="020B0503020204020204" pitchFamily="34" charset="-122"/>
              </a:rPr>
              <a:t>字段降序排序，结果如下：</a:t>
            </a:r>
          </a:p>
        </p:txBody>
      </p:sp>
      <p:sp>
        <p:nvSpPr>
          <p:cNvPr id="12" name="矩形 11">
            <a:extLst>
              <a:ext uri="{FF2B5EF4-FFF2-40B4-BE49-F238E27FC236}">
                <a16:creationId xmlns:a16="http://schemas.microsoft.com/office/drawing/2014/main" id="{8529F830-F8E0-9E09-1818-4B9F402A6D0C}"/>
              </a:ext>
            </a:extLst>
          </p:cNvPr>
          <p:cNvSpPr/>
          <p:nvPr/>
        </p:nvSpPr>
        <p:spPr>
          <a:xfrm>
            <a:off x="1103441" y="3128667"/>
            <a:ext cx="9882453" cy="2796115"/>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3" name="文本框 38">
            <a:extLst>
              <a:ext uri="{FF2B5EF4-FFF2-40B4-BE49-F238E27FC236}">
                <a16:creationId xmlns:a16="http://schemas.microsoft.com/office/drawing/2014/main" id="{F737E0F1-E48C-51E3-F938-3FC3A16BB402}"/>
              </a:ext>
            </a:extLst>
          </p:cNvPr>
          <p:cNvSpPr txBox="1">
            <a:spLocks noChangeArrowheads="1"/>
          </p:cNvSpPr>
          <p:nvPr/>
        </p:nvSpPr>
        <p:spPr bwMode="auto">
          <a:xfrm>
            <a:off x="2131336" y="3121930"/>
            <a:ext cx="8574639"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chemeClr val="accent1"/>
                </a:solidFill>
              </a:rPr>
              <a:t>mysql&gt; SELECT * FROM goods ORDER BY price DESC;</a:t>
            </a:r>
          </a:p>
          <a:p>
            <a:pPr eaLnBrk="1" hangingPunct="1"/>
            <a:r>
              <a:rPr lang="en-US" altLang="zh-CN" sz="1600" dirty="0">
                <a:solidFill>
                  <a:schemeClr val="accent1"/>
                </a:solidFill>
              </a:rPr>
              <a:t>+----+--------+--------------+---------+----------+-----------------------------+</a:t>
            </a:r>
          </a:p>
          <a:p>
            <a:pPr eaLnBrk="1" hangingPunct="1"/>
            <a:r>
              <a:rPr lang="en-US" altLang="zh-CN" sz="1600" dirty="0">
                <a:solidFill>
                  <a:schemeClr val="accent1"/>
                </a:solidFill>
              </a:rPr>
              <a:t>| id   | type   | name       | price	  | num	| add_time	      |</a:t>
            </a:r>
          </a:p>
          <a:p>
            <a:pPr eaLnBrk="1" hangingPunct="1"/>
            <a:r>
              <a:rPr lang="en-US" altLang="zh-CN" sz="1600" dirty="0">
                <a:solidFill>
                  <a:schemeClr val="accent1"/>
                </a:solidFill>
              </a:rPr>
              <a:t>+----+--------+--------------+---------+----------+-----------------------------+</a:t>
            </a:r>
          </a:p>
          <a:p>
            <a:pPr eaLnBrk="1" hangingPunct="1"/>
            <a:r>
              <a:rPr lang="en-US" altLang="zh-CN" sz="1600" dirty="0">
                <a:solidFill>
                  <a:schemeClr val="accent1"/>
                </a:solidFill>
              </a:rPr>
              <a:t>|  4   | </a:t>
            </a:r>
            <a:r>
              <a:rPr lang="zh-CN" altLang="en-US" sz="1600" dirty="0">
                <a:solidFill>
                  <a:schemeClr val="accent1"/>
                </a:solidFill>
              </a:rPr>
              <a:t>服饰  </a:t>
            </a:r>
            <a:r>
              <a:rPr lang="en-US" altLang="zh-CN" sz="1600" dirty="0">
                <a:solidFill>
                  <a:schemeClr val="accent1"/>
                </a:solidFill>
              </a:rPr>
              <a:t>| </a:t>
            </a:r>
            <a:r>
              <a:rPr lang="zh-CN" altLang="en-US" sz="1600" dirty="0">
                <a:solidFill>
                  <a:schemeClr val="accent1"/>
                </a:solidFill>
              </a:rPr>
              <a:t>休闲西服  </a:t>
            </a:r>
            <a:r>
              <a:rPr lang="en-US" altLang="zh-CN" sz="1600" dirty="0">
                <a:solidFill>
                  <a:schemeClr val="accent1"/>
                </a:solidFill>
              </a:rPr>
              <a:t>| 800.00 |   10	| 2018-04-04 13:40:40   |</a:t>
            </a:r>
          </a:p>
          <a:p>
            <a:pPr eaLnBrk="1" hangingPunct="1"/>
            <a:r>
              <a:rPr lang="en-US" altLang="zh-CN" sz="1600" dirty="0">
                <a:solidFill>
                  <a:schemeClr val="accent1"/>
                </a:solidFill>
              </a:rPr>
              <a:t>|  1   | </a:t>
            </a:r>
            <a:r>
              <a:rPr lang="zh-CN" altLang="en-US" sz="1600" dirty="0">
                <a:solidFill>
                  <a:schemeClr val="accent1"/>
                </a:solidFill>
              </a:rPr>
              <a:t>书籍  </a:t>
            </a:r>
            <a:r>
              <a:rPr lang="en-US" altLang="zh-CN" sz="1600" dirty="0">
                <a:solidFill>
                  <a:schemeClr val="accent1"/>
                </a:solidFill>
              </a:rPr>
              <a:t>| </a:t>
            </a:r>
            <a:r>
              <a:rPr lang="zh-CN" altLang="en-US" sz="1600" dirty="0">
                <a:solidFill>
                  <a:schemeClr val="accent1"/>
                </a:solidFill>
              </a:rPr>
              <a:t>西游记      </a:t>
            </a:r>
            <a:r>
              <a:rPr lang="en-US" altLang="zh-CN" sz="1600" dirty="0">
                <a:solidFill>
                  <a:schemeClr val="accent1"/>
                </a:solidFill>
              </a:rPr>
              <a:t>|  50.40 |   20	| 2018-01-01 13:40:40   |</a:t>
            </a:r>
          </a:p>
          <a:p>
            <a:pPr eaLnBrk="1" hangingPunct="1"/>
            <a:r>
              <a:rPr lang="en-US" altLang="zh-CN" sz="1600" dirty="0">
                <a:solidFill>
                  <a:schemeClr val="accent1"/>
                </a:solidFill>
              </a:rPr>
              <a:t>|  2   | </a:t>
            </a:r>
            <a:r>
              <a:rPr lang="zh-CN" altLang="en-US" sz="1600" dirty="0">
                <a:solidFill>
                  <a:schemeClr val="accent1"/>
                </a:solidFill>
              </a:rPr>
              <a:t>糖类  </a:t>
            </a:r>
            <a:r>
              <a:rPr lang="en-US" altLang="zh-CN" sz="1600" dirty="0">
                <a:solidFill>
                  <a:schemeClr val="accent1"/>
                </a:solidFill>
              </a:rPr>
              <a:t>| </a:t>
            </a:r>
            <a:r>
              <a:rPr lang="zh-CN" altLang="en-US" sz="1600" dirty="0">
                <a:solidFill>
                  <a:schemeClr val="accent1"/>
                </a:solidFill>
              </a:rPr>
              <a:t>牛奶糖      </a:t>
            </a:r>
            <a:r>
              <a:rPr lang="en-US" altLang="zh-CN" sz="1600" dirty="0">
                <a:solidFill>
                  <a:schemeClr val="accent1"/>
                </a:solidFill>
              </a:rPr>
              <a:t>|   7.50  |  200	| 2018-02-02 13:40:40   |</a:t>
            </a:r>
          </a:p>
          <a:p>
            <a:pPr eaLnBrk="1" hangingPunct="1"/>
            <a:r>
              <a:rPr lang="en-US" altLang="zh-CN" sz="1600" dirty="0">
                <a:solidFill>
                  <a:schemeClr val="accent1"/>
                </a:solidFill>
              </a:rPr>
              <a:t>|  3   | </a:t>
            </a:r>
            <a:r>
              <a:rPr lang="zh-CN" altLang="en-US" sz="1600" dirty="0">
                <a:solidFill>
                  <a:schemeClr val="accent1"/>
                </a:solidFill>
              </a:rPr>
              <a:t>糖类  </a:t>
            </a:r>
            <a:r>
              <a:rPr lang="en-US" altLang="zh-CN" sz="1600" dirty="0">
                <a:solidFill>
                  <a:schemeClr val="accent1"/>
                </a:solidFill>
              </a:rPr>
              <a:t>| </a:t>
            </a:r>
            <a:r>
              <a:rPr lang="zh-CN" altLang="en-US" sz="1600" dirty="0">
                <a:solidFill>
                  <a:schemeClr val="accent1"/>
                </a:solidFill>
              </a:rPr>
              <a:t>水果糖      </a:t>
            </a:r>
            <a:r>
              <a:rPr lang="en-US" altLang="zh-CN" sz="1600" dirty="0">
                <a:solidFill>
                  <a:schemeClr val="accent1"/>
                </a:solidFill>
              </a:rPr>
              <a:t>|   2.50  |  100	| 2018-06-09 11:20:55   |</a:t>
            </a:r>
          </a:p>
          <a:p>
            <a:pPr eaLnBrk="1" hangingPunct="1"/>
            <a:r>
              <a:rPr lang="en-US" altLang="zh-CN" sz="1600" dirty="0">
                <a:solidFill>
                  <a:schemeClr val="accent1"/>
                </a:solidFill>
              </a:rPr>
              <a:t>|  5   | </a:t>
            </a:r>
            <a:r>
              <a:rPr lang="zh-CN" altLang="en-US" sz="1600" dirty="0">
                <a:solidFill>
                  <a:schemeClr val="accent1"/>
                </a:solidFill>
              </a:rPr>
              <a:t>饮品  </a:t>
            </a:r>
            <a:r>
              <a:rPr lang="en-US" altLang="zh-CN" sz="1600" dirty="0">
                <a:solidFill>
                  <a:schemeClr val="accent1"/>
                </a:solidFill>
              </a:rPr>
              <a:t>| </a:t>
            </a:r>
            <a:r>
              <a:rPr lang="zh-CN" altLang="en-US" sz="1600" dirty="0">
                <a:solidFill>
                  <a:schemeClr val="accent1"/>
                </a:solidFill>
              </a:rPr>
              <a:t>果汁          </a:t>
            </a:r>
            <a:r>
              <a:rPr lang="en-US" altLang="zh-CN" sz="1600" dirty="0">
                <a:solidFill>
                  <a:schemeClr val="accent1"/>
                </a:solidFill>
              </a:rPr>
              <a:t>|   2.50  |   70	| 2018-05-05 13:40:40   |</a:t>
            </a:r>
          </a:p>
          <a:p>
            <a:pPr eaLnBrk="1" hangingPunct="1"/>
            <a:r>
              <a:rPr lang="en-US" altLang="zh-CN" sz="1600" dirty="0">
                <a:solidFill>
                  <a:schemeClr val="accent1"/>
                </a:solidFill>
              </a:rPr>
              <a:t>+----+--------+--------------+---------+----------+-----------------------------+</a:t>
            </a:r>
          </a:p>
          <a:p>
            <a:pPr eaLnBrk="1" hangingPunct="1"/>
            <a:r>
              <a:rPr lang="en-US" altLang="zh-CN" sz="1600" dirty="0">
                <a:solidFill>
                  <a:schemeClr val="accent1"/>
                </a:solidFill>
              </a:rPr>
              <a:t>5 rows in set (0.00 sec)</a:t>
            </a:r>
          </a:p>
        </p:txBody>
      </p:sp>
    </p:spTree>
    <p:extLst>
      <p:ext uri="{BB962C8B-B14F-4D97-AF65-F5344CB8AC3E}">
        <p14:creationId xmlns:p14="http://schemas.microsoft.com/office/powerpoint/2010/main" val="8535889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P spid="12" grpId="0" animBg="1"/>
      <p:bldP spid="1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9BB3227D-B130-B5F9-1F2E-B7103485E358}"/>
              </a:ext>
            </a:extLst>
          </p:cNvPr>
          <p:cNvSpPr/>
          <p:nvPr/>
        </p:nvSpPr>
        <p:spPr>
          <a:xfrm>
            <a:off x="1058239" y="1474007"/>
            <a:ext cx="10068674" cy="1073984"/>
          </a:xfrm>
          <a:prstGeom prst="roundRect">
            <a:avLst/>
          </a:prstGeom>
          <a:solidFill>
            <a:schemeClr val="bg1"/>
          </a:solid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1">
            <a:extLst>
              <a:ext uri="{FF2B5EF4-FFF2-40B4-BE49-F238E27FC236}">
                <a16:creationId xmlns:a16="http://schemas.microsoft.com/office/drawing/2014/main" id="{8ECF8A90-1DBB-8A99-56FD-61AA757880B3}"/>
              </a:ext>
            </a:extLst>
          </p:cNvPr>
          <p:cNvSpPr txBox="1">
            <a:spLocks noChangeArrowheads="1"/>
          </p:cNvSpPr>
          <p:nvPr/>
        </p:nvSpPr>
        <p:spPr bwMode="auto">
          <a:xfrm>
            <a:off x="1212035" y="1597467"/>
            <a:ext cx="9760765" cy="77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ts val="2800"/>
              </a:lnSpc>
            </a:pPr>
            <a:r>
              <a:rPr lang="zh-CN" altLang="en-US" dirty="0">
                <a:solidFill>
                  <a:srgbClr val="44546A"/>
                </a:solidFill>
                <a:latin typeface="微软雅黑" panose="020B0503020204020204" pitchFamily="34" charset="-122"/>
              </a:rPr>
              <a:t>在数据库中，通常需要进行一些</a:t>
            </a:r>
            <a:r>
              <a:rPr lang="zh-CN" altLang="en-US" b="1" dirty="0">
                <a:solidFill>
                  <a:srgbClr val="44546A"/>
                </a:solidFill>
                <a:latin typeface="微软雅黑" panose="020B0503020204020204" pitchFamily="34" charset="-122"/>
              </a:rPr>
              <a:t>数据汇总</a:t>
            </a:r>
            <a:r>
              <a:rPr lang="zh-CN" altLang="en-US" dirty="0">
                <a:solidFill>
                  <a:srgbClr val="44546A"/>
                </a:solidFill>
                <a:latin typeface="微软雅黑" panose="020B0503020204020204" pitchFamily="34" charset="-122"/>
              </a:rPr>
              <a:t>操作。比如，要统计汇总商品种类或者统计整个公司的员工数等，此时就用到了</a:t>
            </a:r>
            <a:r>
              <a:rPr lang="zh-CN" altLang="en-US" b="1" dirty="0">
                <a:solidFill>
                  <a:srgbClr val="44546A"/>
                </a:solidFill>
                <a:latin typeface="微软雅黑" panose="020B0503020204020204" pitchFamily="34" charset="-122"/>
              </a:rPr>
              <a:t>聚合函数</a:t>
            </a:r>
            <a:r>
              <a:rPr lang="zh-CN" altLang="en-US" dirty="0">
                <a:solidFill>
                  <a:srgbClr val="44546A"/>
                </a:solidFill>
                <a:latin typeface="微软雅黑" panose="020B0503020204020204" pitchFamily="34" charset="-122"/>
              </a:rPr>
              <a:t>。</a:t>
            </a:r>
            <a:r>
              <a:rPr lang="en-US" altLang="zh-CN" dirty="0">
                <a:solidFill>
                  <a:srgbClr val="44546A"/>
                </a:solidFill>
                <a:latin typeface="微软雅黑" panose="020B0503020204020204" pitchFamily="34" charset="-122"/>
              </a:rPr>
              <a:t>MySQL</a:t>
            </a:r>
            <a:r>
              <a:rPr lang="zh-CN" altLang="en-US" dirty="0">
                <a:solidFill>
                  <a:srgbClr val="44546A"/>
                </a:solidFill>
                <a:latin typeface="微软雅黑" panose="020B0503020204020204" pitchFamily="34" charset="-122"/>
              </a:rPr>
              <a:t>所支持的聚合函数一共有以下</a:t>
            </a:r>
            <a:r>
              <a:rPr lang="en-US" altLang="zh-CN" dirty="0">
                <a:solidFill>
                  <a:srgbClr val="44546A"/>
                </a:solidFill>
                <a:latin typeface="微软雅黑" panose="020B0503020204020204" pitchFamily="34" charset="-122"/>
              </a:rPr>
              <a:t>5</a:t>
            </a:r>
            <a:r>
              <a:rPr lang="zh-CN" altLang="en-US" dirty="0">
                <a:solidFill>
                  <a:srgbClr val="44546A"/>
                </a:solidFill>
                <a:latin typeface="微软雅黑" panose="020B0503020204020204" pitchFamily="34" charset="-122"/>
              </a:rPr>
              <a:t>种。</a:t>
            </a:r>
          </a:p>
        </p:txBody>
      </p:sp>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聚合函数和分组数据记录查询</a:t>
            </a:r>
          </a:p>
        </p:txBody>
      </p:sp>
      <p:sp>
        <p:nvSpPr>
          <p:cNvPr id="8" name="文本框 10">
            <a:extLst>
              <a:ext uri="{FF2B5EF4-FFF2-40B4-BE49-F238E27FC236}">
                <a16:creationId xmlns:a16="http://schemas.microsoft.com/office/drawing/2014/main" id="{7B1F34D7-CF16-8B1A-1A19-3C1A5C5768E1}"/>
              </a:ext>
            </a:extLst>
          </p:cNvPr>
          <p:cNvSpPr txBox="1">
            <a:spLocks noChangeArrowheads="1"/>
          </p:cNvSpPr>
          <p:nvPr/>
        </p:nvSpPr>
        <p:spPr bwMode="auto">
          <a:xfrm>
            <a:off x="1023324" y="4781741"/>
            <a:ext cx="10426887" cy="128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noProof="1">
                <a:solidFill>
                  <a:srgbClr val="44546A"/>
                </a:solidFill>
                <a:latin typeface="微软雅黑" panose="020B0503020204020204" pitchFamily="34" charset="-122"/>
              </a:rPr>
              <a:t>实际应用中，聚合函数通常与分组查询一起使用。</a:t>
            </a:r>
            <a:r>
              <a:rPr lang="zh-CN" altLang="en-US" b="1" noProof="1">
                <a:solidFill>
                  <a:srgbClr val="44546A"/>
                </a:solidFill>
                <a:latin typeface="微软雅黑" panose="020B0503020204020204" pitchFamily="34" charset="-122"/>
              </a:rPr>
              <a:t>分组查询</a:t>
            </a:r>
            <a:r>
              <a:rPr lang="zh-CN" altLang="en-US" noProof="1">
                <a:solidFill>
                  <a:srgbClr val="44546A"/>
                </a:solidFill>
                <a:latin typeface="微软雅黑" panose="020B0503020204020204" pitchFamily="34" charset="-122"/>
              </a:rPr>
              <a:t>就是按照某个字段对数据记录进行分组，比如前面用到的</a:t>
            </a:r>
            <a:r>
              <a:rPr lang="en-US" altLang="zh-CN" noProof="1">
                <a:solidFill>
                  <a:srgbClr val="44546A"/>
                </a:solidFill>
                <a:latin typeface="微软雅黑" panose="020B0503020204020204" pitchFamily="34" charset="-122"/>
              </a:rPr>
              <a:t>goods</a:t>
            </a:r>
            <a:r>
              <a:rPr lang="zh-CN" altLang="en-US" noProof="1">
                <a:solidFill>
                  <a:srgbClr val="44546A"/>
                </a:solidFill>
                <a:latin typeface="微软雅黑" panose="020B0503020204020204" pitchFamily="34" charset="-122"/>
              </a:rPr>
              <a:t>表，可以按照商品类别对记录进行分组，然后使用聚合函数统计每个类别下的商品数量。</a:t>
            </a:r>
            <a:endParaRPr lang="zh-CN" altLang="en-US" dirty="0">
              <a:solidFill>
                <a:srgbClr val="44546A"/>
              </a:solidFill>
              <a:latin typeface="微软雅黑" panose="020B0503020204020204" pitchFamily="34" charset="-122"/>
            </a:endParaRPr>
          </a:p>
        </p:txBody>
      </p:sp>
      <p:sp>
        <p:nvSpPr>
          <p:cNvPr id="9" name="文本框 41">
            <a:extLst>
              <a:ext uri="{FF2B5EF4-FFF2-40B4-BE49-F238E27FC236}">
                <a16:creationId xmlns:a16="http://schemas.microsoft.com/office/drawing/2014/main" id="{871FB1CB-5E5B-0D77-9BB7-C01CE953FB56}"/>
              </a:ext>
            </a:extLst>
          </p:cNvPr>
          <p:cNvSpPr txBox="1">
            <a:spLocks noChangeArrowheads="1"/>
          </p:cNvSpPr>
          <p:nvPr/>
        </p:nvSpPr>
        <p:spPr bwMode="auto">
          <a:xfrm>
            <a:off x="1767156" y="2794498"/>
            <a:ext cx="9123452" cy="1852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marL="285750" indent="-285750" algn="just" eaLnBrk="1" hangingPunct="1">
              <a:lnSpc>
                <a:spcPts val="2800"/>
              </a:lnSpc>
              <a:buFont typeface="Wingdings" panose="05000000000000000000" pitchFamily="2" charset="2"/>
              <a:buChar char="u"/>
            </a:pPr>
            <a:r>
              <a:rPr lang="en-US" altLang="zh-CN" dirty="0">
                <a:solidFill>
                  <a:schemeClr val="accent1"/>
                </a:solidFill>
              </a:rPr>
              <a:t>COUNT()</a:t>
            </a:r>
            <a:r>
              <a:rPr lang="zh-CN" altLang="en-US" dirty="0">
                <a:solidFill>
                  <a:schemeClr val="accent1"/>
                </a:solidFill>
              </a:rPr>
              <a:t>函数：</a:t>
            </a:r>
            <a:r>
              <a:rPr lang="zh-CN" altLang="en-US" dirty="0">
                <a:solidFill>
                  <a:srgbClr val="44546A"/>
                </a:solidFill>
                <a:latin typeface="微软雅黑" panose="020B0503020204020204" pitchFamily="34" charset="-122"/>
              </a:rPr>
              <a:t>计算表中记录的条数。</a:t>
            </a:r>
          </a:p>
          <a:p>
            <a:pPr marL="285750" indent="-285750" algn="just" eaLnBrk="1" hangingPunct="1">
              <a:lnSpc>
                <a:spcPts val="2800"/>
              </a:lnSpc>
              <a:buFont typeface="Wingdings" panose="05000000000000000000" pitchFamily="2" charset="2"/>
              <a:buChar char="u"/>
            </a:pPr>
            <a:r>
              <a:rPr lang="en-US" altLang="zh-CN" dirty="0">
                <a:solidFill>
                  <a:schemeClr val="accent1"/>
                </a:solidFill>
              </a:rPr>
              <a:t>SUM()</a:t>
            </a:r>
            <a:r>
              <a:rPr lang="zh-CN" altLang="en-US" dirty="0">
                <a:solidFill>
                  <a:schemeClr val="accent1"/>
                </a:solidFill>
              </a:rPr>
              <a:t>函数：</a:t>
            </a:r>
            <a:r>
              <a:rPr lang="zh-CN" altLang="en-US" dirty="0">
                <a:solidFill>
                  <a:srgbClr val="44546A"/>
                </a:solidFill>
                <a:latin typeface="微软雅黑" panose="020B0503020204020204" pitchFamily="34" charset="-122"/>
              </a:rPr>
              <a:t>计算字段值的总和。</a:t>
            </a:r>
          </a:p>
          <a:p>
            <a:pPr marL="285750" indent="-285750" algn="just" eaLnBrk="1" hangingPunct="1">
              <a:lnSpc>
                <a:spcPts val="2800"/>
              </a:lnSpc>
              <a:buFont typeface="Wingdings" panose="05000000000000000000" pitchFamily="2" charset="2"/>
              <a:buChar char="u"/>
            </a:pPr>
            <a:r>
              <a:rPr lang="en-US" altLang="zh-CN" dirty="0">
                <a:solidFill>
                  <a:schemeClr val="accent1"/>
                </a:solidFill>
              </a:rPr>
              <a:t>AVG()</a:t>
            </a:r>
            <a:r>
              <a:rPr lang="zh-CN" altLang="en-US" dirty="0">
                <a:solidFill>
                  <a:schemeClr val="accent1"/>
                </a:solidFill>
              </a:rPr>
              <a:t>函数：</a:t>
            </a:r>
            <a:r>
              <a:rPr lang="zh-CN" altLang="en-US" dirty="0">
                <a:solidFill>
                  <a:srgbClr val="44546A"/>
                </a:solidFill>
                <a:latin typeface="微软雅黑" panose="020B0503020204020204" pitchFamily="34" charset="-122"/>
              </a:rPr>
              <a:t>计算字段值的平均值。</a:t>
            </a:r>
          </a:p>
          <a:p>
            <a:pPr marL="285750" indent="-285750" algn="just" eaLnBrk="1" hangingPunct="1">
              <a:lnSpc>
                <a:spcPts val="2800"/>
              </a:lnSpc>
              <a:buFont typeface="Wingdings" panose="05000000000000000000" pitchFamily="2" charset="2"/>
              <a:buChar char="u"/>
            </a:pPr>
            <a:r>
              <a:rPr lang="en-US" altLang="zh-CN" dirty="0">
                <a:solidFill>
                  <a:schemeClr val="accent1"/>
                </a:solidFill>
              </a:rPr>
              <a:t>MAX()</a:t>
            </a:r>
            <a:r>
              <a:rPr lang="zh-CN" altLang="en-US" dirty="0">
                <a:solidFill>
                  <a:schemeClr val="accent1"/>
                </a:solidFill>
              </a:rPr>
              <a:t>函数：</a:t>
            </a:r>
            <a:r>
              <a:rPr lang="zh-CN" altLang="en-US" dirty="0">
                <a:solidFill>
                  <a:srgbClr val="44546A"/>
                </a:solidFill>
                <a:latin typeface="微软雅黑" panose="020B0503020204020204" pitchFamily="34" charset="-122"/>
              </a:rPr>
              <a:t>查询表中字段值的最大值。</a:t>
            </a:r>
          </a:p>
          <a:p>
            <a:pPr marL="285750" indent="-285750" algn="just" eaLnBrk="1" hangingPunct="1">
              <a:lnSpc>
                <a:spcPts val="2800"/>
              </a:lnSpc>
              <a:buFont typeface="Wingdings" panose="05000000000000000000" pitchFamily="2" charset="2"/>
              <a:buChar char="u"/>
            </a:pPr>
            <a:r>
              <a:rPr lang="en-US" altLang="zh-CN" dirty="0">
                <a:solidFill>
                  <a:schemeClr val="accent1"/>
                </a:solidFill>
              </a:rPr>
              <a:t>MIN()</a:t>
            </a:r>
            <a:r>
              <a:rPr lang="zh-CN" altLang="en-US" dirty="0">
                <a:solidFill>
                  <a:schemeClr val="accent1"/>
                </a:solidFill>
              </a:rPr>
              <a:t>函数：</a:t>
            </a:r>
            <a:r>
              <a:rPr lang="zh-CN" altLang="en-US" dirty="0">
                <a:solidFill>
                  <a:srgbClr val="44546A"/>
                </a:solidFill>
                <a:latin typeface="微软雅黑" panose="020B0503020204020204" pitchFamily="34" charset="-122"/>
              </a:rPr>
              <a:t>查询表中字段值的最小值。</a:t>
            </a:r>
          </a:p>
        </p:txBody>
      </p:sp>
    </p:spTree>
    <p:extLst>
      <p:ext uri="{BB962C8B-B14F-4D97-AF65-F5344CB8AC3E}">
        <p14:creationId xmlns:p14="http://schemas.microsoft.com/office/powerpoint/2010/main" val="31923415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聚合函数和分组数据记录查询</a:t>
            </a:r>
            <a:r>
              <a:rPr lang="en-US" altLang="zh-CN" b="1" noProof="1">
                <a:solidFill>
                  <a:srgbClr val="44546A"/>
                </a:solidFill>
                <a:latin typeface="微软雅黑" panose="020B0503020204020204" pitchFamily="34" charset="-122"/>
                <a:ea typeface="微软雅黑" panose="020B0503020204020204" pitchFamily="34" charset="-122"/>
              </a:rPr>
              <a:t>-</a:t>
            </a:r>
            <a:r>
              <a:rPr lang="zh-CN" altLang="en-US" b="1" noProof="1">
                <a:solidFill>
                  <a:srgbClr val="44546A"/>
                </a:solidFill>
                <a:latin typeface="微软雅黑" panose="020B0503020204020204" pitchFamily="34" charset="-122"/>
                <a:ea typeface="微软雅黑" panose="020B0503020204020204" pitchFamily="34" charset="-122"/>
              </a:rPr>
              <a:t>使用聚合函数查询</a:t>
            </a:r>
          </a:p>
        </p:txBody>
      </p:sp>
      <p:sp>
        <p:nvSpPr>
          <p:cNvPr id="3" name="文本框 10">
            <a:extLst>
              <a:ext uri="{FF2B5EF4-FFF2-40B4-BE49-F238E27FC236}">
                <a16:creationId xmlns:a16="http://schemas.microsoft.com/office/drawing/2014/main" id="{D7250AE1-64CB-6F1C-9673-0B480932D56B}"/>
              </a:ext>
            </a:extLst>
          </p:cNvPr>
          <p:cNvSpPr txBox="1">
            <a:spLocks noChangeArrowheads="1"/>
          </p:cNvSpPr>
          <p:nvPr/>
        </p:nvSpPr>
        <p:spPr bwMode="auto">
          <a:xfrm>
            <a:off x="592549" y="1277891"/>
            <a:ext cx="110333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r>
              <a:rPr lang="zh-CN" altLang="en-US" noProof="1">
                <a:solidFill>
                  <a:srgbClr val="44546A"/>
                </a:solidFill>
                <a:latin typeface="微软雅黑" panose="020B0503020204020204" pitchFamily="34" charset="-122"/>
              </a:rPr>
              <a:t>使用聚合函数查询的基本语法形式如下：</a:t>
            </a:r>
            <a:endParaRPr lang="zh-CN" altLang="en-US" dirty="0">
              <a:solidFill>
                <a:srgbClr val="44546A"/>
              </a:solidFill>
              <a:latin typeface="微软雅黑" panose="020B0503020204020204" pitchFamily="34" charset="-122"/>
            </a:endParaRPr>
          </a:p>
        </p:txBody>
      </p:sp>
      <p:sp>
        <p:nvSpPr>
          <p:cNvPr id="4" name="矩形 3">
            <a:extLst>
              <a:ext uri="{FF2B5EF4-FFF2-40B4-BE49-F238E27FC236}">
                <a16:creationId xmlns:a16="http://schemas.microsoft.com/office/drawing/2014/main" id="{1993FFD3-A8C0-FAF0-3063-81F9B20746BE}"/>
              </a:ext>
            </a:extLst>
          </p:cNvPr>
          <p:cNvSpPr/>
          <p:nvPr/>
        </p:nvSpPr>
        <p:spPr>
          <a:xfrm>
            <a:off x="1140291" y="1761576"/>
            <a:ext cx="10052154" cy="500932"/>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5" name="文本框 38">
            <a:extLst>
              <a:ext uri="{FF2B5EF4-FFF2-40B4-BE49-F238E27FC236}">
                <a16:creationId xmlns:a16="http://schemas.microsoft.com/office/drawing/2014/main" id="{9E75550F-174E-FE2A-048A-C101A49A8A67}"/>
              </a:ext>
            </a:extLst>
          </p:cNvPr>
          <p:cNvSpPr txBox="1">
            <a:spLocks noChangeArrowheads="1"/>
          </p:cNvSpPr>
          <p:nvPr/>
        </p:nvSpPr>
        <p:spPr bwMode="auto">
          <a:xfrm>
            <a:off x="2168187" y="1801494"/>
            <a:ext cx="8478042" cy="3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1"/>
                </a:solidFill>
              </a:rPr>
              <a:t>SELECT function(*|</a:t>
            </a:r>
            <a:r>
              <a:rPr lang="en-US" altLang="zh-CN" sz="1600" dirty="0" err="1">
                <a:solidFill>
                  <a:schemeClr val="accent1"/>
                </a:solidFill>
              </a:rPr>
              <a:t>col_num</a:t>
            </a:r>
            <a:r>
              <a:rPr lang="en-US" altLang="zh-CN" sz="1600" dirty="0">
                <a:solidFill>
                  <a:schemeClr val="accent1"/>
                </a:solidFill>
              </a:rPr>
              <a:t>) FROM table_name WHERE CONDITION</a:t>
            </a:r>
          </a:p>
        </p:txBody>
      </p:sp>
      <p:sp>
        <p:nvSpPr>
          <p:cNvPr id="6" name="文本框 10">
            <a:extLst>
              <a:ext uri="{FF2B5EF4-FFF2-40B4-BE49-F238E27FC236}">
                <a16:creationId xmlns:a16="http://schemas.microsoft.com/office/drawing/2014/main" id="{1847453C-D96A-0E04-ED50-6EAAEA4EE62F}"/>
              </a:ext>
            </a:extLst>
          </p:cNvPr>
          <p:cNvSpPr txBox="1">
            <a:spLocks noChangeArrowheads="1"/>
          </p:cNvSpPr>
          <p:nvPr/>
        </p:nvSpPr>
        <p:spPr bwMode="auto">
          <a:xfrm>
            <a:off x="586322" y="2344729"/>
            <a:ext cx="1103338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r>
              <a:rPr lang="zh-CN" altLang="en-US" noProof="1">
                <a:solidFill>
                  <a:srgbClr val="44546A"/>
                </a:solidFill>
                <a:latin typeface="微软雅黑" panose="020B0503020204020204" pitchFamily="34" charset="-122"/>
              </a:rPr>
              <a:t>本节依然以数据库中的</a:t>
            </a:r>
            <a:r>
              <a:rPr lang="en-US" altLang="zh-CN" noProof="1">
                <a:solidFill>
                  <a:srgbClr val="44546A"/>
                </a:solidFill>
                <a:latin typeface="微软雅黑" panose="020B0503020204020204" pitchFamily="34" charset="-122"/>
              </a:rPr>
              <a:t>goods</a:t>
            </a:r>
            <a:r>
              <a:rPr lang="zh-CN" altLang="en-US" noProof="1">
                <a:solidFill>
                  <a:srgbClr val="44546A"/>
                </a:solidFill>
                <a:latin typeface="微软雅黑" panose="020B0503020204020204" pitchFamily="34" charset="-122"/>
              </a:rPr>
              <a:t>表为例进行操作，在操作之前，先执行以下语句，向数据表中追加</a:t>
            </a:r>
            <a:r>
              <a:rPr lang="en-US" altLang="zh-CN" noProof="1">
                <a:solidFill>
                  <a:srgbClr val="44546A"/>
                </a:solidFill>
                <a:latin typeface="微软雅黑" panose="020B0503020204020204" pitchFamily="34" charset="-122"/>
              </a:rPr>
              <a:t>5</a:t>
            </a:r>
            <a:r>
              <a:rPr lang="zh-CN" altLang="en-US" noProof="1">
                <a:solidFill>
                  <a:srgbClr val="44546A"/>
                </a:solidFill>
                <a:latin typeface="微软雅黑" panose="020B0503020204020204" pitchFamily="34" charset="-122"/>
              </a:rPr>
              <a:t>条记录。</a:t>
            </a:r>
            <a:endParaRPr lang="zh-CN" altLang="en-US" dirty="0">
              <a:solidFill>
                <a:srgbClr val="44546A"/>
              </a:solidFill>
              <a:latin typeface="微软雅黑" panose="020B0503020204020204" pitchFamily="34" charset="-122"/>
            </a:endParaRPr>
          </a:p>
        </p:txBody>
      </p:sp>
      <p:sp>
        <p:nvSpPr>
          <p:cNvPr id="7" name="矩形 6">
            <a:extLst>
              <a:ext uri="{FF2B5EF4-FFF2-40B4-BE49-F238E27FC236}">
                <a16:creationId xmlns:a16="http://schemas.microsoft.com/office/drawing/2014/main" id="{699BFF9E-2770-5ABA-F341-72B57D4F4E27}"/>
              </a:ext>
            </a:extLst>
          </p:cNvPr>
          <p:cNvSpPr/>
          <p:nvPr/>
        </p:nvSpPr>
        <p:spPr>
          <a:xfrm>
            <a:off x="1134064" y="3099012"/>
            <a:ext cx="10052154" cy="2205295"/>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8" name="文本框 38">
            <a:extLst>
              <a:ext uri="{FF2B5EF4-FFF2-40B4-BE49-F238E27FC236}">
                <a16:creationId xmlns:a16="http://schemas.microsoft.com/office/drawing/2014/main" id="{04B132B5-DDA2-637D-4E7B-DD5CF77CC6E0}"/>
              </a:ext>
            </a:extLst>
          </p:cNvPr>
          <p:cNvSpPr txBox="1">
            <a:spLocks noChangeArrowheads="1"/>
          </p:cNvSpPr>
          <p:nvPr/>
        </p:nvSpPr>
        <p:spPr bwMode="auto">
          <a:xfrm>
            <a:off x="2161960" y="3176255"/>
            <a:ext cx="8478042" cy="1984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1"/>
                </a:solidFill>
              </a:rPr>
              <a:t>INSERT INTO goods(id, type, name, price, num, add_time)</a:t>
            </a:r>
          </a:p>
          <a:p>
            <a:pPr eaLnBrk="1" hangingPunct="1">
              <a:lnSpc>
                <a:spcPts val="2500"/>
              </a:lnSpc>
            </a:pPr>
            <a:r>
              <a:rPr lang="en-US" altLang="zh-CN" sz="1600" dirty="0">
                <a:solidFill>
                  <a:schemeClr val="accent1"/>
                </a:solidFill>
              </a:rPr>
              <a:t>VALUES(6,'</a:t>
            </a:r>
            <a:r>
              <a:rPr lang="zh-CN" altLang="en-US" sz="1600" dirty="0">
                <a:solidFill>
                  <a:schemeClr val="accent1"/>
                </a:solidFill>
              </a:rPr>
              <a:t>书籍</a:t>
            </a:r>
            <a:r>
              <a:rPr lang="en-US" altLang="zh-CN" sz="1600" dirty="0">
                <a:solidFill>
                  <a:schemeClr val="accent1"/>
                </a:solidFill>
              </a:rPr>
              <a:t>','</a:t>
            </a:r>
            <a:r>
              <a:rPr lang="zh-CN" altLang="en-US" sz="1600" dirty="0">
                <a:solidFill>
                  <a:schemeClr val="accent1"/>
                </a:solidFill>
              </a:rPr>
              <a:t>论语</a:t>
            </a:r>
            <a:r>
              <a:rPr lang="en-US" altLang="zh-CN" sz="1600" dirty="0">
                <a:solidFill>
                  <a:schemeClr val="accent1"/>
                </a:solidFill>
              </a:rPr>
              <a:t>',109,50,'2018-01-03 13:40:40’),</a:t>
            </a:r>
          </a:p>
          <a:p>
            <a:pPr eaLnBrk="1" hangingPunct="1">
              <a:lnSpc>
                <a:spcPts val="2500"/>
              </a:lnSpc>
            </a:pPr>
            <a:r>
              <a:rPr lang="en-US" altLang="zh-CN" sz="1600" dirty="0">
                <a:solidFill>
                  <a:schemeClr val="accent1"/>
                </a:solidFill>
              </a:rPr>
              <a:t>              (7,'</a:t>
            </a:r>
            <a:r>
              <a:rPr lang="zh-CN" altLang="en-US" sz="1600" dirty="0">
                <a:solidFill>
                  <a:schemeClr val="accent1"/>
                </a:solidFill>
              </a:rPr>
              <a:t>水果</a:t>
            </a:r>
            <a:r>
              <a:rPr lang="en-US" altLang="zh-CN" sz="1600" dirty="0">
                <a:solidFill>
                  <a:schemeClr val="accent1"/>
                </a:solidFill>
              </a:rPr>
              <a:t>','</a:t>
            </a:r>
            <a:r>
              <a:rPr lang="zh-CN" altLang="en-US" sz="1600" dirty="0">
                <a:solidFill>
                  <a:schemeClr val="accent1"/>
                </a:solidFill>
              </a:rPr>
              <a:t>西瓜</a:t>
            </a:r>
            <a:r>
              <a:rPr lang="en-US" altLang="zh-CN" sz="1600" dirty="0">
                <a:solidFill>
                  <a:schemeClr val="accent1"/>
                </a:solidFill>
              </a:rPr>
              <a:t>',1.5,null,'2018-02-05 13:40:40’),</a:t>
            </a:r>
          </a:p>
          <a:p>
            <a:pPr eaLnBrk="1" hangingPunct="1">
              <a:lnSpc>
                <a:spcPts val="2500"/>
              </a:lnSpc>
            </a:pPr>
            <a:r>
              <a:rPr lang="en-US" altLang="zh-CN" sz="1600" dirty="0">
                <a:solidFill>
                  <a:schemeClr val="accent1"/>
                </a:solidFill>
              </a:rPr>
              <a:t>              (8,'</a:t>
            </a:r>
            <a:r>
              <a:rPr lang="zh-CN" altLang="en-US" sz="1600" dirty="0">
                <a:solidFill>
                  <a:schemeClr val="accent1"/>
                </a:solidFill>
              </a:rPr>
              <a:t>水果</a:t>
            </a:r>
            <a:r>
              <a:rPr lang="en-US" altLang="zh-CN" sz="1600" dirty="0">
                <a:solidFill>
                  <a:schemeClr val="accent1"/>
                </a:solidFill>
              </a:rPr>
              <a:t>','</a:t>
            </a:r>
            <a:r>
              <a:rPr lang="zh-CN" altLang="en-US" sz="1600" dirty="0">
                <a:solidFill>
                  <a:schemeClr val="accent1"/>
                </a:solidFill>
              </a:rPr>
              <a:t>苹果</a:t>
            </a:r>
            <a:r>
              <a:rPr lang="en-US" altLang="zh-CN" sz="1600" dirty="0">
                <a:solidFill>
                  <a:schemeClr val="accent1"/>
                </a:solidFill>
              </a:rPr>
              <a:t>',3,100,'2018-03-05 13:40:40’),</a:t>
            </a:r>
          </a:p>
          <a:p>
            <a:pPr eaLnBrk="1" hangingPunct="1">
              <a:lnSpc>
                <a:spcPts val="2500"/>
              </a:lnSpc>
            </a:pPr>
            <a:r>
              <a:rPr lang="en-US" altLang="zh-CN" sz="1600" dirty="0">
                <a:solidFill>
                  <a:schemeClr val="accent1"/>
                </a:solidFill>
              </a:rPr>
              <a:t>              (9,'</a:t>
            </a:r>
            <a:r>
              <a:rPr lang="zh-CN" altLang="en-US" sz="1600" dirty="0">
                <a:solidFill>
                  <a:schemeClr val="accent1"/>
                </a:solidFill>
              </a:rPr>
              <a:t>服饰</a:t>
            </a:r>
            <a:r>
              <a:rPr lang="en-US" altLang="zh-CN" sz="1600" dirty="0">
                <a:solidFill>
                  <a:schemeClr val="accent1"/>
                </a:solidFill>
              </a:rPr>
              <a:t>','</a:t>
            </a:r>
            <a:r>
              <a:rPr lang="zh-CN" altLang="en-US" sz="1600" dirty="0">
                <a:solidFill>
                  <a:schemeClr val="accent1"/>
                </a:solidFill>
              </a:rPr>
              <a:t>牛仔裤</a:t>
            </a:r>
            <a:r>
              <a:rPr lang="en-US" altLang="zh-CN" sz="1600" dirty="0">
                <a:solidFill>
                  <a:schemeClr val="accent1"/>
                </a:solidFill>
              </a:rPr>
              <a:t>',120,10,'2018-05-04 13:40:40’),</a:t>
            </a:r>
          </a:p>
          <a:p>
            <a:pPr eaLnBrk="1" hangingPunct="1">
              <a:lnSpc>
                <a:spcPts val="2500"/>
              </a:lnSpc>
            </a:pPr>
            <a:r>
              <a:rPr lang="en-US" altLang="zh-CN" sz="1600" dirty="0">
                <a:solidFill>
                  <a:schemeClr val="accent1"/>
                </a:solidFill>
              </a:rPr>
              <a:t>              (10,'</a:t>
            </a:r>
            <a:r>
              <a:rPr lang="zh-CN" altLang="en-US" sz="1600" dirty="0">
                <a:solidFill>
                  <a:schemeClr val="accent1"/>
                </a:solidFill>
              </a:rPr>
              <a:t>书籍</a:t>
            </a:r>
            <a:r>
              <a:rPr lang="en-US" altLang="zh-CN" sz="1600" dirty="0">
                <a:solidFill>
                  <a:schemeClr val="accent1"/>
                </a:solidFill>
              </a:rPr>
              <a:t>','</a:t>
            </a:r>
            <a:r>
              <a:rPr lang="zh-CN" altLang="en-US" sz="1600" dirty="0">
                <a:solidFill>
                  <a:schemeClr val="accent1"/>
                </a:solidFill>
              </a:rPr>
              <a:t>红楼梦</a:t>
            </a:r>
            <a:r>
              <a:rPr lang="en-US" altLang="zh-CN" sz="1600" dirty="0">
                <a:solidFill>
                  <a:schemeClr val="accent1"/>
                </a:solidFill>
              </a:rPr>
              <a:t>',50.5,15,'2018-05-06 13:40:40');</a:t>
            </a:r>
          </a:p>
        </p:txBody>
      </p:sp>
    </p:spTree>
    <p:extLst>
      <p:ext uri="{BB962C8B-B14F-4D97-AF65-F5344CB8AC3E}">
        <p14:creationId xmlns:p14="http://schemas.microsoft.com/office/powerpoint/2010/main" val="9915038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7" grpId="0" animBg="1"/>
      <p:bldP spid="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聚合函数和分组数据记录查询</a:t>
            </a:r>
            <a:r>
              <a:rPr lang="en-US" altLang="zh-CN" b="1" noProof="1">
                <a:solidFill>
                  <a:srgbClr val="44546A"/>
                </a:solidFill>
                <a:latin typeface="微软雅黑" panose="020B0503020204020204" pitchFamily="34" charset="-122"/>
                <a:ea typeface="微软雅黑" panose="020B0503020204020204" pitchFamily="34" charset="-122"/>
              </a:rPr>
              <a:t>-</a:t>
            </a:r>
            <a:r>
              <a:rPr lang="zh-CN" altLang="en-US" b="1" noProof="1">
                <a:solidFill>
                  <a:srgbClr val="44546A"/>
                </a:solidFill>
                <a:latin typeface="微软雅黑" panose="020B0503020204020204" pitchFamily="34" charset="-122"/>
                <a:ea typeface="微软雅黑" panose="020B0503020204020204" pitchFamily="34" charset="-122"/>
              </a:rPr>
              <a:t>使用聚合函数查询</a:t>
            </a:r>
          </a:p>
        </p:txBody>
      </p:sp>
      <p:sp>
        <p:nvSpPr>
          <p:cNvPr id="3" name="文本框 3">
            <a:extLst>
              <a:ext uri="{FF2B5EF4-FFF2-40B4-BE49-F238E27FC236}">
                <a16:creationId xmlns:a16="http://schemas.microsoft.com/office/drawing/2014/main" id="{ABEC3387-BA76-9C43-E57F-D86DBCD37A34}"/>
              </a:ext>
            </a:extLst>
          </p:cNvPr>
          <p:cNvSpPr txBox="1">
            <a:spLocks noChangeArrowheads="1"/>
          </p:cNvSpPr>
          <p:nvPr/>
        </p:nvSpPr>
        <p:spPr bwMode="auto">
          <a:xfrm>
            <a:off x="1882586" y="1177548"/>
            <a:ext cx="9271000" cy="416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800"/>
              </a:lnSpc>
            </a:pPr>
            <a:r>
              <a:rPr lang="en-US" altLang="zh-CN" dirty="0">
                <a:solidFill>
                  <a:srgbClr val="44546A"/>
                </a:solidFill>
                <a:latin typeface="微软雅黑" panose="020B0503020204020204" pitchFamily="34" charset="-122"/>
              </a:rPr>
              <a:t>COUNT()</a:t>
            </a:r>
            <a:r>
              <a:rPr lang="zh-CN" altLang="en-US" dirty="0">
                <a:solidFill>
                  <a:srgbClr val="44546A"/>
                </a:solidFill>
                <a:latin typeface="微软雅黑" panose="020B0503020204020204" pitchFamily="34" charset="-122"/>
              </a:rPr>
              <a:t>函数</a:t>
            </a:r>
            <a:endParaRPr lang="zh-CN" altLang="en-US" noProof="1">
              <a:solidFill>
                <a:srgbClr val="44546A"/>
              </a:solidFill>
              <a:latin typeface="微软雅黑" panose="020B0503020204020204" pitchFamily="34" charset="-122"/>
            </a:endParaRPr>
          </a:p>
        </p:txBody>
      </p:sp>
      <p:grpSp>
        <p:nvGrpSpPr>
          <p:cNvPr id="4" name="组合 3">
            <a:extLst>
              <a:ext uri="{FF2B5EF4-FFF2-40B4-BE49-F238E27FC236}">
                <a16:creationId xmlns:a16="http://schemas.microsoft.com/office/drawing/2014/main" id="{F5C0ECA2-BD16-9C3B-BCBF-0680685D5D9F}"/>
              </a:ext>
            </a:extLst>
          </p:cNvPr>
          <p:cNvGrpSpPr/>
          <p:nvPr/>
        </p:nvGrpSpPr>
        <p:grpSpPr>
          <a:xfrm>
            <a:off x="879286" y="1062243"/>
            <a:ext cx="1003300" cy="722312"/>
            <a:chOff x="877888" y="1586140"/>
            <a:chExt cx="1003300" cy="722312"/>
          </a:xfrm>
        </p:grpSpPr>
        <p:sp>
          <p:nvSpPr>
            <p:cNvPr id="5" name="íṩľíḍè-Freeform: Shape 9">
              <a:extLst>
                <a:ext uri="{FF2B5EF4-FFF2-40B4-BE49-F238E27FC236}">
                  <a16:creationId xmlns:a16="http://schemas.microsoft.com/office/drawing/2014/main" id="{C5CD6A45-63A9-62E7-E4D0-754E22CFAD68}"/>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íṩľíḍè-Oval 10">
              <a:extLst>
                <a:ext uri="{FF2B5EF4-FFF2-40B4-BE49-F238E27FC236}">
                  <a16:creationId xmlns:a16="http://schemas.microsoft.com/office/drawing/2014/main" id="{A6D31542-0D74-6CD6-EA7C-BACF8F1858A7}"/>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1</a:t>
              </a:r>
            </a:p>
          </p:txBody>
        </p:sp>
      </p:grpSp>
      <p:sp>
        <p:nvSpPr>
          <p:cNvPr id="7" name="矩形 6">
            <a:extLst>
              <a:ext uri="{FF2B5EF4-FFF2-40B4-BE49-F238E27FC236}">
                <a16:creationId xmlns:a16="http://schemas.microsoft.com/office/drawing/2014/main" id="{B4CFAEA5-CCFD-0854-0AA5-1C2CD74353BA}"/>
              </a:ext>
            </a:extLst>
          </p:cNvPr>
          <p:cNvSpPr/>
          <p:nvPr/>
        </p:nvSpPr>
        <p:spPr>
          <a:xfrm>
            <a:off x="1078699" y="1823876"/>
            <a:ext cx="10161756" cy="369332"/>
          </a:xfrm>
          <a:prstGeom prst="rect">
            <a:avLst/>
          </a:prstGeom>
        </p:spPr>
        <p:txBody>
          <a:bodyPr wrap="none">
            <a:spAutoFit/>
          </a:bodyPr>
          <a:lstStyle/>
          <a:p>
            <a:r>
              <a:rPr lang="en-US" altLang="zh-CN" dirty="0">
                <a:solidFill>
                  <a:srgbClr val="44546A"/>
                </a:solidFill>
                <a:latin typeface="微软雅黑" panose="020B0503020204020204" pitchFamily="34" charset="-122"/>
                <a:ea typeface="微软雅黑" pitchFamily="34" charset="-122"/>
              </a:rPr>
              <a:t>COUNT()</a:t>
            </a:r>
            <a:r>
              <a:rPr lang="zh-CN" altLang="en-US" dirty="0">
                <a:solidFill>
                  <a:srgbClr val="44546A"/>
                </a:solidFill>
                <a:latin typeface="微软雅黑" panose="020B0503020204020204" pitchFamily="34" charset="-122"/>
                <a:ea typeface="微软雅黑" pitchFamily="34" charset="-122"/>
              </a:rPr>
              <a:t>函数用于统计数据记录条数，用于返回表中记录的条数，或者符合特定条件的记录条数。</a:t>
            </a:r>
            <a:endParaRPr lang="en-US" altLang="zh-CN" dirty="0">
              <a:solidFill>
                <a:srgbClr val="44546A"/>
              </a:solidFill>
              <a:latin typeface="微软雅黑" panose="020B0503020204020204" pitchFamily="34" charset="-122"/>
              <a:ea typeface="微软雅黑" pitchFamily="34" charset="-122"/>
            </a:endParaRPr>
          </a:p>
        </p:txBody>
      </p:sp>
      <p:sp>
        <p:nvSpPr>
          <p:cNvPr id="8" name="矩形 7">
            <a:extLst>
              <a:ext uri="{FF2B5EF4-FFF2-40B4-BE49-F238E27FC236}">
                <a16:creationId xmlns:a16="http://schemas.microsoft.com/office/drawing/2014/main" id="{3B15692F-837A-2680-9D18-550C4C6218C5}"/>
              </a:ext>
            </a:extLst>
          </p:cNvPr>
          <p:cNvSpPr/>
          <p:nvPr/>
        </p:nvSpPr>
        <p:spPr>
          <a:xfrm>
            <a:off x="1631761" y="2293530"/>
            <a:ext cx="8652670" cy="873957"/>
          </a:xfrm>
          <a:prstGeom prst="rect">
            <a:avLst/>
          </a:prstGeom>
        </p:spPr>
        <p:txBody>
          <a:bodyPr wrap="square">
            <a:spAutoFit/>
          </a:bodyPr>
          <a:lstStyle/>
          <a:p>
            <a:pPr indent="-285750">
              <a:lnSpc>
                <a:spcPct val="150000"/>
              </a:lnSpc>
              <a:buFont typeface="Wingdings" panose="05000000000000000000" pitchFamily="2" charset="2"/>
              <a:buChar char="u"/>
            </a:pPr>
            <a:r>
              <a:rPr lang="en-US" altLang="zh-CN" dirty="0">
                <a:solidFill>
                  <a:schemeClr val="accent1"/>
                </a:solidFill>
              </a:rPr>
              <a:t>COUNT(*)</a:t>
            </a:r>
            <a:r>
              <a:rPr lang="zh-CN" altLang="en-US" dirty="0">
                <a:solidFill>
                  <a:schemeClr val="accent1"/>
                </a:solidFill>
              </a:rPr>
              <a:t>：</a:t>
            </a:r>
            <a:r>
              <a:rPr lang="zh-CN" altLang="en-US" dirty="0">
                <a:solidFill>
                  <a:srgbClr val="44546A"/>
                </a:solidFill>
                <a:latin typeface="微软雅黑" panose="020B0503020204020204" pitchFamily="34" charset="-122"/>
                <a:ea typeface="微软雅黑" pitchFamily="34" charset="-122"/>
              </a:rPr>
              <a:t>计算表中总的记录数，不管表字段中是否包含</a:t>
            </a:r>
            <a:r>
              <a:rPr lang="en-US" altLang="zh-CN" dirty="0">
                <a:solidFill>
                  <a:srgbClr val="44546A"/>
                </a:solidFill>
                <a:latin typeface="微软雅黑" panose="020B0503020204020204" pitchFamily="34" charset="-122"/>
                <a:ea typeface="微软雅黑" pitchFamily="34" charset="-122"/>
              </a:rPr>
              <a:t>NULL</a:t>
            </a:r>
            <a:r>
              <a:rPr lang="zh-CN" altLang="en-US" dirty="0">
                <a:solidFill>
                  <a:srgbClr val="44546A"/>
                </a:solidFill>
                <a:latin typeface="微软雅黑" panose="020B0503020204020204" pitchFamily="34" charset="-122"/>
                <a:ea typeface="微软雅黑" pitchFamily="34" charset="-122"/>
              </a:rPr>
              <a:t>值。</a:t>
            </a:r>
          </a:p>
          <a:p>
            <a:pPr marL="285750" indent="-285750">
              <a:lnSpc>
                <a:spcPct val="150000"/>
              </a:lnSpc>
              <a:buFont typeface="Wingdings" panose="05000000000000000000" pitchFamily="2" charset="2"/>
              <a:buChar char="u"/>
            </a:pPr>
            <a:r>
              <a:rPr lang="en-US" altLang="zh-CN" dirty="0">
                <a:solidFill>
                  <a:schemeClr val="accent1"/>
                </a:solidFill>
              </a:rPr>
              <a:t>COUNT(col_name)</a:t>
            </a:r>
            <a:r>
              <a:rPr lang="zh-CN" altLang="en-US" dirty="0">
                <a:solidFill>
                  <a:schemeClr val="accent1"/>
                </a:solidFill>
              </a:rPr>
              <a:t>：</a:t>
            </a:r>
            <a:r>
              <a:rPr lang="zh-CN" altLang="en-US" dirty="0">
                <a:solidFill>
                  <a:srgbClr val="44546A"/>
                </a:solidFill>
                <a:latin typeface="微软雅黑" panose="020B0503020204020204" pitchFamily="34" charset="-122"/>
                <a:ea typeface="微软雅黑" pitchFamily="34" charset="-122"/>
              </a:rPr>
              <a:t>计算表中指定字段的记录数，在具体统计时将忽略</a:t>
            </a:r>
            <a:r>
              <a:rPr lang="en-US" altLang="zh-CN" dirty="0">
                <a:solidFill>
                  <a:srgbClr val="44546A"/>
                </a:solidFill>
                <a:latin typeface="微软雅黑" panose="020B0503020204020204" pitchFamily="34" charset="-122"/>
                <a:ea typeface="微软雅黑" pitchFamily="34" charset="-122"/>
              </a:rPr>
              <a:t>NULL</a:t>
            </a:r>
            <a:r>
              <a:rPr lang="zh-CN" altLang="en-US" dirty="0">
                <a:solidFill>
                  <a:srgbClr val="44546A"/>
                </a:solidFill>
                <a:latin typeface="微软雅黑" panose="020B0503020204020204" pitchFamily="34" charset="-122"/>
                <a:ea typeface="微软雅黑" pitchFamily="34" charset="-122"/>
              </a:rPr>
              <a:t>值。</a:t>
            </a:r>
          </a:p>
        </p:txBody>
      </p:sp>
      <p:grpSp>
        <p:nvGrpSpPr>
          <p:cNvPr id="9" name="组合 34">
            <a:extLst>
              <a:ext uri="{FF2B5EF4-FFF2-40B4-BE49-F238E27FC236}">
                <a16:creationId xmlns:a16="http://schemas.microsoft.com/office/drawing/2014/main" id="{C85760A2-EFA9-12A9-08F1-A726C8F3D33E}"/>
              </a:ext>
            </a:extLst>
          </p:cNvPr>
          <p:cNvGrpSpPr/>
          <p:nvPr/>
        </p:nvGrpSpPr>
        <p:grpSpPr>
          <a:xfrm>
            <a:off x="879286" y="3337005"/>
            <a:ext cx="2183765" cy="600710"/>
            <a:chOff x="1320" y="4641"/>
            <a:chExt cx="3439" cy="946"/>
          </a:xfrm>
          <a:solidFill>
            <a:schemeClr val="accent6"/>
          </a:solidFill>
        </p:grpSpPr>
        <p:sp>
          <p:nvSpPr>
            <p:cNvPr id="10" name="椭圆 9">
              <a:extLst>
                <a:ext uri="{FF2B5EF4-FFF2-40B4-BE49-F238E27FC236}">
                  <a16:creationId xmlns:a16="http://schemas.microsoft.com/office/drawing/2014/main" id="{A861E580-A617-83AB-FB56-F8D60A8E7566}"/>
                </a:ext>
              </a:extLst>
            </p:cNvPr>
            <p:cNvSpPr/>
            <p:nvPr/>
          </p:nvSpPr>
          <p:spPr>
            <a:xfrm>
              <a:off x="1320" y="4641"/>
              <a:ext cx="946" cy="946"/>
            </a:xfrm>
            <a:prstGeom prst="ellipse">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olidFill>
                  <a:schemeClr val="bg1"/>
                </a:solidFill>
                <a:sym typeface="Arial" panose="020B0604020202090204" pitchFamily="34" charset="0"/>
              </a:endParaRPr>
            </a:p>
          </p:txBody>
        </p:sp>
        <p:sp>
          <p:nvSpPr>
            <p:cNvPr id="11" name="圆角矩形 12">
              <a:extLst>
                <a:ext uri="{FF2B5EF4-FFF2-40B4-BE49-F238E27FC236}">
                  <a16:creationId xmlns:a16="http://schemas.microsoft.com/office/drawing/2014/main" id="{36D71752-53E6-E342-9B23-32EFBD967F80}"/>
                </a:ext>
              </a:extLst>
            </p:cNvPr>
            <p:cNvSpPr/>
            <p:nvPr/>
          </p:nvSpPr>
          <p:spPr>
            <a:xfrm>
              <a:off x="1673" y="4793"/>
              <a:ext cx="3086" cy="643"/>
            </a:xfrm>
            <a:prstGeom prst="roundRect">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26</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2" name="文本框 36">
            <a:extLst>
              <a:ext uri="{FF2B5EF4-FFF2-40B4-BE49-F238E27FC236}">
                <a16:creationId xmlns:a16="http://schemas.microsoft.com/office/drawing/2014/main" id="{AA103674-22D1-8CD7-53CE-820192A2C5A6}"/>
              </a:ext>
            </a:extLst>
          </p:cNvPr>
          <p:cNvSpPr txBox="1">
            <a:spLocks noChangeArrowheads="1"/>
          </p:cNvSpPr>
          <p:nvPr/>
        </p:nvSpPr>
        <p:spPr bwMode="auto">
          <a:xfrm>
            <a:off x="3319274" y="3463176"/>
            <a:ext cx="7778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dirty="0">
                <a:solidFill>
                  <a:srgbClr val="44546A"/>
                </a:solidFill>
                <a:latin typeface="微软雅黑" panose="020B0503020204020204" pitchFamily="34" charset="-122"/>
              </a:rPr>
              <a:t>执行</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语句，查询</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表中总的记录条数，执行结果如下。</a:t>
            </a:r>
          </a:p>
        </p:txBody>
      </p:sp>
      <p:sp>
        <p:nvSpPr>
          <p:cNvPr id="13" name="矩形 12">
            <a:extLst>
              <a:ext uri="{FF2B5EF4-FFF2-40B4-BE49-F238E27FC236}">
                <a16:creationId xmlns:a16="http://schemas.microsoft.com/office/drawing/2014/main" id="{060B0891-2844-806F-A58D-1ECA0BDA2BA8}"/>
              </a:ext>
            </a:extLst>
          </p:cNvPr>
          <p:cNvSpPr/>
          <p:nvPr/>
        </p:nvSpPr>
        <p:spPr>
          <a:xfrm>
            <a:off x="655553" y="3958096"/>
            <a:ext cx="5605269" cy="1855800"/>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4" name="文本框 38">
            <a:extLst>
              <a:ext uri="{FF2B5EF4-FFF2-40B4-BE49-F238E27FC236}">
                <a16:creationId xmlns:a16="http://schemas.microsoft.com/office/drawing/2014/main" id="{ACC865FF-C4E2-BB84-49A6-5E8E9530FC3E}"/>
              </a:ext>
            </a:extLst>
          </p:cNvPr>
          <p:cNvSpPr txBox="1">
            <a:spLocks noChangeArrowheads="1"/>
          </p:cNvSpPr>
          <p:nvPr/>
        </p:nvSpPr>
        <p:spPr bwMode="auto">
          <a:xfrm>
            <a:off x="741017" y="3998013"/>
            <a:ext cx="5417129"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chemeClr val="accent1"/>
                </a:solidFill>
              </a:rPr>
              <a:t>mysql&gt; SELECT COUNT(*) AS </a:t>
            </a:r>
            <a:r>
              <a:rPr lang="en-US" altLang="zh-CN" sz="1600" dirty="0" err="1">
                <a:solidFill>
                  <a:schemeClr val="accent1"/>
                </a:solidFill>
              </a:rPr>
              <a:t>goods_num</a:t>
            </a:r>
            <a:r>
              <a:rPr lang="en-US" altLang="zh-CN" sz="1600" dirty="0">
                <a:solidFill>
                  <a:schemeClr val="accent1"/>
                </a:solidFill>
              </a:rPr>
              <a:t> FROM goods;</a:t>
            </a:r>
          </a:p>
          <a:p>
            <a:pPr eaLnBrk="1" hangingPunct="1"/>
            <a:r>
              <a:rPr lang="en-US" altLang="zh-CN" sz="1600" dirty="0">
                <a:solidFill>
                  <a:schemeClr val="accent1"/>
                </a:solidFill>
              </a:rPr>
              <a:t>+-------------------------+</a:t>
            </a:r>
          </a:p>
          <a:p>
            <a:pPr eaLnBrk="1" hangingPunct="1"/>
            <a:r>
              <a:rPr lang="en-US" altLang="zh-CN" sz="1600" dirty="0">
                <a:solidFill>
                  <a:schemeClr val="accent1"/>
                </a:solidFill>
              </a:rPr>
              <a:t>| </a:t>
            </a:r>
            <a:r>
              <a:rPr lang="en-US" altLang="zh-CN" sz="1600" dirty="0" err="1">
                <a:solidFill>
                  <a:schemeClr val="accent1"/>
                </a:solidFill>
              </a:rPr>
              <a:t>goods_num</a:t>
            </a:r>
            <a:r>
              <a:rPr lang="en-US" altLang="zh-CN" sz="1600" dirty="0">
                <a:solidFill>
                  <a:schemeClr val="accent1"/>
                </a:solidFill>
              </a:rPr>
              <a:t>	|</a:t>
            </a:r>
          </a:p>
          <a:p>
            <a:pPr eaLnBrk="1" hangingPunct="1"/>
            <a:r>
              <a:rPr lang="en-US" altLang="zh-CN" sz="1600" dirty="0">
                <a:solidFill>
                  <a:schemeClr val="accent1"/>
                </a:solidFill>
              </a:rPr>
              <a:t>+-------------------------+</a:t>
            </a:r>
          </a:p>
          <a:p>
            <a:pPr eaLnBrk="1" hangingPunct="1"/>
            <a:r>
              <a:rPr lang="en-US" altLang="zh-CN" sz="1600" dirty="0">
                <a:solidFill>
                  <a:schemeClr val="accent1"/>
                </a:solidFill>
              </a:rPr>
              <a:t>|        10		|</a:t>
            </a:r>
          </a:p>
          <a:p>
            <a:pPr eaLnBrk="1" hangingPunct="1"/>
            <a:r>
              <a:rPr lang="en-US" altLang="zh-CN" sz="1600" dirty="0">
                <a:solidFill>
                  <a:schemeClr val="accent1"/>
                </a:solidFill>
              </a:rPr>
              <a:t>+-------------------------+</a:t>
            </a:r>
          </a:p>
          <a:p>
            <a:pPr eaLnBrk="1" hangingPunct="1"/>
            <a:r>
              <a:rPr lang="en-US" altLang="zh-CN" sz="1600" dirty="0">
                <a:solidFill>
                  <a:schemeClr val="accent1"/>
                </a:solidFill>
              </a:rPr>
              <a:t>1 row in set (0.06 sec)</a:t>
            </a:r>
          </a:p>
        </p:txBody>
      </p:sp>
      <p:grpSp>
        <p:nvGrpSpPr>
          <p:cNvPr id="15" name="组合 14">
            <a:extLst>
              <a:ext uri="{FF2B5EF4-FFF2-40B4-BE49-F238E27FC236}">
                <a16:creationId xmlns:a16="http://schemas.microsoft.com/office/drawing/2014/main" id="{318D695F-2123-E982-8144-7FF26CB1815F}"/>
              </a:ext>
            </a:extLst>
          </p:cNvPr>
          <p:cNvGrpSpPr/>
          <p:nvPr/>
        </p:nvGrpSpPr>
        <p:grpSpPr>
          <a:xfrm>
            <a:off x="4090737" y="4911572"/>
            <a:ext cx="6925529" cy="1222719"/>
            <a:chOff x="812165" y="4424635"/>
            <a:chExt cx="10581323" cy="1800000"/>
          </a:xfrm>
        </p:grpSpPr>
        <p:sp>
          <p:nvSpPr>
            <p:cNvPr id="16" name="圆角矩形 17">
              <a:extLst>
                <a:ext uri="{FF2B5EF4-FFF2-40B4-BE49-F238E27FC236}">
                  <a16:creationId xmlns:a16="http://schemas.microsoft.com/office/drawing/2014/main" id="{9B27B080-70BA-187D-9627-8C2A99C16F0B}"/>
                </a:ext>
              </a:extLst>
            </p:cNvPr>
            <p:cNvSpPr/>
            <p:nvPr/>
          </p:nvSpPr>
          <p:spPr>
            <a:xfrm>
              <a:off x="1506538" y="4433966"/>
              <a:ext cx="9886950" cy="1787525"/>
            </a:xfrm>
            <a:prstGeom prst="roundRect">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a:solidFill>
                    <a:srgbClr val="FFFFFF"/>
                  </a:solidFill>
                  <a:sym typeface="Arial" panose="020B0604020202090204" pitchFamily="34" charset="0"/>
                </a:rPr>
                <a:t> </a:t>
              </a:r>
            </a:p>
          </p:txBody>
        </p:sp>
        <p:grpSp>
          <p:nvGrpSpPr>
            <p:cNvPr id="17" name="组合 6">
              <a:extLst>
                <a:ext uri="{FF2B5EF4-FFF2-40B4-BE49-F238E27FC236}">
                  <a16:creationId xmlns:a16="http://schemas.microsoft.com/office/drawing/2014/main" id="{F8604BB6-E112-BA95-D812-5AF0D22A3B7C}"/>
                </a:ext>
              </a:extLst>
            </p:cNvPr>
            <p:cNvGrpSpPr/>
            <p:nvPr/>
          </p:nvGrpSpPr>
          <p:grpSpPr bwMode="auto">
            <a:xfrm>
              <a:off x="812165" y="4424635"/>
              <a:ext cx="2660015" cy="1800000"/>
              <a:chOff x="1349" y="2421"/>
              <a:chExt cx="4189" cy="3606"/>
            </a:xfrm>
          </p:grpSpPr>
          <p:sp>
            <p:nvSpPr>
              <p:cNvPr id="18" name="Flowchart: Off-page Connector 32">
                <a:extLst>
                  <a:ext uri="{FF2B5EF4-FFF2-40B4-BE49-F238E27FC236}">
                    <a16:creationId xmlns:a16="http://schemas.microsoft.com/office/drawing/2014/main" id="{3A410430-4F95-54F6-E5EB-F8629B815098}"/>
                  </a:ext>
                </a:extLst>
              </p:cNvPr>
              <p:cNvSpPr/>
              <p:nvPr/>
            </p:nvSpPr>
            <p:spPr>
              <a:xfrm rot="16200000">
                <a:off x="2376" y="2865"/>
                <a:ext cx="3606" cy="2718"/>
              </a:xfrm>
              <a:custGeom>
                <a:avLst/>
                <a:gdLst>
                  <a:gd name="connsiteX0" fmla="*/ 10 w 1538"/>
                  <a:gd name="connsiteY0" fmla="*/ 0 h 2133"/>
                  <a:gd name="connsiteX1" fmla="*/ 1538 w 1538"/>
                  <a:gd name="connsiteY1" fmla="*/ 16 h 2133"/>
                  <a:gd name="connsiteX2" fmla="*/ 1530 w 1538"/>
                  <a:gd name="connsiteY2" fmla="*/ 1485 h 2133"/>
                  <a:gd name="connsiteX3" fmla="*/ 765 w 1538"/>
                  <a:gd name="connsiteY3" fmla="*/ 2133 h 2133"/>
                  <a:gd name="connsiteX4" fmla="*/ 0 w 1538"/>
                  <a:gd name="connsiteY4" fmla="*/ 1485 h 2133"/>
                  <a:gd name="connsiteX5" fmla="*/ 10 w 1538"/>
                  <a:gd name="connsiteY5" fmla="*/ 0 h 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8" h="2133">
                    <a:moveTo>
                      <a:pt x="10" y="0"/>
                    </a:moveTo>
                    <a:lnTo>
                      <a:pt x="1538" y="16"/>
                    </a:lnTo>
                    <a:lnTo>
                      <a:pt x="1530" y="1485"/>
                    </a:lnTo>
                    <a:lnTo>
                      <a:pt x="765" y="2133"/>
                    </a:lnTo>
                    <a:lnTo>
                      <a:pt x="0" y="1485"/>
                    </a:lnTo>
                    <a:lnTo>
                      <a:pt x="10"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anchor="ctr"/>
              <a:lstStyle/>
              <a:p>
                <a:pPr algn="ctr">
                  <a:defRPr/>
                </a:pPr>
                <a:endParaRPr lang="en-US" sz="3600" noProof="1">
                  <a:solidFill>
                    <a:schemeClr val="bg1"/>
                  </a:solidFill>
                  <a:latin typeface="Impact" panose="020B0806030902050204" pitchFamily="34" charset="0"/>
                </a:endParaRPr>
              </a:p>
            </p:txBody>
          </p:sp>
          <p:sp>
            <p:nvSpPr>
              <p:cNvPr id="19" name="Round Same Side Corner Rectangle 33">
                <a:extLst>
                  <a:ext uri="{FF2B5EF4-FFF2-40B4-BE49-F238E27FC236}">
                    <a16:creationId xmlns:a16="http://schemas.microsoft.com/office/drawing/2014/main" id="{0909D200-07EF-715B-C34C-087FEAA0B04D}"/>
                  </a:ext>
                </a:extLst>
              </p:cNvPr>
              <p:cNvSpPr/>
              <p:nvPr/>
            </p:nvSpPr>
            <p:spPr>
              <a:xfrm rot="16200000">
                <a:off x="1197" y="2581"/>
                <a:ext cx="3590" cy="3285"/>
              </a:xfrm>
              <a:prstGeom prst="round2Same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anchor="ctr"/>
              <a:lstStyle/>
              <a:p>
                <a:pPr algn="ctr">
                  <a:defRPr/>
                </a:pPr>
                <a:r>
                  <a:rPr lang="zh-CN" altLang="en-US" sz="1600" b="1" noProof="1">
                    <a:solidFill>
                      <a:schemeClr val="bg1">
                        <a:lumMod val="50000"/>
                        <a:lumOff val="50000"/>
                      </a:schemeClr>
                    </a:solidFill>
                    <a:latin typeface="微软雅黑" pitchFamily="34" charset="-122"/>
                  </a:rPr>
                  <a:t>提示</a:t>
                </a:r>
                <a:endParaRPr lang="zh-CN" altLang="zh-CN" sz="1600" b="1" noProof="1">
                  <a:solidFill>
                    <a:schemeClr val="bg1">
                      <a:lumMod val="50000"/>
                      <a:lumOff val="50000"/>
                    </a:schemeClr>
                  </a:solidFill>
                  <a:latin typeface="微软雅黑" pitchFamily="34" charset="-122"/>
                </a:endParaRPr>
              </a:p>
            </p:txBody>
          </p:sp>
        </p:grpSp>
      </p:grpSp>
      <p:sp>
        <p:nvSpPr>
          <p:cNvPr id="20" name="文本框 41">
            <a:extLst>
              <a:ext uri="{FF2B5EF4-FFF2-40B4-BE49-F238E27FC236}">
                <a16:creationId xmlns:a16="http://schemas.microsoft.com/office/drawing/2014/main" id="{160DD2C5-9B86-8D9C-F1D2-1D6C1281B87B}"/>
              </a:ext>
            </a:extLst>
          </p:cNvPr>
          <p:cNvSpPr txBox="1">
            <a:spLocks noChangeArrowheads="1"/>
          </p:cNvSpPr>
          <p:nvPr/>
        </p:nvSpPr>
        <p:spPr bwMode="auto">
          <a:xfrm>
            <a:off x="5913868" y="4911572"/>
            <a:ext cx="5075852" cy="112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800"/>
              </a:lnSpc>
            </a:pPr>
            <a:r>
              <a:rPr lang="zh-CN" altLang="en-US" sz="1400" dirty="0">
                <a:solidFill>
                  <a:schemeClr val="bg1"/>
                </a:solidFill>
                <a:latin typeface="微软雅黑" panose="020B0503020204020204" pitchFamily="34" charset="-122"/>
              </a:rPr>
              <a:t>上述语句中使用</a:t>
            </a:r>
            <a:r>
              <a:rPr lang="en-US" altLang="zh-CN" sz="1400" dirty="0">
                <a:solidFill>
                  <a:schemeClr val="bg1"/>
                </a:solidFill>
                <a:latin typeface="微软雅黑" panose="020B0503020204020204" pitchFamily="34" charset="-122"/>
              </a:rPr>
              <a:t>AS</a:t>
            </a:r>
            <a:r>
              <a:rPr lang="zh-CN" altLang="en-US" sz="1400" dirty="0">
                <a:solidFill>
                  <a:schemeClr val="bg1"/>
                </a:solidFill>
                <a:latin typeface="微软雅黑" panose="020B0503020204020204" pitchFamily="34" charset="-122"/>
              </a:rPr>
              <a:t>关键字为字段取别名为</a:t>
            </a:r>
            <a:r>
              <a:rPr lang="en-US" altLang="zh-CN" sz="1400" dirty="0" err="1">
                <a:solidFill>
                  <a:schemeClr val="bg1"/>
                </a:solidFill>
                <a:latin typeface="微软雅黑" panose="020B0503020204020204" pitchFamily="34" charset="-122"/>
              </a:rPr>
              <a:t>goods_num</a:t>
            </a:r>
            <a:r>
              <a:rPr lang="zh-CN" altLang="en-US" sz="1400" dirty="0">
                <a:solidFill>
                  <a:schemeClr val="bg1"/>
                </a:solidFill>
                <a:latin typeface="微软雅黑" panose="020B0503020204020204" pitchFamily="34" charset="-122"/>
              </a:rPr>
              <a:t>，使得查询结果简单明了，</a:t>
            </a:r>
            <a:r>
              <a:rPr lang="en-US" altLang="zh-CN" sz="1400" dirty="0">
                <a:solidFill>
                  <a:schemeClr val="bg1"/>
                </a:solidFill>
                <a:latin typeface="微软雅黑" panose="020B0503020204020204" pitchFamily="34" charset="-122"/>
              </a:rPr>
              <a:t>AS</a:t>
            </a:r>
            <a:r>
              <a:rPr lang="zh-CN" altLang="en-US" sz="1400" dirty="0">
                <a:solidFill>
                  <a:schemeClr val="bg1"/>
                </a:solidFill>
                <a:latin typeface="微软雅黑" panose="020B0503020204020204" pitchFamily="34" charset="-122"/>
              </a:rPr>
              <a:t>关键字可省略。使用</a:t>
            </a:r>
            <a:r>
              <a:rPr lang="en-US" altLang="zh-CN" sz="1400" dirty="0">
                <a:solidFill>
                  <a:schemeClr val="bg1"/>
                </a:solidFill>
                <a:latin typeface="微软雅黑" panose="020B0503020204020204" pitchFamily="34" charset="-122"/>
              </a:rPr>
              <a:t>AS</a:t>
            </a:r>
            <a:r>
              <a:rPr lang="zh-CN" altLang="en-US" sz="1400" dirty="0">
                <a:solidFill>
                  <a:schemeClr val="bg1"/>
                </a:solidFill>
                <a:latin typeface="微软雅黑" panose="020B0503020204020204" pitchFamily="34" charset="-122"/>
              </a:rPr>
              <a:t>关键字不仅可以为字段取别名，还可为表取别名，其使用非常灵活。</a:t>
            </a:r>
          </a:p>
        </p:txBody>
      </p:sp>
    </p:spTree>
    <p:extLst>
      <p:ext uri="{BB962C8B-B14F-4D97-AF65-F5344CB8AC3E}">
        <p14:creationId xmlns:p14="http://schemas.microsoft.com/office/powerpoint/2010/main" val="21421197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1000"/>
                                        <p:tgtEl>
                                          <p:spTgt spid="15"/>
                                        </p:tgtEl>
                                      </p:cBhvr>
                                    </p:animEffect>
                                    <p:anim calcmode="lin" valueType="num">
                                      <p:cBhvr>
                                        <p:cTn id="51" dur="1000" fill="hold"/>
                                        <p:tgtEl>
                                          <p:spTgt spid="15"/>
                                        </p:tgtEl>
                                        <p:attrNameLst>
                                          <p:attrName>ppt_x</p:attrName>
                                        </p:attrNameLst>
                                      </p:cBhvr>
                                      <p:tavLst>
                                        <p:tav tm="0">
                                          <p:val>
                                            <p:strVal val="#ppt_x"/>
                                          </p:val>
                                        </p:tav>
                                        <p:tav tm="100000">
                                          <p:val>
                                            <p:strVal val="#ppt_x"/>
                                          </p:val>
                                        </p:tav>
                                      </p:tavLst>
                                    </p:anim>
                                    <p:anim calcmode="lin" valueType="num">
                                      <p:cBhvr>
                                        <p:cTn id="52" dur="1000" fill="hold"/>
                                        <p:tgtEl>
                                          <p:spTgt spid="15"/>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1000"/>
                                        <p:tgtEl>
                                          <p:spTgt spid="20"/>
                                        </p:tgtEl>
                                      </p:cBhvr>
                                    </p:animEffect>
                                    <p:anim calcmode="lin" valueType="num">
                                      <p:cBhvr>
                                        <p:cTn id="56" dur="1000" fill="hold"/>
                                        <p:tgtEl>
                                          <p:spTgt spid="20"/>
                                        </p:tgtEl>
                                        <p:attrNameLst>
                                          <p:attrName>ppt_x</p:attrName>
                                        </p:attrNameLst>
                                      </p:cBhvr>
                                      <p:tavLst>
                                        <p:tav tm="0">
                                          <p:val>
                                            <p:strVal val="#ppt_x"/>
                                          </p:val>
                                        </p:tav>
                                        <p:tav tm="100000">
                                          <p:val>
                                            <p:strVal val="#ppt_x"/>
                                          </p:val>
                                        </p:tav>
                                      </p:tavLst>
                                    </p:anim>
                                    <p:anim calcmode="lin" valueType="num">
                                      <p:cBhvr>
                                        <p:cTn id="5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12" grpId="0"/>
      <p:bldP spid="13" grpId="0" animBg="1"/>
      <p:bldP spid="14" grpId="0"/>
      <p:bldP spid="2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聚合函数和分组数据记录查询</a:t>
            </a:r>
            <a:r>
              <a:rPr lang="en-US" altLang="zh-CN" b="1" noProof="1">
                <a:solidFill>
                  <a:srgbClr val="44546A"/>
                </a:solidFill>
                <a:latin typeface="微软雅黑" panose="020B0503020204020204" pitchFamily="34" charset="-122"/>
                <a:ea typeface="微软雅黑" panose="020B0503020204020204" pitchFamily="34" charset="-122"/>
              </a:rPr>
              <a:t>-</a:t>
            </a:r>
            <a:r>
              <a:rPr lang="zh-CN" altLang="en-US" b="1" noProof="1">
                <a:solidFill>
                  <a:srgbClr val="44546A"/>
                </a:solidFill>
                <a:latin typeface="微软雅黑" panose="020B0503020204020204" pitchFamily="34" charset="-122"/>
                <a:ea typeface="微软雅黑" panose="020B0503020204020204" pitchFamily="34" charset="-122"/>
              </a:rPr>
              <a:t>使用聚合函数查询</a:t>
            </a:r>
          </a:p>
        </p:txBody>
      </p:sp>
      <p:sp>
        <p:nvSpPr>
          <p:cNvPr id="3" name="文本框 3">
            <a:extLst>
              <a:ext uri="{FF2B5EF4-FFF2-40B4-BE49-F238E27FC236}">
                <a16:creationId xmlns:a16="http://schemas.microsoft.com/office/drawing/2014/main" id="{7473815B-6CBB-A04F-BC7D-10899AD35932}"/>
              </a:ext>
            </a:extLst>
          </p:cNvPr>
          <p:cNvSpPr txBox="1">
            <a:spLocks noChangeArrowheads="1"/>
          </p:cNvSpPr>
          <p:nvPr/>
        </p:nvSpPr>
        <p:spPr bwMode="auto">
          <a:xfrm>
            <a:off x="1882586" y="1158886"/>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en-US" altLang="zh-CN" dirty="0">
                <a:solidFill>
                  <a:srgbClr val="44546A"/>
                </a:solidFill>
                <a:latin typeface="微软雅黑" panose="020B0503020204020204" pitchFamily="34" charset="-122"/>
              </a:rPr>
              <a:t>COUNT()</a:t>
            </a:r>
            <a:r>
              <a:rPr lang="zh-CN" altLang="en-US" dirty="0">
                <a:solidFill>
                  <a:srgbClr val="44546A"/>
                </a:solidFill>
                <a:latin typeface="微软雅黑" panose="020B0503020204020204" pitchFamily="34" charset="-122"/>
              </a:rPr>
              <a:t>函数</a:t>
            </a:r>
            <a:endParaRPr lang="zh-CN" altLang="en-US" noProof="1">
              <a:solidFill>
                <a:srgbClr val="44546A"/>
              </a:solidFill>
              <a:latin typeface="微软雅黑" panose="020B0503020204020204" pitchFamily="34" charset="-122"/>
            </a:endParaRPr>
          </a:p>
        </p:txBody>
      </p:sp>
      <p:grpSp>
        <p:nvGrpSpPr>
          <p:cNvPr id="4" name="组合 3">
            <a:extLst>
              <a:ext uri="{FF2B5EF4-FFF2-40B4-BE49-F238E27FC236}">
                <a16:creationId xmlns:a16="http://schemas.microsoft.com/office/drawing/2014/main" id="{F6F27D28-051E-FA14-5245-48F06CC12649}"/>
              </a:ext>
            </a:extLst>
          </p:cNvPr>
          <p:cNvGrpSpPr/>
          <p:nvPr/>
        </p:nvGrpSpPr>
        <p:grpSpPr>
          <a:xfrm>
            <a:off x="879286" y="1043581"/>
            <a:ext cx="1003300" cy="722312"/>
            <a:chOff x="877888" y="1586140"/>
            <a:chExt cx="1003300" cy="722312"/>
          </a:xfrm>
        </p:grpSpPr>
        <p:sp>
          <p:nvSpPr>
            <p:cNvPr id="5" name="íṩľíḍè-Freeform: Shape 9">
              <a:extLst>
                <a:ext uri="{FF2B5EF4-FFF2-40B4-BE49-F238E27FC236}">
                  <a16:creationId xmlns:a16="http://schemas.microsoft.com/office/drawing/2014/main" id="{16E7004B-F409-995D-0E18-CB2D66BBB5C9}"/>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íṩľíḍè-Oval 10">
              <a:extLst>
                <a:ext uri="{FF2B5EF4-FFF2-40B4-BE49-F238E27FC236}">
                  <a16:creationId xmlns:a16="http://schemas.microsoft.com/office/drawing/2014/main" id="{32A55732-3F9C-913A-3688-3C1339983AD6}"/>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1</a:t>
              </a:r>
            </a:p>
          </p:txBody>
        </p:sp>
      </p:grpSp>
      <p:grpSp>
        <p:nvGrpSpPr>
          <p:cNvPr id="7" name="组合 34">
            <a:extLst>
              <a:ext uri="{FF2B5EF4-FFF2-40B4-BE49-F238E27FC236}">
                <a16:creationId xmlns:a16="http://schemas.microsoft.com/office/drawing/2014/main" id="{EC1018D8-306D-9F15-AB53-741544B07E38}"/>
              </a:ext>
            </a:extLst>
          </p:cNvPr>
          <p:cNvGrpSpPr/>
          <p:nvPr/>
        </p:nvGrpSpPr>
        <p:grpSpPr>
          <a:xfrm>
            <a:off x="879286" y="1895709"/>
            <a:ext cx="2183765" cy="600710"/>
            <a:chOff x="1320" y="4641"/>
            <a:chExt cx="3439" cy="946"/>
          </a:xfrm>
          <a:solidFill>
            <a:schemeClr val="accent6"/>
          </a:solidFill>
        </p:grpSpPr>
        <p:sp>
          <p:nvSpPr>
            <p:cNvPr id="8" name="椭圆 7">
              <a:extLst>
                <a:ext uri="{FF2B5EF4-FFF2-40B4-BE49-F238E27FC236}">
                  <a16:creationId xmlns:a16="http://schemas.microsoft.com/office/drawing/2014/main" id="{18DEAE5D-9EB3-9246-995C-1139C9C3D18B}"/>
                </a:ext>
              </a:extLst>
            </p:cNvPr>
            <p:cNvSpPr/>
            <p:nvPr/>
          </p:nvSpPr>
          <p:spPr>
            <a:xfrm>
              <a:off x="1320" y="4641"/>
              <a:ext cx="946" cy="946"/>
            </a:xfrm>
            <a:prstGeom prst="ellipse">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9" name="圆角矩形 12">
              <a:extLst>
                <a:ext uri="{FF2B5EF4-FFF2-40B4-BE49-F238E27FC236}">
                  <a16:creationId xmlns:a16="http://schemas.microsoft.com/office/drawing/2014/main" id="{60CDCE60-D2E5-60E9-8E56-5FD47AF60E72}"/>
                </a:ext>
              </a:extLst>
            </p:cNvPr>
            <p:cNvSpPr/>
            <p:nvPr/>
          </p:nvSpPr>
          <p:spPr>
            <a:xfrm>
              <a:off x="1673" y="4793"/>
              <a:ext cx="3086" cy="643"/>
            </a:xfrm>
            <a:prstGeom prst="roundRect">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27</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0" name="文本框 36">
            <a:extLst>
              <a:ext uri="{FF2B5EF4-FFF2-40B4-BE49-F238E27FC236}">
                <a16:creationId xmlns:a16="http://schemas.microsoft.com/office/drawing/2014/main" id="{40449C4D-B056-8E95-ECC4-0F3CA1AC533D}"/>
              </a:ext>
            </a:extLst>
          </p:cNvPr>
          <p:cNvSpPr txBox="1">
            <a:spLocks noChangeArrowheads="1"/>
          </p:cNvSpPr>
          <p:nvPr/>
        </p:nvSpPr>
        <p:spPr bwMode="auto">
          <a:xfrm>
            <a:off x="3257834" y="1834803"/>
            <a:ext cx="7778588"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ct val="150000"/>
              </a:lnSpc>
            </a:pPr>
            <a:r>
              <a:rPr lang="zh-CN" altLang="en-US" dirty="0">
                <a:solidFill>
                  <a:srgbClr val="44546A"/>
                </a:solidFill>
                <a:latin typeface="微软雅黑" panose="020B0503020204020204" pitchFamily="34" charset="-122"/>
              </a:rPr>
              <a:t>执行</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语句，查询</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表中有库存（</a:t>
            </a:r>
            <a:r>
              <a:rPr lang="en-US" altLang="zh-CN" dirty="0">
                <a:solidFill>
                  <a:srgbClr val="44546A"/>
                </a:solidFill>
                <a:latin typeface="微软雅黑" panose="020B0503020204020204" pitchFamily="34" charset="-122"/>
              </a:rPr>
              <a:t>num</a:t>
            </a:r>
            <a:r>
              <a:rPr lang="zh-CN" altLang="en-US" dirty="0">
                <a:solidFill>
                  <a:srgbClr val="44546A"/>
                </a:solidFill>
                <a:latin typeface="微软雅黑" panose="020B0503020204020204" pitchFamily="34" charset="-122"/>
              </a:rPr>
              <a:t>值不为</a:t>
            </a:r>
            <a:r>
              <a:rPr lang="en-US" altLang="zh-CN" dirty="0">
                <a:solidFill>
                  <a:srgbClr val="44546A"/>
                </a:solidFill>
                <a:latin typeface="微软雅黑" panose="020B0503020204020204" pitchFamily="34" charset="-122"/>
              </a:rPr>
              <a:t>NULL</a:t>
            </a:r>
            <a:r>
              <a:rPr lang="zh-CN" altLang="en-US" dirty="0">
                <a:solidFill>
                  <a:srgbClr val="44546A"/>
                </a:solidFill>
                <a:latin typeface="微软雅黑" panose="020B0503020204020204" pitchFamily="34" charset="-122"/>
              </a:rPr>
              <a:t>）的记录条数，执行结果如下。</a:t>
            </a:r>
          </a:p>
        </p:txBody>
      </p:sp>
      <p:sp>
        <p:nvSpPr>
          <p:cNvPr id="11" name="矩形 10">
            <a:extLst>
              <a:ext uri="{FF2B5EF4-FFF2-40B4-BE49-F238E27FC236}">
                <a16:creationId xmlns:a16="http://schemas.microsoft.com/office/drawing/2014/main" id="{E9D5A444-B46F-0B93-E65A-C841766F8449}"/>
              </a:ext>
            </a:extLst>
          </p:cNvPr>
          <p:cNvSpPr/>
          <p:nvPr/>
        </p:nvSpPr>
        <p:spPr>
          <a:xfrm>
            <a:off x="1140765" y="2936695"/>
            <a:ext cx="9882453" cy="2031696"/>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2" name="文本框 38">
            <a:extLst>
              <a:ext uri="{FF2B5EF4-FFF2-40B4-BE49-F238E27FC236}">
                <a16:creationId xmlns:a16="http://schemas.microsoft.com/office/drawing/2014/main" id="{617AFF12-2EE1-A437-5DA9-F602AE85FA6E}"/>
              </a:ext>
            </a:extLst>
          </p:cNvPr>
          <p:cNvSpPr txBox="1">
            <a:spLocks noChangeArrowheads="1"/>
          </p:cNvSpPr>
          <p:nvPr/>
        </p:nvSpPr>
        <p:spPr bwMode="auto">
          <a:xfrm>
            <a:off x="2168660" y="3041929"/>
            <a:ext cx="8574639"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chemeClr val="accent1"/>
                </a:solidFill>
              </a:rPr>
              <a:t>mysql&gt; SELECT COUNT(num) AS </a:t>
            </a:r>
            <a:r>
              <a:rPr lang="en-US" altLang="zh-CN" sz="1600" dirty="0" err="1">
                <a:solidFill>
                  <a:schemeClr val="accent1"/>
                </a:solidFill>
              </a:rPr>
              <a:t>goods_num</a:t>
            </a:r>
            <a:r>
              <a:rPr lang="en-US" altLang="zh-CN" sz="1600" dirty="0">
                <a:solidFill>
                  <a:schemeClr val="accent1"/>
                </a:solidFill>
              </a:rPr>
              <a:t> FROM goods;</a:t>
            </a:r>
          </a:p>
          <a:p>
            <a:pPr eaLnBrk="1" hangingPunct="1"/>
            <a:r>
              <a:rPr lang="en-US" altLang="zh-CN" sz="1600" dirty="0">
                <a:solidFill>
                  <a:schemeClr val="accent1"/>
                </a:solidFill>
              </a:rPr>
              <a:t>+----------------+</a:t>
            </a:r>
          </a:p>
          <a:p>
            <a:pPr eaLnBrk="1" hangingPunct="1"/>
            <a:r>
              <a:rPr lang="en-US" altLang="zh-CN" sz="1600" dirty="0">
                <a:solidFill>
                  <a:schemeClr val="accent1"/>
                </a:solidFill>
              </a:rPr>
              <a:t>| </a:t>
            </a:r>
            <a:r>
              <a:rPr lang="en-US" altLang="zh-CN" sz="1600" dirty="0" err="1">
                <a:solidFill>
                  <a:schemeClr val="accent1"/>
                </a:solidFill>
              </a:rPr>
              <a:t>goods_num</a:t>
            </a:r>
            <a:r>
              <a:rPr lang="en-US" altLang="zh-CN" sz="1600" dirty="0">
                <a:solidFill>
                  <a:schemeClr val="accent1"/>
                </a:solidFill>
              </a:rPr>
              <a:t> |</a:t>
            </a:r>
          </a:p>
          <a:p>
            <a:pPr eaLnBrk="1" hangingPunct="1"/>
            <a:r>
              <a:rPr lang="en-US" altLang="zh-CN" sz="1600" dirty="0">
                <a:solidFill>
                  <a:schemeClr val="accent1"/>
                </a:solidFill>
              </a:rPr>
              <a:t>+----------------+</a:t>
            </a:r>
          </a:p>
          <a:p>
            <a:pPr eaLnBrk="1" hangingPunct="1"/>
            <a:r>
              <a:rPr lang="en-US" altLang="zh-CN" sz="1600" dirty="0">
                <a:solidFill>
                  <a:schemeClr val="accent1"/>
                </a:solidFill>
              </a:rPr>
              <a:t>|         9	     |</a:t>
            </a:r>
          </a:p>
          <a:p>
            <a:pPr eaLnBrk="1" hangingPunct="1"/>
            <a:r>
              <a:rPr lang="en-US" altLang="zh-CN" sz="1600" dirty="0">
                <a:solidFill>
                  <a:schemeClr val="accent1"/>
                </a:solidFill>
              </a:rPr>
              <a:t>+----------------+</a:t>
            </a:r>
          </a:p>
          <a:p>
            <a:pPr eaLnBrk="1" hangingPunct="1"/>
            <a:r>
              <a:rPr lang="en-US" altLang="zh-CN" sz="1600" dirty="0">
                <a:solidFill>
                  <a:schemeClr val="accent1"/>
                </a:solidFill>
              </a:rPr>
              <a:t>1 row in set (0.01 sec)</a:t>
            </a:r>
          </a:p>
        </p:txBody>
      </p:sp>
    </p:spTree>
    <p:extLst>
      <p:ext uri="{BB962C8B-B14F-4D97-AF65-F5344CB8AC3E}">
        <p14:creationId xmlns:p14="http://schemas.microsoft.com/office/powerpoint/2010/main" val="42735237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par>
                          <p:cTn id="21" fill="hold">
                            <p:stCondLst>
                              <p:cond delay="500"/>
                            </p:stCondLst>
                            <p:childTnLst>
                              <p:par>
                                <p:cTn id="22" presetID="22" presetClass="entr" presetSubtype="4"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down)">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1" grpId="0" animBg="1"/>
      <p:bldP spid="1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聚合函数和分组数据记录查询</a:t>
            </a:r>
            <a:r>
              <a:rPr lang="en-US" altLang="zh-CN" b="1" noProof="1">
                <a:solidFill>
                  <a:srgbClr val="44546A"/>
                </a:solidFill>
                <a:latin typeface="微软雅黑" panose="020B0503020204020204" pitchFamily="34" charset="-122"/>
                <a:ea typeface="微软雅黑" panose="020B0503020204020204" pitchFamily="34" charset="-122"/>
              </a:rPr>
              <a:t>-</a:t>
            </a:r>
            <a:r>
              <a:rPr lang="zh-CN" altLang="en-US" b="1" noProof="1">
                <a:solidFill>
                  <a:srgbClr val="44546A"/>
                </a:solidFill>
                <a:latin typeface="微软雅黑" panose="020B0503020204020204" pitchFamily="34" charset="-122"/>
                <a:ea typeface="微软雅黑" panose="020B0503020204020204" pitchFamily="34" charset="-122"/>
              </a:rPr>
              <a:t>使用聚合函数查询</a:t>
            </a:r>
          </a:p>
        </p:txBody>
      </p:sp>
      <p:sp>
        <p:nvSpPr>
          <p:cNvPr id="3" name="文本框 3">
            <a:extLst>
              <a:ext uri="{FF2B5EF4-FFF2-40B4-BE49-F238E27FC236}">
                <a16:creationId xmlns:a16="http://schemas.microsoft.com/office/drawing/2014/main" id="{7937B718-E448-C908-AF9C-0330F8A0E661}"/>
              </a:ext>
            </a:extLst>
          </p:cNvPr>
          <p:cNvSpPr txBox="1">
            <a:spLocks noChangeArrowheads="1"/>
          </p:cNvSpPr>
          <p:nvPr/>
        </p:nvSpPr>
        <p:spPr bwMode="auto">
          <a:xfrm>
            <a:off x="1882586" y="1266341"/>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en-US" altLang="zh-CN" dirty="0">
                <a:solidFill>
                  <a:srgbClr val="44546A"/>
                </a:solidFill>
                <a:latin typeface="微软雅黑" panose="020B0503020204020204" pitchFamily="34" charset="-122"/>
              </a:rPr>
              <a:t>SUM()</a:t>
            </a:r>
            <a:r>
              <a:rPr lang="zh-CN" altLang="en-US" dirty="0">
                <a:solidFill>
                  <a:srgbClr val="44546A"/>
                </a:solidFill>
                <a:latin typeface="微软雅黑" panose="020B0503020204020204" pitchFamily="34" charset="-122"/>
              </a:rPr>
              <a:t>函数</a:t>
            </a:r>
            <a:endParaRPr lang="zh-CN" altLang="en-US" noProof="1">
              <a:solidFill>
                <a:srgbClr val="44546A"/>
              </a:solidFill>
              <a:latin typeface="微软雅黑" panose="020B0503020204020204" pitchFamily="34" charset="-122"/>
            </a:endParaRPr>
          </a:p>
        </p:txBody>
      </p:sp>
      <p:grpSp>
        <p:nvGrpSpPr>
          <p:cNvPr id="4" name="组合 3">
            <a:extLst>
              <a:ext uri="{FF2B5EF4-FFF2-40B4-BE49-F238E27FC236}">
                <a16:creationId xmlns:a16="http://schemas.microsoft.com/office/drawing/2014/main" id="{EF2DCB97-DACD-5435-A17D-65597E49C6ED}"/>
              </a:ext>
            </a:extLst>
          </p:cNvPr>
          <p:cNvGrpSpPr/>
          <p:nvPr/>
        </p:nvGrpSpPr>
        <p:grpSpPr>
          <a:xfrm>
            <a:off x="879286" y="1151036"/>
            <a:ext cx="1003300" cy="722312"/>
            <a:chOff x="877888" y="1586140"/>
            <a:chExt cx="1003300" cy="722312"/>
          </a:xfrm>
        </p:grpSpPr>
        <p:sp>
          <p:nvSpPr>
            <p:cNvPr id="5" name="íṩľíḍè-Freeform: Shape 9">
              <a:extLst>
                <a:ext uri="{FF2B5EF4-FFF2-40B4-BE49-F238E27FC236}">
                  <a16:creationId xmlns:a16="http://schemas.microsoft.com/office/drawing/2014/main" id="{62B1D6D3-68D3-C2D4-236A-F9568156F0AE}"/>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íṩľíḍè-Oval 10">
              <a:extLst>
                <a:ext uri="{FF2B5EF4-FFF2-40B4-BE49-F238E27FC236}">
                  <a16:creationId xmlns:a16="http://schemas.microsoft.com/office/drawing/2014/main" id="{FBAFDFDC-3881-770E-B614-90FAAB892BC7}"/>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2</a:t>
              </a:r>
            </a:p>
          </p:txBody>
        </p:sp>
      </p:grpSp>
      <p:sp>
        <p:nvSpPr>
          <p:cNvPr id="7" name="矩形 6">
            <a:extLst>
              <a:ext uri="{FF2B5EF4-FFF2-40B4-BE49-F238E27FC236}">
                <a16:creationId xmlns:a16="http://schemas.microsoft.com/office/drawing/2014/main" id="{1BD409AD-B2DC-61A9-BFEF-EBB4B4CE0CAC}"/>
              </a:ext>
            </a:extLst>
          </p:cNvPr>
          <p:cNvSpPr/>
          <p:nvPr/>
        </p:nvSpPr>
        <p:spPr>
          <a:xfrm>
            <a:off x="879286" y="1827677"/>
            <a:ext cx="10796545" cy="874407"/>
          </a:xfrm>
          <a:prstGeom prst="rect">
            <a:avLst/>
          </a:prstGeom>
        </p:spPr>
        <p:txBody>
          <a:bodyPr wrap="none">
            <a:spAutoFit/>
          </a:bodyPr>
          <a:lstStyle/>
          <a:p>
            <a:pPr indent="457200" algn="just">
              <a:lnSpc>
                <a:spcPct val="150000"/>
              </a:lnSpc>
            </a:pPr>
            <a:r>
              <a:rPr lang="en-US" altLang="zh-CN" dirty="0">
                <a:solidFill>
                  <a:srgbClr val="44546A"/>
                </a:solidFill>
                <a:latin typeface="微软雅黑" panose="020B0503020204020204" pitchFamily="34" charset="-122"/>
                <a:ea typeface="微软雅黑" pitchFamily="34" charset="-122"/>
              </a:rPr>
              <a:t>SUM()</a:t>
            </a:r>
            <a:r>
              <a:rPr lang="zh-CN" altLang="en-US" dirty="0">
                <a:solidFill>
                  <a:srgbClr val="44546A"/>
                </a:solidFill>
                <a:latin typeface="微软雅黑" panose="020B0503020204020204" pitchFamily="34" charset="-122"/>
                <a:ea typeface="微软雅黑" pitchFamily="34" charset="-122"/>
              </a:rPr>
              <a:t>函数是一个</a:t>
            </a:r>
            <a:r>
              <a:rPr lang="zh-CN" altLang="en-US" b="1" dirty="0">
                <a:solidFill>
                  <a:srgbClr val="44546A"/>
                </a:solidFill>
                <a:latin typeface="微软雅黑" panose="020B0503020204020204" pitchFamily="34" charset="-122"/>
                <a:ea typeface="微软雅黑" pitchFamily="34" charset="-122"/>
              </a:rPr>
              <a:t>求总和</a:t>
            </a:r>
            <a:r>
              <a:rPr lang="zh-CN" altLang="en-US" dirty="0">
                <a:solidFill>
                  <a:srgbClr val="44546A"/>
                </a:solidFill>
                <a:latin typeface="微软雅黑" panose="020B0503020204020204" pitchFamily="34" charset="-122"/>
                <a:ea typeface="微软雅黑" pitchFamily="34" charset="-122"/>
              </a:rPr>
              <a:t>的函数，用于返回指定字段值的总和，或符合特定条件的指定字段值总和，</a:t>
            </a:r>
            <a:endParaRPr lang="en-US" altLang="zh-CN" dirty="0">
              <a:solidFill>
                <a:srgbClr val="44546A"/>
              </a:solidFill>
              <a:latin typeface="微软雅黑" panose="020B0503020204020204" pitchFamily="34" charset="-122"/>
              <a:ea typeface="微软雅黑" pitchFamily="34" charset="-122"/>
            </a:endParaRPr>
          </a:p>
          <a:p>
            <a:pPr indent="457200" algn="just">
              <a:lnSpc>
                <a:spcPct val="150000"/>
              </a:lnSpc>
            </a:pPr>
            <a:r>
              <a:rPr lang="zh-CN" altLang="en-US" dirty="0">
                <a:solidFill>
                  <a:srgbClr val="44546A"/>
                </a:solidFill>
                <a:latin typeface="微软雅黑" panose="020B0503020204020204" pitchFamily="34" charset="-122"/>
                <a:ea typeface="微软雅黑" pitchFamily="34" charset="-122"/>
              </a:rPr>
              <a:t>在具体计算时将忽略</a:t>
            </a:r>
            <a:r>
              <a:rPr lang="en-US" altLang="zh-CN" dirty="0">
                <a:solidFill>
                  <a:srgbClr val="44546A"/>
                </a:solidFill>
                <a:latin typeface="微软雅黑" panose="020B0503020204020204" pitchFamily="34" charset="-122"/>
                <a:ea typeface="微软雅黑" pitchFamily="34" charset="-122"/>
              </a:rPr>
              <a:t>NULL</a:t>
            </a:r>
            <a:r>
              <a:rPr lang="zh-CN" altLang="en-US" dirty="0">
                <a:solidFill>
                  <a:srgbClr val="44546A"/>
                </a:solidFill>
                <a:latin typeface="微软雅黑" panose="020B0503020204020204" pitchFamily="34" charset="-122"/>
                <a:ea typeface="微软雅黑" pitchFamily="34" charset="-122"/>
              </a:rPr>
              <a:t>值。其使用方法如下：</a:t>
            </a:r>
            <a:endParaRPr lang="en-US" altLang="zh-CN" dirty="0">
              <a:solidFill>
                <a:srgbClr val="44546A"/>
              </a:solidFill>
              <a:latin typeface="微软雅黑" panose="020B0503020204020204" pitchFamily="34" charset="-122"/>
              <a:ea typeface="微软雅黑" pitchFamily="34" charset="-122"/>
            </a:endParaRPr>
          </a:p>
        </p:txBody>
      </p:sp>
      <p:grpSp>
        <p:nvGrpSpPr>
          <p:cNvPr id="8" name="组合 34">
            <a:extLst>
              <a:ext uri="{FF2B5EF4-FFF2-40B4-BE49-F238E27FC236}">
                <a16:creationId xmlns:a16="http://schemas.microsoft.com/office/drawing/2014/main" id="{26163CA1-77A7-759E-2D37-72567BDE9379}"/>
              </a:ext>
            </a:extLst>
          </p:cNvPr>
          <p:cNvGrpSpPr/>
          <p:nvPr/>
        </p:nvGrpSpPr>
        <p:grpSpPr>
          <a:xfrm>
            <a:off x="879286" y="3470738"/>
            <a:ext cx="2183765" cy="600710"/>
            <a:chOff x="1320" y="4641"/>
            <a:chExt cx="3439" cy="946"/>
          </a:xfrm>
          <a:solidFill>
            <a:schemeClr val="accent6"/>
          </a:solidFill>
        </p:grpSpPr>
        <p:sp>
          <p:nvSpPr>
            <p:cNvPr id="9" name="椭圆 8">
              <a:extLst>
                <a:ext uri="{FF2B5EF4-FFF2-40B4-BE49-F238E27FC236}">
                  <a16:creationId xmlns:a16="http://schemas.microsoft.com/office/drawing/2014/main" id="{E53D2ED0-E7CF-DBD2-2D5B-0CAA25E7B655}"/>
                </a:ext>
              </a:extLst>
            </p:cNvPr>
            <p:cNvSpPr/>
            <p:nvPr/>
          </p:nvSpPr>
          <p:spPr>
            <a:xfrm>
              <a:off x="1320" y="4641"/>
              <a:ext cx="946" cy="946"/>
            </a:xfrm>
            <a:prstGeom prst="ellipse">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0" name="圆角矩形 12">
              <a:extLst>
                <a:ext uri="{FF2B5EF4-FFF2-40B4-BE49-F238E27FC236}">
                  <a16:creationId xmlns:a16="http://schemas.microsoft.com/office/drawing/2014/main" id="{4919971E-18DE-227B-47F9-370BC55CCD97}"/>
                </a:ext>
              </a:extLst>
            </p:cNvPr>
            <p:cNvSpPr/>
            <p:nvPr/>
          </p:nvSpPr>
          <p:spPr>
            <a:xfrm>
              <a:off x="1673" y="4793"/>
              <a:ext cx="3086" cy="643"/>
            </a:xfrm>
            <a:prstGeom prst="roundRect">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28</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1" name="文本框 36">
            <a:extLst>
              <a:ext uri="{FF2B5EF4-FFF2-40B4-BE49-F238E27FC236}">
                <a16:creationId xmlns:a16="http://schemas.microsoft.com/office/drawing/2014/main" id="{1CC09558-9973-421C-1DBC-6680175973EF}"/>
              </a:ext>
            </a:extLst>
          </p:cNvPr>
          <p:cNvSpPr txBox="1">
            <a:spLocks noChangeArrowheads="1"/>
          </p:cNvSpPr>
          <p:nvPr/>
        </p:nvSpPr>
        <p:spPr bwMode="auto">
          <a:xfrm>
            <a:off x="3319274" y="3596909"/>
            <a:ext cx="7778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dirty="0">
                <a:solidFill>
                  <a:srgbClr val="44546A"/>
                </a:solidFill>
                <a:latin typeface="微软雅黑" panose="020B0503020204020204" pitchFamily="34" charset="-122"/>
              </a:rPr>
              <a:t>执行</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语句，查询</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表中商品库存的总和，执行结果如下。</a:t>
            </a:r>
          </a:p>
        </p:txBody>
      </p:sp>
      <p:sp>
        <p:nvSpPr>
          <p:cNvPr id="12" name="矩形 11">
            <a:extLst>
              <a:ext uri="{FF2B5EF4-FFF2-40B4-BE49-F238E27FC236}">
                <a16:creationId xmlns:a16="http://schemas.microsoft.com/office/drawing/2014/main" id="{238E2E81-64E3-9367-233C-3C12932C00D4}"/>
              </a:ext>
            </a:extLst>
          </p:cNvPr>
          <p:cNvSpPr/>
          <p:nvPr/>
        </p:nvSpPr>
        <p:spPr>
          <a:xfrm>
            <a:off x="1030559" y="4213166"/>
            <a:ext cx="10160351" cy="1956336"/>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3" name="文本框 38">
            <a:extLst>
              <a:ext uri="{FF2B5EF4-FFF2-40B4-BE49-F238E27FC236}">
                <a16:creationId xmlns:a16="http://schemas.microsoft.com/office/drawing/2014/main" id="{BDC6A39E-2A0A-1CA4-C8C6-EED3019F8CBC}"/>
              </a:ext>
            </a:extLst>
          </p:cNvPr>
          <p:cNvSpPr txBox="1">
            <a:spLocks noChangeArrowheads="1"/>
          </p:cNvSpPr>
          <p:nvPr/>
        </p:nvSpPr>
        <p:spPr bwMode="auto">
          <a:xfrm>
            <a:off x="1666552" y="4271745"/>
            <a:ext cx="7626762"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chemeClr val="accent1"/>
                </a:solidFill>
              </a:rPr>
              <a:t>mysql&gt; SELECT SUM(num) </a:t>
            </a:r>
            <a:r>
              <a:rPr lang="en-US" altLang="zh-CN" sz="1600" dirty="0" err="1">
                <a:solidFill>
                  <a:schemeClr val="accent1"/>
                </a:solidFill>
              </a:rPr>
              <a:t>goods_num</a:t>
            </a:r>
            <a:r>
              <a:rPr lang="en-US" altLang="zh-CN" sz="1600" dirty="0">
                <a:solidFill>
                  <a:schemeClr val="accent1"/>
                </a:solidFill>
              </a:rPr>
              <a:t> FROM goods;</a:t>
            </a:r>
          </a:p>
          <a:p>
            <a:pPr eaLnBrk="1" hangingPunct="1"/>
            <a:r>
              <a:rPr lang="en-US" altLang="zh-CN" sz="1600" dirty="0">
                <a:solidFill>
                  <a:schemeClr val="accent1"/>
                </a:solidFill>
              </a:rPr>
              <a:t>+-----------------+</a:t>
            </a:r>
          </a:p>
          <a:p>
            <a:pPr eaLnBrk="1" hangingPunct="1"/>
            <a:r>
              <a:rPr lang="en-US" altLang="zh-CN" sz="1600" dirty="0">
                <a:solidFill>
                  <a:schemeClr val="accent1"/>
                </a:solidFill>
              </a:rPr>
              <a:t>| </a:t>
            </a:r>
            <a:r>
              <a:rPr lang="en-US" altLang="zh-CN" sz="1600" dirty="0" err="1">
                <a:solidFill>
                  <a:schemeClr val="accent1"/>
                </a:solidFill>
              </a:rPr>
              <a:t>goods_num</a:t>
            </a:r>
            <a:r>
              <a:rPr lang="en-US" altLang="zh-CN" sz="1600" dirty="0">
                <a:solidFill>
                  <a:schemeClr val="accent1"/>
                </a:solidFill>
              </a:rPr>
              <a:t>  |</a:t>
            </a:r>
          </a:p>
          <a:p>
            <a:pPr eaLnBrk="1" hangingPunct="1"/>
            <a:r>
              <a:rPr lang="en-US" altLang="zh-CN" sz="1600" dirty="0">
                <a:solidFill>
                  <a:schemeClr val="accent1"/>
                </a:solidFill>
              </a:rPr>
              <a:t>+-----------------+</a:t>
            </a:r>
          </a:p>
          <a:p>
            <a:pPr eaLnBrk="1" hangingPunct="1"/>
            <a:r>
              <a:rPr lang="en-US" altLang="zh-CN" sz="1600" dirty="0">
                <a:solidFill>
                  <a:schemeClr val="accent1"/>
                </a:solidFill>
              </a:rPr>
              <a:t>|       575 	      |</a:t>
            </a:r>
          </a:p>
          <a:p>
            <a:pPr eaLnBrk="1" hangingPunct="1"/>
            <a:r>
              <a:rPr lang="en-US" altLang="zh-CN" sz="1600" dirty="0">
                <a:solidFill>
                  <a:schemeClr val="accent1"/>
                </a:solidFill>
              </a:rPr>
              <a:t>+-----------------+</a:t>
            </a:r>
          </a:p>
          <a:p>
            <a:pPr eaLnBrk="1" hangingPunct="1"/>
            <a:r>
              <a:rPr lang="en-US" altLang="zh-CN" sz="1600" dirty="0">
                <a:solidFill>
                  <a:schemeClr val="accent1"/>
                </a:solidFill>
              </a:rPr>
              <a:t>1 row in set (0.04 sec)</a:t>
            </a:r>
          </a:p>
        </p:txBody>
      </p:sp>
      <p:sp>
        <p:nvSpPr>
          <p:cNvPr id="14" name="矩形 13">
            <a:extLst>
              <a:ext uri="{FF2B5EF4-FFF2-40B4-BE49-F238E27FC236}">
                <a16:creationId xmlns:a16="http://schemas.microsoft.com/office/drawing/2014/main" id="{B8C2407E-DDBC-871D-63F4-E09F71183DB1}"/>
              </a:ext>
            </a:extLst>
          </p:cNvPr>
          <p:cNvSpPr/>
          <p:nvPr/>
        </p:nvSpPr>
        <p:spPr>
          <a:xfrm>
            <a:off x="1140291" y="2878737"/>
            <a:ext cx="10052154" cy="500932"/>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5" name="文本框 38">
            <a:extLst>
              <a:ext uri="{FF2B5EF4-FFF2-40B4-BE49-F238E27FC236}">
                <a16:creationId xmlns:a16="http://schemas.microsoft.com/office/drawing/2014/main" id="{3E81FF2C-80B7-2623-498C-F5D996D2E69C}"/>
              </a:ext>
            </a:extLst>
          </p:cNvPr>
          <p:cNvSpPr txBox="1">
            <a:spLocks noChangeArrowheads="1"/>
          </p:cNvSpPr>
          <p:nvPr/>
        </p:nvSpPr>
        <p:spPr bwMode="auto">
          <a:xfrm>
            <a:off x="2168187" y="2918655"/>
            <a:ext cx="8478042" cy="3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1"/>
                </a:solidFill>
              </a:rPr>
              <a:t>SUM(col_name)</a:t>
            </a:r>
          </a:p>
        </p:txBody>
      </p:sp>
    </p:spTree>
    <p:extLst>
      <p:ext uri="{BB962C8B-B14F-4D97-AF65-F5344CB8AC3E}">
        <p14:creationId xmlns:p14="http://schemas.microsoft.com/office/powerpoint/2010/main" val="14036286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P spid="12" grpId="0" animBg="1"/>
      <p:bldP spid="13" grpId="0"/>
      <p:bldP spid="14" grpId="0" animBg="1"/>
      <p:bldP spid="1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聚合函数和分组数据记录查询</a:t>
            </a:r>
            <a:r>
              <a:rPr lang="en-US" altLang="zh-CN" b="1" noProof="1">
                <a:solidFill>
                  <a:srgbClr val="44546A"/>
                </a:solidFill>
                <a:latin typeface="微软雅黑" panose="020B0503020204020204" pitchFamily="34" charset="-122"/>
                <a:ea typeface="微软雅黑" panose="020B0503020204020204" pitchFamily="34" charset="-122"/>
              </a:rPr>
              <a:t>-</a:t>
            </a:r>
            <a:r>
              <a:rPr lang="zh-CN" altLang="en-US" b="1" noProof="1">
                <a:solidFill>
                  <a:srgbClr val="44546A"/>
                </a:solidFill>
                <a:latin typeface="微软雅黑" panose="020B0503020204020204" pitchFamily="34" charset="-122"/>
                <a:ea typeface="微软雅黑" panose="020B0503020204020204" pitchFamily="34" charset="-122"/>
              </a:rPr>
              <a:t>使用聚合函数查询</a:t>
            </a:r>
          </a:p>
        </p:txBody>
      </p:sp>
      <p:sp>
        <p:nvSpPr>
          <p:cNvPr id="3" name="文本框 3">
            <a:extLst>
              <a:ext uri="{FF2B5EF4-FFF2-40B4-BE49-F238E27FC236}">
                <a16:creationId xmlns:a16="http://schemas.microsoft.com/office/drawing/2014/main" id="{65E2A7F4-10FB-477F-2331-EB694B870658}"/>
              </a:ext>
            </a:extLst>
          </p:cNvPr>
          <p:cNvSpPr txBox="1">
            <a:spLocks noChangeArrowheads="1"/>
          </p:cNvSpPr>
          <p:nvPr/>
        </p:nvSpPr>
        <p:spPr bwMode="auto">
          <a:xfrm>
            <a:off x="1882586" y="1112231"/>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en-US" altLang="zh-CN" dirty="0">
                <a:solidFill>
                  <a:srgbClr val="44546A"/>
                </a:solidFill>
                <a:latin typeface="微软雅黑" panose="020B0503020204020204" pitchFamily="34" charset="-122"/>
              </a:rPr>
              <a:t>AVG()</a:t>
            </a:r>
            <a:r>
              <a:rPr lang="zh-CN" altLang="en-US" dirty="0">
                <a:solidFill>
                  <a:srgbClr val="44546A"/>
                </a:solidFill>
                <a:latin typeface="微软雅黑" panose="020B0503020204020204" pitchFamily="34" charset="-122"/>
              </a:rPr>
              <a:t>函数</a:t>
            </a:r>
            <a:endParaRPr lang="zh-CN" altLang="en-US" noProof="1">
              <a:solidFill>
                <a:srgbClr val="44546A"/>
              </a:solidFill>
              <a:latin typeface="微软雅黑" panose="020B0503020204020204" pitchFamily="34" charset="-122"/>
            </a:endParaRPr>
          </a:p>
        </p:txBody>
      </p:sp>
      <p:grpSp>
        <p:nvGrpSpPr>
          <p:cNvPr id="4" name="组合 3">
            <a:extLst>
              <a:ext uri="{FF2B5EF4-FFF2-40B4-BE49-F238E27FC236}">
                <a16:creationId xmlns:a16="http://schemas.microsoft.com/office/drawing/2014/main" id="{5D4E0A1C-13CF-1463-6D2F-6AA40A94923C}"/>
              </a:ext>
            </a:extLst>
          </p:cNvPr>
          <p:cNvGrpSpPr/>
          <p:nvPr/>
        </p:nvGrpSpPr>
        <p:grpSpPr>
          <a:xfrm>
            <a:off x="879286" y="996926"/>
            <a:ext cx="1003300" cy="722312"/>
            <a:chOff x="877888" y="1586140"/>
            <a:chExt cx="1003300" cy="722312"/>
          </a:xfrm>
        </p:grpSpPr>
        <p:sp>
          <p:nvSpPr>
            <p:cNvPr id="5" name="íṩľíḍè-Freeform: Shape 9">
              <a:extLst>
                <a:ext uri="{FF2B5EF4-FFF2-40B4-BE49-F238E27FC236}">
                  <a16:creationId xmlns:a16="http://schemas.microsoft.com/office/drawing/2014/main" id="{F2F94A5B-E5CA-385F-0B5D-ACAE0171DC74}"/>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íṩľíḍè-Oval 10">
              <a:extLst>
                <a:ext uri="{FF2B5EF4-FFF2-40B4-BE49-F238E27FC236}">
                  <a16:creationId xmlns:a16="http://schemas.microsoft.com/office/drawing/2014/main" id="{B0A88121-0FE7-F70E-6E4B-7EE75D49EDC7}"/>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3</a:t>
              </a:r>
            </a:p>
          </p:txBody>
        </p:sp>
      </p:grpSp>
      <p:sp>
        <p:nvSpPr>
          <p:cNvPr id="7" name="矩形 6">
            <a:extLst>
              <a:ext uri="{FF2B5EF4-FFF2-40B4-BE49-F238E27FC236}">
                <a16:creationId xmlns:a16="http://schemas.microsoft.com/office/drawing/2014/main" id="{A53DE3BE-9C16-9078-57E2-8F125F1F9F2F}"/>
              </a:ext>
            </a:extLst>
          </p:cNvPr>
          <p:cNvSpPr/>
          <p:nvPr/>
        </p:nvSpPr>
        <p:spPr>
          <a:xfrm>
            <a:off x="710330" y="1541987"/>
            <a:ext cx="11009617" cy="874407"/>
          </a:xfrm>
          <a:prstGeom prst="rect">
            <a:avLst/>
          </a:prstGeom>
        </p:spPr>
        <p:txBody>
          <a:bodyPr wrap="none">
            <a:spAutoFit/>
          </a:bodyPr>
          <a:lstStyle/>
          <a:p>
            <a:pPr indent="457200" algn="just">
              <a:lnSpc>
                <a:spcPct val="150000"/>
              </a:lnSpc>
            </a:pPr>
            <a:r>
              <a:rPr lang="en-US" altLang="zh-CN" dirty="0">
                <a:solidFill>
                  <a:srgbClr val="44546A"/>
                </a:solidFill>
                <a:latin typeface="微软雅黑" panose="020B0503020204020204" pitchFamily="34" charset="-122"/>
                <a:ea typeface="微软雅黑" pitchFamily="34" charset="-122"/>
              </a:rPr>
              <a:t>     AVG()</a:t>
            </a:r>
            <a:r>
              <a:rPr lang="zh-CN" altLang="en-US" dirty="0">
                <a:solidFill>
                  <a:srgbClr val="44546A"/>
                </a:solidFill>
                <a:latin typeface="微软雅黑" panose="020B0503020204020204" pitchFamily="34" charset="-122"/>
                <a:ea typeface="微软雅黑" pitchFamily="34" charset="-122"/>
              </a:rPr>
              <a:t>函数通过计算返回的行数和每一行数据的和，得到指定列数据的平均值，在具体计算时将忽略</a:t>
            </a:r>
            <a:endParaRPr lang="en-US" altLang="zh-CN" dirty="0">
              <a:solidFill>
                <a:srgbClr val="44546A"/>
              </a:solidFill>
              <a:latin typeface="微软雅黑" panose="020B0503020204020204" pitchFamily="34" charset="-122"/>
              <a:ea typeface="微软雅黑" pitchFamily="34" charset="-122"/>
            </a:endParaRPr>
          </a:p>
          <a:p>
            <a:pPr indent="457200" algn="just">
              <a:lnSpc>
                <a:spcPct val="150000"/>
              </a:lnSpc>
            </a:pPr>
            <a:r>
              <a:rPr lang="en-US" altLang="zh-CN" dirty="0">
                <a:solidFill>
                  <a:srgbClr val="44546A"/>
                </a:solidFill>
                <a:latin typeface="微软雅黑" panose="020B0503020204020204" pitchFamily="34" charset="-122"/>
                <a:ea typeface="微软雅黑" pitchFamily="34" charset="-122"/>
              </a:rPr>
              <a:t>NULL</a:t>
            </a:r>
            <a:r>
              <a:rPr lang="zh-CN" altLang="en-US" dirty="0">
                <a:solidFill>
                  <a:srgbClr val="44546A"/>
                </a:solidFill>
                <a:latin typeface="微软雅黑" panose="020B0503020204020204" pitchFamily="34" charset="-122"/>
                <a:ea typeface="微软雅黑" pitchFamily="34" charset="-122"/>
              </a:rPr>
              <a:t>值。</a:t>
            </a:r>
            <a:r>
              <a:rPr lang="en-US" altLang="zh-CN" dirty="0">
                <a:solidFill>
                  <a:srgbClr val="44546A"/>
                </a:solidFill>
                <a:latin typeface="微软雅黑" panose="020B0503020204020204" pitchFamily="34" charset="-122"/>
                <a:ea typeface="微软雅黑" pitchFamily="34" charset="-122"/>
              </a:rPr>
              <a:t>AVG()</a:t>
            </a:r>
            <a:r>
              <a:rPr lang="zh-CN" altLang="en-US" dirty="0">
                <a:solidFill>
                  <a:srgbClr val="44546A"/>
                </a:solidFill>
                <a:latin typeface="微软雅黑" panose="020B0503020204020204" pitchFamily="34" charset="-122"/>
                <a:ea typeface="微软雅黑" pitchFamily="34" charset="-122"/>
              </a:rPr>
              <a:t>函数与</a:t>
            </a:r>
            <a:r>
              <a:rPr lang="en-US" altLang="zh-CN" b="1" dirty="0">
                <a:solidFill>
                  <a:srgbClr val="44546A"/>
                </a:solidFill>
                <a:latin typeface="微软雅黑" panose="020B0503020204020204" pitchFamily="34" charset="-122"/>
                <a:ea typeface="微软雅黑" pitchFamily="34" charset="-122"/>
              </a:rPr>
              <a:t>GROUP BY</a:t>
            </a:r>
            <a:r>
              <a:rPr lang="zh-CN" altLang="en-US" b="1" dirty="0">
                <a:solidFill>
                  <a:srgbClr val="44546A"/>
                </a:solidFill>
                <a:latin typeface="微软雅黑" panose="020B0503020204020204" pitchFamily="34" charset="-122"/>
                <a:ea typeface="微软雅黑" pitchFamily="34" charset="-122"/>
              </a:rPr>
              <a:t>一起使用</a:t>
            </a:r>
            <a:r>
              <a:rPr lang="zh-CN" altLang="en-US" dirty="0">
                <a:solidFill>
                  <a:srgbClr val="44546A"/>
                </a:solidFill>
                <a:latin typeface="微软雅黑" panose="020B0503020204020204" pitchFamily="34" charset="-122"/>
                <a:ea typeface="微软雅黑" pitchFamily="34" charset="-122"/>
              </a:rPr>
              <a:t>，可以计算每个分组的平均值。其使用方式如下：</a:t>
            </a:r>
            <a:endParaRPr lang="en-US" altLang="zh-CN" dirty="0">
              <a:solidFill>
                <a:srgbClr val="44546A"/>
              </a:solidFill>
              <a:latin typeface="微软雅黑" panose="020B0503020204020204" pitchFamily="34" charset="-122"/>
              <a:ea typeface="微软雅黑" pitchFamily="34" charset="-122"/>
            </a:endParaRPr>
          </a:p>
        </p:txBody>
      </p:sp>
      <p:grpSp>
        <p:nvGrpSpPr>
          <p:cNvPr id="8" name="组合 34">
            <a:extLst>
              <a:ext uri="{FF2B5EF4-FFF2-40B4-BE49-F238E27FC236}">
                <a16:creationId xmlns:a16="http://schemas.microsoft.com/office/drawing/2014/main" id="{035AF098-BE06-BB5C-2A1E-538EBEB954A6}"/>
              </a:ext>
            </a:extLst>
          </p:cNvPr>
          <p:cNvGrpSpPr/>
          <p:nvPr/>
        </p:nvGrpSpPr>
        <p:grpSpPr>
          <a:xfrm>
            <a:off x="879286" y="3027867"/>
            <a:ext cx="2183765" cy="600710"/>
            <a:chOff x="1320" y="4641"/>
            <a:chExt cx="3439" cy="946"/>
          </a:xfrm>
          <a:solidFill>
            <a:schemeClr val="accent6"/>
          </a:solidFill>
        </p:grpSpPr>
        <p:sp>
          <p:nvSpPr>
            <p:cNvPr id="9" name="椭圆 8">
              <a:extLst>
                <a:ext uri="{FF2B5EF4-FFF2-40B4-BE49-F238E27FC236}">
                  <a16:creationId xmlns:a16="http://schemas.microsoft.com/office/drawing/2014/main" id="{924725BB-B55F-F18B-93D2-8EFD87ABE59C}"/>
                </a:ext>
              </a:extLst>
            </p:cNvPr>
            <p:cNvSpPr/>
            <p:nvPr/>
          </p:nvSpPr>
          <p:spPr>
            <a:xfrm>
              <a:off x="1320" y="4641"/>
              <a:ext cx="946" cy="946"/>
            </a:xfrm>
            <a:prstGeom prst="ellipse">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0" name="圆角矩形 12">
              <a:extLst>
                <a:ext uri="{FF2B5EF4-FFF2-40B4-BE49-F238E27FC236}">
                  <a16:creationId xmlns:a16="http://schemas.microsoft.com/office/drawing/2014/main" id="{D56E6F41-A5A0-88A7-49D4-0528D5CE3DCA}"/>
                </a:ext>
              </a:extLst>
            </p:cNvPr>
            <p:cNvSpPr/>
            <p:nvPr/>
          </p:nvSpPr>
          <p:spPr>
            <a:xfrm>
              <a:off x="1673" y="4793"/>
              <a:ext cx="3086" cy="643"/>
            </a:xfrm>
            <a:prstGeom prst="roundRect">
              <a:avLst/>
            </a:prstGeom>
            <a:solidFill>
              <a:srgbClr val="1D7FC6"/>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29</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1" name="文本框 36">
            <a:extLst>
              <a:ext uri="{FF2B5EF4-FFF2-40B4-BE49-F238E27FC236}">
                <a16:creationId xmlns:a16="http://schemas.microsoft.com/office/drawing/2014/main" id="{1F2A8CD7-335F-61CF-C4DF-3D2C7D807524}"/>
              </a:ext>
            </a:extLst>
          </p:cNvPr>
          <p:cNvSpPr txBox="1">
            <a:spLocks noChangeArrowheads="1"/>
          </p:cNvSpPr>
          <p:nvPr/>
        </p:nvSpPr>
        <p:spPr bwMode="auto">
          <a:xfrm>
            <a:off x="3319274" y="3154038"/>
            <a:ext cx="7778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dirty="0">
                <a:solidFill>
                  <a:srgbClr val="44546A"/>
                </a:solidFill>
                <a:latin typeface="微软雅黑" panose="020B0503020204020204" pitchFamily="34" charset="-122"/>
              </a:rPr>
              <a:t>执行</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语句，查询</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表中每个商品类别的平均价格，执行结果如下。</a:t>
            </a:r>
          </a:p>
        </p:txBody>
      </p:sp>
      <p:sp>
        <p:nvSpPr>
          <p:cNvPr id="12" name="矩形 11">
            <a:extLst>
              <a:ext uri="{FF2B5EF4-FFF2-40B4-BE49-F238E27FC236}">
                <a16:creationId xmlns:a16="http://schemas.microsoft.com/office/drawing/2014/main" id="{D0A2C2BC-9E1E-7630-2C50-C1127C219251}"/>
              </a:ext>
            </a:extLst>
          </p:cNvPr>
          <p:cNvSpPr/>
          <p:nvPr/>
        </p:nvSpPr>
        <p:spPr>
          <a:xfrm>
            <a:off x="1030559" y="3717010"/>
            <a:ext cx="9764959" cy="2859346"/>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3" name="文本框 38">
            <a:extLst>
              <a:ext uri="{FF2B5EF4-FFF2-40B4-BE49-F238E27FC236}">
                <a16:creationId xmlns:a16="http://schemas.microsoft.com/office/drawing/2014/main" id="{7EF079FD-4AAB-10B8-4038-C232A742E68D}"/>
              </a:ext>
            </a:extLst>
          </p:cNvPr>
          <p:cNvSpPr txBox="1">
            <a:spLocks noChangeArrowheads="1"/>
          </p:cNvSpPr>
          <p:nvPr/>
        </p:nvSpPr>
        <p:spPr bwMode="auto">
          <a:xfrm>
            <a:off x="1666552" y="3775589"/>
            <a:ext cx="7626762"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rgbClr val="1D7FC6"/>
                </a:solidFill>
              </a:rPr>
              <a:t>mysql&gt; SELECT </a:t>
            </a:r>
            <a:r>
              <a:rPr lang="en-US" altLang="zh-CN" sz="1600" dirty="0" err="1">
                <a:solidFill>
                  <a:srgbClr val="1D7FC6"/>
                </a:solidFill>
              </a:rPr>
              <a:t>type,AVG</a:t>
            </a:r>
            <a:r>
              <a:rPr lang="en-US" altLang="zh-CN" sz="1600" dirty="0">
                <a:solidFill>
                  <a:srgbClr val="1D7FC6"/>
                </a:solidFill>
              </a:rPr>
              <a:t>(price) FROM goods GROUP BY type;</a:t>
            </a:r>
          </a:p>
          <a:p>
            <a:pPr eaLnBrk="1" hangingPunct="1"/>
            <a:r>
              <a:rPr lang="en-US" altLang="zh-CN" sz="1600" dirty="0">
                <a:solidFill>
                  <a:srgbClr val="1D7FC6"/>
                </a:solidFill>
              </a:rPr>
              <a:t>+------+---------------------+</a:t>
            </a:r>
          </a:p>
          <a:p>
            <a:pPr eaLnBrk="1" hangingPunct="1"/>
            <a:r>
              <a:rPr lang="en-US" altLang="zh-CN" sz="1600" dirty="0">
                <a:solidFill>
                  <a:srgbClr val="1D7FC6"/>
                </a:solidFill>
              </a:rPr>
              <a:t>| type | AVG(price)		|</a:t>
            </a:r>
          </a:p>
          <a:p>
            <a:pPr eaLnBrk="1" hangingPunct="1"/>
            <a:r>
              <a:rPr lang="en-US" altLang="zh-CN" sz="1600" dirty="0">
                <a:solidFill>
                  <a:srgbClr val="1D7FC6"/>
                </a:solidFill>
              </a:rPr>
              <a:t>+------+---------------------+</a:t>
            </a:r>
          </a:p>
          <a:p>
            <a:pPr eaLnBrk="1" hangingPunct="1"/>
            <a:r>
              <a:rPr lang="en-US" altLang="zh-CN" sz="1600" dirty="0">
                <a:solidFill>
                  <a:srgbClr val="1D7FC6"/>
                </a:solidFill>
              </a:rPr>
              <a:t>| </a:t>
            </a:r>
            <a:r>
              <a:rPr lang="zh-CN" altLang="en-US" sz="1600" dirty="0">
                <a:solidFill>
                  <a:srgbClr val="1D7FC6"/>
                </a:solidFill>
              </a:rPr>
              <a:t>书籍 </a:t>
            </a:r>
            <a:r>
              <a:rPr lang="en-US" altLang="zh-CN" sz="1600" dirty="0">
                <a:solidFill>
                  <a:srgbClr val="1D7FC6"/>
                </a:solidFill>
              </a:rPr>
              <a:t>|  69.966667	|</a:t>
            </a:r>
          </a:p>
          <a:p>
            <a:pPr eaLnBrk="1" hangingPunct="1"/>
            <a:r>
              <a:rPr lang="en-US" altLang="zh-CN" sz="1600" dirty="0">
                <a:solidFill>
                  <a:srgbClr val="1D7FC6"/>
                </a:solidFill>
              </a:rPr>
              <a:t>| </a:t>
            </a:r>
            <a:r>
              <a:rPr lang="zh-CN" altLang="en-US" sz="1600" dirty="0">
                <a:solidFill>
                  <a:srgbClr val="1D7FC6"/>
                </a:solidFill>
              </a:rPr>
              <a:t>服饰 </a:t>
            </a:r>
            <a:r>
              <a:rPr lang="en-US" altLang="zh-CN" sz="1600" dirty="0">
                <a:solidFill>
                  <a:srgbClr val="1D7FC6"/>
                </a:solidFill>
              </a:rPr>
              <a:t>| 460.000000	|</a:t>
            </a:r>
          </a:p>
          <a:p>
            <a:pPr eaLnBrk="1" hangingPunct="1"/>
            <a:r>
              <a:rPr lang="en-US" altLang="zh-CN" sz="1600" dirty="0">
                <a:solidFill>
                  <a:srgbClr val="1D7FC6"/>
                </a:solidFill>
              </a:rPr>
              <a:t>| </a:t>
            </a:r>
            <a:r>
              <a:rPr lang="zh-CN" altLang="en-US" sz="1600" dirty="0">
                <a:solidFill>
                  <a:srgbClr val="1D7FC6"/>
                </a:solidFill>
              </a:rPr>
              <a:t>水果 </a:t>
            </a:r>
            <a:r>
              <a:rPr lang="en-US" altLang="zh-CN" sz="1600" dirty="0">
                <a:solidFill>
                  <a:srgbClr val="1D7FC6"/>
                </a:solidFill>
              </a:rPr>
              <a:t>|   2.250000	|</a:t>
            </a:r>
          </a:p>
          <a:p>
            <a:pPr eaLnBrk="1" hangingPunct="1"/>
            <a:r>
              <a:rPr lang="en-US" altLang="zh-CN" sz="1600" dirty="0">
                <a:solidFill>
                  <a:srgbClr val="1D7FC6"/>
                </a:solidFill>
              </a:rPr>
              <a:t>| </a:t>
            </a:r>
            <a:r>
              <a:rPr lang="zh-CN" altLang="en-US" sz="1600" dirty="0">
                <a:solidFill>
                  <a:srgbClr val="1D7FC6"/>
                </a:solidFill>
              </a:rPr>
              <a:t>糖类 </a:t>
            </a:r>
            <a:r>
              <a:rPr lang="en-US" altLang="zh-CN" sz="1600" dirty="0">
                <a:solidFill>
                  <a:srgbClr val="1D7FC6"/>
                </a:solidFill>
              </a:rPr>
              <a:t>|   5.000000	|</a:t>
            </a:r>
          </a:p>
          <a:p>
            <a:pPr eaLnBrk="1" hangingPunct="1"/>
            <a:r>
              <a:rPr lang="en-US" altLang="zh-CN" sz="1600" dirty="0">
                <a:solidFill>
                  <a:srgbClr val="1D7FC6"/>
                </a:solidFill>
              </a:rPr>
              <a:t>| </a:t>
            </a:r>
            <a:r>
              <a:rPr lang="zh-CN" altLang="en-US" sz="1600" dirty="0">
                <a:solidFill>
                  <a:srgbClr val="1D7FC6"/>
                </a:solidFill>
              </a:rPr>
              <a:t>饮品 </a:t>
            </a:r>
            <a:r>
              <a:rPr lang="en-US" altLang="zh-CN" sz="1600" dirty="0">
                <a:solidFill>
                  <a:srgbClr val="1D7FC6"/>
                </a:solidFill>
              </a:rPr>
              <a:t>|   2.500000	|</a:t>
            </a:r>
          </a:p>
          <a:p>
            <a:pPr eaLnBrk="1" hangingPunct="1"/>
            <a:r>
              <a:rPr lang="en-US" altLang="zh-CN" sz="1600" dirty="0">
                <a:solidFill>
                  <a:srgbClr val="1D7FC6"/>
                </a:solidFill>
              </a:rPr>
              <a:t>+------+---------------------+</a:t>
            </a:r>
          </a:p>
          <a:p>
            <a:pPr eaLnBrk="1" hangingPunct="1"/>
            <a:r>
              <a:rPr lang="en-US" altLang="zh-CN" sz="1600" dirty="0">
                <a:solidFill>
                  <a:srgbClr val="1D7FC6"/>
                </a:solidFill>
              </a:rPr>
              <a:t>5 rows in set (0.03 sec)</a:t>
            </a:r>
          </a:p>
        </p:txBody>
      </p:sp>
      <p:sp>
        <p:nvSpPr>
          <p:cNvPr id="14" name="矩形 13">
            <a:extLst>
              <a:ext uri="{FF2B5EF4-FFF2-40B4-BE49-F238E27FC236}">
                <a16:creationId xmlns:a16="http://schemas.microsoft.com/office/drawing/2014/main" id="{6BD6AA03-B0F3-160C-5F35-FD8AE26FC043}"/>
              </a:ext>
            </a:extLst>
          </p:cNvPr>
          <p:cNvSpPr/>
          <p:nvPr/>
        </p:nvSpPr>
        <p:spPr>
          <a:xfrm>
            <a:off x="1140291" y="2435866"/>
            <a:ext cx="10052154" cy="500932"/>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5" name="文本框 38">
            <a:extLst>
              <a:ext uri="{FF2B5EF4-FFF2-40B4-BE49-F238E27FC236}">
                <a16:creationId xmlns:a16="http://schemas.microsoft.com/office/drawing/2014/main" id="{E62E0C80-7C29-EC38-8B91-5B76AAE0D3A0}"/>
              </a:ext>
            </a:extLst>
          </p:cNvPr>
          <p:cNvSpPr txBox="1">
            <a:spLocks noChangeArrowheads="1"/>
          </p:cNvSpPr>
          <p:nvPr/>
        </p:nvSpPr>
        <p:spPr bwMode="auto">
          <a:xfrm>
            <a:off x="2168187" y="2475784"/>
            <a:ext cx="8478042" cy="3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rgbClr val="1D7FC6"/>
                </a:solidFill>
              </a:rPr>
              <a:t>AVG(col_name) </a:t>
            </a:r>
          </a:p>
        </p:txBody>
      </p:sp>
    </p:spTree>
    <p:extLst>
      <p:ext uri="{BB962C8B-B14F-4D97-AF65-F5344CB8AC3E}">
        <p14:creationId xmlns:p14="http://schemas.microsoft.com/office/powerpoint/2010/main" val="22574314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P spid="12" grpId="0" animBg="1"/>
      <p:bldP spid="13" grpId="0"/>
      <p:bldP spid="14" grpId="0" animBg="1"/>
      <p:bldP spid="1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聚合函数和分组数据记录查询</a:t>
            </a:r>
            <a:r>
              <a:rPr lang="en-US" altLang="zh-CN" b="1" noProof="1">
                <a:solidFill>
                  <a:srgbClr val="44546A"/>
                </a:solidFill>
                <a:latin typeface="微软雅黑" panose="020B0503020204020204" pitchFamily="34" charset="-122"/>
                <a:ea typeface="微软雅黑" panose="020B0503020204020204" pitchFamily="34" charset="-122"/>
              </a:rPr>
              <a:t>-</a:t>
            </a:r>
            <a:r>
              <a:rPr lang="zh-CN" altLang="en-US" b="1" noProof="1">
                <a:solidFill>
                  <a:srgbClr val="44546A"/>
                </a:solidFill>
                <a:latin typeface="微软雅黑" panose="020B0503020204020204" pitchFamily="34" charset="-122"/>
                <a:ea typeface="微软雅黑" panose="020B0503020204020204" pitchFamily="34" charset="-122"/>
              </a:rPr>
              <a:t>使用聚合函数查询</a:t>
            </a:r>
          </a:p>
        </p:txBody>
      </p:sp>
      <p:sp>
        <p:nvSpPr>
          <p:cNvPr id="3" name="文本框 3">
            <a:extLst>
              <a:ext uri="{FF2B5EF4-FFF2-40B4-BE49-F238E27FC236}">
                <a16:creationId xmlns:a16="http://schemas.microsoft.com/office/drawing/2014/main" id="{6C556C99-8D76-382A-4714-6145A90EBC1A}"/>
              </a:ext>
            </a:extLst>
          </p:cNvPr>
          <p:cNvSpPr txBox="1">
            <a:spLocks noChangeArrowheads="1"/>
          </p:cNvSpPr>
          <p:nvPr/>
        </p:nvSpPr>
        <p:spPr bwMode="auto">
          <a:xfrm>
            <a:off x="1882586" y="1266341"/>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en-US" altLang="zh-CN" dirty="0">
                <a:solidFill>
                  <a:srgbClr val="44546A"/>
                </a:solidFill>
                <a:latin typeface="微软雅黑" panose="020B0503020204020204" pitchFamily="34" charset="-122"/>
              </a:rPr>
              <a:t>MAX()</a:t>
            </a:r>
            <a:r>
              <a:rPr lang="zh-CN" altLang="en-US" dirty="0">
                <a:solidFill>
                  <a:srgbClr val="44546A"/>
                </a:solidFill>
                <a:latin typeface="微软雅黑" panose="020B0503020204020204" pitchFamily="34" charset="-122"/>
              </a:rPr>
              <a:t>函数和</a:t>
            </a:r>
            <a:r>
              <a:rPr lang="en-US" altLang="zh-CN" dirty="0">
                <a:solidFill>
                  <a:srgbClr val="44546A"/>
                </a:solidFill>
                <a:latin typeface="微软雅黑" panose="020B0503020204020204" pitchFamily="34" charset="-122"/>
              </a:rPr>
              <a:t>MIN()</a:t>
            </a:r>
            <a:r>
              <a:rPr lang="zh-CN" altLang="en-US" dirty="0">
                <a:solidFill>
                  <a:srgbClr val="44546A"/>
                </a:solidFill>
                <a:latin typeface="微软雅黑" panose="020B0503020204020204" pitchFamily="34" charset="-122"/>
              </a:rPr>
              <a:t>函数</a:t>
            </a:r>
            <a:endParaRPr lang="zh-CN" altLang="en-US" noProof="1">
              <a:solidFill>
                <a:srgbClr val="44546A"/>
              </a:solidFill>
              <a:latin typeface="微软雅黑" panose="020B0503020204020204" pitchFamily="34" charset="-122"/>
            </a:endParaRPr>
          </a:p>
        </p:txBody>
      </p:sp>
      <p:grpSp>
        <p:nvGrpSpPr>
          <p:cNvPr id="4" name="组合 3">
            <a:extLst>
              <a:ext uri="{FF2B5EF4-FFF2-40B4-BE49-F238E27FC236}">
                <a16:creationId xmlns:a16="http://schemas.microsoft.com/office/drawing/2014/main" id="{E01A2E4A-FADE-8A58-BE19-E3C7BFBB29A1}"/>
              </a:ext>
            </a:extLst>
          </p:cNvPr>
          <p:cNvGrpSpPr/>
          <p:nvPr/>
        </p:nvGrpSpPr>
        <p:grpSpPr>
          <a:xfrm>
            <a:off x="879286" y="1151036"/>
            <a:ext cx="1003300" cy="722312"/>
            <a:chOff x="877888" y="1586140"/>
            <a:chExt cx="1003300" cy="722312"/>
          </a:xfrm>
        </p:grpSpPr>
        <p:sp>
          <p:nvSpPr>
            <p:cNvPr id="5" name="íṩľíḍè-Freeform: Shape 9">
              <a:extLst>
                <a:ext uri="{FF2B5EF4-FFF2-40B4-BE49-F238E27FC236}">
                  <a16:creationId xmlns:a16="http://schemas.microsoft.com/office/drawing/2014/main" id="{B072276C-5E80-D957-929B-AD64B07A3FF2}"/>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 name="íṩľíḍè-Oval 10">
              <a:extLst>
                <a:ext uri="{FF2B5EF4-FFF2-40B4-BE49-F238E27FC236}">
                  <a16:creationId xmlns:a16="http://schemas.microsoft.com/office/drawing/2014/main" id="{C5CAD018-4784-8D82-82AE-6F9656CCFF0A}"/>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4</a:t>
              </a:r>
            </a:p>
          </p:txBody>
        </p:sp>
      </p:grpSp>
      <p:sp>
        <p:nvSpPr>
          <p:cNvPr id="7" name="矩形 6">
            <a:extLst>
              <a:ext uri="{FF2B5EF4-FFF2-40B4-BE49-F238E27FC236}">
                <a16:creationId xmlns:a16="http://schemas.microsoft.com/office/drawing/2014/main" id="{7AAC4751-2C32-66A4-2C20-5B245AEBE4D2}"/>
              </a:ext>
            </a:extLst>
          </p:cNvPr>
          <p:cNvSpPr/>
          <p:nvPr/>
        </p:nvSpPr>
        <p:spPr>
          <a:xfrm>
            <a:off x="593792" y="1729248"/>
            <a:ext cx="10926389" cy="874407"/>
          </a:xfrm>
          <a:prstGeom prst="rect">
            <a:avLst/>
          </a:prstGeom>
        </p:spPr>
        <p:txBody>
          <a:bodyPr wrap="none">
            <a:spAutoFit/>
          </a:bodyPr>
          <a:lstStyle/>
          <a:p>
            <a:pPr indent="457200" algn="just">
              <a:lnSpc>
                <a:spcPct val="150000"/>
              </a:lnSpc>
            </a:pPr>
            <a:r>
              <a:rPr lang="en-US" altLang="zh-CN" dirty="0">
                <a:solidFill>
                  <a:srgbClr val="44546A"/>
                </a:solidFill>
                <a:latin typeface="微软雅黑" panose="020B0503020204020204" pitchFamily="34" charset="-122"/>
                <a:ea typeface="微软雅黑" pitchFamily="34" charset="-122"/>
              </a:rPr>
              <a:t>      MAX()</a:t>
            </a:r>
            <a:r>
              <a:rPr lang="zh-CN" altLang="en-US" dirty="0">
                <a:solidFill>
                  <a:srgbClr val="44546A"/>
                </a:solidFill>
                <a:latin typeface="微软雅黑" panose="020B0503020204020204" pitchFamily="34" charset="-122"/>
                <a:ea typeface="微软雅黑" pitchFamily="34" charset="-122"/>
              </a:rPr>
              <a:t>函数和</a:t>
            </a:r>
            <a:r>
              <a:rPr lang="en-US" altLang="zh-CN" dirty="0">
                <a:solidFill>
                  <a:srgbClr val="44546A"/>
                </a:solidFill>
                <a:latin typeface="微软雅黑" panose="020B0503020204020204" pitchFamily="34" charset="-122"/>
                <a:ea typeface="微软雅黑" pitchFamily="34" charset="-122"/>
              </a:rPr>
              <a:t>MIN()</a:t>
            </a:r>
            <a:r>
              <a:rPr lang="zh-CN" altLang="en-US" dirty="0">
                <a:solidFill>
                  <a:srgbClr val="44546A"/>
                </a:solidFill>
                <a:latin typeface="微软雅黑" panose="020B0503020204020204" pitchFamily="34" charset="-122"/>
                <a:ea typeface="微软雅黑" pitchFamily="34" charset="-122"/>
              </a:rPr>
              <a:t>函数是用于求最大值和最小值的函数，可返回指定字段中的最大值和最小值，</a:t>
            </a:r>
            <a:endParaRPr lang="en-US" altLang="zh-CN" dirty="0">
              <a:solidFill>
                <a:srgbClr val="44546A"/>
              </a:solidFill>
              <a:latin typeface="微软雅黑" panose="020B0503020204020204" pitchFamily="34" charset="-122"/>
              <a:ea typeface="微软雅黑" pitchFamily="34" charset="-122"/>
            </a:endParaRPr>
          </a:p>
          <a:p>
            <a:pPr indent="457200" algn="just">
              <a:lnSpc>
                <a:spcPct val="150000"/>
              </a:lnSpc>
            </a:pPr>
            <a:r>
              <a:rPr lang="zh-CN" altLang="en-US" dirty="0">
                <a:solidFill>
                  <a:srgbClr val="44546A"/>
                </a:solidFill>
                <a:latin typeface="微软雅黑" panose="020B0503020204020204" pitchFamily="34" charset="-122"/>
                <a:ea typeface="微软雅黑" pitchFamily="34" charset="-122"/>
              </a:rPr>
              <a:t>或者符合特定条件的指定字段值中的最大值和最小值。</a:t>
            </a:r>
            <a:endParaRPr lang="en-US" altLang="zh-CN" dirty="0">
              <a:solidFill>
                <a:srgbClr val="44546A"/>
              </a:solidFill>
              <a:latin typeface="微软雅黑" panose="020B0503020204020204" pitchFamily="34" charset="-122"/>
              <a:ea typeface="微软雅黑" pitchFamily="34" charset="-122"/>
            </a:endParaRPr>
          </a:p>
        </p:txBody>
      </p:sp>
      <p:grpSp>
        <p:nvGrpSpPr>
          <p:cNvPr id="8" name="组合 34">
            <a:extLst>
              <a:ext uri="{FF2B5EF4-FFF2-40B4-BE49-F238E27FC236}">
                <a16:creationId xmlns:a16="http://schemas.microsoft.com/office/drawing/2014/main" id="{99C4839E-3336-C06E-75BB-03B8745849F0}"/>
              </a:ext>
            </a:extLst>
          </p:cNvPr>
          <p:cNvGrpSpPr/>
          <p:nvPr/>
        </p:nvGrpSpPr>
        <p:grpSpPr>
          <a:xfrm>
            <a:off x="879286" y="3697382"/>
            <a:ext cx="2183765" cy="600710"/>
            <a:chOff x="1320" y="4641"/>
            <a:chExt cx="3439" cy="946"/>
          </a:xfrm>
          <a:solidFill>
            <a:schemeClr val="accent6"/>
          </a:solidFill>
        </p:grpSpPr>
        <p:sp>
          <p:nvSpPr>
            <p:cNvPr id="9" name="椭圆 8">
              <a:extLst>
                <a:ext uri="{FF2B5EF4-FFF2-40B4-BE49-F238E27FC236}">
                  <a16:creationId xmlns:a16="http://schemas.microsoft.com/office/drawing/2014/main" id="{AE6A8AE0-4FDA-1E26-BD4A-C72378F924C8}"/>
                </a:ext>
              </a:extLst>
            </p:cNvPr>
            <p:cNvSpPr/>
            <p:nvPr/>
          </p:nvSpPr>
          <p:spPr>
            <a:xfrm>
              <a:off x="1320" y="4641"/>
              <a:ext cx="946" cy="946"/>
            </a:xfrm>
            <a:prstGeom prst="ellipse">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0" name="圆角矩形 12">
              <a:extLst>
                <a:ext uri="{FF2B5EF4-FFF2-40B4-BE49-F238E27FC236}">
                  <a16:creationId xmlns:a16="http://schemas.microsoft.com/office/drawing/2014/main" id="{456370D6-E104-850B-EFEC-DCFFC5FC3132}"/>
                </a:ext>
              </a:extLst>
            </p:cNvPr>
            <p:cNvSpPr/>
            <p:nvPr/>
          </p:nvSpPr>
          <p:spPr>
            <a:xfrm>
              <a:off x="1673" y="4793"/>
              <a:ext cx="3086" cy="643"/>
            </a:xfrm>
            <a:prstGeom prst="roundRect">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30</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1" name="文本框 36">
            <a:extLst>
              <a:ext uri="{FF2B5EF4-FFF2-40B4-BE49-F238E27FC236}">
                <a16:creationId xmlns:a16="http://schemas.microsoft.com/office/drawing/2014/main" id="{1A99D57C-4357-824D-B7D3-BE212AE984D8}"/>
              </a:ext>
            </a:extLst>
          </p:cNvPr>
          <p:cNvSpPr txBox="1">
            <a:spLocks noChangeArrowheads="1"/>
          </p:cNvSpPr>
          <p:nvPr/>
        </p:nvSpPr>
        <p:spPr bwMode="auto">
          <a:xfrm>
            <a:off x="3319274" y="3823553"/>
            <a:ext cx="7778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zh-CN" altLang="en-US" dirty="0">
                <a:solidFill>
                  <a:srgbClr val="44546A"/>
                </a:solidFill>
                <a:latin typeface="微软雅黑" panose="020B0503020204020204" pitchFamily="34" charset="-122"/>
              </a:rPr>
              <a:t>执行</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语句，查询</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表中商品的最高价格和最低价格，执行结果如下。</a:t>
            </a:r>
          </a:p>
        </p:txBody>
      </p:sp>
      <p:sp>
        <p:nvSpPr>
          <p:cNvPr id="12" name="矩形 11">
            <a:extLst>
              <a:ext uri="{FF2B5EF4-FFF2-40B4-BE49-F238E27FC236}">
                <a16:creationId xmlns:a16="http://schemas.microsoft.com/office/drawing/2014/main" id="{71DBEB62-0643-AC9C-E8A0-F36A799CA50A}"/>
              </a:ext>
            </a:extLst>
          </p:cNvPr>
          <p:cNvSpPr/>
          <p:nvPr/>
        </p:nvSpPr>
        <p:spPr>
          <a:xfrm>
            <a:off x="1030559" y="4374493"/>
            <a:ext cx="9764959" cy="2077636"/>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3" name="文本框 38">
            <a:extLst>
              <a:ext uri="{FF2B5EF4-FFF2-40B4-BE49-F238E27FC236}">
                <a16:creationId xmlns:a16="http://schemas.microsoft.com/office/drawing/2014/main" id="{8C069082-86AE-E539-24F4-DD7C2B130CE7}"/>
              </a:ext>
            </a:extLst>
          </p:cNvPr>
          <p:cNvSpPr txBox="1">
            <a:spLocks noChangeArrowheads="1"/>
          </p:cNvSpPr>
          <p:nvPr/>
        </p:nvSpPr>
        <p:spPr bwMode="auto">
          <a:xfrm>
            <a:off x="1666552" y="4507720"/>
            <a:ext cx="7626762"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600" dirty="0">
                <a:solidFill>
                  <a:schemeClr val="accent1"/>
                </a:solidFill>
              </a:rPr>
              <a:t>mysql&gt; SELECT MAX(price) </a:t>
            </a:r>
            <a:r>
              <a:rPr lang="en-US" altLang="zh-CN" sz="1600" dirty="0" err="1">
                <a:solidFill>
                  <a:schemeClr val="accent1"/>
                </a:solidFill>
              </a:rPr>
              <a:t>maxpri,MIN</a:t>
            </a:r>
            <a:r>
              <a:rPr lang="en-US" altLang="zh-CN" sz="1600" dirty="0">
                <a:solidFill>
                  <a:schemeClr val="accent1"/>
                </a:solidFill>
              </a:rPr>
              <a:t>(price) </a:t>
            </a:r>
            <a:r>
              <a:rPr lang="en-US" altLang="zh-CN" sz="1600" dirty="0" err="1">
                <a:solidFill>
                  <a:schemeClr val="accent1"/>
                </a:solidFill>
              </a:rPr>
              <a:t>minpri</a:t>
            </a:r>
            <a:r>
              <a:rPr lang="en-US" altLang="zh-CN" sz="1600" dirty="0">
                <a:solidFill>
                  <a:schemeClr val="accent1"/>
                </a:solidFill>
              </a:rPr>
              <a:t> FROM goods;</a:t>
            </a:r>
          </a:p>
          <a:p>
            <a:pPr eaLnBrk="1" hangingPunct="1"/>
            <a:r>
              <a:rPr lang="en-US" altLang="zh-CN" sz="1600" dirty="0">
                <a:solidFill>
                  <a:schemeClr val="accent1"/>
                </a:solidFill>
              </a:rPr>
              <a:t>+----------+-----------+</a:t>
            </a:r>
          </a:p>
          <a:p>
            <a:pPr eaLnBrk="1" hangingPunct="1"/>
            <a:r>
              <a:rPr lang="en-US" altLang="zh-CN" sz="1600" dirty="0">
                <a:solidFill>
                  <a:schemeClr val="accent1"/>
                </a:solidFill>
              </a:rPr>
              <a:t>| </a:t>
            </a:r>
            <a:r>
              <a:rPr lang="en-US" altLang="zh-CN" sz="1600" dirty="0" err="1">
                <a:solidFill>
                  <a:schemeClr val="accent1"/>
                </a:solidFill>
              </a:rPr>
              <a:t>maxpri</a:t>
            </a:r>
            <a:r>
              <a:rPr lang="en-US" altLang="zh-CN" sz="1600" dirty="0">
                <a:solidFill>
                  <a:schemeClr val="accent1"/>
                </a:solidFill>
              </a:rPr>
              <a:t>	| </a:t>
            </a:r>
            <a:r>
              <a:rPr lang="en-US" altLang="zh-CN" sz="1600" dirty="0" err="1">
                <a:solidFill>
                  <a:schemeClr val="accent1"/>
                </a:solidFill>
              </a:rPr>
              <a:t>minpri</a:t>
            </a:r>
            <a:r>
              <a:rPr lang="en-US" altLang="zh-CN" sz="1600" dirty="0">
                <a:solidFill>
                  <a:schemeClr val="accent1"/>
                </a:solidFill>
              </a:rPr>
              <a:t>	|</a:t>
            </a:r>
          </a:p>
          <a:p>
            <a:pPr eaLnBrk="1" hangingPunct="1"/>
            <a:r>
              <a:rPr lang="en-US" altLang="zh-CN" sz="1600" dirty="0">
                <a:solidFill>
                  <a:schemeClr val="accent1"/>
                </a:solidFill>
              </a:rPr>
              <a:t>+----------+-----------+</a:t>
            </a:r>
          </a:p>
          <a:p>
            <a:pPr eaLnBrk="1" hangingPunct="1"/>
            <a:r>
              <a:rPr lang="en-US" altLang="zh-CN" sz="1600" dirty="0">
                <a:solidFill>
                  <a:schemeClr val="accent1"/>
                </a:solidFill>
              </a:rPr>
              <a:t>| 800.00	|   1.50	|</a:t>
            </a:r>
          </a:p>
          <a:p>
            <a:pPr eaLnBrk="1" hangingPunct="1"/>
            <a:r>
              <a:rPr lang="en-US" altLang="zh-CN" sz="1600" dirty="0">
                <a:solidFill>
                  <a:schemeClr val="accent1"/>
                </a:solidFill>
              </a:rPr>
              <a:t>+----------+-----------+</a:t>
            </a:r>
          </a:p>
          <a:p>
            <a:pPr eaLnBrk="1" hangingPunct="1"/>
            <a:r>
              <a:rPr lang="en-US" altLang="zh-CN" sz="1600" dirty="0">
                <a:solidFill>
                  <a:schemeClr val="accent1"/>
                </a:solidFill>
              </a:rPr>
              <a:t>1 row in set (0.04 sec)</a:t>
            </a:r>
          </a:p>
        </p:txBody>
      </p:sp>
      <p:sp>
        <p:nvSpPr>
          <p:cNvPr id="14" name="矩形 13">
            <a:extLst>
              <a:ext uri="{FF2B5EF4-FFF2-40B4-BE49-F238E27FC236}">
                <a16:creationId xmlns:a16="http://schemas.microsoft.com/office/drawing/2014/main" id="{E82CBD5F-21FD-76E3-C4C2-960FFB463211}"/>
              </a:ext>
            </a:extLst>
          </p:cNvPr>
          <p:cNvSpPr/>
          <p:nvPr/>
        </p:nvSpPr>
        <p:spPr>
          <a:xfrm>
            <a:off x="1066504" y="2698637"/>
            <a:ext cx="9863138" cy="873957"/>
          </a:xfrm>
          <a:prstGeom prst="rect">
            <a:avLst/>
          </a:prstGeom>
        </p:spPr>
        <p:txBody>
          <a:bodyPr wrap="square">
            <a:spAutoFit/>
          </a:bodyPr>
          <a:lstStyle/>
          <a:p>
            <a:pPr marL="285750" indent="-285750">
              <a:lnSpc>
                <a:spcPct val="150000"/>
              </a:lnSpc>
              <a:buFont typeface="Wingdings" panose="05000000000000000000" pitchFamily="2" charset="2"/>
              <a:buChar char="u"/>
            </a:pPr>
            <a:r>
              <a:rPr lang="en-US" altLang="zh-CN" dirty="0">
                <a:solidFill>
                  <a:srgbClr val="1D7FC6"/>
                </a:solidFill>
              </a:rPr>
              <a:t>MAX(col_name)</a:t>
            </a:r>
            <a:r>
              <a:rPr lang="zh-CN" altLang="en-US" dirty="0">
                <a:solidFill>
                  <a:srgbClr val="1D7FC6"/>
                </a:solidFill>
              </a:rPr>
              <a:t>：</a:t>
            </a:r>
            <a:r>
              <a:rPr lang="zh-CN" altLang="en-US" dirty="0">
                <a:solidFill>
                  <a:srgbClr val="44546A"/>
                </a:solidFill>
                <a:latin typeface="微软雅黑" panose="020B0503020204020204" pitchFamily="34" charset="-122"/>
                <a:ea typeface="微软雅黑" pitchFamily="34" charset="-122"/>
              </a:rPr>
              <a:t>该方式可以实现计算指定字段值中的</a:t>
            </a:r>
            <a:r>
              <a:rPr lang="zh-CN" altLang="en-US" b="1" dirty="0">
                <a:solidFill>
                  <a:srgbClr val="44546A"/>
                </a:solidFill>
                <a:latin typeface="微软雅黑" panose="020B0503020204020204" pitchFamily="34" charset="-122"/>
                <a:ea typeface="微软雅黑" pitchFamily="34" charset="-122"/>
              </a:rPr>
              <a:t>最大值</a:t>
            </a:r>
            <a:r>
              <a:rPr lang="zh-CN" altLang="en-US" dirty="0">
                <a:solidFill>
                  <a:srgbClr val="44546A"/>
                </a:solidFill>
                <a:latin typeface="微软雅黑" panose="020B0503020204020204" pitchFamily="34" charset="-122"/>
                <a:ea typeface="微软雅黑" pitchFamily="34" charset="-122"/>
              </a:rPr>
              <a:t>，在具体计算时将忽略</a:t>
            </a:r>
            <a:r>
              <a:rPr lang="en-US" altLang="zh-CN" dirty="0">
                <a:solidFill>
                  <a:srgbClr val="44546A"/>
                </a:solidFill>
                <a:latin typeface="微软雅黑" panose="020B0503020204020204" pitchFamily="34" charset="-122"/>
                <a:ea typeface="微软雅黑" pitchFamily="34" charset="-122"/>
              </a:rPr>
              <a:t>NULL</a:t>
            </a:r>
            <a:r>
              <a:rPr lang="zh-CN" altLang="en-US" dirty="0">
                <a:solidFill>
                  <a:srgbClr val="44546A"/>
                </a:solidFill>
                <a:latin typeface="微软雅黑" panose="020B0503020204020204" pitchFamily="34" charset="-122"/>
                <a:ea typeface="微软雅黑" pitchFamily="34" charset="-122"/>
              </a:rPr>
              <a:t>值。</a:t>
            </a:r>
          </a:p>
          <a:p>
            <a:pPr marL="285750" indent="-285750">
              <a:lnSpc>
                <a:spcPct val="150000"/>
              </a:lnSpc>
              <a:buFont typeface="Wingdings" panose="05000000000000000000" pitchFamily="2" charset="2"/>
              <a:buChar char="u"/>
            </a:pPr>
            <a:r>
              <a:rPr lang="en-US" altLang="zh-CN" dirty="0">
                <a:solidFill>
                  <a:srgbClr val="1D7FC6"/>
                </a:solidFill>
              </a:rPr>
              <a:t>MIN(col_name)</a:t>
            </a:r>
            <a:r>
              <a:rPr lang="zh-CN" altLang="en-US" dirty="0">
                <a:solidFill>
                  <a:srgbClr val="1D7FC6"/>
                </a:solidFill>
              </a:rPr>
              <a:t>：</a:t>
            </a:r>
            <a:r>
              <a:rPr lang="zh-CN" altLang="en-US" dirty="0">
                <a:solidFill>
                  <a:srgbClr val="44546A"/>
                </a:solidFill>
                <a:latin typeface="微软雅黑" panose="020B0503020204020204" pitchFamily="34" charset="-122"/>
                <a:ea typeface="微软雅黑" pitchFamily="34" charset="-122"/>
              </a:rPr>
              <a:t>该方式可以实现计算指定字段值中的</a:t>
            </a:r>
            <a:r>
              <a:rPr lang="zh-CN" altLang="en-US" b="1" dirty="0">
                <a:solidFill>
                  <a:srgbClr val="44546A"/>
                </a:solidFill>
                <a:latin typeface="微软雅黑" panose="020B0503020204020204" pitchFamily="34" charset="-122"/>
                <a:ea typeface="微软雅黑" pitchFamily="34" charset="-122"/>
              </a:rPr>
              <a:t>最小值</a:t>
            </a:r>
            <a:r>
              <a:rPr lang="zh-CN" altLang="en-US" dirty="0">
                <a:solidFill>
                  <a:srgbClr val="44546A"/>
                </a:solidFill>
                <a:latin typeface="微软雅黑" panose="020B0503020204020204" pitchFamily="34" charset="-122"/>
                <a:ea typeface="微软雅黑" pitchFamily="34" charset="-122"/>
              </a:rPr>
              <a:t>，在具体计算时将忽略</a:t>
            </a:r>
            <a:r>
              <a:rPr lang="en-US" altLang="zh-CN" dirty="0">
                <a:solidFill>
                  <a:srgbClr val="44546A"/>
                </a:solidFill>
                <a:latin typeface="微软雅黑" panose="020B0503020204020204" pitchFamily="34" charset="-122"/>
                <a:ea typeface="微软雅黑" pitchFamily="34" charset="-122"/>
              </a:rPr>
              <a:t>NULL</a:t>
            </a:r>
            <a:r>
              <a:rPr lang="zh-CN" altLang="en-US" dirty="0">
                <a:solidFill>
                  <a:srgbClr val="44546A"/>
                </a:solidFill>
                <a:latin typeface="微软雅黑" panose="020B0503020204020204" pitchFamily="34" charset="-122"/>
                <a:ea typeface="微软雅黑" pitchFamily="34" charset="-122"/>
              </a:rPr>
              <a:t>值。</a:t>
            </a:r>
          </a:p>
        </p:txBody>
      </p:sp>
    </p:spTree>
    <p:extLst>
      <p:ext uri="{BB962C8B-B14F-4D97-AF65-F5344CB8AC3E}">
        <p14:creationId xmlns:p14="http://schemas.microsoft.com/office/powerpoint/2010/main" val="263292040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6" presetClass="entr" presetSubtype="16"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circle(in)">
                                      <p:cBhvr>
                                        <p:cTn id="19" dur="20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barn(inVertical)">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P spid="12" grpId="0" animBg="1"/>
      <p:bldP spid="13" grpId="0"/>
      <p:bldP spid="1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聚合函数和分组数据记录查询</a:t>
            </a:r>
            <a:r>
              <a:rPr lang="en-US" altLang="zh-CN" b="1" noProof="1">
                <a:solidFill>
                  <a:srgbClr val="44546A"/>
                </a:solidFill>
                <a:latin typeface="微软雅黑" panose="020B0503020204020204" pitchFamily="34" charset="-122"/>
                <a:ea typeface="微软雅黑" panose="020B0503020204020204" pitchFamily="34" charset="-122"/>
              </a:rPr>
              <a:t>-</a:t>
            </a:r>
            <a:r>
              <a:rPr lang="zh-CN" altLang="en-US" b="1" noProof="1">
                <a:solidFill>
                  <a:srgbClr val="44546A"/>
                </a:solidFill>
                <a:latin typeface="微软雅黑" panose="020B0503020204020204" pitchFamily="34" charset="-122"/>
                <a:ea typeface="微软雅黑" panose="020B0503020204020204" pitchFamily="34" charset="-122"/>
              </a:rPr>
              <a:t>使用聚合函数查询</a:t>
            </a:r>
          </a:p>
        </p:txBody>
      </p:sp>
      <p:sp>
        <p:nvSpPr>
          <p:cNvPr id="3" name="文本框 10">
            <a:extLst>
              <a:ext uri="{FF2B5EF4-FFF2-40B4-BE49-F238E27FC236}">
                <a16:creationId xmlns:a16="http://schemas.microsoft.com/office/drawing/2014/main" id="{D3B13D4A-044B-EF7E-397E-2159444C941B}"/>
              </a:ext>
            </a:extLst>
          </p:cNvPr>
          <p:cNvSpPr txBox="1">
            <a:spLocks noChangeArrowheads="1"/>
          </p:cNvSpPr>
          <p:nvPr/>
        </p:nvSpPr>
        <p:spPr bwMode="auto">
          <a:xfrm>
            <a:off x="592549" y="857897"/>
            <a:ext cx="10958749" cy="128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b="1" noProof="1">
                <a:solidFill>
                  <a:srgbClr val="44546A"/>
                </a:solidFill>
                <a:latin typeface="微软雅黑" panose="020B0503020204020204" pitchFamily="34" charset="-122"/>
              </a:rPr>
              <a:t>分组查询</a:t>
            </a:r>
            <a:r>
              <a:rPr lang="zh-CN" altLang="en-US" noProof="1">
                <a:solidFill>
                  <a:srgbClr val="44546A"/>
                </a:solidFill>
                <a:latin typeface="微软雅黑" panose="020B0503020204020204" pitchFamily="34" charset="-122"/>
              </a:rPr>
              <a:t>是将查询结果按照某个或多个字段进行分组，</a:t>
            </a:r>
            <a:r>
              <a:rPr lang="en-US" altLang="zh-CN" noProof="1">
                <a:solidFill>
                  <a:srgbClr val="44546A"/>
                </a:solidFill>
                <a:latin typeface="微软雅黑" panose="020B0503020204020204" pitchFamily="34" charset="-122"/>
              </a:rPr>
              <a:t>MySQL</a:t>
            </a:r>
            <a:r>
              <a:rPr lang="zh-CN" altLang="en-US" noProof="1">
                <a:solidFill>
                  <a:srgbClr val="44546A"/>
                </a:solidFill>
                <a:latin typeface="微软雅黑" panose="020B0503020204020204" pitchFamily="34" charset="-122"/>
              </a:rPr>
              <a:t>使用</a:t>
            </a:r>
            <a:r>
              <a:rPr lang="en-US" altLang="zh-CN" b="1" noProof="1">
                <a:solidFill>
                  <a:srgbClr val="44546A"/>
                </a:solidFill>
                <a:latin typeface="微软雅黑" panose="020B0503020204020204" pitchFamily="34" charset="-122"/>
              </a:rPr>
              <a:t>GROUP BY</a:t>
            </a:r>
            <a:r>
              <a:rPr lang="zh-CN" altLang="en-US" noProof="1">
                <a:solidFill>
                  <a:srgbClr val="44546A"/>
                </a:solidFill>
                <a:latin typeface="微软雅黑" panose="020B0503020204020204" pitchFamily="34" charset="-122"/>
              </a:rPr>
              <a:t>语句对数据进行分组。</a:t>
            </a:r>
            <a:r>
              <a:rPr lang="en-US" altLang="zh-CN" noProof="1">
                <a:solidFill>
                  <a:srgbClr val="44546A"/>
                </a:solidFill>
                <a:latin typeface="微软雅黑" panose="020B0503020204020204" pitchFamily="34" charset="-122"/>
              </a:rPr>
              <a:t>GROUP BY</a:t>
            </a:r>
            <a:r>
              <a:rPr lang="zh-CN" altLang="en-US" noProof="1">
                <a:solidFill>
                  <a:srgbClr val="44546A"/>
                </a:solidFill>
                <a:latin typeface="微软雅黑" panose="020B0503020204020204" pitchFamily="34" charset="-122"/>
              </a:rPr>
              <a:t>从字面上理解就是“根据（</a:t>
            </a:r>
            <a:r>
              <a:rPr lang="en-US" altLang="zh-CN" noProof="1">
                <a:solidFill>
                  <a:srgbClr val="44546A"/>
                </a:solidFill>
                <a:latin typeface="微软雅黑" panose="020B0503020204020204" pitchFamily="34" charset="-122"/>
              </a:rPr>
              <a:t>BY</a:t>
            </a:r>
            <a:r>
              <a:rPr lang="zh-CN" altLang="en-US" noProof="1">
                <a:solidFill>
                  <a:srgbClr val="44546A"/>
                </a:solidFill>
                <a:latin typeface="微软雅黑" panose="020B0503020204020204" pitchFamily="34" charset="-122"/>
              </a:rPr>
              <a:t>）一定的规则进行分组（</a:t>
            </a:r>
            <a:r>
              <a:rPr lang="en-US" altLang="zh-CN" noProof="1">
                <a:solidFill>
                  <a:srgbClr val="44546A"/>
                </a:solidFill>
                <a:latin typeface="微软雅黑" panose="020B0503020204020204" pitchFamily="34" charset="-122"/>
              </a:rPr>
              <a:t>GROUP</a:t>
            </a:r>
            <a:r>
              <a:rPr lang="zh-CN" altLang="en-US" noProof="1">
                <a:solidFill>
                  <a:srgbClr val="44546A"/>
                </a:solidFill>
                <a:latin typeface="微软雅黑" panose="020B0503020204020204" pitchFamily="34" charset="-122"/>
              </a:rPr>
              <a:t>）”。它的工作原理是按照一定的规则将一个数据集合划分成若干个小的区域，然后针对这些区域的数据进行处理，语法形式如下：</a:t>
            </a:r>
            <a:endParaRPr lang="zh-CN" altLang="en-US" dirty="0">
              <a:solidFill>
                <a:srgbClr val="44546A"/>
              </a:solidFill>
              <a:latin typeface="微软雅黑" panose="020B0503020204020204" pitchFamily="34" charset="-122"/>
            </a:endParaRPr>
          </a:p>
        </p:txBody>
      </p:sp>
      <p:sp>
        <p:nvSpPr>
          <p:cNvPr id="4" name="矩形 3">
            <a:extLst>
              <a:ext uri="{FF2B5EF4-FFF2-40B4-BE49-F238E27FC236}">
                <a16:creationId xmlns:a16="http://schemas.microsoft.com/office/drawing/2014/main" id="{1554F77B-F6F3-FD17-9F32-A216AB77DF56}"/>
              </a:ext>
            </a:extLst>
          </p:cNvPr>
          <p:cNvSpPr/>
          <p:nvPr/>
        </p:nvSpPr>
        <p:spPr>
          <a:xfrm>
            <a:off x="1140291" y="2424444"/>
            <a:ext cx="10052154" cy="818150"/>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5" name="文本框 38">
            <a:extLst>
              <a:ext uri="{FF2B5EF4-FFF2-40B4-BE49-F238E27FC236}">
                <a16:creationId xmlns:a16="http://schemas.microsoft.com/office/drawing/2014/main" id="{54EA10FE-50FB-EAB8-686A-B33C4A0642B3}"/>
              </a:ext>
            </a:extLst>
          </p:cNvPr>
          <p:cNvSpPr txBox="1">
            <a:spLocks noChangeArrowheads="1"/>
          </p:cNvSpPr>
          <p:nvPr/>
        </p:nvSpPr>
        <p:spPr bwMode="auto">
          <a:xfrm>
            <a:off x="2168187" y="2464362"/>
            <a:ext cx="8478042" cy="7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ts val="2500"/>
              </a:lnSpc>
            </a:pPr>
            <a:r>
              <a:rPr lang="en-US" altLang="zh-CN" sz="1600" dirty="0">
                <a:solidFill>
                  <a:schemeClr val="accent1"/>
                </a:solidFill>
              </a:rPr>
              <a:t>SELECT {*|col_list} </a:t>
            </a:r>
            <a:r>
              <a:rPr lang="en-US" altLang="zh-CN" sz="1600" dirty="0" err="1">
                <a:solidFill>
                  <a:schemeClr val="accent1"/>
                </a:solidFill>
              </a:rPr>
              <a:t>aggregate_func</a:t>
            </a:r>
            <a:r>
              <a:rPr lang="en-US" altLang="zh-CN" sz="1600" dirty="0">
                <a:solidFill>
                  <a:schemeClr val="accent1"/>
                </a:solidFill>
              </a:rPr>
              <a:t> FROM table_name </a:t>
            </a:r>
          </a:p>
          <a:p>
            <a:pPr eaLnBrk="1" hangingPunct="1">
              <a:lnSpc>
                <a:spcPts val="2500"/>
              </a:lnSpc>
            </a:pPr>
            <a:r>
              <a:rPr lang="en-US" altLang="zh-CN" sz="1600" dirty="0">
                <a:solidFill>
                  <a:schemeClr val="accent1"/>
                </a:solidFill>
              </a:rPr>
              <a:t>GROUP BY col_namea [HAVING condition];</a:t>
            </a:r>
          </a:p>
        </p:txBody>
      </p:sp>
    </p:spTree>
    <p:extLst>
      <p:ext uri="{BB962C8B-B14F-4D97-AF65-F5344CB8AC3E}">
        <p14:creationId xmlns:p14="http://schemas.microsoft.com/office/powerpoint/2010/main" val="41889789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聚合函数和分组数据记录查询</a:t>
            </a:r>
            <a:r>
              <a:rPr lang="en-US" altLang="zh-CN" b="1" noProof="1">
                <a:solidFill>
                  <a:srgbClr val="44546A"/>
                </a:solidFill>
                <a:latin typeface="微软雅黑" panose="020B0503020204020204" pitchFamily="34" charset="-122"/>
                <a:ea typeface="微软雅黑" panose="020B0503020204020204" pitchFamily="34" charset="-122"/>
              </a:rPr>
              <a:t>-</a:t>
            </a:r>
            <a:r>
              <a:rPr lang="zh-CN" altLang="en-US" b="1" noProof="1">
                <a:solidFill>
                  <a:srgbClr val="44546A"/>
                </a:solidFill>
                <a:latin typeface="微软雅黑" panose="020B0503020204020204" pitchFamily="34" charset="-122"/>
                <a:ea typeface="微软雅黑" panose="020B0503020204020204" pitchFamily="34" charset="-122"/>
              </a:rPr>
              <a:t>使用聚合函数查询</a:t>
            </a:r>
          </a:p>
        </p:txBody>
      </p:sp>
      <p:sp>
        <p:nvSpPr>
          <p:cNvPr id="6" name="文本框 3">
            <a:extLst>
              <a:ext uri="{FF2B5EF4-FFF2-40B4-BE49-F238E27FC236}">
                <a16:creationId xmlns:a16="http://schemas.microsoft.com/office/drawing/2014/main" id="{D4008E25-96F0-F062-0762-2910C6CD7030}"/>
              </a:ext>
            </a:extLst>
          </p:cNvPr>
          <p:cNvSpPr txBox="1">
            <a:spLocks noChangeArrowheads="1"/>
          </p:cNvSpPr>
          <p:nvPr/>
        </p:nvSpPr>
        <p:spPr bwMode="auto">
          <a:xfrm>
            <a:off x="1882586" y="1063050"/>
            <a:ext cx="9271000" cy="458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just" eaLnBrk="1" hangingPunct="1">
              <a:lnSpc>
                <a:spcPct val="150000"/>
              </a:lnSpc>
            </a:pPr>
            <a:r>
              <a:rPr lang="zh-CN" altLang="en-US" dirty="0">
                <a:solidFill>
                  <a:srgbClr val="44546A"/>
                </a:solidFill>
                <a:latin typeface="微软雅黑" panose="020B0503020204020204" pitchFamily="34" charset="-122"/>
              </a:rPr>
              <a:t>简单分组查询</a:t>
            </a:r>
            <a:endParaRPr lang="zh-CN" altLang="en-US" noProof="1">
              <a:solidFill>
                <a:srgbClr val="44546A"/>
              </a:solidFill>
              <a:latin typeface="微软雅黑" panose="020B0503020204020204" pitchFamily="34" charset="-122"/>
            </a:endParaRPr>
          </a:p>
        </p:txBody>
      </p:sp>
      <p:grpSp>
        <p:nvGrpSpPr>
          <p:cNvPr id="7" name="组合 6">
            <a:extLst>
              <a:ext uri="{FF2B5EF4-FFF2-40B4-BE49-F238E27FC236}">
                <a16:creationId xmlns:a16="http://schemas.microsoft.com/office/drawing/2014/main" id="{12B9907F-36E1-D9CB-22E7-A5961304CAC4}"/>
              </a:ext>
            </a:extLst>
          </p:cNvPr>
          <p:cNvGrpSpPr/>
          <p:nvPr/>
        </p:nvGrpSpPr>
        <p:grpSpPr>
          <a:xfrm>
            <a:off x="879286" y="947745"/>
            <a:ext cx="1003300" cy="722312"/>
            <a:chOff x="877888" y="1586140"/>
            <a:chExt cx="1003300" cy="722312"/>
          </a:xfrm>
        </p:grpSpPr>
        <p:sp>
          <p:nvSpPr>
            <p:cNvPr id="8" name="íṩľíḍè-Freeform: Shape 9">
              <a:extLst>
                <a:ext uri="{FF2B5EF4-FFF2-40B4-BE49-F238E27FC236}">
                  <a16:creationId xmlns:a16="http://schemas.microsoft.com/office/drawing/2014/main" id="{0B87C6BC-98E9-AF33-4925-348DDE708808}"/>
                </a:ext>
              </a:extLst>
            </p:cNvPr>
            <p:cNvSpPr>
              <a:spLocks noChangeArrowheads="1"/>
            </p:cNvSpPr>
            <p:nvPr/>
          </p:nvSpPr>
          <p:spPr bwMode="auto">
            <a:xfrm>
              <a:off x="877888" y="1586140"/>
              <a:ext cx="1003300" cy="722312"/>
            </a:xfrm>
            <a:custGeom>
              <a:avLst/>
              <a:gdLst>
                <a:gd name="T0" fmla="*/ 1424916 w 2507091"/>
                <a:gd name="T1" fmla="*/ 112 h 2343942"/>
                <a:gd name="T2" fmla="*/ 1555542 w 2507091"/>
                <a:gd name="T3" fmla="*/ 75381 h 2343942"/>
                <a:gd name="T4" fmla="*/ 2409995 w 2507091"/>
                <a:gd name="T5" fmla="*/ 936988 h 2343942"/>
                <a:gd name="T6" fmla="*/ 2409995 w 2507091"/>
                <a:gd name="T7" fmla="*/ 1406955 h 2343942"/>
                <a:gd name="T8" fmla="*/ 1555542 w 2507091"/>
                <a:gd name="T9" fmla="*/ 2268563 h 2343942"/>
                <a:gd name="T10" fmla="*/ 1322510 w 2507091"/>
                <a:gd name="T11" fmla="*/ 2172828 h 2343942"/>
                <a:gd name="T12" fmla="*/ 994538 w 2507091"/>
                <a:gd name="T13" fmla="*/ 1842111 h 2343942"/>
                <a:gd name="T14" fmla="*/ 1992 w 2507091"/>
                <a:gd name="T15" fmla="*/ 1842111 h 2343942"/>
                <a:gd name="T16" fmla="*/ 0 w 2507091"/>
                <a:gd name="T17" fmla="*/ 1841897 h 2343942"/>
                <a:gd name="T18" fmla="*/ 8587 w 2507091"/>
                <a:gd name="T19" fmla="*/ 1841897 h 2343942"/>
                <a:gd name="T20" fmla="*/ 66848 w 2507091"/>
                <a:gd name="T21" fmla="*/ 1841897 h 2343942"/>
                <a:gd name="T22" fmla="*/ 489776 w 2507091"/>
                <a:gd name="T23" fmla="*/ 1406631 h 2343942"/>
                <a:gd name="T24" fmla="*/ 489776 w 2507091"/>
                <a:gd name="T25" fmla="*/ 936545 h 2343942"/>
                <a:gd name="T26" fmla="*/ 67674 w 2507091"/>
                <a:gd name="T27" fmla="*/ 510817 h 2343942"/>
                <a:gd name="T28" fmla="*/ 67395 w 2507091"/>
                <a:gd name="T29" fmla="*/ 510536 h 2343942"/>
                <a:gd name="T30" fmla="*/ 85108 w 2507091"/>
                <a:gd name="T31" fmla="*/ 510536 h 2343942"/>
                <a:gd name="T32" fmla="*/ 994538 w 2507091"/>
                <a:gd name="T33" fmla="*/ 510536 h 2343942"/>
                <a:gd name="T34" fmla="*/ 1322510 w 2507091"/>
                <a:gd name="T35" fmla="*/ 171115 h 2343942"/>
                <a:gd name="T36" fmla="*/ 1424916 w 2507091"/>
                <a:gd name="T37" fmla="*/ 112 h 23439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07091"/>
                <a:gd name="T58" fmla="*/ 0 h 2343942"/>
                <a:gd name="T59" fmla="*/ 2507091 w 2507091"/>
                <a:gd name="T60" fmla="*/ 2343942 h 23439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07091" h="2343942">
                  <a:moveTo>
                    <a:pt x="1424916" y="112"/>
                  </a:moveTo>
                  <a:cubicBezTo>
                    <a:pt x="1462086" y="1948"/>
                    <a:pt x="1506994" y="26426"/>
                    <a:pt x="1555542" y="75381"/>
                  </a:cubicBezTo>
                  <a:cubicBezTo>
                    <a:pt x="1555542" y="75381"/>
                    <a:pt x="1555542" y="75381"/>
                    <a:pt x="2409995" y="936988"/>
                  </a:cubicBezTo>
                  <a:cubicBezTo>
                    <a:pt x="2539457" y="1067534"/>
                    <a:pt x="2539457" y="1276409"/>
                    <a:pt x="2409995" y="1406955"/>
                  </a:cubicBezTo>
                  <a:lnTo>
                    <a:pt x="1555542" y="2268563"/>
                  </a:lnTo>
                  <a:cubicBezTo>
                    <a:pt x="1426080" y="2399109"/>
                    <a:pt x="1322510" y="2355594"/>
                    <a:pt x="1322510" y="2172828"/>
                  </a:cubicBezTo>
                  <a:cubicBezTo>
                    <a:pt x="1322510" y="1990063"/>
                    <a:pt x="1175785" y="1842111"/>
                    <a:pt x="994538" y="1842111"/>
                  </a:cubicBezTo>
                  <a:cubicBezTo>
                    <a:pt x="994538" y="1842111"/>
                    <a:pt x="994538" y="1842111"/>
                    <a:pt x="1992" y="1842111"/>
                  </a:cubicBezTo>
                  <a:lnTo>
                    <a:pt x="0" y="1841897"/>
                  </a:lnTo>
                  <a:lnTo>
                    <a:pt x="8587" y="1841897"/>
                  </a:lnTo>
                  <a:cubicBezTo>
                    <a:pt x="66848" y="1841897"/>
                    <a:pt x="66848" y="1841897"/>
                    <a:pt x="66848" y="1841897"/>
                  </a:cubicBezTo>
                  <a:cubicBezTo>
                    <a:pt x="489776" y="1406631"/>
                    <a:pt x="489776" y="1406631"/>
                    <a:pt x="489776" y="1406631"/>
                  </a:cubicBezTo>
                  <a:cubicBezTo>
                    <a:pt x="619244" y="1276052"/>
                    <a:pt x="619244" y="1067124"/>
                    <a:pt x="489776" y="936545"/>
                  </a:cubicBezTo>
                  <a:cubicBezTo>
                    <a:pt x="119714" y="563304"/>
                    <a:pt x="73456" y="516649"/>
                    <a:pt x="67674" y="510817"/>
                  </a:cubicBezTo>
                  <a:lnTo>
                    <a:pt x="67395" y="510536"/>
                  </a:lnTo>
                  <a:lnTo>
                    <a:pt x="85108" y="510536"/>
                  </a:lnTo>
                  <a:cubicBezTo>
                    <a:pt x="191971" y="510536"/>
                    <a:pt x="436231" y="510536"/>
                    <a:pt x="994538" y="510536"/>
                  </a:cubicBezTo>
                  <a:cubicBezTo>
                    <a:pt x="1175785" y="510536"/>
                    <a:pt x="1322510" y="353880"/>
                    <a:pt x="1322510" y="171115"/>
                  </a:cubicBezTo>
                  <a:cubicBezTo>
                    <a:pt x="1322510" y="56887"/>
                    <a:pt x="1362967" y="-2947"/>
                    <a:pt x="1424916" y="11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 name="íṩľíḍè-Oval 10">
              <a:extLst>
                <a:ext uri="{FF2B5EF4-FFF2-40B4-BE49-F238E27FC236}">
                  <a16:creationId xmlns:a16="http://schemas.microsoft.com/office/drawing/2014/main" id="{2D801DE2-AB67-75E4-A24C-DEFA398610CF}"/>
                </a:ext>
              </a:extLst>
            </p:cNvPr>
            <p:cNvSpPr/>
            <p:nvPr/>
          </p:nvSpPr>
          <p:spPr>
            <a:xfrm>
              <a:off x="1289050" y="1774664"/>
              <a:ext cx="341313" cy="341313"/>
            </a:xfrm>
            <a:prstGeom prst="ellipse">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algn="ctr" eaLnBrk="1" hangingPunct="1"/>
              <a:r>
                <a:rPr lang="en-US" altLang="zh-CN" dirty="0">
                  <a:solidFill>
                    <a:srgbClr val="44546A"/>
                  </a:solidFill>
                  <a:latin typeface="微软雅黑" panose="020B0503020204020204" pitchFamily="34" charset="-122"/>
                </a:rPr>
                <a:t>1</a:t>
              </a:r>
            </a:p>
          </p:txBody>
        </p:sp>
      </p:grpSp>
      <p:sp>
        <p:nvSpPr>
          <p:cNvPr id="10" name="矩形 9">
            <a:extLst>
              <a:ext uri="{FF2B5EF4-FFF2-40B4-BE49-F238E27FC236}">
                <a16:creationId xmlns:a16="http://schemas.microsoft.com/office/drawing/2014/main" id="{51A725EC-B5DB-16AC-5AF7-17596AF83070}"/>
              </a:ext>
            </a:extLst>
          </p:cNvPr>
          <p:cNvSpPr/>
          <p:nvPr/>
        </p:nvSpPr>
        <p:spPr>
          <a:xfrm>
            <a:off x="809299" y="1719338"/>
            <a:ext cx="8452186" cy="369332"/>
          </a:xfrm>
          <a:prstGeom prst="rect">
            <a:avLst/>
          </a:prstGeom>
        </p:spPr>
        <p:txBody>
          <a:bodyPr wrap="none">
            <a:spAutoFit/>
          </a:bodyPr>
          <a:lstStyle/>
          <a:p>
            <a:pPr indent="457200" algn="just"/>
            <a:r>
              <a:rPr lang="zh-CN" altLang="en-US" dirty="0">
                <a:solidFill>
                  <a:srgbClr val="44546A"/>
                </a:solidFill>
                <a:latin typeface="微软雅黑" panose="020B0503020204020204" pitchFamily="34" charset="-122"/>
                <a:ea typeface="微软雅黑" pitchFamily="34" charset="-122"/>
              </a:rPr>
              <a:t>将</a:t>
            </a:r>
            <a:r>
              <a:rPr lang="en-US" altLang="zh-CN" b="1" dirty="0">
                <a:solidFill>
                  <a:srgbClr val="44546A"/>
                </a:solidFill>
                <a:latin typeface="微软雅黑" panose="020B0503020204020204" pitchFamily="34" charset="-122"/>
                <a:ea typeface="微软雅黑" pitchFamily="34" charset="-122"/>
              </a:rPr>
              <a:t>GROUP BY</a:t>
            </a:r>
            <a:r>
              <a:rPr lang="zh-CN" altLang="en-US" dirty="0">
                <a:solidFill>
                  <a:srgbClr val="44546A"/>
                </a:solidFill>
                <a:latin typeface="微软雅黑" panose="020B0503020204020204" pitchFamily="34" charset="-122"/>
                <a:ea typeface="微软雅黑" pitchFamily="34" charset="-122"/>
              </a:rPr>
              <a:t>关键字与聚合函数</a:t>
            </a:r>
            <a:r>
              <a:rPr lang="en-US" altLang="zh-CN" b="1" dirty="0">
                <a:solidFill>
                  <a:srgbClr val="44546A"/>
                </a:solidFill>
                <a:latin typeface="微软雅黑" panose="020B0503020204020204" pitchFamily="34" charset="-122"/>
                <a:ea typeface="微软雅黑" pitchFamily="34" charset="-122"/>
              </a:rPr>
              <a:t>COUNT()</a:t>
            </a:r>
            <a:r>
              <a:rPr lang="zh-CN" altLang="en-US" dirty="0">
                <a:solidFill>
                  <a:srgbClr val="44546A"/>
                </a:solidFill>
                <a:latin typeface="微软雅黑" panose="020B0503020204020204" pitchFamily="34" charset="-122"/>
                <a:ea typeface="微软雅黑" pitchFamily="34" charset="-122"/>
              </a:rPr>
              <a:t>一起使用，可以查询每组的数量。</a:t>
            </a:r>
            <a:endParaRPr lang="en-US" altLang="zh-CN" dirty="0">
              <a:solidFill>
                <a:srgbClr val="44546A"/>
              </a:solidFill>
              <a:latin typeface="微软雅黑" panose="020B0503020204020204" pitchFamily="34" charset="-122"/>
              <a:ea typeface="微软雅黑" pitchFamily="34" charset="-122"/>
            </a:endParaRPr>
          </a:p>
        </p:txBody>
      </p:sp>
      <p:grpSp>
        <p:nvGrpSpPr>
          <p:cNvPr id="11" name="组合 34">
            <a:extLst>
              <a:ext uri="{FF2B5EF4-FFF2-40B4-BE49-F238E27FC236}">
                <a16:creationId xmlns:a16="http://schemas.microsoft.com/office/drawing/2014/main" id="{5209AD78-5415-D90F-A5F7-705F0B6F8970}"/>
              </a:ext>
            </a:extLst>
          </p:cNvPr>
          <p:cNvGrpSpPr/>
          <p:nvPr/>
        </p:nvGrpSpPr>
        <p:grpSpPr>
          <a:xfrm>
            <a:off x="879286" y="2224231"/>
            <a:ext cx="2183765" cy="600710"/>
            <a:chOff x="1320" y="4641"/>
            <a:chExt cx="3439" cy="946"/>
          </a:xfrm>
          <a:solidFill>
            <a:schemeClr val="accent6"/>
          </a:solidFill>
        </p:grpSpPr>
        <p:sp>
          <p:nvSpPr>
            <p:cNvPr id="12" name="椭圆 11">
              <a:extLst>
                <a:ext uri="{FF2B5EF4-FFF2-40B4-BE49-F238E27FC236}">
                  <a16:creationId xmlns:a16="http://schemas.microsoft.com/office/drawing/2014/main" id="{678F25E4-28C8-FEDF-12A5-CB3A493B3D25}"/>
                </a:ext>
              </a:extLst>
            </p:cNvPr>
            <p:cNvSpPr/>
            <p:nvPr/>
          </p:nvSpPr>
          <p:spPr>
            <a:xfrm>
              <a:off x="1320" y="4641"/>
              <a:ext cx="946" cy="946"/>
            </a:xfrm>
            <a:prstGeom prst="ellipse">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3" name="圆角矩形 11">
              <a:extLst>
                <a:ext uri="{FF2B5EF4-FFF2-40B4-BE49-F238E27FC236}">
                  <a16:creationId xmlns:a16="http://schemas.microsoft.com/office/drawing/2014/main" id="{DFDAB5A2-3511-72A8-E7DA-ACF3C034B909}"/>
                </a:ext>
              </a:extLst>
            </p:cNvPr>
            <p:cNvSpPr/>
            <p:nvPr/>
          </p:nvSpPr>
          <p:spPr>
            <a:xfrm>
              <a:off x="1673" y="4793"/>
              <a:ext cx="3086" cy="643"/>
            </a:xfrm>
            <a:prstGeom prst="roundRect">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en-US" b="1" noProof="1">
                  <a:solidFill>
                    <a:schemeClr val="bg1"/>
                  </a:solidFill>
                  <a:latin typeface="微软雅黑" pitchFamily="34" charset="-122"/>
                  <a:sym typeface="+mn-ea"/>
                </a:rPr>
                <a:t>【</a:t>
              </a:r>
              <a:r>
                <a:rPr lang="zh-CN" altLang="en-US" b="1" noProof="1">
                  <a:solidFill>
                    <a:schemeClr val="bg1"/>
                  </a:solidFill>
                  <a:latin typeface="微软雅黑" pitchFamily="34" charset="-122"/>
                  <a:sym typeface="+mn-ea"/>
                </a:rPr>
                <a:t>实</a:t>
              </a:r>
              <a:r>
                <a:rPr lang="en-US" altLang="en-US" b="1" noProof="1">
                  <a:solidFill>
                    <a:schemeClr val="bg1"/>
                  </a:solidFill>
                  <a:latin typeface="微软雅黑" pitchFamily="34" charset="-122"/>
                  <a:sym typeface="+mn-ea"/>
                </a:rPr>
                <a:t>例</a:t>
              </a:r>
              <a:r>
                <a:rPr lang="en-US" altLang="zh-CN" b="1" noProof="1">
                  <a:solidFill>
                    <a:schemeClr val="bg1"/>
                  </a:solidFill>
                  <a:latin typeface="微软雅黑" pitchFamily="34" charset="-122"/>
                  <a:sym typeface="+mn-ea"/>
                </a:rPr>
                <a:t>31</a:t>
              </a:r>
              <a:r>
                <a:rPr lang="en-US" altLang="en-US" b="1" noProof="1">
                  <a:solidFill>
                    <a:schemeClr val="bg1"/>
                  </a:solidFill>
                  <a:latin typeface="微软雅黑" pitchFamily="34" charset="-122"/>
                  <a:sym typeface="+mn-ea"/>
                </a:rPr>
                <a:t>】</a:t>
              </a:r>
              <a:endParaRPr lang="zh-CN" altLang="en-US" noProof="1">
                <a:solidFill>
                  <a:schemeClr val="bg1"/>
                </a:solidFill>
                <a:sym typeface="Arial" panose="020B0604020202090204" pitchFamily="34" charset="0"/>
              </a:endParaRPr>
            </a:p>
          </p:txBody>
        </p:sp>
      </p:grpSp>
      <p:sp>
        <p:nvSpPr>
          <p:cNvPr id="14" name="文本框 36">
            <a:extLst>
              <a:ext uri="{FF2B5EF4-FFF2-40B4-BE49-F238E27FC236}">
                <a16:creationId xmlns:a16="http://schemas.microsoft.com/office/drawing/2014/main" id="{63720647-AC15-D157-1D49-D65E3CDC5B42}"/>
              </a:ext>
            </a:extLst>
          </p:cNvPr>
          <p:cNvSpPr txBox="1">
            <a:spLocks noChangeArrowheads="1"/>
          </p:cNvSpPr>
          <p:nvPr/>
        </p:nvSpPr>
        <p:spPr bwMode="auto">
          <a:xfrm>
            <a:off x="3287206" y="2157182"/>
            <a:ext cx="7778588"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lnSpc>
                <a:spcPct val="150000"/>
              </a:lnSpc>
            </a:pPr>
            <a:r>
              <a:rPr lang="zh-CN" altLang="en-US" dirty="0">
                <a:solidFill>
                  <a:srgbClr val="44546A"/>
                </a:solidFill>
                <a:latin typeface="微软雅黑" panose="020B0503020204020204" pitchFamily="34" charset="-122"/>
              </a:rPr>
              <a:t>执行</a:t>
            </a:r>
            <a:r>
              <a:rPr lang="en-US" altLang="zh-CN" dirty="0">
                <a:solidFill>
                  <a:srgbClr val="44546A"/>
                </a:solidFill>
                <a:latin typeface="微软雅黑" panose="020B0503020204020204" pitchFamily="34" charset="-122"/>
              </a:rPr>
              <a:t>SQL</a:t>
            </a:r>
            <a:r>
              <a:rPr lang="zh-CN" altLang="en-US" dirty="0">
                <a:solidFill>
                  <a:srgbClr val="44546A"/>
                </a:solidFill>
                <a:latin typeface="微软雅黑" panose="020B0503020204020204" pitchFamily="34" charset="-122"/>
              </a:rPr>
              <a:t>语句，将</a:t>
            </a:r>
            <a:r>
              <a:rPr lang="en-US" altLang="zh-CN" dirty="0">
                <a:solidFill>
                  <a:srgbClr val="44546A"/>
                </a:solidFill>
                <a:latin typeface="微软雅黑" panose="020B0503020204020204" pitchFamily="34" charset="-122"/>
              </a:rPr>
              <a:t>goods</a:t>
            </a:r>
            <a:r>
              <a:rPr lang="zh-CN" altLang="en-US" dirty="0">
                <a:solidFill>
                  <a:srgbClr val="44546A"/>
                </a:solidFill>
                <a:latin typeface="微软雅黑" panose="020B0503020204020204" pitchFamily="34" charset="-122"/>
              </a:rPr>
              <a:t>表中的记录按照</a:t>
            </a:r>
            <a:r>
              <a:rPr lang="en-US" altLang="zh-CN" dirty="0">
                <a:solidFill>
                  <a:srgbClr val="44546A"/>
                </a:solidFill>
                <a:latin typeface="微软雅黑" panose="020B0503020204020204" pitchFamily="34" charset="-122"/>
              </a:rPr>
              <a:t>type</a:t>
            </a:r>
            <a:r>
              <a:rPr lang="zh-CN" altLang="en-US" dirty="0">
                <a:solidFill>
                  <a:srgbClr val="44546A"/>
                </a:solidFill>
                <a:latin typeface="微软雅黑" panose="020B0503020204020204" pitchFamily="34" charset="-122"/>
              </a:rPr>
              <a:t>字段（商品类别）进行分组，并统计每组的数量，结果如下：</a:t>
            </a:r>
          </a:p>
        </p:txBody>
      </p:sp>
      <p:sp>
        <p:nvSpPr>
          <p:cNvPr id="15" name="矩形 14">
            <a:extLst>
              <a:ext uri="{FF2B5EF4-FFF2-40B4-BE49-F238E27FC236}">
                <a16:creationId xmlns:a16="http://schemas.microsoft.com/office/drawing/2014/main" id="{5E59D427-2D03-040E-11DD-3454E2E94A63}"/>
              </a:ext>
            </a:extLst>
          </p:cNvPr>
          <p:cNvSpPr/>
          <p:nvPr/>
        </p:nvSpPr>
        <p:spPr>
          <a:xfrm>
            <a:off x="1030559" y="3100102"/>
            <a:ext cx="9764959" cy="2444063"/>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sp>
        <p:nvSpPr>
          <p:cNvPr id="16" name="文本框 38">
            <a:extLst>
              <a:ext uri="{FF2B5EF4-FFF2-40B4-BE49-F238E27FC236}">
                <a16:creationId xmlns:a16="http://schemas.microsoft.com/office/drawing/2014/main" id="{C2F3F2AD-4B18-3EE2-8B26-5532C69FD3D8}"/>
              </a:ext>
            </a:extLst>
          </p:cNvPr>
          <p:cNvSpPr txBox="1">
            <a:spLocks noChangeArrowheads="1"/>
          </p:cNvSpPr>
          <p:nvPr/>
        </p:nvSpPr>
        <p:spPr bwMode="auto">
          <a:xfrm>
            <a:off x="1666552" y="3109946"/>
            <a:ext cx="7626762"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微软雅黑" pitchFamily="34" charset="-122"/>
              </a:defRPr>
            </a:lvl1pPr>
            <a:lvl2pPr marL="742950" indent="-285750" eaLnBrk="0" hangingPunct="0">
              <a:defRPr>
                <a:solidFill>
                  <a:schemeClr val="tx1"/>
                </a:solidFill>
                <a:latin typeface="Arial" panose="020B0604020202090204" pitchFamily="34" charset="0"/>
                <a:ea typeface="微软雅黑" pitchFamily="34" charset="-122"/>
              </a:defRPr>
            </a:lvl2pPr>
            <a:lvl3pPr marL="1143000" indent="-228600" eaLnBrk="0" hangingPunct="0">
              <a:defRPr>
                <a:solidFill>
                  <a:schemeClr val="tx1"/>
                </a:solidFill>
                <a:latin typeface="Arial" panose="020B0604020202090204" pitchFamily="34" charset="0"/>
                <a:ea typeface="微软雅黑" pitchFamily="34" charset="-122"/>
              </a:defRPr>
            </a:lvl3pPr>
            <a:lvl4pPr marL="1600200" indent="-228600" eaLnBrk="0" hangingPunct="0">
              <a:defRPr>
                <a:solidFill>
                  <a:schemeClr val="tx1"/>
                </a:solidFill>
                <a:latin typeface="Arial" panose="020B0604020202090204" pitchFamily="34" charset="0"/>
                <a:ea typeface="微软雅黑" pitchFamily="34" charset="-122"/>
              </a:defRPr>
            </a:lvl4pPr>
            <a:lvl5pPr marL="2057400" indent="-228600" eaLnBrk="0" hangingPunct="0">
              <a:defRPr>
                <a:solidFill>
                  <a:schemeClr val="tx1"/>
                </a:solidFill>
                <a:latin typeface="Arial" panose="020B0604020202090204" pitchFamily="34" charset="0"/>
                <a:ea typeface="微软雅黑" pitchFamily="34"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itchFamily="34" charset="-122"/>
              </a:defRPr>
            </a:lvl9pPr>
          </a:lstStyle>
          <a:p>
            <a:pPr eaLnBrk="1" hangingPunct="1"/>
            <a:r>
              <a:rPr lang="en-US" altLang="zh-CN" sz="1400" dirty="0">
                <a:solidFill>
                  <a:schemeClr val="accent1"/>
                </a:solidFill>
              </a:rPr>
              <a:t>mysql&gt; SELECT type, count(*) FROM goods GROUP BY type;</a:t>
            </a:r>
          </a:p>
          <a:p>
            <a:pPr eaLnBrk="1" hangingPunct="1"/>
            <a:r>
              <a:rPr lang="en-US" altLang="zh-CN" sz="1400" dirty="0">
                <a:solidFill>
                  <a:schemeClr val="accent1"/>
                </a:solidFill>
              </a:rPr>
              <a:t>+------+--------------+</a:t>
            </a:r>
          </a:p>
          <a:p>
            <a:pPr eaLnBrk="1" hangingPunct="1"/>
            <a:r>
              <a:rPr lang="en-US" altLang="zh-CN" sz="1400" dirty="0">
                <a:solidFill>
                  <a:schemeClr val="accent1"/>
                </a:solidFill>
              </a:rPr>
              <a:t>| type | count(*)	|</a:t>
            </a:r>
          </a:p>
          <a:p>
            <a:pPr eaLnBrk="1" hangingPunct="1"/>
            <a:r>
              <a:rPr lang="en-US" altLang="zh-CN" sz="1400" dirty="0">
                <a:solidFill>
                  <a:schemeClr val="accent1"/>
                </a:solidFill>
              </a:rPr>
              <a:t>+------+--------------+</a:t>
            </a:r>
          </a:p>
          <a:p>
            <a:pPr eaLnBrk="1" hangingPunct="1"/>
            <a:r>
              <a:rPr lang="en-US" altLang="zh-CN" sz="1400" dirty="0">
                <a:solidFill>
                  <a:schemeClr val="accent1"/>
                </a:solidFill>
              </a:rPr>
              <a:t>| </a:t>
            </a:r>
            <a:r>
              <a:rPr lang="zh-CN" altLang="en-US" sz="1400" dirty="0">
                <a:solidFill>
                  <a:schemeClr val="accent1"/>
                </a:solidFill>
              </a:rPr>
              <a:t>书籍 </a:t>
            </a:r>
            <a:r>
              <a:rPr lang="en-US" altLang="zh-CN" sz="1400" dirty="0">
                <a:solidFill>
                  <a:schemeClr val="accent1"/>
                </a:solidFill>
              </a:rPr>
              <a:t>|        3	|</a:t>
            </a:r>
          </a:p>
          <a:p>
            <a:pPr eaLnBrk="1" hangingPunct="1"/>
            <a:r>
              <a:rPr lang="en-US" altLang="zh-CN" sz="1400" dirty="0">
                <a:solidFill>
                  <a:schemeClr val="accent1"/>
                </a:solidFill>
              </a:rPr>
              <a:t>| </a:t>
            </a:r>
            <a:r>
              <a:rPr lang="zh-CN" altLang="en-US" sz="1400" dirty="0">
                <a:solidFill>
                  <a:schemeClr val="accent1"/>
                </a:solidFill>
              </a:rPr>
              <a:t>服饰 </a:t>
            </a:r>
            <a:r>
              <a:rPr lang="en-US" altLang="zh-CN" sz="1400" dirty="0">
                <a:solidFill>
                  <a:schemeClr val="accent1"/>
                </a:solidFill>
              </a:rPr>
              <a:t>|        2	|</a:t>
            </a:r>
          </a:p>
          <a:p>
            <a:pPr eaLnBrk="1" hangingPunct="1"/>
            <a:r>
              <a:rPr lang="en-US" altLang="zh-CN" sz="1400" dirty="0">
                <a:solidFill>
                  <a:schemeClr val="accent1"/>
                </a:solidFill>
              </a:rPr>
              <a:t>| </a:t>
            </a:r>
            <a:r>
              <a:rPr lang="zh-CN" altLang="en-US" sz="1400" dirty="0">
                <a:solidFill>
                  <a:schemeClr val="accent1"/>
                </a:solidFill>
              </a:rPr>
              <a:t>水果 </a:t>
            </a:r>
            <a:r>
              <a:rPr lang="en-US" altLang="zh-CN" sz="1400" dirty="0">
                <a:solidFill>
                  <a:schemeClr val="accent1"/>
                </a:solidFill>
              </a:rPr>
              <a:t>|        2	|</a:t>
            </a:r>
          </a:p>
          <a:p>
            <a:pPr eaLnBrk="1" hangingPunct="1"/>
            <a:r>
              <a:rPr lang="en-US" altLang="zh-CN" sz="1400" dirty="0">
                <a:solidFill>
                  <a:schemeClr val="accent1"/>
                </a:solidFill>
              </a:rPr>
              <a:t>| </a:t>
            </a:r>
            <a:r>
              <a:rPr lang="zh-CN" altLang="en-US" sz="1400" dirty="0">
                <a:solidFill>
                  <a:schemeClr val="accent1"/>
                </a:solidFill>
              </a:rPr>
              <a:t>糖类 </a:t>
            </a:r>
            <a:r>
              <a:rPr lang="en-US" altLang="zh-CN" sz="1400" dirty="0">
                <a:solidFill>
                  <a:schemeClr val="accent1"/>
                </a:solidFill>
              </a:rPr>
              <a:t>|        2	|</a:t>
            </a:r>
          </a:p>
          <a:p>
            <a:pPr eaLnBrk="1" hangingPunct="1"/>
            <a:r>
              <a:rPr lang="en-US" altLang="zh-CN" sz="1400" dirty="0">
                <a:solidFill>
                  <a:schemeClr val="accent1"/>
                </a:solidFill>
              </a:rPr>
              <a:t>| </a:t>
            </a:r>
            <a:r>
              <a:rPr lang="zh-CN" altLang="en-US" sz="1400" dirty="0">
                <a:solidFill>
                  <a:schemeClr val="accent1"/>
                </a:solidFill>
              </a:rPr>
              <a:t>饮品 </a:t>
            </a:r>
            <a:r>
              <a:rPr lang="en-US" altLang="zh-CN" sz="1400" dirty="0">
                <a:solidFill>
                  <a:schemeClr val="accent1"/>
                </a:solidFill>
              </a:rPr>
              <a:t>|        1	|</a:t>
            </a:r>
          </a:p>
          <a:p>
            <a:pPr eaLnBrk="1" hangingPunct="1"/>
            <a:r>
              <a:rPr lang="en-US" altLang="zh-CN" sz="1400" dirty="0">
                <a:solidFill>
                  <a:schemeClr val="accent1"/>
                </a:solidFill>
              </a:rPr>
              <a:t>+------+--------------+</a:t>
            </a:r>
          </a:p>
          <a:p>
            <a:pPr eaLnBrk="1" hangingPunct="1"/>
            <a:r>
              <a:rPr lang="en-US" altLang="zh-CN" sz="1400" dirty="0">
                <a:solidFill>
                  <a:schemeClr val="accent1"/>
                </a:solidFill>
              </a:rPr>
              <a:t>5 rows in set (0.02 sec)</a:t>
            </a:r>
          </a:p>
        </p:txBody>
      </p:sp>
    </p:spTree>
    <p:extLst>
      <p:ext uri="{BB962C8B-B14F-4D97-AF65-F5344CB8AC3E}">
        <p14:creationId xmlns:p14="http://schemas.microsoft.com/office/powerpoint/2010/main" val="19125371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4" grpId="0"/>
      <p:bldP spid="15" grpId="0" animBg="1"/>
      <p:bldP spid="1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3"/>
          <a:stretch>
            <a:fillRect/>
          </a:stretch>
        </p:blipFill>
        <p:spPr>
          <a:xfrm>
            <a:off x="-6306" y="3900310"/>
            <a:ext cx="3983316" cy="2951922"/>
          </a:xfrm>
          <a:prstGeom prst="rect">
            <a:avLst/>
          </a:prstGeom>
        </p:spPr>
      </p:pic>
      <p:sp>
        <p:nvSpPr>
          <p:cNvPr id="35" name="文本框 34"/>
          <p:cNvSpPr txBox="1"/>
          <p:nvPr/>
        </p:nvSpPr>
        <p:spPr>
          <a:xfrm>
            <a:off x="2164320" y="2792875"/>
            <a:ext cx="2155262" cy="707886"/>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pPr algn="just"/>
            <a:r>
              <a:rPr lang="zh-CN" altLang="en-US" sz="4000" dirty="0">
                <a:solidFill>
                  <a:srgbClr val="44546A"/>
                </a:solidFill>
              </a:rPr>
              <a:t>目录</a:t>
            </a:r>
          </a:p>
        </p:txBody>
      </p:sp>
      <p:sp>
        <p:nvSpPr>
          <p:cNvPr id="20" name="文本框 19"/>
          <p:cNvSpPr txBox="1"/>
          <p:nvPr/>
        </p:nvSpPr>
        <p:spPr>
          <a:xfrm>
            <a:off x="5410386" y="2207531"/>
            <a:ext cx="5204947"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a:defRPr/>
            </a:pPr>
            <a:r>
              <a:rPr lang="zh-CN" altLang="en-US" kern="0" dirty="0">
                <a:solidFill>
                  <a:srgbClr val="02B36F"/>
                </a:solidFill>
                <a:effectLst/>
              </a:rPr>
              <a:t>数据库基础</a:t>
            </a:r>
            <a:endParaRPr lang="en-US" altLang="zh-CN" kern="0" dirty="0">
              <a:solidFill>
                <a:srgbClr val="02B36F"/>
              </a:solidFill>
              <a:effectLst/>
            </a:endParaRPr>
          </a:p>
        </p:txBody>
      </p:sp>
      <p:sp>
        <p:nvSpPr>
          <p:cNvPr id="21" name="圆角矩形 20"/>
          <p:cNvSpPr/>
          <p:nvPr/>
        </p:nvSpPr>
        <p:spPr>
          <a:xfrm>
            <a:off x="5410386" y="3002496"/>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 name="文本框 1">
            <a:extLst>
              <a:ext uri="{FF2B5EF4-FFF2-40B4-BE49-F238E27FC236}">
                <a16:creationId xmlns:a16="http://schemas.microsoft.com/office/drawing/2014/main" id="{EB2D80E8-95F0-F590-7A8C-C191F946DF16}"/>
              </a:ext>
            </a:extLst>
          </p:cNvPr>
          <p:cNvSpPr txBox="1"/>
          <p:nvPr/>
        </p:nvSpPr>
        <p:spPr>
          <a:xfrm>
            <a:off x="5337411" y="3403763"/>
            <a:ext cx="5204947"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lang="zh-CN" altLang="en-US" kern="0" dirty="0">
                <a:solidFill>
                  <a:srgbClr val="02B36F"/>
                </a:solidFill>
                <a:effectLst/>
              </a:rPr>
              <a:t>单表数据记录查询</a:t>
            </a:r>
            <a:endParaRPr lang="en-US" altLang="zh-CN" kern="0" dirty="0">
              <a:solidFill>
                <a:srgbClr val="02B36F"/>
              </a:solidFill>
              <a:effectLst/>
            </a:endParaRPr>
          </a:p>
        </p:txBody>
      </p:sp>
      <p:sp>
        <p:nvSpPr>
          <p:cNvPr id="3" name="圆角矩形 20">
            <a:extLst>
              <a:ext uri="{FF2B5EF4-FFF2-40B4-BE49-F238E27FC236}">
                <a16:creationId xmlns:a16="http://schemas.microsoft.com/office/drawing/2014/main" id="{E84525B3-DC1A-B332-E6E9-970CBDDC6EF8}"/>
              </a:ext>
            </a:extLst>
          </p:cNvPr>
          <p:cNvSpPr/>
          <p:nvPr/>
        </p:nvSpPr>
        <p:spPr>
          <a:xfrm>
            <a:off x="5337411" y="4198728"/>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 name="文本框 3">
            <a:extLst>
              <a:ext uri="{FF2B5EF4-FFF2-40B4-BE49-F238E27FC236}">
                <a16:creationId xmlns:a16="http://schemas.microsoft.com/office/drawing/2014/main" id="{EC7E4733-AD0C-1690-2D11-492629CE5600}"/>
              </a:ext>
            </a:extLst>
          </p:cNvPr>
          <p:cNvSpPr txBox="1"/>
          <p:nvPr/>
        </p:nvSpPr>
        <p:spPr>
          <a:xfrm>
            <a:off x="5410386" y="4581191"/>
            <a:ext cx="5204947" cy="646331"/>
          </a:xfrm>
          <a:prstGeom prst="rect">
            <a:avLst/>
          </a:prstGeom>
          <a:noFill/>
          <a:effectLst>
            <a:outerShdw dist="25400" dir="5400000" algn="t" rotWithShape="0">
              <a:sysClr val="window" lastClr="FFFFFF">
                <a:alpha val="40000"/>
              </a:sysClr>
            </a:outerShdw>
          </a:effectLst>
        </p:spPr>
        <p:txBody>
          <a:bodyPr wrap="squar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lang="zh-CN" altLang="en-US" kern="0" dirty="0">
                <a:solidFill>
                  <a:srgbClr val="4494C8"/>
                </a:solidFill>
                <a:effectLst/>
              </a:rPr>
              <a:t>实战</a:t>
            </a:r>
            <a:endParaRPr lang="en-US" altLang="zh-CN" kern="0" dirty="0">
              <a:solidFill>
                <a:srgbClr val="4494C8"/>
              </a:solidFill>
              <a:effectLst/>
            </a:endParaRPr>
          </a:p>
        </p:txBody>
      </p:sp>
      <p:sp>
        <p:nvSpPr>
          <p:cNvPr id="5" name="圆角矩形 20">
            <a:extLst>
              <a:ext uri="{FF2B5EF4-FFF2-40B4-BE49-F238E27FC236}">
                <a16:creationId xmlns:a16="http://schemas.microsoft.com/office/drawing/2014/main" id="{E2D3EB71-3B14-57C1-583D-BB8E4844D0AF}"/>
              </a:ext>
            </a:extLst>
          </p:cNvPr>
          <p:cNvSpPr/>
          <p:nvPr/>
        </p:nvSpPr>
        <p:spPr>
          <a:xfrm>
            <a:off x="5410386" y="5376156"/>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extLst>
      <p:ext uri="{BB962C8B-B14F-4D97-AF65-F5344CB8AC3E}">
        <p14:creationId xmlns:p14="http://schemas.microsoft.com/office/powerpoint/2010/main" val="454260717"/>
      </p:ext>
    </p:extLst>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1000"/>
                                        <p:tgtEl>
                                          <p:spTgt spid="20"/>
                                        </p:tgtEl>
                                      </p:cBhvr>
                                    </p:animEffect>
                                  </p:childTnLst>
                                </p:cTn>
                              </p:par>
                              <p:par>
                                <p:cTn id="11" presetID="2" presetClass="entr" presetSubtype="2" decel="100000" fill="hold" grpId="1" nodeType="with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1500" fill="hold"/>
                                        <p:tgtEl>
                                          <p:spTgt spid="20"/>
                                        </p:tgtEl>
                                        <p:attrNameLst>
                                          <p:attrName>ppt_x</p:attrName>
                                        </p:attrNameLst>
                                      </p:cBhvr>
                                      <p:tavLst>
                                        <p:tav tm="0">
                                          <p:val>
                                            <p:strVal val="1+#ppt_w/2"/>
                                          </p:val>
                                        </p:tav>
                                        <p:tav tm="100000">
                                          <p:val>
                                            <p:strVal val="#ppt_x"/>
                                          </p:val>
                                        </p:tav>
                                      </p:tavLst>
                                    </p:anim>
                                    <p:anim calcmode="lin" valueType="num">
                                      <p:cBhvr additive="base">
                                        <p:cTn id="14" dur="1500" fill="hold"/>
                                        <p:tgtEl>
                                          <p:spTgt spid="20"/>
                                        </p:tgtEl>
                                        <p:attrNameLst>
                                          <p:attrName>ppt_y</p:attrName>
                                        </p:attrNameLst>
                                      </p:cBhvr>
                                      <p:tavLst>
                                        <p:tav tm="0">
                                          <p:val>
                                            <p:strVal val="#ppt_y"/>
                                          </p:val>
                                        </p:tav>
                                        <p:tav tm="100000">
                                          <p:val>
                                            <p:strVal val="#ppt_y"/>
                                          </p:val>
                                        </p:tav>
                                      </p:tavLst>
                                    </p:anim>
                                  </p:childTnLst>
                                </p:cTn>
                              </p:par>
                              <p:par>
                                <p:cTn id="15" presetID="22" presetClass="entr" presetSubtype="2"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right)">
                                      <p:cBhvr>
                                        <p:cTn id="17" dur="10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childTnLst>
                                </p:cTn>
                              </p:par>
                              <p:par>
                                <p:cTn id="21" presetID="2" presetClass="entr" presetSubtype="2" decel="100000" fill="hold" grpId="1" nodeType="with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1500" fill="hold"/>
                                        <p:tgtEl>
                                          <p:spTgt spid="2"/>
                                        </p:tgtEl>
                                        <p:attrNameLst>
                                          <p:attrName>ppt_x</p:attrName>
                                        </p:attrNameLst>
                                      </p:cBhvr>
                                      <p:tavLst>
                                        <p:tav tm="0">
                                          <p:val>
                                            <p:strVal val="1+#ppt_w/2"/>
                                          </p:val>
                                        </p:tav>
                                        <p:tav tm="100000">
                                          <p:val>
                                            <p:strVal val="#ppt_x"/>
                                          </p:val>
                                        </p:tav>
                                      </p:tavLst>
                                    </p:anim>
                                    <p:anim calcmode="lin" valueType="num">
                                      <p:cBhvr additive="base">
                                        <p:cTn id="24" dur="1500" fill="hold"/>
                                        <p:tgtEl>
                                          <p:spTgt spid="2"/>
                                        </p:tgtEl>
                                        <p:attrNameLst>
                                          <p:attrName>ppt_y</p:attrName>
                                        </p:attrNameLst>
                                      </p:cBhvr>
                                      <p:tavLst>
                                        <p:tav tm="0">
                                          <p:val>
                                            <p:strVal val="#ppt_y"/>
                                          </p:val>
                                        </p:tav>
                                        <p:tav tm="100000">
                                          <p:val>
                                            <p:strVal val="#ppt_y"/>
                                          </p:val>
                                        </p:tav>
                                      </p:tavLst>
                                    </p:anim>
                                  </p:childTnLst>
                                </p:cTn>
                              </p:par>
                              <p:par>
                                <p:cTn id="25" presetID="22" presetClass="entr" presetSubtype="2"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right)">
                                      <p:cBhvr>
                                        <p:cTn id="27" dur="1000"/>
                                        <p:tgtEl>
                                          <p:spTgt spid="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1000"/>
                                        <p:tgtEl>
                                          <p:spTgt spid="4"/>
                                        </p:tgtEl>
                                      </p:cBhvr>
                                    </p:animEffect>
                                  </p:childTnLst>
                                </p:cTn>
                              </p:par>
                              <p:par>
                                <p:cTn id="31" presetID="2" presetClass="entr" presetSubtype="2" decel="100000" fill="hold" grpId="1" nodeType="with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1500" fill="hold"/>
                                        <p:tgtEl>
                                          <p:spTgt spid="4"/>
                                        </p:tgtEl>
                                        <p:attrNameLst>
                                          <p:attrName>ppt_x</p:attrName>
                                        </p:attrNameLst>
                                      </p:cBhvr>
                                      <p:tavLst>
                                        <p:tav tm="0">
                                          <p:val>
                                            <p:strVal val="1+#ppt_w/2"/>
                                          </p:val>
                                        </p:tav>
                                        <p:tav tm="100000">
                                          <p:val>
                                            <p:strVal val="#ppt_x"/>
                                          </p:val>
                                        </p:tav>
                                      </p:tavLst>
                                    </p:anim>
                                    <p:anim calcmode="lin" valueType="num">
                                      <p:cBhvr additive="base">
                                        <p:cTn id="34" dur="1500" fill="hold"/>
                                        <p:tgtEl>
                                          <p:spTgt spid="4"/>
                                        </p:tgtEl>
                                        <p:attrNameLst>
                                          <p:attrName>ppt_y</p:attrName>
                                        </p:attrNameLst>
                                      </p:cBhvr>
                                      <p:tavLst>
                                        <p:tav tm="0">
                                          <p:val>
                                            <p:strVal val="#ppt_y"/>
                                          </p:val>
                                        </p:tav>
                                        <p:tav tm="100000">
                                          <p:val>
                                            <p:strVal val="#ppt_y"/>
                                          </p:val>
                                        </p:tav>
                                      </p:tavLst>
                                    </p:anim>
                                  </p:childTnLst>
                                </p:cTn>
                              </p:par>
                              <p:par>
                                <p:cTn id="35" presetID="22" presetClass="entr" presetSubtype="2"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right)">
                                      <p:cBhvr>
                                        <p:cTn id="3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0" grpId="0" bldLvl="0" animBg="1"/>
      <p:bldP spid="20" grpId="1" bldLvl="0" animBg="1"/>
      <p:bldP spid="21" grpId="0" bldLvl="0" animBg="1"/>
      <p:bldP spid="2" grpId="0" bldLvl="0" animBg="1"/>
      <p:bldP spid="2" grpId="1" bldLvl="0" animBg="1"/>
      <p:bldP spid="3" grpId="0" bldLvl="0" animBg="1"/>
      <p:bldP spid="4" grpId="0" bldLvl="0" animBg="1"/>
      <p:bldP spid="4" grpId="1" bldLvl="0" animBg="1"/>
      <p:bldP spid="5"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实战一</a:t>
            </a:r>
          </a:p>
        </p:txBody>
      </p:sp>
      <p:graphicFrame>
        <p:nvGraphicFramePr>
          <p:cNvPr id="3" name="表格 3">
            <a:extLst>
              <a:ext uri="{FF2B5EF4-FFF2-40B4-BE49-F238E27FC236}">
                <a16:creationId xmlns:a16="http://schemas.microsoft.com/office/drawing/2014/main" id="{26B90FEE-4C2D-CEA7-685C-747602B18AD2}"/>
              </a:ext>
            </a:extLst>
          </p:cNvPr>
          <p:cNvGraphicFramePr>
            <a:graphicFrameLocks noGrp="1"/>
          </p:cNvGraphicFramePr>
          <p:nvPr>
            <p:extLst>
              <p:ext uri="{D42A27DB-BD31-4B8C-83A1-F6EECF244321}">
                <p14:modId xmlns:p14="http://schemas.microsoft.com/office/powerpoint/2010/main" val="3689506629"/>
              </p:ext>
            </p:extLst>
          </p:nvPr>
        </p:nvGraphicFramePr>
        <p:xfrm>
          <a:off x="1323471" y="1056550"/>
          <a:ext cx="9962150" cy="3306635"/>
        </p:xfrm>
        <a:graphic>
          <a:graphicData uri="http://schemas.openxmlformats.org/drawingml/2006/table">
            <a:tbl>
              <a:tblPr firstRow="1" bandRow="1">
                <a:tableStyleId>{5C22544A-7EE6-4342-B048-85BDC9FD1C3A}</a:tableStyleId>
              </a:tblPr>
              <a:tblGrid>
                <a:gridCol w="709865">
                  <a:extLst>
                    <a:ext uri="{9D8B030D-6E8A-4147-A177-3AD203B41FA5}">
                      <a16:colId xmlns:a16="http://schemas.microsoft.com/office/drawing/2014/main" val="3496677993"/>
                    </a:ext>
                  </a:extLst>
                </a:gridCol>
                <a:gridCol w="1227221">
                  <a:extLst>
                    <a:ext uri="{9D8B030D-6E8A-4147-A177-3AD203B41FA5}">
                      <a16:colId xmlns:a16="http://schemas.microsoft.com/office/drawing/2014/main" val="4228590842"/>
                    </a:ext>
                  </a:extLst>
                </a:gridCol>
                <a:gridCol w="1239253">
                  <a:extLst>
                    <a:ext uri="{9D8B030D-6E8A-4147-A177-3AD203B41FA5}">
                      <a16:colId xmlns:a16="http://schemas.microsoft.com/office/drawing/2014/main" val="749716494"/>
                    </a:ext>
                  </a:extLst>
                </a:gridCol>
                <a:gridCol w="938463">
                  <a:extLst>
                    <a:ext uri="{9D8B030D-6E8A-4147-A177-3AD203B41FA5}">
                      <a16:colId xmlns:a16="http://schemas.microsoft.com/office/drawing/2014/main" val="2634411853"/>
                    </a:ext>
                  </a:extLst>
                </a:gridCol>
                <a:gridCol w="1828800">
                  <a:extLst>
                    <a:ext uri="{9D8B030D-6E8A-4147-A177-3AD203B41FA5}">
                      <a16:colId xmlns:a16="http://schemas.microsoft.com/office/drawing/2014/main" val="2582477941"/>
                    </a:ext>
                  </a:extLst>
                </a:gridCol>
                <a:gridCol w="1118937">
                  <a:extLst>
                    <a:ext uri="{9D8B030D-6E8A-4147-A177-3AD203B41FA5}">
                      <a16:colId xmlns:a16="http://schemas.microsoft.com/office/drawing/2014/main" val="3623425141"/>
                    </a:ext>
                  </a:extLst>
                </a:gridCol>
                <a:gridCol w="2899611">
                  <a:extLst>
                    <a:ext uri="{9D8B030D-6E8A-4147-A177-3AD203B41FA5}">
                      <a16:colId xmlns:a16="http://schemas.microsoft.com/office/drawing/2014/main" val="4105474132"/>
                    </a:ext>
                  </a:extLst>
                </a:gridCol>
              </a:tblGrid>
              <a:tr h="370840">
                <a:tc>
                  <a:txBody>
                    <a:bodyPr/>
                    <a:lstStyle/>
                    <a:p>
                      <a:pPr algn="ctr"/>
                      <a:r>
                        <a:rPr lang="en-US" altLang="zh-CN" dirty="0"/>
                        <a:t>ID</a:t>
                      </a:r>
                      <a:endParaRPr lang="zh-CN" altLang="en-US" dirty="0"/>
                    </a:p>
                  </a:txBody>
                  <a:tcPr/>
                </a:tc>
                <a:tc>
                  <a:txBody>
                    <a:bodyPr/>
                    <a:lstStyle/>
                    <a:p>
                      <a:pPr algn="ctr"/>
                      <a:r>
                        <a:rPr lang="zh-CN" altLang="en-US" dirty="0"/>
                        <a:t>学号</a:t>
                      </a:r>
                    </a:p>
                  </a:txBody>
                  <a:tcPr/>
                </a:tc>
                <a:tc>
                  <a:txBody>
                    <a:bodyPr/>
                    <a:lstStyle/>
                    <a:p>
                      <a:pPr algn="ctr"/>
                      <a:r>
                        <a:rPr lang="zh-CN" altLang="en-US" dirty="0"/>
                        <a:t>姓名</a:t>
                      </a:r>
                    </a:p>
                  </a:txBody>
                  <a:tcPr/>
                </a:tc>
                <a:tc>
                  <a:txBody>
                    <a:bodyPr/>
                    <a:lstStyle/>
                    <a:p>
                      <a:pPr algn="ctr"/>
                      <a:r>
                        <a:rPr lang="zh-CN" altLang="en-US" dirty="0"/>
                        <a:t>性别</a:t>
                      </a:r>
                    </a:p>
                  </a:txBody>
                  <a:tcPr/>
                </a:tc>
                <a:tc>
                  <a:txBody>
                    <a:bodyPr/>
                    <a:lstStyle/>
                    <a:p>
                      <a:pPr algn="ctr"/>
                      <a:r>
                        <a:rPr lang="zh-CN" altLang="en-US" dirty="0"/>
                        <a:t>出生年月</a:t>
                      </a:r>
                    </a:p>
                  </a:txBody>
                  <a:tcPr/>
                </a:tc>
                <a:tc>
                  <a:txBody>
                    <a:bodyPr/>
                    <a:lstStyle/>
                    <a:p>
                      <a:pPr algn="ctr"/>
                      <a:r>
                        <a:rPr lang="zh-CN" altLang="en-US" dirty="0"/>
                        <a:t>年级</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dirty="0"/>
                        <a:t>学院</a:t>
                      </a:r>
                    </a:p>
                  </a:txBody>
                  <a:tcPr/>
                </a:tc>
                <a:extLst>
                  <a:ext uri="{0D108BD9-81ED-4DB2-BD59-A6C34878D82A}">
                    <a16:rowId xmlns:a16="http://schemas.microsoft.com/office/drawing/2014/main" val="3293806698"/>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1</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J171001</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张三丰</a:t>
                      </a: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男</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2001</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a:t>
                      </a: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3</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月</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21</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信息工程</a:t>
                      </a:r>
                    </a:p>
                  </a:txBody>
                  <a:tcPr/>
                </a:tc>
                <a:extLst>
                  <a:ext uri="{0D108BD9-81ED-4DB2-BD59-A6C34878D82A}">
                    <a16:rowId xmlns:a16="http://schemas.microsoft.com/office/drawing/2014/main" val="2838028252"/>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J171002</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李静</a:t>
                      </a: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女</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2001</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a:t>
                      </a: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月</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21</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工商管理</a:t>
                      </a:r>
                    </a:p>
                  </a:txBody>
                  <a:tcPr/>
                </a:tc>
                <a:extLst>
                  <a:ext uri="{0D108BD9-81ED-4DB2-BD59-A6C34878D82A}">
                    <a16:rowId xmlns:a16="http://schemas.microsoft.com/office/drawing/2014/main" val="2120274918"/>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3</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J1711003</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张明</a:t>
                      </a: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男</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2001</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a:t>
                      </a: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3</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月</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21</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计算机科学与应用</a:t>
                      </a:r>
                    </a:p>
                  </a:txBody>
                  <a:tcPr/>
                </a:tc>
                <a:extLst>
                  <a:ext uri="{0D108BD9-81ED-4DB2-BD59-A6C34878D82A}">
                    <a16:rowId xmlns:a16="http://schemas.microsoft.com/office/drawing/2014/main" val="2068309636"/>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4</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J1721001</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王丽</a:t>
                      </a: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女</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2002</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a:t>
                      </a: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6</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月</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22</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轮机工程</a:t>
                      </a:r>
                    </a:p>
                  </a:txBody>
                  <a:tcPr/>
                </a:tc>
                <a:extLst>
                  <a:ext uri="{0D108BD9-81ED-4DB2-BD59-A6C34878D82A}">
                    <a16:rowId xmlns:a16="http://schemas.microsoft.com/office/drawing/2014/main" val="3902450723"/>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5</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J1721002</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李大成</a:t>
                      </a: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男</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2002</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a:t>
                      </a: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9</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月</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22</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机电工程</a:t>
                      </a:r>
                    </a:p>
                  </a:txBody>
                  <a:tcPr/>
                </a:tc>
                <a:extLst>
                  <a:ext uri="{0D108BD9-81ED-4DB2-BD59-A6C34878D82A}">
                    <a16:rowId xmlns:a16="http://schemas.microsoft.com/office/drawing/2014/main" val="3536090631"/>
                  </a:ext>
                </a:extLst>
              </a:tr>
              <a:tr h="339915">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6</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J1721002</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张自云</a:t>
                      </a: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女</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2000</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a:t>
                      </a: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4</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月</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22</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艺术学院</a:t>
                      </a:r>
                    </a:p>
                  </a:txBody>
                  <a:tcPr/>
                </a:tc>
                <a:extLst>
                  <a:ext uri="{0D108BD9-81ED-4DB2-BD59-A6C34878D82A}">
                    <a16:rowId xmlns:a16="http://schemas.microsoft.com/office/drawing/2014/main" val="2147880869"/>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7</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J1731003</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刘芳芳</a:t>
                      </a: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女</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2002</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a:t>
                      </a: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8</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月</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23</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材料学院</a:t>
                      </a:r>
                    </a:p>
                  </a:txBody>
                  <a:tcPr/>
                </a:tc>
                <a:extLst>
                  <a:ext uri="{0D108BD9-81ED-4DB2-BD59-A6C34878D82A}">
                    <a16:rowId xmlns:a16="http://schemas.microsoft.com/office/drawing/2014/main" val="2763080341"/>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8</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J1731003</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赵明明</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男</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2001</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a:t>
                      </a: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12</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月</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23</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智能工程学院</a:t>
                      </a:r>
                    </a:p>
                  </a:txBody>
                  <a:tcPr/>
                </a:tc>
                <a:extLst>
                  <a:ext uri="{0D108BD9-81ED-4DB2-BD59-A6C34878D82A}">
                    <a16:rowId xmlns:a16="http://schemas.microsoft.com/office/drawing/2014/main" val="1414481777"/>
                  </a:ext>
                </a:extLst>
              </a:tr>
            </a:tbl>
          </a:graphicData>
        </a:graphic>
      </p:graphicFrame>
      <p:graphicFrame>
        <p:nvGraphicFramePr>
          <p:cNvPr id="8" name="表格 8">
            <a:extLst>
              <a:ext uri="{FF2B5EF4-FFF2-40B4-BE49-F238E27FC236}">
                <a16:creationId xmlns:a16="http://schemas.microsoft.com/office/drawing/2014/main" id="{06158EF3-015D-DCD3-8A5B-D02167FD8ACD}"/>
              </a:ext>
            </a:extLst>
          </p:cNvPr>
          <p:cNvGraphicFramePr>
            <a:graphicFrameLocks noGrp="1"/>
          </p:cNvGraphicFramePr>
          <p:nvPr>
            <p:extLst>
              <p:ext uri="{D42A27DB-BD31-4B8C-83A1-F6EECF244321}">
                <p14:modId xmlns:p14="http://schemas.microsoft.com/office/powerpoint/2010/main" val="840665294"/>
              </p:ext>
            </p:extLst>
          </p:nvPr>
        </p:nvGraphicFramePr>
        <p:xfrm>
          <a:off x="2542004" y="4932947"/>
          <a:ext cx="7107992" cy="1490311"/>
        </p:xfrm>
        <a:graphic>
          <a:graphicData uri="http://schemas.openxmlformats.org/drawingml/2006/table">
            <a:tbl>
              <a:tblPr firstRow="1" bandRow="1">
                <a:tableStyleId>{5C22544A-7EE6-4342-B048-85BDC9FD1C3A}</a:tableStyleId>
              </a:tblPr>
              <a:tblGrid>
                <a:gridCol w="902529">
                  <a:extLst>
                    <a:ext uri="{9D8B030D-6E8A-4147-A177-3AD203B41FA5}">
                      <a16:colId xmlns:a16="http://schemas.microsoft.com/office/drawing/2014/main" val="78361537"/>
                    </a:ext>
                  </a:extLst>
                </a:gridCol>
                <a:gridCol w="1308609">
                  <a:extLst>
                    <a:ext uri="{9D8B030D-6E8A-4147-A177-3AD203B41FA5}">
                      <a16:colId xmlns:a16="http://schemas.microsoft.com/office/drawing/2014/main" val="1683985537"/>
                    </a:ext>
                  </a:extLst>
                </a:gridCol>
                <a:gridCol w="1130969">
                  <a:extLst>
                    <a:ext uri="{9D8B030D-6E8A-4147-A177-3AD203B41FA5}">
                      <a16:colId xmlns:a16="http://schemas.microsoft.com/office/drawing/2014/main" val="2529301082"/>
                    </a:ext>
                  </a:extLst>
                </a:gridCol>
                <a:gridCol w="1648326">
                  <a:extLst>
                    <a:ext uri="{9D8B030D-6E8A-4147-A177-3AD203B41FA5}">
                      <a16:colId xmlns:a16="http://schemas.microsoft.com/office/drawing/2014/main" val="3790458312"/>
                    </a:ext>
                  </a:extLst>
                </a:gridCol>
                <a:gridCol w="962526">
                  <a:extLst>
                    <a:ext uri="{9D8B030D-6E8A-4147-A177-3AD203B41FA5}">
                      <a16:colId xmlns:a16="http://schemas.microsoft.com/office/drawing/2014/main" val="1325064188"/>
                    </a:ext>
                  </a:extLst>
                </a:gridCol>
                <a:gridCol w="1155033">
                  <a:extLst>
                    <a:ext uri="{9D8B030D-6E8A-4147-A177-3AD203B41FA5}">
                      <a16:colId xmlns:a16="http://schemas.microsoft.com/office/drawing/2014/main" val="831127226"/>
                    </a:ext>
                  </a:extLst>
                </a:gridCol>
              </a:tblGrid>
              <a:tr h="377791">
                <a:tc>
                  <a:txBody>
                    <a:bodyPr/>
                    <a:lstStyle/>
                    <a:p>
                      <a:pPr algn="ctr"/>
                      <a:r>
                        <a:rPr lang="zh-CN" altLang="en-US" dirty="0"/>
                        <a:t>字段</a:t>
                      </a:r>
                    </a:p>
                  </a:txBody>
                  <a:tcPr/>
                </a:tc>
                <a:tc>
                  <a:txBody>
                    <a:bodyPr/>
                    <a:lstStyle/>
                    <a:p>
                      <a:pPr algn="ctr"/>
                      <a:r>
                        <a:rPr lang="zh-CN" altLang="en-US" dirty="0"/>
                        <a:t>注释</a:t>
                      </a:r>
                    </a:p>
                  </a:txBody>
                  <a:tcPr/>
                </a:tc>
                <a:tc>
                  <a:txBody>
                    <a:bodyPr/>
                    <a:lstStyle/>
                    <a:p>
                      <a:pPr algn="ctr"/>
                      <a:r>
                        <a:rPr lang="zh-CN" altLang="en-US" dirty="0"/>
                        <a:t>字段</a:t>
                      </a:r>
                    </a:p>
                  </a:txBody>
                  <a:tcPr/>
                </a:tc>
                <a:tc>
                  <a:txBody>
                    <a:bodyPr/>
                    <a:lstStyle/>
                    <a:p>
                      <a:pPr algn="ctr"/>
                      <a:r>
                        <a:rPr lang="zh-CN" altLang="en-US" dirty="0"/>
                        <a:t>注释</a:t>
                      </a:r>
                    </a:p>
                  </a:txBody>
                  <a:tcPr/>
                </a:tc>
                <a:tc>
                  <a:txBody>
                    <a:bodyPr/>
                    <a:lstStyle/>
                    <a:p>
                      <a:pPr algn="ctr"/>
                      <a:r>
                        <a:rPr lang="zh-CN" altLang="en-US" dirty="0"/>
                        <a:t>字段</a:t>
                      </a:r>
                    </a:p>
                  </a:txBody>
                  <a:tcPr/>
                </a:tc>
                <a:tc>
                  <a:txBody>
                    <a:bodyPr/>
                    <a:lstStyle/>
                    <a:p>
                      <a:pPr algn="ctr"/>
                      <a:r>
                        <a:rPr lang="zh-CN" altLang="en-US" dirty="0"/>
                        <a:t>注释</a:t>
                      </a:r>
                    </a:p>
                  </a:txBody>
                  <a:tcPr/>
                </a:tc>
                <a:extLst>
                  <a:ext uri="{0D108BD9-81ED-4DB2-BD59-A6C34878D82A}">
                    <a16:rowId xmlns:a16="http://schemas.microsoft.com/office/drawing/2014/main" val="551292261"/>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ID</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ID</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xb</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性别</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xy</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学院</a:t>
                      </a:r>
                    </a:p>
                  </a:txBody>
                  <a:tcPr/>
                </a:tc>
                <a:extLst>
                  <a:ext uri="{0D108BD9-81ED-4DB2-BD59-A6C34878D82A}">
                    <a16:rowId xmlns:a16="http://schemas.microsoft.com/office/drawing/2014/main" val="2711493460"/>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xh</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学号</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csny</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出生年月</a:t>
                      </a:r>
                    </a:p>
                  </a:txBody>
                  <a:tcPr/>
                </a:tc>
                <a:tc>
                  <a:txBody>
                    <a:bodyPr/>
                    <a:lstStyle/>
                    <a:p>
                      <a:pPr algn="ct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1545232342"/>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xm</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姓名</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nj</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年级</a:t>
                      </a:r>
                    </a:p>
                  </a:txBody>
                  <a:tcPr/>
                </a:tc>
                <a:tc>
                  <a:txBody>
                    <a:bodyPr/>
                    <a:lstStyle/>
                    <a:p>
                      <a:pPr algn="ct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1628246463"/>
                  </a:ext>
                </a:extLst>
              </a:tr>
            </a:tbl>
          </a:graphicData>
        </a:graphic>
      </p:graphicFrame>
    </p:spTree>
    <p:extLst>
      <p:ext uri="{BB962C8B-B14F-4D97-AF65-F5344CB8AC3E}">
        <p14:creationId xmlns:p14="http://schemas.microsoft.com/office/powerpoint/2010/main" val="13210047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实战一</a:t>
            </a:r>
          </a:p>
        </p:txBody>
      </p:sp>
      <p:sp>
        <p:nvSpPr>
          <p:cNvPr id="3" name="文本框 2">
            <a:extLst>
              <a:ext uri="{FF2B5EF4-FFF2-40B4-BE49-F238E27FC236}">
                <a16:creationId xmlns:a16="http://schemas.microsoft.com/office/drawing/2014/main" id="{A34CB50E-0D93-CD56-7461-000B9FD26302}"/>
              </a:ext>
            </a:extLst>
          </p:cNvPr>
          <p:cNvSpPr txBox="1"/>
          <p:nvPr/>
        </p:nvSpPr>
        <p:spPr>
          <a:xfrm>
            <a:off x="1410940" y="802711"/>
            <a:ext cx="9284486" cy="5444888"/>
          </a:xfrm>
          <a:prstGeom prst="rect">
            <a:avLst/>
          </a:prstGeom>
          <a:noFill/>
        </p:spPr>
        <p:txBody>
          <a:bodyPr wrap="square" rtlCol="0">
            <a:spAutoFit/>
          </a:bodyPr>
          <a:lstStyle/>
          <a:p>
            <a:pPr>
              <a:lnSpc>
                <a:spcPct val="150000"/>
              </a:lnSpc>
            </a:pPr>
            <a:r>
              <a:rPr lang="zh-CN" altLang="en-US" b="1" dirty="0">
                <a:solidFill>
                  <a:srgbClr val="44546A"/>
                </a:solidFill>
                <a:latin typeface="+mn-ea"/>
              </a:rPr>
              <a:t>数据库信息：</a:t>
            </a:r>
            <a:endParaRPr lang="en-US" altLang="zh-CN" b="1" dirty="0">
              <a:solidFill>
                <a:srgbClr val="44546A"/>
              </a:solidFill>
              <a:latin typeface="+mn-ea"/>
            </a:endParaRPr>
          </a:p>
          <a:p>
            <a:pPr>
              <a:lnSpc>
                <a:spcPct val="150000"/>
              </a:lnSpc>
            </a:pPr>
            <a:r>
              <a:rPr lang="zh-CN" altLang="en-US" dirty="0">
                <a:solidFill>
                  <a:srgbClr val="44546A"/>
                </a:solidFill>
                <a:latin typeface="+mn-ea"/>
              </a:rPr>
              <a:t>数据库表名：</a:t>
            </a:r>
            <a:r>
              <a:rPr lang="en-US" altLang="zh-CN" dirty="0">
                <a:solidFill>
                  <a:srgbClr val="44546A"/>
                </a:solidFill>
                <a:latin typeface="+mn-ea"/>
              </a:rPr>
              <a:t>student</a:t>
            </a:r>
            <a:r>
              <a:rPr lang="zh-CN" altLang="en-US" dirty="0">
                <a:solidFill>
                  <a:srgbClr val="44546A"/>
                </a:solidFill>
                <a:latin typeface="+mn-ea"/>
              </a:rPr>
              <a:t>，别名：</a:t>
            </a:r>
            <a:r>
              <a:rPr lang="en-US" altLang="zh-CN" dirty="0">
                <a:solidFill>
                  <a:srgbClr val="44546A"/>
                </a:solidFill>
                <a:latin typeface="+mn-ea"/>
              </a:rPr>
              <a:t>stu</a:t>
            </a:r>
            <a:r>
              <a:rPr lang="zh-CN" altLang="en-US" dirty="0">
                <a:solidFill>
                  <a:srgbClr val="44546A"/>
                </a:solidFill>
                <a:latin typeface="+mn-ea"/>
              </a:rPr>
              <a:t>；</a:t>
            </a:r>
            <a:endParaRPr lang="en-US" altLang="zh-CN" dirty="0">
              <a:solidFill>
                <a:srgbClr val="44546A"/>
              </a:solidFill>
              <a:latin typeface="+mn-ea"/>
            </a:endParaRPr>
          </a:p>
          <a:p>
            <a:pPr>
              <a:lnSpc>
                <a:spcPct val="150000"/>
              </a:lnSpc>
            </a:pPr>
            <a:r>
              <a:rPr lang="zh-CN" altLang="zh-CN" dirty="0">
                <a:solidFill>
                  <a:srgbClr val="44546A"/>
                </a:solidFill>
                <a:latin typeface="+mn-ea"/>
              </a:rPr>
              <a:t>根据表定义字段名与别名</a:t>
            </a:r>
            <a:r>
              <a:rPr lang="zh-CN" altLang="en-US" dirty="0">
                <a:solidFill>
                  <a:srgbClr val="44546A"/>
                </a:solidFill>
                <a:latin typeface="+mn-ea"/>
              </a:rPr>
              <a:t>：</a:t>
            </a:r>
            <a:endParaRPr lang="en-US" altLang="zh-CN" dirty="0">
              <a:solidFill>
                <a:srgbClr val="44546A"/>
              </a:solidFill>
              <a:latin typeface="+mn-ea"/>
            </a:endParaRPr>
          </a:p>
          <a:p>
            <a:pPr>
              <a:lnSpc>
                <a:spcPct val="150000"/>
              </a:lnSpc>
            </a:pPr>
            <a:endParaRPr lang="en-US" altLang="zh-CN" dirty="0">
              <a:solidFill>
                <a:srgbClr val="44546A"/>
              </a:solidFill>
              <a:latin typeface="+mn-ea"/>
            </a:endParaRPr>
          </a:p>
          <a:p>
            <a:pPr>
              <a:lnSpc>
                <a:spcPct val="150000"/>
              </a:lnSpc>
            </a:pPr>
            <a:endParaRPr lang="en-US" altLang="zh-CN" b="1" dirty="0">
              <a:solidFill>
                <a:srgbClr val="44546A"/>
              </a:solidFill>
              <a:latin typeface="+mn-ea"/>
            </a:endParaRPr>
          </a:p>
          <a:p>
            <a:pPr>
              <a:lnSpc>
                <a:spcPct val="150000"/>
              </a:lnSpc>
            </a:pPr>
            <a:endParaRPr lang="en-US" altLang="zh-CN" b="1" dirty="0">
              <a:solidFill>
                <a:srgbClr val="44546A"/>
              </a:solidFill>
              <a:latin typeface="+mn-ea"/>
            </a:endParaRPr>
          </a:p>
          <a:p>
            <a:pPr>
              <a:lnSpc>
                <a:spcPct val="150000"/>
              </a:lnSpc>
            </a:pPr>
            <a:endParaRPr lang="en-US" altLang="zh-CN" b="1" dirty="0">
              <a:solidFill>
                <a:srgbClr val="44546A"/>
              </a:solidFill>
              <a:latin typeface="+mn-ea"/>
            </a:endParaRPr>
          </a:p>
          <a:p>
            <a:pPr>
              <a:lnSpc>
                <a:spcPct val="150000"/>
              </a:lnSpc>
            </a:pPr>
            <a:r>
              <a:rPr lang="zh-CN" altLang="en-US" b="1" dirty="0">
                <a:solidFill>
                  <a:srgbClr val="44546A"/>
                </a:solidFill>
                <a:latin typeface="+mn-ea"/>
              </a:rPr>
              <a:t>使用</a:t>
            </a:r>
            <a:r>
              <a:rPr lang="en-US" altLang="zh-CN" b="1" dirty="0">
                <a:solidFill>
                  <a:srgbClr val="44546A"/>
                </a:solidFill>
                <a:latin typeface="+mn-ea"/>
              </a:rPr>
              <a:t>SQL</a:t>
            </a:r>
            <a:r>
              <a:rPr lang="zh-CN" altLang="en-US" b="1" dirty="0">
                <a:solidFill>
                  <a:srgbClr val="44546A"/>
                </a:solidFill>
                <a:latin typeface="+mn-ea"/>
              </a:rPr>
              <a:t>语句，完成以下数据范围（过滤条件的）练习：</a:t>
            </a:r>
            <a:endParaRPr lang="en-US" altLang="zh-CN" b="1" dirty="0">
              <a:solidFill>
                <a:srgbClr val="44546A"/>
              </a:solidFill>
              <a:latin typeface="+mn-ea"/>
            </a:endParaRPr>
          </a:p>
          <a:p>
            <a:pPr>
              <a:lnSpc>
                <a:spcPct val="150000"/>
              </a:lnSpc>
            </a:pPr>
            <a:r>
              <a:rPr lang="en-US" altLang="zh-CN" dirty="0">
                <a:solidFill>
                  <a:srgbClr val="44546A"/>
                </a:solidFill>
                <a:latin typeface="+mn-ea"/>
              </a:rPr>
              <a:t>1</a:t>
            </a:r>
            <a:r>
              <a:rPr lang="zh-CN" altLang="en-US" dirty="0">
                <a:solidFill>
                  <a:srgbClr val="44546A"/>
                </a:solidFill>
                <a:latin typeface="+mn-ea"/>
              </a:rPr>
              <a:t>、查询表中，年级为</a:t>
            </a:r>
            <a:r>
              <a:rPr lang="en-US" altLang="zh-CN" dirty="0">
                <a:solidFill>
                  <a:srgbClr val="44546A"/>
                </a:solidFill>
                <a:latin typeface="+mn-ea"/>
              </a:rPr>
              <a:t>22</a:t>
            </a:r>
            <a:r>
              <a:rPr lang="zh-CN" altLang="en-US" dirty="0">
                <a:solidFill>
                  <a:srgbClr val="44546A"/>
                </a:solidFill>
                <a:latin typeface="+mn-ea"/>
              </a:rPr>
              <a:t>级和</a:t>
            </a:r>
            <a:r>
              <a:rPr lang="en-US" altLang="zh-CN" dirty="0">
                <a:solidFill>
                  <a:srgbClr val="44546A"/>
                </a:solidFill>
                <a:latin typeface="+mn-ea"/>
              </a:rPr>
              <a:t>23</a:t>
            </a:r>
            <a:r>
              <a:rPr lang="zh-CN" altLang="en-US" dirty="0">
                <a:solidFill>
                  <a:srgbClr val="44546A"/>
                </a:solidFill>
                <a:latin typeface="+mn-ea"/>
              </a:rPr>
              <a:t>级的学生记录；</a:t>
            </a:r>
            <a:endParaRPr lang="en-US" altLang="zh-CN" dirty="0">
              <a:solidFill>
                <a:srgbClr val="44546A"/>
              </a:solidFill>
              <a:latin typeface="+mn-ea"/>
            </a:endParaRPr>
          </a:p>
          <a:p>
            <a:pPr>
              <a:lnSpc>
                <a:spcPct val="150000"/>
              </a:lnSpc>
            </a:pPr>
            <a:r>
              <a:rPr lang="en-US" altLang="zh-CN" dirty="0">
                <a:solidFill>
                  <a:srgbClr val="44546A"/>
                </a:solidFill>
                <a:latin typeface="+mn-ea"/>
              </a:rPr>
              <a:t>2</a:t>
            </a:r>
            <a:r>
              <a:rPr lang="zh-CN" altLang="en-US" dirty="0">
                <a:solidFill>
                  <a:srgbClr val="44546A"/>
                </a:solidFill>
                <a:latin typeface="+mn-ea"/>
              </a:rPr>
              <a:t>、查询表中，出生日期为</a:t>
            </a:r>
            <a:r>
              <a:rPr lang="en-US" altLang="zh-CN" dirty="0">
                <a:solidFill>
                  <a:srgbClr val="44546A"/>
                </a:solidFill>
                <a:latin typeface="+mn-ea"/>
              </a:rPr>
              <a:t>2002</a:t>
            </a:r>
            <a:r>
              <a:rPr lang="zh-CN" altLang="en-US" dirty="0">
                <a:solidFill>
                  <a:srgbClr val="44546A"/>
                </a:solidFill>
                <a:latin typeface="+mn-ea"/>
              </a:rPr>
              <a:t>年的学生记录；</a:t>
            </a:r>
            <a:endParaRPr lang="en-US" altLang="zh-CN" dirty="0">
              <a:solidFill>
                <a:srgbClr val="44546A"/>
              </a:solidFill>
              <a:latin typeface="+mn-ea"/>
            </a:endParaRPr>
          </a:p>
          <a:p>
            <a:pPr>
              <a:lnSpc>
                <a:spcPct val="150000"/>
              </a:lnSpc>
            </a:pPr>
            <a:r>
              <a:rPr lang="en-US" altLang="zh-CN" dirty="0">
                <a:solidFill>
                  <a:srgbClr val="44546A"/>
                </a:solidFill>
                <a:latin typeface="+mn-ea"/>
              </a:rPr>
              <a:t>3</a:t>
            </a:r>
            <a:r>
              <a:rPr lang="zh-CN" altLang="en-US" dirty="0">
                <a:solidFill>
                  <a:srgbClr val="44546A"/>
                </a:solidFill>
                <a:latin typeface="+mn-ea"/>
              </a:rPr>
              <a:t>、查询表中，学院为“</a:t>
            </a:r>
            <a:r>
              <a:rPr lang="zh-CN" altLang="en-US" b="0" kern="1200" dirty="0">
                <a:solidFill>
                  <a:srgbClr val="44546A"/>
                </a:solidFill>
                <a:effectLst>
                  <a:innerShdw blurRad="76200" dist="63500" dir="18900000">
                    <a:prstClr val="black">
                      <a:alpha val="30000"/>
                    </a:prstClr>
                  </a:innerShdw>
                </a:effectLst>
                <a:latin typeface="+mn-ea"/>
                <a:cs typeface="+mn-ea"/>
              </a:rPr>
              <a:t>计算机科学与应用</a:t>
            </a:r>
            <a:r>
              <a:rPr lang="zh-CN" altLang="en-US" dirty="0">
                <a:solidFill>
                  <a:srgbClr val="44546A"/>
                </a:solidFill>
                <a:latin typeface="+mn-ea"/>
              </a:rPr>
              <a:t>”的学生记录；</a:t>
            </a:r>
            <a:endParaRPr lang="en-US" altLang="zh-CN" dirty="0">
              <a:solidFill>
                <a:srgbClr val="44546A"/>
              </a:solidFill>
              <a:latin typeface="+mn-ea"/>
            </a:endParaRPr>
          </a:p>
          <a:p>
            <a:pPr>
              <a:lnSpc>
                <a:spcPct val="150000"/>
              </a:lnSpc>
            </a:pPr>
            <a:r>
              <a:rPr lang="en-US" altLang="zh-CN" dirty="0">
                <a:solidFill>
                  <a:srgbClr val="44546A"/>
                </a:solidFill>
                <a:latin typeface="+mn-ea"/>
              </a:rPr>
              <a:t>4</a:t>
            </a:r>
            <a:r>
              <a:rPr lang="zh-CN" altLang="en-US" dirty="0">
                <a:solidFill>
                  <a:srgbClr val="44546A"/>
                </a:solidFill>
                <a:latin typeface="+mn-ea"/>
              </a:rPr>
              <a:t>、查询表中，男生、女生的数量；</a:t>
            </a:r>
            <a:endParaRPr lang="en-US" altLang="zh-CN" dirty="0">
              <a:solidFill>
                <a:srgbClr val="44546A"/>
              </a:solidFill>
              <a:latin typeface="+mn-ea"/>
            </a:endParaRPr>
          </a:p>
          <a:p>
            <a:pPr>
              <a:lnSpc>
                <a:spcPct val="150000"/>
              </a:lnSpc>
            </a:pPr>
            <a:r>
              <a:rPr lang="en-US" altLang="zh-CN" dirty="0">
                <a:solidFill>
                  <a:srgbClr val="44546A"/>
                </a:solidFill>
                <a:latin typeface="+mn-ea"/>
              </a:rPr>
              <a:t>5</a:t>
            </a:r>
            <a:r>
              <a:rPr lang="zh-CN" altLang="en-US" dirty="0">
                <a:solidFill>
                  <a:srgbClr val="44546A"/>
                </a:solidFill>
                <a:latin typeface="+mn-ea"/>
              </a:rPr>
              <a:t>、查询表中，学号为“</a:t>
            </a:r>
            <a:r>
              <a:rPr lang="en-US" altLang="zh-CN" b="0" kern="1200" dirty="0">
                <a:solidFill>
                  <a:srgbClr val="44546A"/>
                </a:solidFill>
                <a:effectLst>
                  <a:innerShdw blurRad="76200" dist="63500" dir="18900000">
                    <a:prstClr val="black">
                      <a:alpha val="30000"/>
                    </a:prstClr>
                  </a:innerShdw>
                </a:effectLst>
                <a:latin typeface="+mn-ea"/>
                <a:cs typeface="+mn-ea"/>
              </a:rPr>
              <a:t>J1721001</a:t>
            </a:r>
            <a:r>
              <a:rPr lang="zh-CN" altLang="en-US" dirty="0">
                <a:solidFill>
                  <a:srgbClr val="44546A"/>
                </a:solidFill>
                <a:latin typeface="+mn-ea"/>
              </a:rPr>
              <a:t>”的学生记录。</a:t>
            </a:r>
            <a:endParaRPr lang="zh-CN" altLang="en-US" sz="2000" dirty="0">
              <a:latin typeface="+mn-ea"/>
            </a:endParaRPr>
          </a:p>
        </p:txBody>
      </p:sp>
      <p:graphicFrame>
        <p:nvGraphicFramePr>
          <p:cNvPr id="5" name="表格 5">
            <a:extLst>
              <a:ext uri="{FF2B5EF4-FFF2-40B4-BE49-F238E27FC236}">
                <a16:creationId xmlns:a16="http://schemas.microsoft.com/office/drawing/2014/main" id="{D5DC3836-0FC9-D1AC-F86B-947B2BEAAE8F}"/>
              </a:ext>
            </a:extLst>
          </p:cNvPr>
          <p:cNvGraphicFramePr>
            <a:graphicFrameLocks noGrp="1"/>
          </p:cNvGraphicFramePr>
          <p:nvPr>
            <p:extLst>
              <p:ext uri="{D42A27DB-BD31-4B8C-83A1-F6EECF244321}">
                <p14:modId xmlns:p14="http://schemas.microsoft.com/office/powerpoint/2010/main" val="541455612"/>
              </p:ext>
            </p:extLst>
          </p:nvPr>
        </p:nvGraphicFramePr>
        <p:xfrm>
          <a:off x="1875590" y="2179750"/>
          <a:ext cx="2949074" cy="1483360"/>
        </p:xfrm>
        <a:graphic>
          <a:graphicData uri="http://schemas.openxmlformats.org/drawingml/2006/table">
            <a:tbl>
              <a:tblPr firstRow="1" bandRow="1">
                <a:tableStyleId>{5C22544A-7EE6-4342-B048-85BDC9FD1C3A}</a:tableStyleId>
              </a:tblPr>
              <a:tblGrid>
                <a:gridCol w="1474537">
                  <a:extLst>
                    <a:ext uri="{9D8B030D-6E8A-4147-A177-3AD203B41FA5}">
                      <a16:colId xmlns:a16="http://schemas.microsoft.com/office/drawing/2014/main" val="258234042"/>
                    </a:ext>
                  </a:extLst>
                </a:gridCol>
                <a:gridCol w="1474537">
                  <a:extLst>
                    <a:ext uri="{9D8B030D-6E8A-4147-A177-3AD203B41FA5}">
                      <a16:colId xmlns:a16="http://schemas.microsoft.com/office/drawing/2014/main" val="1487536123"/>
                    </a:ext>
                  </a:extLst>
                </a:gridCol>
              </a:tblGrid>
              <a:tr h="370840">
                <a:tc>
                  <a:txBody>
                    <a:bodyPr/>
                    <a:lstStyle/>
                    <a:p>
                      <a:pPr algn="ctr"/>
                      <a:r>
                        <a:rPr lang="zh-CN" altLang="en-US" dirty="0"/>
                        <a:t>字段名</a:t>
                      </a:r>
                    </a:p>
                  </a:txBody>
                  <a:tcPr/>
                </a:tc>
                <a:tc>
                  <a:txBody>
                    <a:bodyPr/>
                    <a:lstStyle/>
                    <a:p>
                      <a:pPr algn="ctr"/>
                      <a:r>
                        <a:rPr lang="zh-CN" altLang="en-US" dirty="0"/>
                        <a:t>别名</a:t>
                      </a:r>
                    </a:p>
                  </a:txBody>
                  <a:tcPr/>
                </a:tc>
                <a:extLst>
                  <a:ext uri="{0D108BD9-81ED-4DB2-BD59-A6C34878D82A}">
                    <a16:rowId xmlns:a16="http://schemas.microsoft.com/office/drawing/2014/main" val="4222831064"/>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xh</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account</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2523226081"/>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xm</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name</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3009955295"/>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xb</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gender</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1973159421"/>
                  </a:ext>
                </a:extLst>
              </a:tr>
            </a:tbl>
          </a:graphicData>
        </a:graphic>
      </p:graphicFrame>
      <p:graphicFrame>
        <p:nvGraphicFramePr>
          <p:cNvPr id="6" name="表格 5">
            <a:extLst>
              <a:ext uri="{FF2B5EF4-FFF2-40B4-BE49-F238E27FC236}">
                <a16:creationId xmlns:a16="http://schemas.microsoft.com/office/drawing/2014/main" id="{2A4CF120-E997-5187-C420-13E23044AE7F}"/>
              </a:ext>
            </a:extLst>
          </p:cNvPr>
          <p:cNvGraphicFramePr>
            <a:graphicFrameLocks noGrp="1"/>
          </p:cNvGraphicFramePr>
          <p:nvPr>
            <p:extLst>
              <p:ext uri="{D42A27DB-BD31-4B8C-83A1-F6EECF244321}">
                <p14:modId xmlns:p14="http://schemas.microsoft.com/office/powerpoint/2010/main" val="1964569822"/>
              </p:ext>
            </p:extLst>
          </p:nvPr>
        </p:nvGraphicFramePr>
        <p:xfrm>
          <a:off x="5144168" y="2179750"/>
          <a:ext cx="3362158" cy="1483360"/>
        </p:xfrm>
        <a:graphic>
          <a:graphicData uri="http://schemas.openxmlformats.org/drawingml/2006/table">
            <a:tbl>
              <a:tblPr firstRow="1" bandRow="1">
                <a:tableStyleId>{5C22544A-7EE6-4342-B048-85BDC9FD1C3A}</a:tableStyleId>
              </a:tblPr>
              <a:tblGrid>
                <a:gridCol w="1681079">
                  <a:extLst>
                    <a:ext uri="{9D8B030D-6E8A-4147-A177-3AD203B41FA5}">
                      <a16:colId xmlns:a16="http://schemas.microsoft.com/office/drawing/2014/main" val="258234042"/>
                    </a:ext>
                  </a:extLst>
                </a:gridCol>
                <a:gridCol w="1681079">
                  <a:extLst>
                    <a:ext uri="{9D8B030D-6E8A-4147-A177-3AD203B41FA5}">
                      <a16:colId xmlns:a16="http://schemas.microsoft.com/office/drawing/2014/main" val="1487536123"/>
                    </a:ext>
                  </a:extLst>
                </a:gridCol>
              </a:tblGrid>
              <a:tr h="370840">
                <a:tc>
                  <a:txBody>
                    <a:bodyPr/>
                    <a:lstStyle/>
                    <a:p>
                      <a:pPr algn="ctr"/>
                      <a:r>
                        <a:rPr lang="zh-CN" altLang="en-US" dirty="0"/>
                        <a:t>字段名</a:t>
                      </a:r>
                    </a:p>
                  </a:txBody>
                  <a:tcPr/>
                </a:tc>
                <a:tc>
                  <a:txBody>
                    <a:bodyPr/>
                    <a:lstStyle/>
                    <a:p>
                      <a:pPr algn="ctr"/>
                      <a:r>
                        <a:rPr lang="zh-CN" altLang="en-US" dirty="0"/>
                        <a:t>别名</a:t>
                      </a:r>
                    </a:p>
                  </a:txBody>
                  <a:tcPr/>
                </a:tc>
                <a:extLst>
                  <a:ext uri="{0D108BD9-81ED-4DB2-BD59-A6C34878D82A}">
                    <a16:rowId xmlns:a16="http://schemas.microsoft.com/office/drawing/2014/main" val="4222831064"/>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csny</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birth</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2523226081"/>
                  </a:ext>
                </a:extLst>
              </a:tr>
              <a:tr h="370840">
                <a:tc>
                  <a:txBody>
                    <a:bodyPr/>
                    <a:lstStyle/>
                    <a:p>
                      <a:pPr algn="ct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nj</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grade</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3009955295"/>
                  </a:ext>
                </a:extLst>
              </a:tr>
              <a:tr h="370840">
                <a:tc>
                  <a:txBody>
                    <a:bodyPr/>
                    <a:lstStyle/>
                    <a:p>
                      <a:pPr algn="ct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xy</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department</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1973159421"/>
                  </a:ext>
                </a:extLst>
              </a:tr>
            </a:tbl>
          </a:graphicData>
        </a:graphic>
      </p:graphicFrame>
    </p:spTree>
    <p:extLst>
      <p:ext uri="{BB962C8B-B14F-4D97-AF65-F5344CB8AC3E}">
        <p14:creationId xmlns:p14="http://schemas.microsoft.com/office/powerpoint/2010/main" val="3017316838"/>
      </p:ext>
    </p:extLst>
  </p:cSld>
  <p:clrMapOvr>
    <a:masterClrMapping/>
  </p:clrMapOvr>
  <p:transition spd="slow">
    <p:push dir="u"/>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实战一</a:t>
            </a:r>
          </a:p>
        </p:txBody>
      </p:sp>
      <p:sp>
        <p:nvSpPr>
          <p:cNvPr id="3" name="文本框 2">
            <a:extLst>
              <a:ext uri="{FF2B5EF4-FFF2-40B4-BE49-F238E27FC236}">
                <a16:creationId xmlns:a16="http://schemas.microsoft.com/office/drawing/2014/main" id="{A34CB50E-0D93-CD56-7461-000B9FD26302}"/>
              </a:ext>
            </a:extLst>
          </p:cNvPr>
          <p:cNvSpPr txBox="1"/>
          <p:nvPr/>
        </p:nvSpPr>
        <p:spPr>
          <a:xfrm>
            <a:off x="1410940" y="802711"/>
            <a:ext cx="9284486" cy="2951898"/>
          </a:xfrm>
          <a:prstGeom prst="rect">
            <a:avLst/>
          </a:prstGeom>
          <a:noFill/>
        </p:spPr>
        <p:txBody>
          <a:bodyPr wrap="square" rtlCol="0">
            <a:spAutoFit/>
          </a:bodyPr>
          <a:lstStyle/>
          <a:p>
            <a:pPr>
              <a:lnSpc>
                <a:spcPct val="150000"/>
              </a:lnSpc>
            </a:pPr>
            <a:r>
              <a:rPr lang="zh-CN" altLang="en-US" b="1" dirty="0">
                <a:solidFill>
                  <a:srgbClr val="44546A"/>
                </a:solidFill>
                <a:latin typeface="+mn-ea"/>
              </a:rPr>
              <a:t>数据库信息：</a:t>
            </a:r>
            <a:endParaRPr lang="en-US" altLang="zh-CN" b="1" dirty="0">
              <a:solidFill>
                <a:srgbClr val="44546A"/>
              </a:solidFill>
              <a:latin typeface="+mn-ea"/>
            </a:endParaRPr>
          </a:p>
          <a:p>
            <a:pPr>
              <a:lnSpc>
                <a:spcPct val="150000"/>
              </a:lnSpc>
            </a:pPr>
            <a:r>
              <a:rPr lang="zh-CN" altLang="en-US" dirty="0">
                <a:solidFill>
                  <a:srgbClr val="44546A"/>
                </a:solidFill>
                <a:latin typeface="+mn-ea"/>
              </a:rPr>
              <a:t>数据库表名：</a:t>
            </a:r>
            <a:r>
              <a:rPr lang="en-US" altLang="zh-CN" dirty="0">
                <a:solidFill>
                  <a:srgbClr val="44546A"/>
                </a:solidFill>
                <a:latin typeface="+mn-ea"/>
              </a:rPr>
              <a:t>student</a:t>
            </a:r>
            <a:r>
              <a:rPr lang="zh-CN" altLang="en-US" dirty="0">
                <a:solidFill>
                  <a:srgbClr val="44546A"/>
                </a:solidFill>
                <a:latin typeface="+mn-ea"/>
              </a:rPr>
              <a:t>，别名：</a:t>
            </a:r>
            <a:r>
              <a:rPr lang="en-US" altLang="zh-CN" dirty="0">
                <a:solidFill>
                  <a:srgbClr val="44546A"/>
                </a:solidFill>
                <a:latin typeface="+mn-ea"/>
              </a:rPr>
              <a:t>stu</a:t>
            </a:r>
            <a:r>
              <a:rPr lang="zh-CN" altLang="en-US" dirty="0">
                <a:solidFill>
                  <a:srgbClr val="44546A"/>
                </a:solidFill>
                <a:latin typeface="+mn-ea"/>
              </a:rPr>
              <a:t>；</a:t>
            </a:r>
            <a:endParaRPr lang="en-US" altLang="zh-CN" dirty="0">
              <a:solidFill>
                <a:srgbClr val="44546A"/>
              </a:solidFill>
              <a:latin typeface="+mn-ea"/>
            </a:endParaRPr>
          </a:p>
          <a:p>
            <a:pPr>
              <a:lnSpc>
                <a:spcPct val="150000"/>
              </a:lnSpc>
            </a:pPr>
            <a:r>
              <a:rPr lang="zh-CN" altLang="zh-CN" dirty="0">
                <a:solidFill>
                  <a:srgbClr val="44546A"/>
                </a:solidFill>
                <a:latin typeface="+mn-ea"/>
              </a:rPr>
              <a:t>根据表定义字段名与别名</a:t>
            </a:r>
            <a:r>
              <a:rPr lang="zh-CN" altLang="en-US" dirty="0">
                <a:solidFill>
                  <a:srgbClr val="44546A"/>
                </a:solidFill>
                <a:latin typeface="+mn-ea"/>
              </a:rPr>
              <a:t>：</a:t>
            </a:r>
            <a:endParaRPr lang="en-US" altLang="zh-CN" dirty="0">
              <a:solidFill>
                <a:srgbClr val="44546A"/>
              </a:solidFill>
              <a:latin typeface="+mn-ea"/>
            </a:endParaRPr>
          </a:p>
          <a:p>
            <a:pPr>
              <a:lnSpc>
                <a:spcPct val="150000"/>
              </a:lnSpc>
            </a:pPr>
            <a:endParaRPr lang="en-US" altLang="zh-CN" dirty="0">
              <a:solidFill>
                <a:srgbClr val="44546A"/>
              </a:solidFill>
              <a:latin typeface="+mn-ea"/>
            </a:endParaRPr>
          </a:p>
          <a:p>
            <a:pPr>
              <a:lnSpc>
                <a:spcPct val="150000"/>
              </a:lnSpc>
            </a:pPr>
            <a:endParaRPr lang="en-US" altLang="zh-CN" b="1" dirty="0">
              <a:solidFill>
                <a:srgbClr val="44546A"/>
              </a:solidFill>
              <a:latin typeface="+mn-ea"/>
            </a:endParaRPr>
          </a:p>
          <a:p>
            <a:pPr>
              <a:lnSpc>
                <a:spcPct val="150000"/>
              </a:lnSpc>
            </a:pPr>
            <a:endParaRPr lang="en-US" altLang="zh-CN" b="1" dirty="0">
              <a:solidFill>
                <a:srgbClr val="44546A"/>
              </a:solidFill>
              <a:latin typeface="+mn-ea"/>
            </a:endParaRPr>
          </a:p>
          <a:p>
            <a:pPr>
              <a:lnSpc>
                <a:spcPct val="150000"/>
              </a:lnSpc>
            </a:pPr>
            <a:endParaRPr lang="en-US" altLang="zh-CN" b="1" dirty="0">
              <a:solidFill>
                <a:srgbClr val="44546A"/>
              </a:solidFill>
              <a:latin typeface="+mn-ea"/>
            </a:endParaRPr>
          </a:p>
        </p:txBody>
      </p:sp>
      <p:graphicFrame>
        <p:nvGraphicFramePr>
          <p:cNvPr id="5" name="表格 5">
            <a:extLst>
              <a:ext uri="{FF2B5EF4-FFF2-40B4-BE49-F238E27FC236}">
                <a16:creationId xmlns:a16="http://schemas.microsoft.com/office/drawing/2014/main" id="{D5DC3836-0FC9-D1AC-F86B-947B2BEAAE8F}"/>
              </a:ext>
            </a:extLst>
          </p:cNvPr>
          <p:cNvGraphicFramePr>
            <a:graphicFrameLocks noGrp="1"/>
          </p:cNvGraphicFramePr>
          <p:nvPr/>
        </p:nvGraphicFramePr>
        <p:xfrm>
          <a:off x="1875590" y="2179750"/>
          <a:ext cx="2949074" cy="1483360"/>
        </p:xfrm>
        <a:graphic>
          <a:graphicData uri="http://schemas.openxmlformats.org/drawingml/2006/table">
            <a:tbl>
              <a:tblPr firstRow="1" bandRow="1">
                <a:tableStyleId>{5C22544A-7EE6-4342-B048-85BDC9FD1C3A}</a:tableStyleId>
              </a:tblPr>
              <a:tblGrid>
                <a:gridCol w="1474537">
                  <a:extLst>
                    <a:ext uri="{9D8B030D-6E8A-4147-A177-3AD203B41FA5}">
                      <a16:colId xmlns:a16="http://schemas.microsoft.com/office/drawing/2014/main" val="258234042"/>
                    </a:ext>
                  </a:extLst>
                </a:gridCol>
                <a:gridCol w="1474537">
                  <a:extLst>
                    <a:ext uri="{9D8B030D-6E8A-4147-A177-3AD203B41FA5}">
                      <a16:colId xmlns:a16="http://schemas.microsoft.com/office/drawing/2014/main" val="1487536123"/>
                    </a:ext>
                  </a:extLst>
                </a:gridCol>
              </a:tblGrid>
              <a:tr h="370840">
                <a:tc>
                  <a:txBody>
                    <a:bodyPr/>
                    <a:lstStyle/>
                    <a:p>
                      <a:pPr algn="ctr"/>
                      <a:r>
                        <a:rPr lang="zh-CN" altLang="en-US" dirty="0"/>
                        <a:t>字段名</a:t>
                      </a:r>
                    </a:p>
                  </a:txBody>
                  <a:tcPr/>
                </a:tc>
                <a:tc>
                  <a:txBody>
                    <a:bodyPr/>
                    <a:lstStyle/>
                    <a:p>
                      <a:pPr algn="ctr"/>
                      <a:r>
                        <a:rPr lang="zh-CN" altLang="en-US" dirty="0"/>
                        <a:t>别名</a:t>
                      </a:r>
                    </a:p>
                  </a:txBody>
                  <a:tcPr/>
                </a:tc>
                <a:extLst>
                  <a:ext uri="{0D108BD9-81ED-4DB2-BD59-A6C34878D82A}">
                    <a16:rowId xmlns:a16="http://schemas.microsoft.com/office/drawing/2014/main" val="4222831064"/>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xh</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account</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2523226081"/>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xm</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name</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3009955295"/>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xb</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gender</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1973159421"/>
                  </a:ext>
                </a:extLst>
              </a:tr>
            </a:tbl>
          </a:graphicData>
        </a:graphic>
      </p:graphicFrame>
      <p:graphicFrame>
        <p:nvGraphicFramePr>
          <p:cNvPr id="6" name="表格 5">
            <a:extLst>
              <a:ext uri="{FF2B5EF4-FFF2-40B4-BE49-F238E27FC236}">
                <a16:creationId xmlns:a16="http://schemas.microsoft.com/office/drawing/2014/main" id="{2A4CF120-E997-5187-C420-13E23044AE7F}"/>
              </a:ext>
            </a:extLst>
          </p:cNvPr>
          <p:cNvGraphicFramePr>
            <a:graphicFrameLocks noGrp="1"/>
          </p:cNvGraphicFramePr>
          <p:nvPr/>
        </p:nvGraphicFramePr>
        <p:xfrm>
          <a:off x="5144168" y="2179750"/>
          <a:ext cx="3362158" cy="1483360"/>
        </p:xfrm>
        <a:graphic>
          <a:graphicData uri="http://schemas.openxmlformats.org/drawingml/2006/table">
            <a:tbl>
              <a:tblPr firstRow="1" bandRow="1">
                <a:tableStyleId>{5C22544A-7EE6-4342-B048-85BDC9FD1C3A}</a:tableStyleId>
              </a:tblPr>
              <a:tblGrid>
                <a:gridCol w="1681079">
                  <a:extLst>
                    <a:ext uri="{9D8B030D-6E8A-4147-A177-3AD203B41FA5}">
                      <a16:colId xmlns:a16="http://schemas.microsoft.com/office/drawing/2014/main" val="258234042"/>
                    </a:ext>
                  </a:extLst>
                </a:gridCol>
                <a:gridCol w="1681079">
                  <a:extLst>
                    <a:ext uri="{9D8B030D-6E8A-4147-A177-3AD203B41FA5}">
                      <a16:colId xmlns:a16="http://schemas.microsoft.com/office/drawing/2014/main" val="1487536123"/>
                    </a:ext>
                  </a:extLst>
                </a:gridCol>
              </a:tblGrid>
              <a:tr h="370840">
                <a:tc>
                  <a:txBody>
                    <a:bodyPr/>
                    <a:lstStyle/>
                    <a:p>
                      <a:pPr algn="ctr"/>
                      <a:r>
                        <a:rPr lang="zh-CN" altLang="en-US" dirty="0"/>
                        <a:t>字段名</a:t>
                      </a:r>
                    </a:p>
                  </a:txBody>
                  <a:tcPr/>
                </a:tc>
                <a:tc>
                  <a:txBody>
                    <a:bodyPr/>
                    <a:lstStyle/>
                    <a:p>
                      <a:pPr algn="ctr"/>
                      <a:r>
                        <a:rPr lang="zh-CN" altLang="en-US" dirty="0"/>
                        <a:t>别名</a:t>
                      </a:r>
                    </a:p>
                  </a:txBody>
                  <a:tcPr/>
                </a:tc>
                <a:extLst>
                  <a:ext uri="{0D108BD9-81ED-4DB2-BD59-A6C34878D82A}">
                    <a16:rowId xmlns:a16="http://schemas.microsoft.com/office/drawing/2014/main" val="4222831064"/>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csny</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birth</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2523226081"/>
                  </a:ext>
                </a:extLst>
              </a:tr>
              <a:tr h="370840">
                <a:tc>
                  <a:txBody>
                    <a:bodyPr/>
                    <a:lstStyle/>
                    <a:p>
                      <a:pPr algn="ct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nj</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grade</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3009955295"/>
                  </a:ext>
                </a:extLst>
              </a:tr>
              <a:tr h="370840">
                <a:tc>
                  <a:txBody>
                    <a:bodyPr/>
                    <a:lstStyle/>
                    <a:p>
                      <a:pPr algn="ct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xy</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department</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1973159421"/>
                  </a:ext>
                </a:extLst>
              </a:tr>
            </a:tbl>
          </a:graphicData>
        </a:graphic>
      </p:graphicFrame>
      <p:sp>
        <p:nvSpPr>
          <p:cNvPr id="4" name="矩形 3">
            <a:extLst>
              <a:ext uri="{FF2B5EF4-FFF2-40B4-BE49-F238E27FC236}">
                <a16:creationId xmlns:a16="http://schemas.microsoft.com/office/drawing/2014/main" id="{9583ECFC-EBC6-1222-D375-0FAE666334AB}"/>
              </a:ext>
            </a:extLst>
          </p:cNvPr>
          <p:cNvSpPr/>
          <p:nvPr/>
        </p:nvSpPr>
        <p:spPr>
          <a:xfrm>
            <a:off x="1030559" y="4374493"/>
            <a:ext cx="9764959" cy="2077636"/>
          </a:xfrm>
          <a:prstGeom prst="rect">
            <a:avLst/>
          </a:prstGeom>
          <a:solidFill>
            <a:schemeClr val="bg2"/>
          </a:solidFill>
          <a:ln w="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sym typeface="Arial" panose="020B0604020202090204" pitchFamily="34" charset="0"/>
            </a:endParaRPr>
          </a:p>
        </p:txBody>
      </p:sp>
      <p:pic>
        <p:nvPicPr>
          <p:cNvPr id="9" name="图片 8">
            <a:extLst>
              <a:ext uri="{FF2B5EF4-FFF2-40B4-BE49-F238E27FC236}">
                <a16:creationId xmlns:a16="http://schemas.microsoft.com/office/drawing/2014/main" id="{E355D14A-9C82-2092-BEA6-3CBAB41CDD6D}"/>
              </a:ext>
            </a:extLst>
          </p:cNvPr>
          <p:cNvPicPr>
            <a:picLocks noChangeAspect="1"/>
          </p:cNvPicPr>
          <p:nvPr/>
        </p:nvPicPr>
        <p:blipFill>
          <a:blip r:embed="rId3"/>
          <a:stretch>
            <a:fillRect/>
          </a:stretch>
        </p:blipFill>
        <p:spPr>
          <a:xfrm>
            <a:off x="2838382" y="4452245"/>
            <a:ext cx="4970114" cy="1927909"/>
          </a:xfrm>
          <a:prstGeom prst="rect">
            <a:avLst/>
          </a:prstGeom>
        </p:spPr>
      </p:pic>
    </p:spTree>
    <p:extLst>
      <p:ext uri="{BB962C8B-B14F-4D97-AF65-F5344CB8AC3E}">
        <p14:creationId xmlns:p14="http://schemas.microsoft.com/office/powerpoint/2010/main" val="36849080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实战一</a:t>
            </a:r>
          </a:p>
        </p:txBody>
      </p:sp>
      <p:sp>
        <p:nvSpPr>
          <p:cNvPr id="3" name="文本框 2">
            <a:extLst>
              <a:ext uri="{FF2B5EF4-FFF2-40B4-BE49-F238E27FC236}">
                <a16:creationId xmlns:a16="http://schemas.microsoft.com/office/drawing/2014/main" id="{A34CB50E-0D93-CD56-7461-000B9FD26302}"/>
              </a:ext>
            </a:extLst>
          </p:cNvPr>
          <p:cNvSpPr txBox="1"/>
          <p:nvPr/>
        </p:nvSpPr>
        <p:spPr>
          <a:xfrm>
            <a:off x="1410940" y="802711"/>
            <a:ext cx="9284486" cy="5444888"/>
          </a:xfrm>
          <a:prstGeom prst="rect">
            <a:avLst/>
          </a:prstGeom>
          <a:noFill/>
        </p:spPr>
        <p:txBody>
          <a:bodyPr wrap="square" rtlCol="0">
            <a:spAutoFit/>
          </a:bodyPr>
          <a:lstStyle/>
          <a:p>
            <a:pPr>
              <a:lnSpc>
                <a:spcPct val="150000"/>
              </a:lnSpc>
            </a:pPr>
            <a:r>
              <a:rPr lang="zh-CN" altLang="en-US" b="1" dirty="0">
                <a:solidFill>
                  <a:srgbClr val="44546A"/>
                </a:solidFill>
                <a:latin typeface="+mn-ea"/>
              </a:rPr>
              <a:t>使用</a:t>
            </a:r>
            <a:r>
              <a:rPr lang="en-US" altLang="zh-CN" b="1" dirty="0">
                <a:solidFill>
                  <a:srgbClr val="44546A"/>
                </a:solidFill>
                <a:latin typeface="+mn-ea"/>
              </a:rPr>
              <a:t>SQL</a:t>
            </a:r>
            <a:r>
              <a:rPr lang="zh-CN" altLang="en-US" b="1" dirty="0">
                <a:solidFill>
                  <a:srgbClr val="44546A"/>
                </a:solidFill>
                <a:latin typeface="+mn-ea"/>
              </a:rPr>
              <a:t>语句，完成以下数据范围（过滤条件的）练习：</a:t>
            </a:r>
            <a:endParaRPr lang="en-US" altLang="zh-CN" b="1" dirty="0">
              <a:solidFill>
                <a:srgbClr val="44546A"/>
              </a:solidFill>
              <a:latin typeface="+mn-ea"/>
            </a:endParaRPr>
          </a:p>
          <a:p>
            <a:pPr>
              <a:lnSpc>
                <a:spcPct val="150000"/>
              </a:lnSpc>
            </a:pPr>
            <a:r>
              <a:rPr lang="en-US" altLang="zh-CN" dirty="0">
                <a:solidFill>
                  <a:srgbClr val="44546A"/>
                </a:solidFill>
                <a:latin typeface="+mn-ea"/>
              </a:rPr>
              <a:t>1</a:t>
            </a:r>
            <a:r>
              <a:rPr lang="zh-CN" altLang="en-US" dirty="0">
                <a:solidFill>
                  <a:srgbClr val="44546A"/>
                </a:solidFill>
                <a:latin typeface="+mn-ea"/>
              </a:rPr>
              <a:t>、查询表中，年级为</a:t>
            </a:r>
            <a:r>
              <a:rPr lang="en-US" altLang="zh-CN" dirty="0">
                <a:solidFill>
                  <a:srgbClr val="44546A"/>
                </a:solidFill>
                <a:latin typeface="+mn-ea"/>
              </a:rPr>
              <a:t>22</a:t>
            </a:r>
            <a:r>
              <a:rPr lang="zh-CN" altLang="en-US" dirty="0">
                <a:solidFill>
                  <a:srgbClr val="44546A"/>
                </a:solidFill>
                <a:latin typeface="+mn-ea"/>
              </a:rPr>
              <a:t>级</a:t>
            </a:r>
            <a:r>
              <a:rPr lang="zh-CN" altLang="en-US" b="1" dirty="0">
                <a:solidFill>
                  <a:srgbClr val="44546A"/>
                </a:solidFill>
                <a:latin typeface="+mn-ea"/>
              </a:rPr>
              <a:t>和</a:t>
            </a:r>
            <a:r>
              <a:rPr lang="en-US" altLang="zh-CN" dirty="0">
                <a:solidFill>
                  <a:srgbClr val="44546A"/>
                </a:solidFill>
                <a:latin typeface="+mn-ea"/>
              </a:rPr>
              <a:t>23</a:t>
            </a:r>
            <a:r>
              <a:rPr lang="zh-CN" altLang="en-US" dirty="0">
                <a:solidFill>
                  <a:srgbClr val="44546A"/>
                </a:solidFill>
                <a:latin typeface="+mn-ea"/>
              </a:rPr>
              <a:t>级的学生记录；</a:t>
            </a:r>
            <a:endParaRPr lang="en-US" altLang="zh-CN" dirty="0">
              <a:solidFill>
                <a:srgbClr val="44546A"/>
              </a:solidFill>
              <a:latin typeface="+mn-ea"/>
            </a:endParaRPr>
          </a:p>
          <a:p>
            <a:pPr>
              <a:lnSpc>
                <a:spcPct val="150000"/>
              </a:lnSpc>
            </a:pPr>
            <a:endParaRPr lang="en-US" altLang="zh-CN" dirty="0">
              <a:solidFill>
                <a:srgbClr val="44546A"/>
              </a:solidFill>
              <a:latin typeface="+mn-ea"/>
            </a:endParaRPr>
          </a:p>
          <a:p>
            <a:pPr>
              <a:lnSpc>
                <a:spcPct val="150000"/>
              </a:lnSpc>
            </a:pPr>
            <a:endParaRPr lang="en-US" altLang="zh-CN" dirty="0">
              <a:solidFill>
                <a:srgbClr val="44546A"/>
              </a:solidFill>
              <a:latin typeface="+mn-ea"/>
            </a:endParaRPr>
          </a:p>
          <a:p>
            <a:pPr>
              <a:lnSpc>
                <a:spcPct val="150000"/>
              </a:lnSpc>
            </a:pPr>
            <a:endParaRPr lang="en-US" altLang="zh-CN" dirty="0">
              <a:solidFill>
                <a:srgbClr val="44546A"/>
              </a:solidFill>
              <a:latin typeface="+mn-ea"/>
            </a:endParaRPr>
          </a:p>
          <a:p>
            <a:pPr>
              <a:lnSpc>
                <a:spcPct val="150000"/>
              </a:lnSpc>
            </a:pPr>
            <a:endParaRPr lang="en-US" altLang="zh-CN" dirty="0">
              <a:solidFill>
                <a:srgbClr val="44546A"/>
              </a:solidFill>
              <a:latin typeface="+mn-ea"/>
            </a:endParaRPr>
          </a:p>
          <a:p>
            <a:pPr>
              <a:lnSpc>
                <a:spcPct val="150000"/>
              </a:lnSpc>
            </a:pPr>
            <a:endParaRPr lang="en-US" altLang="zh-CN" dirty="0">
              <a:solidFill>
                <a:srgbClr val="44546A"/>
              </a:solidFill>
              <a:latin typeface="+mn-ea"/>
            </a:endParaRPr>
          </a:p>
          <a:p>
            <a:pPr>
              <a:lnSpc>
                <a:spcPct val="150000"/>
              </a:lnSpc>
            </a:pPr>
            <a:r>
              <a:rPr lang="en-US" altLang="zh-CN" dirty="0">
                <a:solidFill>
                  <a:srgbClr val="44546A"/>
                </a:solidFill>
                <a:latin typeface="+mn-ea"/>
              </a:rPr>
              <a:t>2</a:t>
            </a:r>
            <a:r>
              <a:rPr lang="zh-CN" altLang="en-US" dirty="0">
                <a:solidFill>
                  <a:srgbClr val="44546A"/>
                </a:solidFill>
                <a:latin typeface="+mn-ea"/>
              </a:rPr>
              <a:t>、查询表中，出生日期为</a:t>
            </a:r>
            <a:r>
              <a:rPr lang="en-US" altLang="zh-CN" dirty="0">
                <a:solidFill>
                  <a:srgbClr val="44546A"/>
                </a:solidFill>
                <a:latin typeface="+mn-ea"/>
              </a:rPr>
              <a:t>2002</a:t>
            </a:r>
            <a:r>
              <a:rPr lang="zh-CN" altLang="en-US" dirty="0">
                <a:solidFill>
                  <a:srgbClr val="44546A"/>
                </a:solidFill>
                <a:latin typeface="+mn-ea"/>
              </a:rPr>
              <a:t>年的学生记录；</a:t>
            </a:r>
            <a:endParaRPr lang="en-US" altLang="zh-CN" dirty="0">
              <a:solidFill>
                <a:srgbClr val="44546A"/>
              </a:solidFill>
              <a:latin typeface="+mn-ea"/>
            </a:endParaRPr>
          </a:p>
          <a:p>
            <a:pPr>
              <a:lnSpc>
                <a:spcPct val="150000"/>
              </a:lnSpc>
            </a:pPr>
            <a:endParaRPr lang="en-US" altLang="zh-CN" dirty="0">
              <a:solidFill>
                <a:srgbClr val="44546A"/>
              </a:solidFill>
              <a:latin typeface="+mn-ea"/>
            </a:endParaRPr>
          </a:p>
          <a:p>
            <a:pPr>
              <a:lnSpc>
                <a:spcPct val="150000"/>
              </a:lnSpc>
            </a:pPr>
            <a:endParaRPr lang="en-US" altLang="zh-CN" dirty="0">
              <a:solidFill>
                <a:srgbClr val="44546A"/>
              </a:solidFill>
              <a:latin typeface="+mn-ea"/>
            </a:endParaRPr>
          </a:p>
          <a:p>
            <a:pPr>
              <a:lnSpc>
                <a:spcPct val="150000"/>
              </a:lnSpc>
            </a:pPr>
            <a:endParaRPr lang="en-US" altLang="zh-CN" dirty="0">
              <a:solidFill>
                <a:srgbClr val="44546A"/>
              </a:solidFill>
              <a:latin typeface="+mn-ea"/>
            </a:endParaRPr>
          </a:p>
          <a:p>
            <a:pPr>
              <a:lnSpc>
                <a:spcPct val="150000"/>
              </a:lnSpc>
            </a:pPr>
            <a:endParaRPr lang="en-US" altLang="zh-CN" dirty="0">
              <a:solidFill>
                <a:srgbClr val="44546A"/>
              </a:solidFill>
              <a:latin typeface="+mn-ea"/>
            </a:endParaRPr>
          </a:p>
          <a:p>
            <a:pPr>
              <a:lnSpc>
                <a:spcPct val="150000"/>
              </a:lnSpc>
            </a:pPr>
            <a:endParaRPr lang="en-US" altLang="zh-CN" dirty="0">
              <a:solidFill>
                <a:srgbClr val="44546A"/>
              </a:solidFill>
              <a:latin typeface="+mn-ea"/>
            </a:endParaRPr>
          </a:p>
        </p:txBody>
      </p:sp>
      <p:pic>
        <p:nvPicPr>
          <p:cNvPr id="5" name="图片 4">
            <a:extLst>
              <a:ext uri="{FF2B5EF4-FFF2-40B4-BE49-F238E27FC236}">
                <a16:creationId xmlns:a16="http://schemas.microsoft.com/office/drawing/2014/main" id="{AFC5705A-01CC-C504-5E59-B9B212FB16BB}"/>
              </a:ext>
            </a:extLst>
          </p:cNvPr>
          <p:cNvPicPr>
            <a:picLocks noChangeAspect="1"/>
          </p:cNvPicPr>
          <p:nvPr/>
        </p:nvPicPr>
        <p:blipFill>
          <a:blip r:embed="rId3"/>
          <a:stretch>
            <a:fillRect/>
          </a:stretch>
        </p:blipFill>
        <p:spPr>
          <a:xfrm>
            <a:off x="1811755" y="1755463"/>
            <a:ext cx="4630372" cy="1768745"/>
          </a:xfrm>
          <a:prstGeom prst="rect">
            <a:avLst/>
          </a:prstGeom>
        </p:spPr>
      </p:pic>
      <p:pic>
        <p:nvPicPr>
          <p:cNvPr id="7" name="图片 6">
            <a:extLst>
              <a:ext uri="{FF2B5EF4-FFF2-40B4-BE49-F238E27FC236}">
                <a16:creationId xmlns:a16="http://schemas.microsoft.com/office/drawing/2014/main" id="{2FC9A9C2-0E63-3E12-0CA4-3CA0A4052A34}"/>
              </a:ext>
            </a:extLst>
          </p:cNvPr>
          <p:cNvPicPr>
            <a:picLocks noChangeAspect="1"/>
          </p:cNvPicPr>
          <p:nvPr/>
        </p:nvPicPr>
        <p:blipFill>
          <a:blip r:embed="rId4"/>
          <a:stretch>
            <a:fillRect/>
          </a:stretch>
        </p:blipFill>
        <p:spPr>
          <a:xfrm>
            <a:off x="1811755" y="4286544"/>
            <a:ext cx="4587233" cy="1768745"/>
          </a:xfrm>
          <a:prstGeom prst="rect">
            <a:avLst/>
          </a:prstGeom>
        </p:spPr>
      </p:pic>
      <p:pic>
        <p:nvPicPr>
          <p:cNvPr id="11" name="图片 10">
            <a:extLst>
              <a:ext uri="{FF2B5EF4-FFF2-40B4-BE49-F238E27FC236}">
                <a16:creationId xmlns:a16="http://schemas.microsoft.com/office/drawing/2014/main" id="{ED7304B0-4568-F64F-8EA8-81AA4467B9AA}"/>
              </a:ext>
            </a:extLst>
          </p:cNvPr>
          <p:cNvPicPr>
            <a:picLocks noChangeAspect="1"/>
          </p:cNvPicPr>
          <p:nvPr/>
        </p:nvPicPr>
        <p:blipFill>
          <a:blip r:embed="rId5"/>
          <a:stretch>
            <a:fillRect/>
          </a:stretch>
        </p:blipFill>
        <p:spPr>
          <a:xfrm>
            <a:off x="6387144" y="4257916"/>
            <a:ext cx="3997650" cy="1768745"/>
          </a:xfrm>
          <a:prstGeom prst="rect">
            <a:avLst/>
          </a:prstGeom>
        </p:spPr>
      </p:pic>
    </p:spTree>
    <p:extLst>
      <p:ext uri="{BB962C8B-B14F-4D97-AF65-F5344CB8AC3E}">
        <p14:creationId xmlns:p14="http://schemas.microsoft.com/office/powerpoint/2010/main" val="708746900"/>
      </p:ext>
    </p:extLst>
  </p:cSld>
  <p:clrMapOvr>
    <a:masterClrMapping/>
  </p:clrMapOvr>
  <p:transition spd="slow">
    <p:push dir="u"/>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实战一</a:t>
            </a:r>
          </a:p>
        </p:txBody>
      </p:sp>
      <p:sp>
        <p:nvSpPr>
          <p:cNvPr id="3" name="文本框 2">
            <a:extLst>
              <a:ext uri="{FF2B5EF4-FFF2-40B4-BE49-F238E27FC236}">
                <a16:creationId xmlns:a16="http://schemas.microsoft.com/office/drawing/2014/main" id="{A34CB50E-0D93-CD56-7461-000B9FD26302}"/>
              </a:ext>
            </a:extLst>
          </p:cNvPr>
          <p:cNvSpPr txBox="1"/>
          <p:nvPr/>
        </p:nvSpPr>
        <p:spPr>
          <a:xfrm>
            <a:off x="1410940" y="802711"/>
            <a:ext cx="9284486" cy="3782895"/>
          </a:xfrm>
          <a:prstGeom prst="rect">
            <a:avLst/>
          </a:prstGeom>
          <a:noFill/>
        </p:spPr>
        <p:txBody>
          <a:bodyPr wrap="square" rtlCol="0">
            <a:spAutoFit/>
          </a:bodyPr>
          <a:lstStyle/>
          <a:p>
            <a:pPr>
              <a:lnSpc>
                <a:spcPct val="150000"/>
              </a:lnSpc>
            </a:pPr>
            <a:r>
              <a:rPr lang="zh-CN" altLang="en-US" b="1" dirty="0">
                <a:solidFill>
                  <a:srgbClr val="44546A"/>
                </a:solidFill>
                <a:latin typeface="+mn-ea"/>
              </a:rPr>
              <a:t>使用</a:t>
            </a:r>
            <a:r>
              <a:rPr lang="en-US" altLang="zh-CN" b="1" dirty="0">
                <a:solidFill>
                  <a:srgbClr val="44546A"/>
                </a:solidFill>
                <a:latin typeface="+mn-ea"/>
              </a:rPr>
              <a:t>SQL</a:t>
            </a:r>
            <a:r>
              <a:rPr lang="zh-CN" altLang="en-US" b="1" dirty="0">
                <a:solidFill>
                  <a:srgbClr val="44546A"/>
                </a:solidFill>
                <a:latin typeface="+mn-ea"/>
              </a:rPr>
              <a:t>语句，完成以下数据范围（过滤条件的）练习：</a:t>
            </a:r>
            <a:endParaRPr lang="en-US" altLang="zh-CN" b="1" dirty="0">
              <a:solidFill>
                <a:srgbClr val="44546A"/>
              </a:solidFill>
              <a:latin typeface="+mn-ea"/>
            </a:endParaRPr>
          </a:p>
          <a:p>
            <a:pPr>
              <a:lnSpc>
                <a:spcPct val="150000"/>
              </a:lnSpc>
            </a:pPr>
            <a:r>
              <a:rPr lang="en-US" altLang="zh-CN" dirty="0">
                <a:solidFill>
                  <a:srgbClr val="44546A"/>
                </a:solidFill>
                <a:latin typeface="+mn-ea"/>
              </a:rPr>
              <a:t>3</a:t>
            </a:r>
            <a:r>
              <a:rPr lang="zh-CN" altLang="en-US" dirty="0">
                <a:solidFill>
                  <a:srgbClr val="44546A"/>
                </a:solidFill>
                <a:latin typeface="+mn-ea"/>
              </a:rPr>
              <a:t>、查询表中，学院为“</a:t>
            </a:r>
            <a:r>
              <a:rPr lang="zh-CN" altLang="en-US" b="0" kern="1200" dirty="0">
                <a:solidFill>
                  <a:srgbClr val="44546A"/>
                </a:solidFill>
                <a:effectLst>
                  <a:innerShdw blurRad="76200" dist="63500" dir="18900000">
                    <a:prstClr val="black">
                      <a:alpha val="30000"/>
                    </a:prstClr>
                  </a:innerShdw>
                </a:effectLst>
                <a:latin typeface="+mn-ea"/>
                <a:cs typeface="+mn-ea"/>
              </a:rPr>
              <a:t>计算机科学与应用</a:t>
            </a:r>
            <a:r>
              <a:rPr lang="zh-CN" altLang="en-US" dirty="0">
                <a:solidFill>
                  <a:srgbClr val="44546A"/>
                </a:solidFill>
                <a:latin typeface="+mn-ea"/>
              </a:rPr>
              <a:t>”的学生记录；</a:t>
            </a:r>
            <a:endParaRPr lang="en-US" altLang="zh-CN" dirty="0">
              <a:solidFill>
                <a:srgbClr val="44546A"/>
              </a:solidFill>
              <a:latin typeface="+mn-ea"/>
            </a:endParaRPr>
          </a:p>
          <a:p>
            <a:pPr>
              <a:lnSpc>
                <a:spcPct val="150000"/>
              </a:lnSpc>
            </a:pPr>
            <a:endParaRPr lang="en-US" altLang="zh-CN" dirty="0">
              <a:solidFill>
                <a:srgbClr val="44546A"/>
              </a:solidFill>
              <a:latin typeface="+mn-ea"/>
            </a:endParaRPr>
          </a:p>
          <a:p>
            <a:pPr>
              <a:lnSpc>
                <a:spcPct val="150000"/>
              </a:lnSpc>
            </a:pPr>
            <a:endParaRPr lang="en-US" altLang="zh-CN" dirty="0">
              <a:solidFill>
                <a:srgbClr val="44546A"/>
              </a:solidFill>
              <a:latin typeface="+mn-ea"/>
            </a:endParaRPr>
          </a:p>
          <a:p>
            <a:pPr>
              <a:lnSpc>
                <a:spcPct val="150000"/>
              </a:lnSpc>
            </a:pPr>
            <a:endParaRPr lang="en-US" altLang="zh-CN" dirty="0">
              <a:solidFill>
                <a:srgbClr val="44546A"/>
              </a:solidFill>
              <a:latin typeface="+mn-ea"/>
            </a:endParaRPr>
          </a:p>
          <a:p>
            <a:pPr>
              <a:lnSpc>
                <a:spcPct val="150000"/>
              </a:lnSpc>
            </a:pPr>
            <a:endParaRPr lang="en-US" altLang="zh-CN" dirty="0">
              <a:solidFill>
                <a:srgbClr val="44546A"/>
              </a:solidFill>
              <a:latin typeface="+mn-ea"/>
            </a:endParaRPr>
          </a:p>
          <a:p>
            <a:pPr>
              <a:lnSpc>
                <a:spcPct val="150000"/>
              </a:lnSpc>
            </a:pPr>
            <a:endParaRPr lang="en-US" altLang="zh-CN" dirty="0">
              <a:solidFill>
                <a:srgbClr val="44546A"/>
              </a:solidFill>
              <a:latin typeface="+mn-ea"/>
            </a:endParaRPr>
          </a:p>
          <a:p>
            <a:pPr>
              <a:lnSpc>
                <a:spcPct val="150000"/>
              </a:lnSpc>
            </a:pPr>
            <a:r>
              <a:rPr lang="en-US" altLang="zh-CN" dirty="0">
                <a:solidFill>
                  <a:srgbClr val="44546A"/>
                </a:solidFill>
                <a:latin typeface="+mn-ea"/>
              </a:rPr>
              <a:t>4</a:t>
            </a:r>
            <a:r>
              <a:rPr lang="zh-CN" altLang="en-US" dirty="0">
                <a:solidFill>
                  <a:srgbClr val="44546A"/>
                </a:solidFill>
                <a:latin typeface="+mn-ea"/>
              </a:rPr>
              <a:t>、查询表中，男生、女生的数量；</a:t>
            </a:r>
            <a:endParaRPr lang="en-US" altLang="zh-CN" dirty="0">
              <a:solidFill>
                <a:srgbClr val="44546A"/>
              </a:solidFill>
              <a:latin typeface="+mn-ea"/>
            </a:endParaRPr>
          </a:p>
          <a:p>
            <a:pPr>
              <a:lnSpc>
                <a:spcPct val="150000"/>
              </a:lnSpc>
            </a:pPr>
            <a:endParaRPr lang="en-US" altLang="zh-CN" dirty="0">
              <a:solidFill>
                <a:srgbClr val="44546A"/>
              </a:solidFill>
              <a:latin typeface="+mn-ea"/>
            </a:endParaRPr>
          </a:p>
        </p:txBody>
      </p:sp>
      <p:pic>
        <p:nvPicPr>
          <p:cNvPr id="7" name="图片 6">
            <a:extLst>
              <a:ext uri="{FF2B5EF4-FFF2-40B4-BE49-F238E27FC236}">
                <a16:creationId xmlns:a16="http://schemas.microsoft.com/office/drawing/2014/main" id="{9BFE9C17-231F-55EF-CEE3-97BB994F561C}"/>
              </a:ext>
            </a:extLst>
          </p:cNvPr>
          <p:cNvPicPr>
            <a:picLocks noChangeAspect="1"/>
          </p:cNvPicPr>
          <p:nvPr/>
        </p:nvPicPr>
        <p:blipFill>
          <a:blip r:embed="rId3"/>
          <a:stretch>
            <a:fillRect/>
          </a:stretch>
        </p:blipFill>
        <p:spPr>
          <a:xfrm>
            <a:off x="1654090" y="1743575"/>
            <a:ext cx="3638045" cy="1550233"/>
          </a:xfrm>
          <a:prstGeom prst="rect">
            <a:avLst/>
          </a:prstGeom>
        </p:spPr>
      </p:pic>
      <p:pic>
        <p:nvPicPr>
          <p:cNvPr id="9" name="图片 8">
            <a:extLst>
              <a:ext uri="{FF2B5EF4-FFF2-40B4-BE49-F238E27FC236}">
                <a16:creationId xmlns:a16="http://schemas.microsoft.com/office/drawing/2014/main" id="{BF9103D3-F80E-B770-441C-94565F9BB904}"/>
              </a:ext>
            </a:extLst>
          </p:cNvPr>
          <p:cNvPicPr>
            <a:picLocks noChangeAspect="1"/>
          </p:cNvPicPr>
          <p:nvPr/>
        </p:nvPicPr>
        <p:blipFill>
          <a:blip r:embed="rId4"/>
          <a:stretch>
            <a:fillRect/>
          </a:stretch>
        </p:blipFill>
        <p:spPr>
          <a:xfrm>
            <a:off x="1654089" y="4234671"/>
            <a:ext cx="4188321" cy="1396107"/>
          </a:xfrm>
          <a:prstGeom prst="rect">
            <a:avLst/>
          </a:prstGeom>
        </p:spPr>
      </p:pic>
    </p:spTree>
    <p:extLst>
      <p:ext uri="{BB962C8B-B14F-4D97-AF65-F5344CB8AC3E}">
        <p14:creationId xmlns:p14="http://schemas.microsoft.com/office/powerpoint/2010/main" val="1761210777"/>
      </p:ext>
    </p:extLst>
  </p:cSld>
  <p:clrMapOvr>
    <a:masterClrMapping/>
  </p:clrMapOvr>
  <p:transition spd="slow">
    <p:push dir="u"/>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实战一</a:t>
            </a:r>
          </a:p>
        </p:txBody>
      </p:sp>
      <p:sp>
        <p:nvSpPr>
          <p:cNvPr id="3" name="文本框 2">
            <a:extLst>
              <a:ext uri="{FF2B5EF4-FFF2-40B4-BE49-F238E27FC236}">
                <a16:creationId xmlns:a16="http://schemas.microsoft.com/office/drawing/2014/main" id="{A34CB50E-0D93-CD56-7461-000B9FD26302}"/>
              </a:ext>
            </a:extLst>
          </p:cNvPr>
          <p:cNvSpPr txBox="1"/>
          <p:nvPr/>
        </p:nvSpPr>
        <p:spPr>
          <a:xfrm>
            <a:off x="1410940" y="802711"/>
            <a:ext cx="9284486" cy="874407"/>
          </a:xfrm>
          <a:prstGeom prst="rect">
            <a:avLst/>
          </a:prstGeom>
          <a:noFill/>
        </p:spPr>
        <p:txBody>
          <a:bodyPr wrap="square" rtlCol="0">
            <a:spAutoFit/>
          </a:bodyPr>
          <a:lstStyle/>
          <a:p>
            <a:pPr>
              <a:lnSpc>
                <a:spcPct val="150000"/>
              </a:lnSpc>
            </a:pPr>
            <a:r>
              <a:rPr lang="zh-CN" altLang="en-US" b="1" dirty="0">
                <a:solidFill>
                  <a:srgbClr val="44546A"/>
                </a:solidFill>
                <a:latin typeface="+mn-ea"/>
              </a:rPr>
              <a:t>使用</a:t>
            </a:r>
            <a:r>
              <a:rPr lang="en-US" altLang="zh-CN" b="1" dirty="0">
                <a:solidFill>
                  <a:srgbClr val="44546A"/>
                </a:solidFill>
                <a:latin typeface="+mn-ea"/>
              </a:rPr>
              <a:t>SQL</a:t>
            </a:r>
            <a:r>
              <a:rPr lang="zh-CN" altLang="en-US" b="1" dirty="0">
                <a:solidFill>
                  <a:srgbClr val="44546A"/>
                </a:solidFill>
                <a:latin typeface="+mn-ea"/>
              </a:rPr>
              <a:t>语句，完成以下数据范围（过滤条件的）练习：</a:t>
            </a:r>
            <a:endParaRPr lang="en-US" altLang="zh-CN" b="1" dirty="0">
              <a:solidFill>
                <a:srgbClr val="44546A"/>
              </a:solidFill>
              <a:latin typeface="+mn-ea"/>
            </a:endParaRPr>
          </a:p>
          <a:p>
            <a:pPr>
              <a:lnSpc>
                <a:spcPct val="150000"/>
              </a:lnSpc>
            </a:pPr>
            <a:r>
              <a:rPr lang="en-US" altLang="zh-CN" dirty="0">
                <a:solidFill>
                  <a:srgbClr val="44546A"/>
                </a:solidFill>
                <a:latin typeface="+mn-ea"/>
              </a:rPr>
              <a:t>5</a:t>
            </a:r>
            <a:r>
              <a:rPr lang="zh-CN" altLang="en-US" dirty="0">
                <a:solidFill>
                  <a:srgbClr val="44546A"/>
                </a:solidFill>
                <a:latin typeface="+mn-ea"/>
              </a:rPr>
              <a:t>、查询表中，学号为“</a:t>
            </a:r>
            <a:r>
              <a:rPr lang="en-US" altLang="zh-CN" b="0" kern="1200" dirty="0">
                <a:solidFill>
                  <a:srgbClr val="44546A"/>
                </a:solidFill>
                <a:effectLst>
                  <a:innerShdw blurRad="76200" dist="63500" dir="18900000">
                    <a:prstClr val="black">
                      <a:alpha val="30000"/>
                    </a:prstClr>
                  </a:innerShdw>
                </a:effectLst>
                <a:latin typeface="+mn-ea"/>
                <a:cs typeface="+mn-ea"/>
              </a:rPr>
              <a:t>J1721001</a:t>
            </a:r>
            <a:r>
              <a:rPr lang="zh-CN" altLang="en-US" dirty="0">
                <a:solidFill>
                  <a:srgbClr val="44546A"/>
                </a:solidFill>
                <a:latin typeface="+mn-ea"/>
              </a:rPr>
              <a:t>”的学生记录。</a:t>
            </a:r>
            <a:endParaRPr lang="zh-CN" altLang="en-US" sz="2000" dirty="0">
              <a:latin typeface="+mn-ea"/>
            </a:endParaRPr>
          </a:p>
        </p:txBody>
      </p:sp>
      <p:pic>
        <p:nvPicPr>
          <p:cNvPr id="5" name="图片 4">
            <a:extLst>
              <a:ext uri="{FF2B5EF4-FFF2-40B4-BE49-F238E27FC236}">
                <a16:creationId xmlns:a16="http://schemas.microsoft.com/office/drawing/2014/main" id="{3A22C1A9-5447-CE24-F8F1-BFE092952E77}"/>
              </a:ext>
            </a:extLst>
          </p:cNvPr>
          <p:cNvPicPr>
            <a:picLocks noChangeAspect="1"/>
          </p:cNvPicPr>
          <p:nvPr/>
        </p:nvPicPr>
        <p:blipFill>
          <a:blip r:embed="rId3"/>
          <a:stretch>
            <a:fillRect/>
          </a:stretch>
        </p:blipFill>
        <p:spPr>
          <a:xfrm>
            <a:off x="1544804" y="1762388"/>
            <a:ext cx="3884036" cy="1762865"/>
          </a:xfrm>
          <a:prstGeom prst="rect">
            <a:avLst/>
          </a:prstGeom>
        </p:spPr>
      </p:pic>
    </p:spTree>
    <p:extLst>
      <p:ext uri="{BB962C8B-B14F-4D97-AF65-F5344CB8AC3E}">
        <p14:creationId xmlns:p14="http://schemas.microsoft.com/office/powerpoint/2010/main" val="2601878826"/>
      </p:ext>
    </p:extLst>
  </p:cSld>
  <p:clrMapOvr>
    <a:masterClrMapping/>
  </p:clrMapOvr>
  <p:transition spd="slow">
    <p:push dir="u"/>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8774"/>
            <a:ext cx="8383148" cy="478155"/>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实战二</a:t>
            </a:r>
          </a:p>
        </p:txBody>
      </p:sp>
      <p:graphicFrame>
        <p:nvGraphicFramePr>
          <p:cNvPr id="3" name="表格 3">
            <a:extLst>
              <a:ext uri="{FF2B5EF4-FFF2-40B4-BE49-F238E27FC236}">
                <a16:creationId xmlns:a16="http://schemas.microsoft.com/office/drawing/2014/main" id="{26B90FEE-4C2D-CEA7-685C-747602B18AD2}"/>
              </a:ext>
            </a:extLst>
          </p:cNvPr>
          <p:cNvGraphicFramePr>
            <a:graphicFrameLocks noGrp="1"/>
          </p:cNvGraphicFramePr>
          <p:nvPr>
            <p:extLst>
              <p:ext uri="{D42A27DB-BD31-4B8C-83A1-F6EECF244321}">
                <p14:modId xmlns:p14="http://schemas.microsoft.com/office/powerpoint/2010/main" val="3440859937"/>
              </p:ext>
            </p:extLst>
          </p:nvPr>
        </p:nvGraphicFramePr>
        <p:xfrm>
          <a:off x="830178" y="1019209"/>
          <a:ext cx="10840454" cy="3606800"/>
        </p:xfrm>
        <a:graphic>
          <a:graphicData uri="http://schemas.openxmlformats.org/drawingml/2006/table">
            <a:tbl>
              <a:tblPr firstRow="1" bandRow="1">
                <a:tableStyleId>{5C22544A-7EE6-4342-B048-85BDC9FD1C3A}</a:tableStyleId>
              </a:tblPr>
              <a:tblGrid>
                <a:gridCol w="565485">
                  <a:extLst>
                    <a:ext uri="{9D8B030D-6E8A-4147-A177-3AD203B41FA5}">
                      <a16:colId xmlns:a16="http://schemas.microsoft.com/office/drawing/2014/main" val="3496677993"/>
                    </a:ext>
                  </a:extLst>
                </a:gridCol>
                <a:gridCol w="1191127">
                  <a:extLst>
                    <a:ext uri="{9D8B030D-6E8A-4147-A177-3AD203B41FA5}">
                      <a16:colId xmlns:a16="http://schemas.microsoft.com/office/drawing/2014/main" val="4228590842"/>
                    </a:ext>
                  </a:extLst>
                </a:gridCol>
                <a:gridCol w="1624263">
                  <a:extLst>
                    <a:ext uri="{9D8B030D-6E8A-4147-A177-3AD203B41FA5}">
                      <a16:colId xmlns:a16="http://schemas.microsoft.com/office/drawing/2014/main" val="749716494"/>
                    </a:ext>
                  </a:extLst>
                </a:gridCol>
                <a:gridCol w="1895222">
                  <a:extLst>
                    <a:ext uri="{9D8B030D-6E8A-4147-A177-3AD203B41FA5}">
                      <a16:colId xmlns:a16="http://schemas.microsoft.com/office/drawing/2014/main" val="2582477941"/>
                    </a:ext>
                  </a:extLst>
                </a:gridCol>
                <a:gridCol w="1640370">
                  <a:extLst>
                    <a:ext uri="{9D8B030D-6E8A-4147-A177-3AD203B41FA5}">
                      <a16:colId xmlns:a16="http://schemas.microsoft.com/office/drawing/2014/main" val="3623425141"/>
                    </a:ext>
                  </a:extLst>
                </a:gridCol>
                <a:gridCol w="1164388">
                  <a:extLst>
                    <a:ext uri="{9D8B030D-6E8A-4147-A177-3AD203B41FA5}">
                      <a16:colId xmlns:a16="http://schemas.microsoft.com/office/drawing/2014/main" val="4105474132"/>
                    </a:ext>
                  </a:extLst>
                </a:gridCol>
                <a:gridCol w="1152744">
                  <a:extLst>
                    <a:ext uri="{9D8B030D-6E8A-4147-A177-3AD203B41FA5}">
                      <a16:colId xmlns:a16="http://schemas.microsoft.com/office/drawing/2014/main" val="3895363773"/>
                    </a:ext>
                  </a:extLst>
                </a:gridCol>
                <a:gridCol w="1606855">
                  <a:extLst>
                    <a:ext uri="{9D8B030D-6E8A-4147-A177-3AD203B41FA5}">
                      <a16:colId xmlns:a16="http://schemas.microsoft.com/office/drawing/2014/main" val="2797586985"/>
                    </a:ext>
                  </a:extLst>
                </a:gridCol>
              </a:tblGrid>
              <a:tr h="370840">
                <a:tc>
                  <a:txBody>
                    <a:bodyPr/>
                    <a:lstStyle/>
                    <a:p>
                      <a:pPr algn="ctr"/>
                      <a:r>
                        <a:rPr lang="en-US" altLang="zh-CN" dirty="0"/>
                        <a:t>ID</a:t>
                      </a:r>
                      <a:endParaRPr lang="zh-CN" altLang="en-US" dirty="0"/>
                    </a:p>
                  </a:txBody>
                  <a:tcPr/>
                </a:tc>
                <a:tc>
                  <a:txBody>
                    <a:bodyPr/>
                    <a:lstStyle/>
                    <a:p>
                      <a:pPr algn="ctr"/>
                      <a:r>
                        <a:rPr lang="zh-CN" altLang="en-US" dirty="0"/>
                        <a:t>学员姓名</a:t>
                      </a:r>
                    </a:p>
                  </a:txBody>
                  <a:tcPr/>
                </a:tc>
                <a:tc>
                  <a:txBody>
                    <a:bodyPr/>
                    <a:lstStyle/>
                    <a:p>
                      <a:pPr algn="ctr"/>
                      <a:r>
                        <a:rPr lang="zh-CN" altLang="en-US" dirty="0"/>
                        <a:t>课程名称</a:t>
                      </a:r>
                    </a:p>
                  </a:txBody>
                  <a:tcPr/>
                </a:tc>
                <a:tc>
                  <a:txBody>
                    <a:bodyPr/>
                    <a:lstStyle/>
                    <a:p>
                      <a:pPr algn="ctr"/>
                      <a:r>
                        <a:rPr lang="zh-CN" altLang="en-US" dirty="0"/>
                        <a:t>购买课程时间</a:t>
                      </a:r>
                    </a:p>
                  </a:txBody>
                  <a:tcPr/>
                </a:tc>
                <a:tc>
                  <a:txBody>
                    <a:bodyPr/>
                    <a:lstStyle/>
                    <a:p>
                      <a:pPr algn="ctr"/>
                      <a:r>
                        <a:rPr lang="zh-CN" altLang="en-US" dirty="0"/>
                        <a:t>观看时长（秒）</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dirty="0"/>
                        <a:t>播放次数</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dirty="0"/>
                        <a:t>是否有效</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dirty="0"/>
                        <a:t>最近一次</a:t>
                      </a:r>
                      <a:endParaRPr lang="en-US" altLang="zh-CN" dirty="0"/>
                    </a:p>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dirty="0"/>
                        <a:t>模拟考成绩</a:t>
                      </a:r>
                    </a:p>
                  </a:txBody>
                  <a:tcPr/>
                </a:tc>
                <a:extLst>
                  <a:ext uri="{0D108BD9-81ED-4DB2-BD59-A6C34878D82A}">
                    <a16:rowId xmlns:a16="http://schemas.microsoft.com/office/drawing/2014/main" val="3293806698"/>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1</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张三丰</a:t>
                      </a: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数据采集（一）</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2023</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a:t>
                      </a: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10</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月</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3600</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5</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是</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90</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2838028252"/>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李静</a:t>
                      </a: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数据处理</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2022</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a:t>
                      </a: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11</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月</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3240</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4</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是</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85</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2120274918"/>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3</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张明</a:t>
                      </a: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数据标注工程</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2023</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a:t>
                      </a: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11</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月</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1120</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3</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是</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72</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2068309636"/>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4</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王丽</a:t>
                      </a: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数据分析</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2023</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a:t>
                      </a: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11</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月</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56</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否</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60</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3902450723"/>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5</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李大成</a:t>
                      </a: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数据采集（一）</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2023</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a:t>
                      </a: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11</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月</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8200</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6</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是</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98</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3536090631"/>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6</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张自云</a:t>
                      </a: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数据采集（二）</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2023</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a:t>
                      </a: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12</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月</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450</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1</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是</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2147880869"/>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7</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刘芳芳</a:t>
                      </a: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机器学习</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2023</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a:t>
                      </a: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11</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月</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3980</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是</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40</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2763080341"/>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8</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赵明明</a:t>
                      </a: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机器学习</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2023</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年</a:t>
                      </a: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11</a:t>
                      </a: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月</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2500</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4</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是</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80</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1414481777"/>
                  </a:ext>
                </a:extLst>
              </a:tr>
            </a:tbl>
          </a:graphicData>
        </a:graphic>
      </p:graphicFrame>
      <p:graphicFrame>
        <p:nvGraphicFramePr>
          <p:cNvPr id="5" name="表格 8">
            <a:extLst>
              <a:ext uri="{FF2B5EF4-FFF2-40B4-BE49-F238E27FC236}">
                <a16:creationId xmlns:a16="http://schemas.microsoft.com/office/drawing/2014/main" id="{A52DE5DA-6EB0-7283-DE6E-2321C36ABF5C}"/>
              </a:ext>
            </a:extLst>
          </p:cNvPr>
          <p:cNvGraphicFramePr>
            <a:graphicFrameLocks noGrp="1"/>
          </p:cNvGraphicFramePr>
          <p:nvPr>
            <p:extLst>
              <p:ext uri="{D42A27DB-BD31-4B8C-83A1-F6EECF244321}">
                <p14:modId xmlns:p14="http://schemas.microsoft.com/office/powerpoint/2010/main" val="2796209856"/>
              </p:ext>
            </p:extLst>
          </p:nvPr>
        </p:nvGraphicFramePr>
        <p:xfrm>
          <a:off x="1816768" y="4989495"/>
          <a:ext cx="9083842" cy="1698591"/>
        </p:xfrm>
        <a:graphic>
          <a:graphicData uri="http://schemas.openxmlformats.org/drawingml/2006/table">
            <a:tbl>
              <a:tblPr firstRow="1" bandRow="1">
                <a:tableStyleId>{5C22544A-7EE6-4342-B048-85BDC9FD1C3A}</a:tableStyleId>
              </a:tblPr>
              <a:tblGrid>
                <a:gridCol w="1732548">
                  <a:extLst>
                    <a:ext uri="{9D8B030D-6E8A-4147-A177-3AD203B41FA5}">
                      <a16:colId xmlns:a16="http://schemas.microsoft.com/office/drawing/2014/main" val="78361537"/>
                    </a:ext>
                  </a:extLst>
                </a:gridCol>
                <a:gridCol w="1093232">
                  <a:extLst>
                    <a:ext uri="{9D8B030D-6E8A-4147-A177-3AD203B41FA5}">
                      <a16:colId xmlns:a16="http://schemas.microsoft.com/office/drawing/2014/main" val="1683985537"/>
                    </a:ext>
                  </a:extLst>
                </a:gridCol>
                <a:gridCol w="1748262">
                  <a:extLst>
                    <a:ext uri="{9D8B030D-6E8A-4147-A177-3AD203B41FA5}">
                      <a16:colId xmlns:a16="http://schemas.microsoft.com/office/drawing/2014/main" val="2529301082"/>
                    </a:ext>
                  </a:extLst>
                </a:gridCol>
                <a:gridCol w="1803610">
                  <a:extLst>
                    <a:ext uri="{9D8B030D-6E8A-4147-A177-3AD203B41FA5}">
                      <a16:colId xmlns:a16="http://schemas.microsoft.com/office/drawing/2014/main" val="3790458312"/>
                    </a:ext>
                  </a:extLst>
                </a:gridCol>
                <a:gridCol w="1230085">
                  <a:extLst>
                    <a:ext uri="{9D8B030D-6E8A-4147-A177-3AD203B41FA5}">
                      <a16:colId xmlns:a16="http://schemas.microsoft.com/office/drawing/2014/main" val="1325064188"/>
                    </a:ext>
                  </a:extLst>
                </a:gridCol>
                <a:gridCol w="1476105">
                  <a:extLst>
                    <a:ext uri="{9D8B030D-6E8A-4147-A177-3AD203B41FA5}">
                      <a16:colId xmlns:a16="http://schemas.microsoft.com/office/drawing/2014/main" val="831127226"/>
                    </a:ext>
                  </a:extLst>
                </a:gridCol>
              </a:tblGrid>
              <a:tr h="377791">
                <a:tc>
                  <a:txBody>
                    <a:bodyPr/>
                    <a:lstStyle/>
                    <a:p>
                      <a:pPr algn="ctr"/>
                      <a:r>
                        <a:rPr lang="zh-CN" altLang="en-US" dirty="0"/>
                        <a:t>字段</a:t>
                      </a:r>
                    </a:p>
                  </a:txBody>
                  <a:tcPr/>
                </a:tc>
                <a:tc>
                  <a:txBody>
                    <a:bodyPr/>
                    <a:lstStyle/>
                    <a:p>
                      <a:pPr algn="ctr"/>
                      <a:r>
                        <a:rPr lang="zh-CN" altLang="en-US" dirty="0"/>
                        <a:t>注释</a:t>
                      </a:r>
                    </a:p>
                  </a:txBody>
                  <a:tcPr/>
                </a:tc>
                <a:tc>
                  <a:txBody>
                    <a:bodyPr/>
                    <a:lstStyle/>
                    <a:p>
                      <a:pPr algn="ctr"/>
                      <a:r>
                        <a:rPr lang="zh-CN" altLang="en-US" dirty="0"/>
                        <a:t>字段</a:t>
                      </a:r>
                    </a:p>
                  </a:txBody>
                  <a:tcPr/>
                </a:tc>
                <a:tc>
                  <a:txBody>
                    <a:bodyPr/>
                    <a:lstStyle/>
                    <a:p>
                      <a:pPr algn="ctr"/>
                      <a:r>
                        <a:rPr lang="zh-CN" altLang="en-US" dirty="0"/>
                        <a:t>注释</a:t>
                      </a:r>
                    </a:p>
                  </a:txBody>
                  <a:tcPr/>
                </a:tc>
                <a:tc>
                  <a:txBody>
                    <a:bodyPr/>
                    <a:lstStyle/>
                    <a:p>
                      <a:pPr algn="ctr"/>
                      <a:r>
                        <a:rPr lang="zh-CN" altLang="en-US" dirty="0"/>
                        <a:t>字段</a:t>
                      </a:r>
                    </a:p>
                  </a:txBody>
                  <a:tcPr/>
                </a:tc>
                <a:tc>
                  <a:txBody>
                    <a:bodyPr/>
                    <a:lstStyle/>
                    <a:p>
                      <a:pPr algn="ctr"/>
                      <a:r>
                        <a:rPr lang="zh-CN" altLang="en-US" dirty="0"/>
                        <a:t>注释</a:t>
                      </a:r>
                    </a:p>
                  </a:txBody>
                  <a:tcPr/>
                </a:tc>
                <a:extLst>
                  <a:ext uri="{0D108BD9-81ED-4DB2-BD59-A6C34878D82A}">
                    <a16:rowId xmlns:a16="http://schemas.microsoft.com/office/drawing/2014/main" val="551292261"/>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ID</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ID</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buy_time</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购买课程时间</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valid</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是否有效</a:t>
                      </a:r>
                    </a:p>
                  </a:txBody>
                  <a:tcPr/>
                </a:tc>
                <a:extLst>
                  <a:ext uri="{0D108BD9-81ED-4DB2-BD59-A6C34878D82A}">
                    <a16:rowId xmlns:a16="http://schemas.microsoft.com/office/drawing/2014/main" val="2711493460"/>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name</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学员姓名</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view_duration</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观看时长（秒）</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last_score</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最近一次</a:t>
                      </a:r>
                      <a:endParaRPr lang="en-US" altLang="zh-CN" sz="1600" b="0" kern="1200" dirty="0">
                        <a:solidFill>
                          <a:srgbClr val="44546A"/>
                        </a:solidFill>
                        <a:effectLst>
                          <a:innerShdw blurRad="76200" dist="63500" dir="18900000">
                            <a:prstClr val="black">
                              <a:alpha val="30000"/>
                            </a:prstClr>
                          </a:innerShdw>
                        </a:effectLst>
                        <a:latin typeface="+mn-ea"/>
                        <a:ea typeface="+mn-ea"/>
                        <a:cs typeface="+mn-ea"/>
                      </a:endParaRPr>
                    </a:p>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模拟考成绩</a:t>
                      </a:r>
                    </a:p>
                  </a:txBody>
                  <a:tcPr/>
                </a:tc>
                <a:extLst>
                  <a:ext uri="{0D108BD9-81ED-4DB2-BD59-A6C34878D82A}">
                    <a16:rowId xmlns:a16="http://schemas.microsoft.com/office/drawing/2014/main" val="1545232342"/>
                  </a:ext>
                </a:extLst>
              </a:tr>
              <a:tr h="370840">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course_name</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课程名称</a:t>
                      </a:r>
                    </a:p>
                  </a:txBody>
                  <a:tcPr/>
                </a:tc>
                <a:tc>
                  <a:txBody>
                    <a:bodyPr/>
                    <a:lstStyle/>
                    <a:p>
                      <a:pPr algn="ctr"/>
                      <a:r>
                        <a:rPr lang="en-US" altLang="zh-CN" sz="1600" b="0" kern="1200" dirty="0">
                          <a:solidFill>
                            <a:srgbClr val="44546A"/>
                          </a:solidFill>
                          <a:effectLst>
                            <a:innerShdw blurRad="76200" dist="63500" dir="18900000">
                              <a:prstClr val="black">
                                <a:alpha val="30000"/>
                              </a:prstClr>
                            </a:innerShdw>
                          </a:effectLst>
                          <a:latin typeface="+mn-ea"/>
                          <a:ea typeface="+mn-ea"/>
                          <a:cs typeface="+mn-ea"/>
                        </a:rPr>
                        <a:t>play_times</a:t>
                      </a: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600" b="0" kern="1200" dirty="0">
                          <a:solidFill>
                            <a:srgbClr val="44546A"/>
                          </a:solidFill>
                          <a:effectLst>
                            <a:innerShdw blurRad="76200" dist="63500" dir="18900000">
                              <a:prstClr val="black">
                                <a:alpha val="30000"/>
                              </a:prstClr>
                            </a:innerShdw>
                          </a:effectLst>
                          <a:latin typeface="+mn-ea"/>
                          <a:ea typeface="+mn-ea"/>
                          <a:cs typeface="+mn-ea"/>
                        </a:rPr>
                        <a:t>播放次数</a:t>
                      </a:r>
                    </a:p>
                  </a:txBody>
                  <a:tcPr/>
                </a:tc>
                <a:tc>
                  <a:txBody>
                    <a:bodyPr/>
                    <a:lstStyle/>
                    <a:p>
                      <a:pPr algn="ct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endParaRPr lang="zh-CN" altLang="en-US" sz="1600" b="0" kern="1200" dirty="0">
                        <a:solidFill>
                          <a:srgbClr val="44546A"/>
                        </a:solidFill>
                        <a:effectLst>
                          <a:innerShdw blurRad="76200" dist="63500" dir="18900000">
                            <a:prstClr val="black">
                              <a:alpha val="30000"/>
                            </a:prstClr>
                          </a:innerShdw>
                        </a:effectLst>
                        <a:latin typeface="+mn-ea"/>
                        <a:ea typeface="+mn-ea"/>
                        <a:cs typeface="+mn-ea"/>
                      </a:endParaRPr>
                    </a:p>
                  </a:txBody>
                  <a:tcPr/>
                </a:tc>
                <a:extLst>
                  <a:ext uri="{0D108BD9-81ED-4DB2-BD59-A6C34878D82A}">
                    <a16:rowId xmlns:a16="http://schemas.microsoft.com/office/drawing/2014/main" val="1628246463"/>
                  </a:ext>
                </a:extLst>
              </a:tr>
            </a:tbl>
          </a:graphicData>
        </a:graphic>
      </p:graphicFrame>
    </p:spTree>
    <p:extLst>
      <p:ext uri="{BB962C8B-B14F-4D97-AF65-F5344CB8AC3E}">
        <p14:creationId xmlns:p14="http://schemas.microsoft.com/office/powerpoint/2010/main" val="16921187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实战二</a:t>
            </a:r>
          </a:p>
        </p:txBody>
      </p:sp>
      <p:sp>
        <p:nvSpPr>
          <p:cNvPr id="4" name="文本框 3">
            <a:extLst>
              <a:ext uri="{FF2B5EF4-FFF2-40B4-BE49-F238E27FC236}">
                <a16:creationId xmlns:a16="http://schemas.microsoft.com/office/drawing/2014/main" id="{13968534-A6C8-3EAF-CE04-57CDDB203CFD}"/>
              </a:ext>
            </a:extLst>
          </p:cNvPr>
          <p:cNvSpPr txBox="1"/>
          <p:nvPr/>
        </p:nvSpPr>
        <p:spPr>
          <a:xfrm>
            <a:off x="1410940" y="1001127"/>
            <a:ext cx="9284486" cy="1705403"/>
          </a:xfrm>
          <a:prstGeom prst="rect">
            <a:avLst/>
          </a:prstGeom>
          <a:noFill/>
        </p:spPr>
        <p:txBody>
          <a:bodyPr wrap="square" rtlCol="0">
            <a:spAutoFit/>
          </a:bodyPr>
          <a:lstStyle/>
          <a:p>
            <a:pPr>
              <a:lnSpc>
                <a:spcPct val="150000"/>
              </a:lnSpc>
            </a:pPr>
            <a:r>
              <a:rPr lang="zh-CN" altLang="en-US" b="1" dirty="0">
                <a:solidFill>
                  <a:srgbClr val="44546A"/>
                </a:solidFill>
                <a:latin typeface="+mn-ea"/>
              </a:rPr>
              <a:t>数据库信息：</a:t>
            </a:r>
            <a:endParaRPr lang="en-US" altLang="zh-CN" b="1" dirty="0">
              <a:solidFill>
                <a:srgbClr val="44546A"/>
              </a:solidFill>
              <a:latin typeface="+mn-ea"/>
            </a:endParaRPr>
          </a:p>
          <a:p>
            <a:pPr>
              <a:lnSpc>
                <a:spcPct val="150000"/>
              </a:lnSpc>
            </a:pPr>
            <a:r>
              <a:rPr lang="zh-CN" altLang="en-US" dirty="0">
                <a:solidFill>
                  <a:srgbClr val="44546A"/>
                </a:solidFill>
                <a:latin typeface="+mn-ea"/>
              </a:rPr>
              <a:t>数据库表名：</a:t>
            </a:r>
            <a:r>
              <a:rPr lang="en-US" altLang="zh-CN" dirty="0">
                <a:solidFill>
                  <a:srgbClr val="44546A"/>
                </a:solidFill>
                <a:latin typeface="+mn-ea"/>
              </a:rPr>
              <a:t>stu_learning_info</a:t>
            </a:r>
            <a:r>
              <a:rPr lang="zh-CN" altLang="en-US" dirty="0">
                <a:solidFill>
                  <a:srgbClr val="44546A"/>
                </a:solidFill>
                <a:latin typeface="+mn-ea"/>
              </a:rPr>
              <a:t>，别名：</a:t>
            </a:r>
            <a:r>
              <a:rPr lang="en-US" altLang="zh-CN" dirty="0">
                <a:solidFill>
                  <a:srgbClr val="44546A"/>
                </a:solidFill>
                <a:latin typeface="+mn-ea"/>
              </a:rPr>
              <a:t>s</a:t>
            </a:r>
            <a:r>
              <a:rPr lang="zh-CN" altLang="en-US" dirty="0">
                <a:solidFill>
                  <a:srgbClr val="44546A"/>
                </a:solidFill>
                <a:latin typeface="+mn-ea"/>
              </a:rPr>
              <a:t>；</a:t>
            </a:r>
            <a:endParaRPr lang="en-US" altLang="zh-CN" dirty="0">
              <a:solidFill>
                <a:srgbClr val="44546A"/>
              </a:solidFill>
              <a:latin typeface="+mn-ea"/>
            </a:endParaRPr>
          </a:p>
          <a:p>
            <a:pPr>
              <a:lnSpc>
                <a:spcPct val="150000"/>
              </a:lnSpc>
            </a:pPr>
            <a:r>
              <a:rPr lang="zh-CN" altLang="zh-CN" dirty="0">
                <a:solidFill>
                  <a:srgbClr val="44546A"/>
                </a:solidFill>
                <a:latin typeface="+mn-ea"/>
              </a:rPr>
              <a:t>根据表定义字段名与别名</a:t>
            </a:r>
            <a:r>
              <a:rPr lang="zh-CN" altLang="en-US" dirty="0">
                <a:solidFill>
                  <a:srgbClr val="44546A"/>
                </a:solidFill>
                <a:latin typeface="+mn-ea"/>
              </a:rPr>
              <a:t>：</a:t>
            </a:r>
            <a:endParaRPr lang="en-US" altLang="zh-CN" dirty="0">
              <a:solidFill>
                <a:srgbClr val="44546A"/>
              </a:solidFill>
              <a:latin typeface="+mn-ea"/>
            </a:endParaRPr>
          </a:p>
          <a:p>
            <a:pPr>
              <a:lnSpc>
                <a:spcPct val="150000"/>
              </a:lnSpc>
            </a:pPr>
            <a:endParaRPr lang="en-US" altLang="zh-CN" b="1" dirty="0">
              <a:solidFill>
                <a:srgbClr val="44546A"/>
              </a:solidFill>
              <a:latin typeface="微软雅黑" panose="020B0503020204020204" pitchFamily="34" charset="-122"/>
            </a:endParaRPr>
          </a:p>
        </p:txBody>
      </p:sp>
      <p:graphicFrame>
        <p:nvGraphicFramePr>
          <p:cNvPr id="5" name="表格 5">
            <a:extLst>
              <a:ext uri="{FF2B5EF4-FFF2-40B4-BE49-F238E27FC236}">
                <a16:creationId xmlns:a16="http://schemas.microsoft.com/office/drawing/2014/main" id="{0B03280C-A1D7-EB7A-D81B-56E066D9E8FF}"/>
              </a:ext>
            </a:extLst>
          </p:cNvPr>
          <p:cNvGraphicFramePr>
            <a:graphicFrameLocks noGrp="1"/>
          </p:cNvGraphicFramePr>
          <p:nvPr>
            <p:extLst>
              <p:ext uri="{D42A27DB-BD31-4B8C-83A1-F6EECF244321}">
                <p14:modId xmlns:p14="http://schemas.microsoft.com/office/powerpoint/2010/main" val="4070166764"/>
              </p:ext>
            </p:extLst>
          </p:nvPr>
        </p:nvGraphicFramePr>
        <p:xfrm>
          <a:off x="1496573" y="2512371"/>
          <a:ext cx="4711722" cy="2595880"/>
        </p:xfrm>
        <a:graphic>
          <a:graphicData uri="http://schemas.openxmlformats.org/drawingml/2006/table">
            <a:tbl>
              <a:tblPr firstRow="1" bandRow="1">
                <a:tableStyleId>{5C22544A-7EE6-4342-B048-85BDC9FD1C3A}</a:tableStyleId>
              </a:tblPr>
              <a:tblGrid>
                <a:gridCol w="2136964">
                  <a:extLst>
                    <a:ext uri="{9D8B030D-6E8A-4147-A177-3AD203B41FA5}">
                      <a16:colId xmlns:a16="http://schemas.microsoft.com/office/drawing/2014/main" val="1947504123"/>
                    </a:ext>
                  </a:extLst>
                </a:gridCol>
                <a:gridCol w="2574758">
                  <a:extLst>
                    <a:ext uri="{9D8B030D-6E8A-4147-A177-3AD203B41FA5}">
                      <a16:colId xmlns:a16="http://schemas.microsoft.com/office/drawing/2014/main" val="67029785"/>
                    </a:ext>
                  </a:extLst>
                </a:gridCol>
              </a:tblGrid>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dirty="0"/>
                        <a:t>字段名</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dirty="0"/>
                        <a:t>别名</a:t>
                      </a:r>
                    </a:p>
                  </a:txBody>
                  <a:tcPr/>
                </a:tc>
                <a:extLst>
                  <a:ext uri="{0D108BD9-81ED-4DB2-BD59-A6C34878D82A}">
                    <a16:rowId xmlns:a16="http://schemas.microsoft.com/office/drawing/2014/main" val="2884660720"/>
                  </a:ext>
                </a:extLst>
              </a:tr>
              <a:tr h="370840">
                <a:tc>
                  <a:txBody>
                    <a:bodyPr/>
                    <a:lstStyle/>
                    <a:p>
                      <a:pPr algn="ct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name</a:t>
                      </a:r>
                      <a:endParaRPr lang="zh-CN" altLang="en-US" dirty="0"/>
                    </a:p>
                  </a:txBody>
                  <a:tcPr/>
                </a:tc>
                <a:tc>
                  <a:txBody>
                    <a:bodyPr/>
                    <a:lstStyle/>
                    <a:p>
                      <a:pPr algn="ctr"/>
                      <a:r>
                        <a:rPr lang="zh-CN" altLang="en-US" sz="1800" b="0" kern="1200" dirty="0">
                          <a:solidFill>
                            <a:srgbClr val="44546A"/>
                          </a:solidFill>
                          <a:effectLst>
                            <a:innerShdw blurRad="76200" dist="63500" dir="18900000">
                              <a:prstClr val="black">
                                <a:alpha val="30000"/>
                              </a:prstClr>
                            </a:innerShdw>
                          </a:effectLst>
                          <a:latin typeface="+mn-ea"/>
                          <a:ea typeface="+mn-ea"/>
                          <a:cs typeface="+mn-ea"/>
                        </a:rPr>
                        <a:t>学生姓名</a:t>
                      </a:r>
                    </a:p>
                  </a:txBody>
                  <a:tcPr/>
                </a:tc>
                <a:extLst>
                  <a:ext uri="{0D108BD9-81ED-4DB2-BD59-A6C34878D82A}">
                    <a16:rowId xmlns:a16="http://schemas.microsoft.com/office/drawing/2014/main" val="1570552877"/>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course_name</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800" b="0" kern="1200" dirty="0">
                          <a:solidFill>
                            <a:srgbClr val="44546A"/>
                          </a:solidFill>
                          <a:effectLst>
                            <a:innerShdw blurRad="76200" dist="63500" dir="18900000">
                              <a:prstClr val="black">
                                <a:alpha val="30000"/>
                              </a:prstClr>
                            </a:innerShdw>
                          </a:effectLst>
                          <a:latin typeface="+mn-ea"/>
                          <a:ea typeface="+mn-ea"/>
                          <a:cs typeface="+mn-ea"/>
                        </a:rPr>
                        <a:t>课程</a:t>
                      </a:r>
                    </a:p>
                  </a:txBody>
                  <a:tcPr/>
                </a:tc>
                <a:extLst>
                  <a:ext uri="{0D108BD9-81ED-4DB2-BD59-A6C34878D82A}">
                    <a16:rowId xmlns:a16="http://schemas.microsoft.com/office/drawing/2014/main" val="3372069451"/>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buy_time</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800" b="0" kern="1200" dirty="0">
                          <a:solidFill>
                            <a:srgbClr val="44546A"/>
                          </a:solidFill>
                          <a:effectLst>
                            <a:innerShdw blurRad="76200" dist="63500" dir="18900000">
                              <a:prstClr val="black">
                                <a:alpha val="30000"/>
                              </a:prstClr>
                            </a:innerShdw>
                          </a:effectLst>
                          <a:latin typeface="+mn-ea"/>
                          <a:ea typeface="+mn-ea"/>
                          <a:cs typeface="+mn-ea"/>
                        </a:rPr>
                        <a:t>购买课程时间</a:t>
                      </a:r>
                    </a:p>
                  </a:txBody>
                  <a:tcPr/>
                </a:tc>
                <a:extLst>
                  <a:ext uri="{0D108BD9-81ED-4DB2-BD59-A6C34878D82A}">
                    <a16:rowId xmlns:a16="http://schemas.microsoft.com/office/drawing/2014/main" val="4106695454"/>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view_duration</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800" b="0" kern="1200" dirty="0">
                          <a:solidFill>
                            <a:srgbClr val="44546A"/>
                          </a:solidFill>
                          <a:effectLst>
                            <a:innerShdw blurRad="76200" dist="63500" dir="18900000">
                              <a:prstClr val="black">
                                <a:alpha val="30000"/>
                              </a:prstClr>
                            </a:innerShdw>
                          </a:effectLst>
                          <a:latin typeface="+mn-ea"/>
                          <a:ea typeface="+mn-ea"/>
                          <a:cs typeface="+mn-ea"/>
                        </a:rPr>
                        <a:t>观看时长</a:t>
                      </a:r>
                    </a:p>
                  </a:txBody>
                  <a:tcPr/>
                </a:tc>
                <a:extLst>
                  <a:ext uri="{0D108BD9-81ED-4DB2-BD59-A6C34878D82A}">
                    <a16:rowId xmlns:a16="http://schemas.microsoft.com/office/drawing/2014/main" val="870376923"/>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play_times</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sz="1800" b="0" kern="1200" dirty="0">
                          <a:solidFill>
                            <a:srgbClr val="44546A"/>
                          </a:solidFill>
                          <a:effectLst>
                            <a:innerShdw blurRad="76200" dist="63500" dir="18900000">
                              <a:prstClr val="black">
                                <a:alpha val="30000"/>
                              </a:prstClr>
                            </a:innerShdw>
                          </a:effectLst>
                          <a:latin typeface="+mn-ea"/>
                          <a:ea typeface="+mn-ea"/>
                          <a:cs typeface="+mn-ea"/>
                        </a:rPr>
                        <a:t>累计播放次数</a:t>
                      </a:r>
                    </a:p>
                  </a:txBody>
                  <a:tcPr/>
                </a:tc>
                <a:extLst>
                  <a:ext uri="{0D108BD9-81ED-4DB2-BD59-A6C34878D82A}">
                    <a16:rowId xmlns:a16="http://schemas.microsoft.com/office/drawing/2014/main" val="3177932296"/>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last_score</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sz="1800" b="0" kern="1200" dirty="0">
                          <a:solidFill>
                            <a:srgbClr val="44546A"/>
                          </a:solidFill>
                          <a:effectLst>
                            <a:innerShdw blurRad="76200" dist="63500" dir="18900000">
                              <a:prstClr val="black">
                                <a:alpha val="30000"/>
                              </a:prstClr>
                            </a:innerShdw>
                          </a:effectLst>
                          <a:latin typeface="+mn-ea"/>
                          <a:ea typeface="+mn-ea"/>
                          <a:cs typeface="+mn-ea"/>
                        </a:rPr>
                        <a:t>最近的模拟考成绩</a:t>
                      </a:r>
                      <a:endParaRPr lang="zh-CN" altLang="en-US" dirty="0"/>
                    </a:p>
                  </a:txBody>
                  <a:tcPr/>
                </a:tc>
                <a:extLst>
                  <a:ext uri="{0D108BD9-81ED-4DB2-BD59-A6C34878D82A}">
                    <a16:rowId xmlns:a16="http://schemas.microsoft.com/office/drawing/2014/main" val="2957430767"/>
                  </a:ext>
                </a:extLst>
              </a:tr>
            </a:tbl>
          </a:graphicData>
        </a:graphic>
      </p:graphicFrame>
      <p:sp>
        <p:nvSpPr>
          <p:cNvPr id="6" name="文本框 5">
            <a:extLst>
              <a:ext uri="{FF2B5EF4-FFF2-40B4-BE49-F238E27FC236}">
                <a16:creationId xmlns:a16="http://schemas.microsoft.com/office/drawing/2014/main" id="{A226D00A-C809-CF27-D001-E15396A05925}"/>
              </a:ext>
            </a:extLst>
          </p:cNvPr>
          <p:cNvSpPr txBox="1"/>
          <p:nvPr/>
        </p:nvSpPr>
        <p:spPr>
          <a:xfrm>
            <a:off x="1664802" y="5818272"/>
            <a:ext cx="8776762" cy="369332"/>
          </a:xfrm>
          <a:prstGeom prst="rect">
            <a:avLst/>
          </a:prstGeom>
          <a:noFill/>
        </p:spPr>
        <p:txBody>
          <a:bodyPr wrap="none" rtlCol="0">
            <a:spAutoFit/>
          </a:bodyPr>
          <a:lstStyle/>
          <a:p>
            <a:r>
              <a:rPr lang="zh-CN" altLang="en-US" dirty="0">
                <a:solidFill>
                  <a:srgbClr val="44546A"/>
                </a:solidFill>
                <a:latin typeface="+mn-ea"/>
              </a:rPr>
              <a:t>别名，可以是英文，也可以是中文；简单理解，可以 </a:t>
            </a:r>
            <a:r>
              <a:rPr lang="en-US" altLang="zh-CN" dirty="0">
                <a:solidFill>
                  <a:srgbClr val="44546A"/>
                </a:solidFill>
                <a:latin typeface="+mn-ea"/>
              </a:rPr>
              <a:t>as </a:t>
            </a:r>
            <a:r>
              <a:rPr lang="zh-CN" altLang="en-US" dirty="0">
                <a:solidFill>
                  <a:srgbClr val="44546A"/>
                </a:solidFill>
                <a:latin typeface="+mn-ea"/>
              </a:rPr>
              <a:t>为英文，也可以 </a:t>
            </a:r>
            <a:r>
              <a:rPr lang="en-US" altLang="zh-CN" dirty="0">
                <a:solidFill>
                  <a:srgbClr val="44546A"/>
                </a:solidFill>
                <a:latin typeface="+mn-ea"/>
              </a:rPr>
              <a:t>as</a:t>
            </a:r>
            <a:r>
              <a:rPr lang="zh-CN" altLang="en-US" dirty="0">
                <a:solidFill>
                  <a:srgbClr val="44546A"/>
                </a:solidFill>
                <a:latin typeface="+mn-ea"/>
              </a:rPr>
              <a:t> 为中文。</a:t>
            </a:r>
          </a:p>
        </p:txBody>
      </p:sp>
    </p:spTree>
    <p:extLst>
      <p:ext uri="{BB962C8B-B14F-4D97-AF65-F5344CB8AC3E}">
        <p14:creationId xmlns:p14="http://schemas.microsoft.com/office/powerpoint/2010/main" val="14744807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实战二</a:t>
            </a:r>
          </a:p>
        </p:txBody>
      </p:sp>
      <p:sp>
        <p:nvSpPr>
          <p:cNvPr id="4" name="文本框 3">
            <a:extLst>
              <a:ext uri="{FF2B5EF4-FFF2-40B4-BE49-F238E27FC236}">
                <a16:creationId xmlns:a16="http://schemas.microsoft.com/office/drawing/2014/main" id="{13968534-A6C8-3EAF-CE04-57CDDB203CFD}"/>
              </a:ext>
            </a:extLst>
          </p:cNvPr>
          <p:cNvSpPr txBox="1"/>
          <p:nvPr/>
        </p:nvSpPr>
        <p:spPr>
          <a:xfrm>
            <a:off x="1410940" y="1001127"/>
            <a:ext cx="9284486" cy="1705403"/>
          </a:xfrm>
          <a:prstGeom prst="rect">
            <a:avLst/>
          </a:prstGeom>
          <a:noFill/>
        </p:spPr>
        <p:txBody>
          <a:bodyPr wrap="square" rtlCol="0">
            <a:spAutoFit/>
          </a:bodyPr>
          <a:lstStyle/>
          <a:p>
            <a:pPr>
              <a:lnSpc>
                <a:spcPct val="150000"/>
              </a:lnSpc>
            </a:pPr>
            <a:r>
              <a:rPr lang="zh-CN" altLang="en-US" b="1" dirty="0">
                <a:solidFill>
                  <a:srgbClr val="44546A"/>
                </a:solidFill>
                <a:latin typeface="+mn-ea"/>
              </a:rPr>
              <a:t>数据库信息：</a:t>
            </a:r>
            <a:endParaRPr lang="en-US" altLang="zh-CN" b="1" dirty="0">
              <a:solidFill>
                <a:srgbClr val="44546A"/>
              </a:solidFill>
              <a:latin typeface="+mn-ea"/>
            </a:endParaRPr>
          </a:p>
          <a:p>
            <a:pPr>
              <a:lnSpc>
                <a:spcPct val="150000"/>
              </a:lnSpc>
            </a:pPr>
            <a:r>
              <a:rPr lang="zh-CN" altLang="en-US" dirty="0">
                <a:solidFill>
                  <a:srgbClr val="44546A"/>
                </a:solidFill>
                <a:latin typeface="+mn-ea"/>
              </a:rPr>
              <a:t>数据库表名：</a:t>
            </a:r>
            <a:r>
              <a:rPr lang="en-US" altLang="zh-CN" dirty="0">
                <a:solidFill>
                  <a:srgbClr val="44546A"/>
                </a:solidFill>
                <a:latin typeface="+mn-ea"/>
              </a:rPr>
              <a:t>stu_learning_info</a:t>
            </a:r>
            <a:r>
              <a:rPr lang="zh-CN" altLang="en-US" dirty="0">
                <a:solidFill>
                  <a:srgbClr val="44546A"/>
                </a:solidFill>
                <a:latin typeface="+mn-ea"/>
              </a:rPr>
              <a:t>，别名：</a:t>
            </a:r>
            <a:r>
              <a:rPr lang="en-US" altLang="zh-CN" dirty="0">
                <a:solidFill>
                  <a:srgbClr val="44546A"/>
                </a:solidFill>
                <a:latin typeface="+mn-ea"/>
              </a:rPr>
              <a:t>s</a:t>
            </a:r>
            <a:r>
              <a:rPr lang="zh-CN" altLang="en-US" dirty="0">
                <a:solidFill>
                  <a:srgbClr val="44546A"/>
                </a:solidFill>
                <a:latin typeface="+mn-ea"/>
              </a:rPr>
              <a:t>；</a:t>
            </a:r>
            <a:endParaRPr lang="en-US" altLang="zh-CN" dirty="0">
              <a:solidFill>
                <a:srgbClr val="44546A"/>
              </a:solidFill>
              <a:latin typeface="+mn-ea"/>
            </a:endParaRPr>
          </a:p>
          <a:p>
            <a:pPr>
              <a:lnSpc>
                <a:spcPct val="150000"/>
              </a:lnSpc>
            </a:pPr>
            <a:r>
              <a:rPr lang="zh-CN" altLang="zh-CN" dirty="0">
                <a:solidFill>
                  <a:srgbClr val="44546A"/>
                </a:solidFill>
                <a:latin typeface="+mn-ea"/>
              </a:rPr>
              <a:t>根据表定义字段名与别名</a:t>
            </a:r>
            <a:r>
              <a:rPr lang="zh-CN" altLang="en-US" dirty="0">
                <a:solidFill>
                  <a:srgbClr val="44546A"/>
                </a:solidFill>
                <a:latin typeface="+mn-ea"/>
              </a:rPr>
              <a:t>：</a:t>
            </a:r>
            <a:endParaRPr lang="en-US" altLang="zh-CN" dirty="0">
              <a:solidFill>
                <a:srgbClr val="44546A"/>
              </a:solidFill>
              <a:latin typeface="+mn-ea"/>
            </a:endParaRPr>
          </a:p>
          <a:p>
            <a:pPr>
              <a:lnSpc>
                <a:spcPct val="150000"/>
              </a:lnSpc>
            </a:pPr>
            <a:endParaRPr lang="en-US" altLang="zh-CN" b="1" dirty="0">
              <a:solidFill>
                <a:srgbClr val="44546A"/>
              </a:solidFill>
              <a:latin typeface="微软雅黑" panose="020B0503020204020204" pitchFamily="34" charset="-122"/>
            </a:endParaRPr>
          </a:p>
        </p:txBody>
      </p:sp>
      <p:graphicFrame>
        <p:nvGraphicFramePr>
          <p:cNvPr id="5" name="表格 5">
            <a:extLst>
              <a:ext uri="{FF2B5EF4-FFF2-40B4-BE49-F238E27FC236}">
                <a16:creationId xmlns:a16="http://schemas.microsoft.com/office/drawing/2014/main" id="{0B03280C-A1D7-EB7A-D81B-56E066D9E8FF}"/>
              </a:ext>
            </a:extLst>
          </p:cNvPr>
          <p:cNvGraphicFramePr>
            <a:graphicFrameLocks noGrp="1"/>
          </p:cNvGraphicFramePr>
          <p:nvPr/>
        </p:nvGraphicFramePr>
        <p:xfrm>
          <a:off x="1496573" y="2512371"/>
          <a:ext cx="4711722" cy="2595880"/>
        </p:xfrm>
        <a:graphic>
          <a:graphicData uri="http://schemas.openxmlformats.org/drawingml/2006/table">
            <a:tbl>
              <a:tblPr firstRow="1" bandRow="1">
                <a:tableStyleId>{5C22544A-7EE6-4342-B048-85BDC9FD1C3A}</a:tableStyleId>
              </a:tblPr>
              <a:tblGrid>
                <a:gridCol w="2136964">
                  <a:extLst>
                    <a:ext uri="{9D8B030D-6E8A-4147-A177-3AD203B41FA5}">
                      <a16:colId xmlns:a16="http://schemas.microsoft.com/office/drawing/2014/main" val="1947504123"/>
                    </a:ext>
                  </a:extLst>
                </a:gridCol>
                <a:gridCol w="2574758">
                  <a:extLst>
                    <a:ext uri="{9D8B030D-6E8A-4147-A177-3AD203B41FA5}">
                      <a16:colId xmlns:a16="http://schemas.microsoft.com/office/drawing/2014/main" val="67029785"/>
                    </a:ext>
                  </a:extLst>
                </a:gridCol>
              </a:tblGrid>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dirty="0"/>
                        <a:t>字段名</a:t>
                      </a: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dirty="0"/>
                        <a:t>别名</a:t>
                      </a:r>
                    </a:p>
                  </a:txBody>
                  <a:tcPr/>
                </a:tc>
                <a:extLst>
                  <a:ext uri="{0D108BD9-81ED-4DB2-BD59-A6C34878D82A}">
                    <a16:rowId xmlns:a16="http://schemas.microsoft.com/office/drawing/2014/main" val="2884660720"/>
                  </a:ext>
                </a:extLst>
              </a:tr>
              <a:tr h="370840">
                <a:tc>
                  <a:txBody>
                    <a:bodyPr/>
                    <a:lstStyle/>
                    <a:p>
                      <a:pPr algn="ct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name</a:t>
                      </a:r>
                      <a:endParaRPr lang="zh-CN" altLang="en-US" dirty="0"/>
                    </a:p>
                  </a:txBody>
                  <a:tcPr/>
                </a:tc>
                <a:tc>
                  <a:txBody>
                    <a:bodyPr/>
                    <a:lstStyle/>
                    <a:p>
                      <a:pPr algn="ctr"/>
                      <a:r>
                        <a:rPr lang="zh-CN" altLang="en-US" sz="1800" b="0" kern="1200" dirty="0">
                          <a:solidFill>
                            <a:srgbClr val="44546A"/>
                          </a:solidFill>
                          <a:effectLst>
                            <a:innerShdw blurRad="76200" dist="63500" dir="18900000">
                              <a:prstClr val="black">
                                <a:alpha val="30000"/>
                              </a:prstClr>
                            </a:innerShdw>
                          </a:effectLst>
                          <a:latin typeface="+mn-ea"/>
                          <a:ea typeface="+mn-ea"/>
                          <a:cs typeface="+mn-ea"/>
                        </a:rPr>
                        <a:t>学生姓名</a:t>
                      </a:r>
                    </a:p>
                  </a:txBody>
                  <a:tcPr/>
                </a:tc>
                <a:extLst>
                  <a:ext uri="{0D108BD9-81ED-4DB2-BD59-A6C34878D82A}">
                    <a16:rowId xmlns:a16="http://schemas.microsoft.com/office/drawing/2014/main" val="1570552877"/>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course_name</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800" b="0" kern="1200" dirty="0">
                          <a:solidFill>
                            <a:srgbClr val="44546A"/>
                          </a:solidFill>
                          <a:effectLst>
                            <a:innerShdw blurRad="76200" dist="63500" dir="18900000">
                              <a:prstClr val="black">
                                <a:alpha val="30000"/>
                              </a:prstClr>
                            </a:innerShdw>
                          </a:effectLst>
                          <a:latin typeface="+mn-ea"/>
                          <a:ea typeface="+mn-ea"/>
                          <a:cs typeface="+mn-ea"/>
                        </a:rPr>
                        <a:t>课程</a:t>
                      </a:r>
                    </a:p>
                  </a:txBody>
                  <a:tcPr/>
                </a:tc>
                <a:extLst>
                  <a:ext uri="{0D108BD9-81ED-4DB2-BD59-A6C34878D82A}">
                    <a16:rowId xmlns:a16="http://schemas.microsoft.com/office/drawing/2014/main" val="3372069451"/>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buy_time</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800" b="0" kern="1200" dirty="0">
                          <a:solidFill>
                            <a:srgbClr val="44546A"/>
                          </a:solidFill>
                          <a:effectLst>
                            <a:innerShdw blurRad="76200" dist="63500" dir="18900000">
                              <a:prstClr val="black">
                                <a:alpha val="30000"/>
                              </a:prstClr>
                            </a:innerShdw>
                          </a:effectLst>
                          <a:latin typeface="+mn-ea"/>
                          <a:ea typeface="+mn-ea"/>
                          <a:cs typeface="+mn-ea"/>
                        </a:rPr>
                        <a:t>购买课程时间</a:t>
                      </a:r>
                    </a:p>
                  </a:txBody>
                  <a:tcPr/>
                </a:tc>
                <a:extLst>
                  <a:ext uri="{0D108BD9-81ED-4DB2-BD59-A6C34878D82A}">
                    <a16:rowId xmlns:a16="http://schemas.microsoft.com/office/drawing/2014/main" val="4106695454"/>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view_duration</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algn="ctr"/>
                      <a:r>
                        <a:rPr lang="zh-CN" altLang="en-US" sz="1800" b="0" kern="1200" dirty="0">
                          <a:solidFill>
                            <a:srgbClr val="44546A"/>
                          </a:solidFill>
                          <a:effectLst>
                            <a:innerShdw blurRad="76200" dist="63500" dir="18900000">
                              <a:prstClr val="black">
                                <a:alpha val="30000"/>
                              </a:prstClr>
                            </a:innerShdw>
                          </a:effectLst>
                          <a:latin typeface="+mn-ea"/>
                          <a:ea typeface="+mn-ea"/>
                          <a:cs typeface="+mn-ea"/>
                        </a:rPr>
                        <a:t>观看时长</a:t>
                      </a:r>
                    </a:p>
                  </a:txBody>
                  <a:tcPr/>
                </a:tc>
                <a:extLst>
                  <a:ext uri="{0D108BD9-81ED-4DB2-BD59-A6C34878D82A}">
                    <a16:rowId xmlns:a16="http://schemas.microsoft.com/office/drawing/2014/main" val="870376923"/>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play_times</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sz="1800" b="0" kern="1200" dirty="0">
                          <a:solidFill>
                            <a:srgbClr val="44546A"/>
                          </a:solidFill>
                          <a:effectLst>
                            <a:innerShdw blurRad="76200" dist="63500" dir="18900000">
                              <a:prstClr val="black">
                                <a:alpha val="30000"/>
                              </a:prstClr>
                            </a:innerShdw>
                          </a:effectLst>
                          <a:latin typeface="+mn-ea"/>
                          <a:ea typeface="+mn-ea"/>
                          <a:cs typeface="+mn-ea"/>
                        </a:rPr>
                        <a:t>累计播放次数</a:t>
                      </a:r>
                    </a:p>
                  </a:txBody>
                  <a:tcPr/>
                </a:tc>
                <a:extLst>
                  <a:ext uri="{0D108BD9-81ED-4DB2-BD59-A6C34878D82A}">
                    <a16:rowId xmlns:a16="http://schemas.microsoft.com/office/drawing/2014/main" val="3177932296"/>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en-US" altLang="zh-CN" sz="1800" b="0" kern="1200" dirty="0">
                          <a:solidFill>
                            <a:srgbClr val="44546A"/>
                          </a:solidFill>
                          <a:effectLst>
                            <a:innerShdw blurRad="76200" dist="63500" dir="18900000">
                              <a:prstClr val="black">
                                <a:alpha val="30000"/>
                              </a:prstClr>
                            </a:innerShdw>
                          </a:effectLst>
                          <a:latin typeface="+mn-ea"/>
                          <a:ea typeface="+mn-ea"/>
                          <a:cs typeface="+mn-ea"/>
                        </a:rPr>
                        <a:t>last_score</a:t>
                      </a:r>
                      <a:endParaRPr lang="zh-CN" altLang="en-US" sz="1800" b="0" kern="1200" dirty="0">
                        <a:solidFill>
                          <a:srgbClr val="44546A"/>
                        </a:solidFill>
                        <a:effectLst>
                          <a:innerShdw blurRad="76200" dist="63500" dir="18900000">
                            <a:prstClr val="black">
                              <a:alpha val="30000"/>
                            </a:prstClr>
                          </a:innerShdw>
                        </a:effectLst>
                        <a:latin typeface="+mn-ea"/>
                        <a:ea typeface="+mn-ea"/>
                        <a:cs typeface="+mn-ea"/>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en-US" sz="1800" b="0" kern="1200" dirty="0">
                          <a:solidFill>
                            <a:srgbClr val="44546A"/>
                          </a:solidFill>
                          <a:effectLst>
                            <a:innerShdw blurRad="76200" dist="63500" dir="18900000">
                              <a:prstClr val="black">
                                <a:alpha val="30000"/>
                              </a:prstClr>
                            </a:innerShdw>
                          </a:effectLst>
                          <a:latin typeface="+mn-ea"/>
                          <a:ea typeface="+mn-ea"/>
                          <a:cs typeface="+mn-ea"/>
                        </a:rPr>
                        <a:t>最近的模拟考成绩</a:t>
                      </a:r>
                      <a:endParaRPr lang="zh-CN" altLang="en-US" dirty="0"/>
                    </a:p>
                  </a:txBody>
                  <a:tcPr/>
                </a:tc>
                <a:extLst>
                  <a:ext uri="{0D108BD9-81ED-4DB2-BD59-A6C34878D82A}">
                    <a16:rowId xmlns:a16="http://schemas.microsoft.com/office/drawing/2014/main" val="2957430767"/>
                  </a:ext>
                </a:extLst>
              </a:tr>
            </a:tbl>
          </a:graphicData>
        </a:graphic>
      </p:graphicFrame>
      <p:pic>
        <p:nvPicPr>
          <p:cNvPr id="7" name="图片 6">
            <a:extLst>
              <a:ext uri="{FF2B5EF4-FFF2-40B4-BE49-F238E27FC236}">
                <a16:creationId xmlns:a16="http://schemas.microsoft.com/office/drawing/2014/main" id="{9C3FB41A-6B85-4E66-1918-5EE1F477402B}"/>
              </a:ext>
            </a:extLst>
          </p:cNvPr>
          <p:cNvPicPr>
            <a:picLocks noChangeAspect="1"/>
          </p:cNvPicPr>
          <p:nvPr/>
        </p:nvPicPr>
        <p:blipFill>
          <a:blip r:embed="rId3"/>
          <a:stretch>
            <a:fillRect/>
          </a:stretch>
        </p:blipFill>
        <p:spPr>
          <a:xfrm>
            <a:off x="6435641" y="2929741"/>
            <a:ext cx="5366543" cy="1705403"/>
          </a:xfrm>
          <a:prstGeom prst="rect">
            <a:avLst/>
          </a:prstGeom>
        </p:spPr>
      </p:pic>
    </p:spTree>
    <p:extLst>
      <p:ext uri="{BB962C8B-B14F-4D97-AF65-F5344CB8AC3E}">
        <p14:creationId xmlns:p14="http://schemas.microsoft.com/office/powerpoint/2010/main" val="2416722096"/>
      </p:ext>
    </p:extLst>
  </p:cSld>
  <p:clrMapOvr>
    <a:masterClrMapping/>
  </p:clrMapOvr>
  <p:transition spd="slow">
    <p:push dir="u"/>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实战二</a:t>
            </a:r>
          </a:p>
        </p:txBody>
      </p:sp>
      <p:sp>
        <p:nvSpPr>
          <p:cNvPr id="4" name="文本框 3">
            <a:extLst>
              <a:ext uri="{FF2B5EF4-FFF2-40B4-BE49-F238E27FC236}">
                <a16:creationId xmlns:a16="http://schemas.microsoft.com/office/drawing/2014/main" id="{13968534-A6C8-3EAF-CE04-57CDDB203CFD}"/>
              </a:ext>
            </a:extLst>
          </p:cNvPr>
          <p:cNvSpPr txBox="1"/>
          <p:nvPr/>
        </p:nvSpPr>
        <p:spPr>
          <a:xfrm>
            <a:off x="1410940" y="1001127"/>
            <a:ext cx="9284486" cy="3367397"/>
          </a:xfrm>
          <a:prstGeom prst="rect">
            <a:avLst/>
          </a:prstGeom>
          <a:noFill/>
        </p:spPr>
        <p:txBody>
          <a:bodyPr wrap="square" rtlCol="0">
            <a:spAutoFit/>
          </a:bodyPr>
          <a:lstStyle/>
          <a:p>
            <a:pPr>
              <a:lnSpc>
                <a:spcPct val="150000"/>
              </a:lnSpc>
            </a:pPr>
            <a:r>
              <a:rPr lang="zh-CN" altLang="en-US" b="1" dirty="0">
                <a:solidFill>
                  <a:srgbClr val="44546A"/>
                </a:solidFill>
                <a:latin typeface="+mn-ea"/>
              </a:rPr>
              <a:t>使用</a:t>
            </a:r>
            <a:r>
              <a:rPr lang="en-US" altLang="zh-CN" b="1" dirty="0">
                <a:solidFill>
                  <a:srgbClr val="44546A"/>
                </a:solidFill>
                <a:latin typeface="+mn-ea"/>
              </a:rPr>
              <a:t>SQL</a:t>
            </a:r>
            <a:r>
              <a:rPr lang="zh-CN" altLang="en-US" b="1" dirty="0">
                <a:solidFill>
                  <a:srgbClr val="44546A"/>
                </a:solidFill>
                <a:latin typeface="+mn-ea"/>
              </a:rPr>
              <a:t>语句，完成以下数据范围（过滤条件的）练习：</a:t>
            </a:r>
            <a:endParaRPr lang="en-US" altLang="zh-CN" b="1" dirty="0">
              <a:solidFill>
                <a:srgbClr val="44546A"/>
              </a:solidFill>
              <a:latin typeface="+mn-ea"/>
            </a:endParaRPr>
          </a:p>
          <a:p>
            <a:pPr>
              <a:lnSpc>
                <a:spcPct val="150000"/>
              </a:lnSpc>
            </a:pPr>
            <a:r>
              <a:rPr lang="en-US" altLang="zh-CN" dirty="0">
                <a:solidFill>
                  <a:srgbClr val="44546A"/>
                </a:solidFill>
                <a:latin typeface="微软雅黑" panose="020B0503020204020204" pitchFamily="34" charset="-122"/>
              </a:rPr>
              <a:t>1</a:t>
            </a:r>
            <a:r>
              <a:rPr lang="zh-CN" altLang="en-US" dirty="0">
                <a:solidFill>
                  <a:srgbClr val="44546A"/>
                </a:solidFill>
                <a:latin typeface="微软雅黑" panose="020B0503020204020204" pitchFamily="34" charset="-122"/>
              </a:rPr>
              <a:t>、查询表中，“是否有效”为“是”的记录；</a:t>
            </a: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r>
              <a:rPr lang="en-US" altLang="zh-CN" dirty="0">
                <a:solidFill>
                  <a:srgbClr val="44546A"/>
                </a:solidFill>
                <a:latin typeface="微软雅黑" panose="020B0503020204020204" pitchFamily="34" charset="-122"/>
              </a:rPr>
              <a:t>2</a:t>
            </a:r>
            <a:r>
              <a:rPr lang="zh-CN" altLang="en-US" dirty="0">
                <a:solidFill>
                  <a:srgbClr val="44546A"/>
                </a:solidFill>
                <a:latin typeface="微软雅黑" panose="020B0503020204020204" pitchFamily="34" charset="-122"/>
              </a:rPr>
              <a:t>、查询表中，“观看时长”大于</a:t>
            </a:r>
            <a:r>
              <a:rPr lang="en-US" altLang="zh-CN" dirty="0">
                <a:solidFill>
                  <a:srgbClr val="44546A"/>
                </a:solidFill>
                <a:latin typeface="微软雅黑" panose="020B0503020204020204" pitchFamily="34" charset="-122"/>
              </a:rPr>
              <a:t>1800</a:t>
            </a:r>
            <a:r>
              <a:rPr lang="zh-CN" altLang="en-US" dirty="0">
                <a:solidFill>
                  <a:srgbClr val="44546A"/>
                </a:solidFill>
                <a:latin typeface="微软雅黑" panose="020B0503020204020204" pitchFamily="34" charset="-122"/>
              </a:rPr>
              <a:t>秒的记录</a:t>
            </a:r>
            <a:r>
              <a:rPr lang="zh-CN" altLang="zh-CN" b="1" dirty="0">
                <a:solidFill>
                  <a:srgbClr val="44546A"/>
                </a:solidFill>
                <a:effectLst>
                  <a:innerShdw blurRad="76200" dist="63500" dir="18900000">
                    <a:prstClr val="black">
                      <a:alpha val="30000"/>
                    </a:prstClr>
                  </a:innerShdw>
                </a:effectLst>
                <a:latin typeface="+mn-ea"/>
                <a:cs typeface="+mn-ea"/>
              </a:rPr>
              <a:t>，</a:t>
            </a:r>
            <a:r>
              <a:rPr lang="zh-CN" altLang="zh-CN" dirty="0">
                <a:solidFill>
                  <a:srgbClr val="44546A"/>
                </a:solidFill>
                <a:latin typeface="微软雅黑" panose="020B0503020204020204" pitchFamily="34" charset="-122"/>
              </a:rPr>
              <a:t>注：</a:t>
            </a:r>
            <a:r>
              <a:rPr lang="en-US" altLang="zh-CN" dirty="0">
                <a:solidFill>
                  <a:srgbClr val="44546A"/>
                </a:solidFill>
                <a:latin typeface="微软雅黑" panose="020B0503020204020204" pitchFamily="34" charset="-122"/>
              </a:rPr>
              <a:t>times</a:t>
            </a:r>
            <a:r>
              <a:rPr lang="zh-CN" altLang="zh-CN" dirty="0">
                <a:solidFill>
                  <a:srgbClr val="44546A"/>
                </a:solidFill>
                <a:latin typeface="微软雅黑" panose="020B0503020204020204" pitchFamily="34" charset="-122"/>
              </a:rPr>
              <a:t>以秒为单位进行保存记录</a:t>
            </a:r>
            <a:r>
              <a:rPr lang="zh-CN" altLang="en-US" dirty="0">
                <a:solidFill>
                  <a:srgbClr val="44546A"/>
                </a:solidFill>
                <a:latin typeface="微软雅黑" panose="020B0503020204020204" pitchFamily="34" charset="-122"/>
              </a:rPr>
              <a:t>；</a:t>
            </a:r>
            <a:endParaRPr lang="en-US" altLang="zh-CN" dirty="0">
              <a:solidFill>
                <a:srgbClr val="44546A"/>
              </a:solidFill>
              <a:latin typeface="微软雅黑" panose="020B0503020204020204" pitchFamily="34" charset="-122"/>
            </a:endParaRPr>
          </a:p>
        </p:txBody>
      </p:sp>
      <p:pic>
        <p:nvPicPr>
          <p:cNvPr id="5" name="图片 4">
            <a:extLst>
              <a:ext uri="{FF2B5EF4-FFF2-40B4-BE49-F238E27FC236}">
                <a16:creationId xmlns:a16="http://schemas.microsoft.com/office/drawing/2014/main" id="{C26BCBBD-DC35-E15C-A334-4EF596E7F4A3}"/>
              </a:ext>
            </a:extLst>
          </p:cNvPr>
          <p:cNvPicPr>
            <a:picLocks noChangeAspect="1"/>
          </p:cNvPicPr>
          <p:nvPr/>
        </p:nvPicPr>
        <p:blipFill>
          <a:blip r:embed="rId3"/>
          <a:stretch>
            <a:fillRect/>
          </a:stretch>
        </p:blipFill>
        <p:spPr>
          <a:xfrm>
            <a:off x="1738675" y="2044366"/>
            <a:ext cx="4357325" cy="1637298"/>
          </a:xfrm>
          <a:prstGeom prst="rect">
            <a:avLst/>
          </a:prstGeom>
        </p:spPr>
      </p:pic>
      <p:pic>
        <p:nvPicPr>
          <p:cNvPr id="7" name="图片 6">
            <a:extLst>
              <a:ext uri="{FF2B5EF4-FFF2-40B4-BE49-F238E27FC236}">
                <a16:creationId xmlns:a16="http://schemas.microsoft.com/office/drawing/2014/main" id="{B98DF07E-B36A-E5E1-CD46-5FC2CA102010}"/>
              </a:ext>
            </a:extLst>
          </p:cNvPr>
          <p:cNvPicPr>
            <a:picLocks noChangeAspect="1"/>
          </p:cNvPicPr>
          <p:nvPr/>
        </p:nvPicPr>
        <p:blipFill>
          <a:blip r:embed="rId4"/>
          <a:stretch>
            <a:fillRect/>
          </a:stretch>
        </p:blipFill>
        <p:spPr>
          <a:xfrm>
            <a:off x="1710601" y="4467475"/>
            <a:ext cx="4747797" cy="1692693"/>
          </a:xfrm>
          <a:prstGeom prst="rect">
            <a:avLst/>
          </a:prstGeom>
        </p:spPr>
      </p:pic>
    </p:spTree>
    <p:extLst>
      <p:ext uri="{BB962C8B-B14F-4D97-AF65-F5344CB8AC3E}">
        <p14:creationId xmlns:p14="http://schemas.microsoft.com/office/powerpoint/2010/main" val="2370189049"/>
      </p:ext>
    </p:extLst>
  </p:cSld>
  <p:clrMapOvr>
    <a:masterClrMapping/>
  </p:clrMapOvr>
  <p:transition spd="slow">
    <p:push dir="u"/>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实战二</a:t>
            </a:r>
          </a:p>
        </p:txBody>
      </p:sp>
      <p:sp>
        <p:nvSpPr>
          <p:cNvPr id="4" name="文本框 3">
            <a:extLst>
              <a:ext uri="{FF2B5EF4-FFF2-40B4-BE49-F238E27FC236}">
                <a16:creationId xmlns:a16="http://schemas.microsoft.com/office/drawing/2014/main" id="{13968534-A6C8-3EAF-CE04-57CDDB203CFD}"/>
              </a:ext>
            </a:extLst>
          </p:cNvPr>
          <p:cNvSpPr txBox="1"/>
          <p:nvPr/>
        </p:nvSpPr>
        <p:spPr>
          <a:xfrm>
            <a:off x="1410940" y="1001127"/>
            <a:ext cx="9284486" cy="3367397"/>
          </a:xfrm>
          <a:prstGeom prst="rect">
            <a:avLst/>
          </a:prstGeom>
          <a:noFill/>
        </p:spPr>
        <p:txBody>
          <a:bodyPr wrap="square" rtlCol="0">
            <a:spAutoFit/>
          </a:bodyPr>
          <a:lstStyle/>
          <a:p>
            <a:pPr>
              <a:lnSpc>
                <a:spcPct val="150000"/>
              </a:lnSpc>
            </a:pPr>
            <a:r>
              <a:rPr lang="zh-CN" altLang="en-US" b="1" dirty="0">
                <a:solidFill>
                  <a:srgbClr val="44546A"/>
                </a:solidFill>
                <a:latin typeface="+mn-ea"/>
              </a:rPr>
              <a:t>使用</a:t>
            </a:r>
            <a:r>
              <a:rPr lang="en-US" altLang="zh-CN" b="1" dirty="0">
                <a:solidFill>
                  <a:srgbClr val="44546A"/>
                </a:solidFill>
                <a:latin typeface="+mn-ea"/>
              </a:rPr>
              <a:t>SQL</a:t>
            </a:r>
            <a:r>
              <a:rPr lang="zh-CN" altLang="en-US" b="1" dirty="0">
                <a:solidFill>
                  <a:srgbClr val="44546A"/>
                </a:solidFill>
                <a:latin typeface="+mn-ea"/>
              </a:rPr>
              <a:t>语句，完成以下数据范围（过滤条件的）练习：</a:t>
            </a:r>
            <a:endParaRPr lang="en-US" altLang="zh-CN" b="1" dirty="0">
              <a:solidFill>
                <a:srgbClr val="44546A"/>
              </a:solidFill>
              <a:latin typeface="+mn-ea"/>
            </a:endParaRPr>
          </a:p>
          <a:p>
            <a:pPr>
              <a:lnSpc>
                <a:spcPct val="150000"/>
              </a:lnSpc>
            </a:pPr>
            <a:r>
              <a:rPr lang="en-US" altLang="zh-CN" dirty="0">
                <a:solidFill>
                  <a:srgbClr val="44546A"/>
                </a:solidFill>
                <a:latin typeface="微软雅黑" panose="020B0503020204020204" pitchFamily="34" charset="-122"/>
              </a:rPr>
              <a:t>3</a:t>
            </a:r>
            <a:r>
              <a:rPr lang="zh-CN" altLang="en-US" dirty="0">
                <a:solidFill>
                  <a:srgbClr val="44546A"/>
                </a:solidFill>
                <a:latin typeface="微软雅黑" panose="020B0503020204020204" pitchFamily="34" charset="-122"/>
              </a:rPr>
              <a:t>、查询表中，“购买课程时间”为</a:t>
            </a:r>
            <a:r>
              <a:rPr lang="en-US" altLang="zh-CN" dirty="0">
                <a:solidFill>
                  <a:srgbClr val="44546A"/>
                </a:solidFill>
                <a:latin typeface="微软雅黑" panose="020B0503020204020204" pitchFamily="34" charset="-122"/>
              </a:rPr>
              <a:t>2022</a:t>
            </a:r>
            <a:r>
              <a:rPr lang="zh-CN" altLang="en-US" dirty="0">
                <a:solidFill>
                  <a:srgbClr val="44546A"/>
                </a:solidFill>
                <a:latin typeface="微软雅黑" panose="020B0503020204020204" pitchFamily="34" charset="-122"/>
              </a:rPr>
              <a:t>年的记录；</a:t>
            </a: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r>
              <a:rPr lang="en-US" altLang="zh-CN" dirty="0">
                <a:solidFill>
                  <a:srgbClr val="44546A"/>
                </a:solidFill>
                <a:latin typeface="微软雅黑" panose="020B0503020204020204" pitchFamily="34" charset="-122"/>
              </a:rPr>
              <a:t>4</a:t>
            </a:r>
            <a:r>
              <a:rPr lang="zh-CN" altLang="en-US" dirty="0">
                <a:solidFill>
                  <a:srgbClr val="44546A"/>
                </a:solidFill>
                <a:latin typeface="微软雅黑" panose="020B0503020204020204" pitchFamily="34" charset="-122"/>
              </a:rPr>
              <a:t>、查询表中，购买了课程</a:t>
            </a:r>
            <a:r>
              <a:rPr lang="en-US" altLang="zh-CN" dirty="0">
                <a:solidFill>
                  <a:srgbClr val="44546A"/>
                </a:solidFill>
                <a:latin typeface="微软雅黑" panose="020B0503020204020204" pitchFamily="34" charset="-122"/>
              </a:rPr>
              <a:t>《</a:t>
            </a:r>
            <a:r>
              <a:rPr lang="zh-CN" altLang="en-US" dirty="0">
                <a:solidFill>
                  <a:srgbClr val="44546A"/>
                </a:solidFill>
                <a:latin typeface="微软雅黑" panose="020B0503020204020204" pitchFamily="34" charset="-122"/>
              </a:rPr>
              <a:t>机器学习</a:t>
            </a:r>
            <a:r>
              <a:rPr lang="en-US" altLang="zh-CN" dirty="0">
                <a:solidFill>
                  <a:srgbClr val="44546A"/>
                </a:solidFill>
                <a:latin typeface="微软雅黑" panose="020B0503020204020204" pitchFamily="34" charset="-122"/>
              </a:rPr>
              <a:t>》</a:t>
            </a:r>
            <a:r>
              <a:rPr lang="zh-CN" altLang="en-US" dirty="0">
                <a:solidFill>
                  <a:srgbClr val="44546A"/>
                </a:solidFill>
                <a:latin typeface="微软雅黑" panose="020B0503020204020204" pitchFamily="34" charset="-122"/>
              </a:rPr>
              <a:t>的记录；</a:t>
            </a:r>
            <a:endParaRPr lang="en-US" altLang="zh-CN" dirty="0">
              <a:solidFill>
                <a:srgbClr val="44546A"/>
              </a:solidFill>
              <a:latin typeface="微软雅黑" panose="020B0503020204020204" pitchFamily="34" charset="-122"/>
            </a:endParaRPr>
          </a:p>
        </p:txBody>
      </p:sp>
      <p:pic>
        <p:nvPicPr>
          <p:cNvPr id="5" name="图片 4">
            <a:extLst>
              <a:ext uri="{FF2B5EF4-FFF2-40B4-BE49-F238E27FC236}">
                <a16:creationId xmlns:a16="http://schemas.microsoft.com/office/drawing/2014/main" id="{7F2C0D40-9ADE-2B8F-5398-2C2B07087288}"/>
              </a:ext>
            </a:extLst>
          </p:cNvPr>
          <p:cNvPicPr>
            <a:picLocks noChangeAspect="1"/>
          </p:cNvPicPr>
          <p:nvPr/>
        </p:nvPicPr>
        <p:blipFill>
          <a:blip r:embed="rId3"/>
          <a:stretch>
            <a:fillRect/>
          </a:stretch>
        </p:blipFill>
        <p:spPr>
          <a:xfrm>
            <a:off x="1759367" y="1960145"/>
            <a:ext cx="4733190" cy="1565108"/>
          </a:xfrm>
          <a:prstGeom prst="rect">
            <a:avLst/>
          </a:prstGeom>
        </p:spPr>
      </p:pic>
      <p:pic>
        <p:nvPicPr>
          <p:cNvPr id="7" name="图片 6">
            <a:extLst>
              <a:ext uri="{FF2B5EF4-FFF2-40B4-BE49-F238E27FC236}">
                <a16:creationId xmlns:a16="http://schemas.microsoft.com/office/drawing/2014/main" id="{DB494083-4483-998C-DCD7-8C005F4BA94F}"/>
              </a:ext>
            </a:extLst>
          </p:cNvPr>
          <p:cNvPicPr>
            <a:picLocks noChangeAspect="1"/>
          </p:cNvPicPr>
          <p:nvPr/>
        </p:nvPicPr>
        <p:blipFill>
          <a:blip r:embed="rId4"/>
          <a:stretch>
            <a:fillRect/>
          </a:stretch>
        </p:blipFill>
        <p:spPr>
          <a:xfrm>
            <a:off x="1759367" y="4496303"/>
            <a:ext cx="5049798" cy="1820276"/>
          </a:xfrm>
          <a:prstGeom prst="rect">
            <a:avLst/>
          </a:prstGeom>
        </p:spPr>
      </p:pic>
    </p:spTree>
    <p:extLst>
      <p:ext uri="{BB962C8B-B14F-4D97-AF65-F5344CB8AC3E}">
        <p14:creationId xmlns:p14="http://schemas.microsoft.com/office/powerpoint/2010/main" val="704590008"/>
      </p:ext>
    </p:extLst>
  </p:cSld>
  <p:clrMapOvr>
    <a:masterClrMapping/>
  </p:clrMapOvr>
  <p:transition spd="slow">
    <p:push dir="u"/>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实战二</a:t>
            </a:r>
          </a:p>
        </p:txBody>
      </p:sp>
      <p:sp>
        <p:nvSpPr>
          <p:cNvPr id="4" name="文本框 3">
            <a:extLst>
              <a:ext uri="{FF2B5EF4-FFF2-40B4-BE49-F238E27FC236}">
                <a16:creationId xmlns:a16="http://schemas.microsoft.com/office/drawing/2014/main" id="{13968534-A6C8-3EAF-CE04-57CDDB203CFD}"/>
              </a:ext>
            </a:extLst>
          </p:cNvPr>
          <p:cNvSpPr txBox="1"/>
          <p:nvPr/>
        </p:nvSpPr>
        <p:spPr>
          <a:xfrm>
            <a:off x="1410940" y="1001127"/>
            <a:ext cx="9284486" cy="3782895"/>
          </a:xfrm>
          <a:prstGeom prst="rect">
            <a:avLst/>
          </a:prstGeom>
          <a:noFill/>
        </p:spPr>
        <p:txBody>
          <a:bodyPr wrap="square" rtlCol="0">
            <a:spAutoFit/>
          </a:bodyPr>
          <a:lstStyle/>
          <a:p>
            <a:pPr>
              <a:lnSpc>
                <a:spcPct val="150000"/>
              </a:lnSpc>
            </a:pPr>
            <a:r>
              <a:rPr lang="zh-CN" altLang="en-US" b="1" dirty="0">
                <a:solidFill>
                  <a:srgbClr val="44546A"/>
                </a:solidFill>
                <a:latin typeface="+mn-ea"/>
              </a:rPr>
              <a:t>使用</a:t>
            </a:r>
            <a:r>
              <a:rPr lang="en-US" altLang="zh-CN" b="1" dirty="0">
                <a:solidFill>
                  <a:srgbClr val="44546A"/>
                </a:solidFill>
                <a:latin typeface="+mn-ea"/>
              </a:rPr>
              <a:t>SQL</a:t>
            </a:r>
            <a:r>
              <a:rPr lang="zh-CN" altLang="en-US" b="1" dirty="0">
                <a:solidFill>
                  <a:srgbClr val="44546A"/>
                </a:solidFill>
                <a:latin typeface="+mn-ea"/>
              </a:rPr>
              <a:t>语句，完成以下数据范围（过滤条件的）练习：</a:t>
            </a:r>
            <a:endParaRPr lang="en-US" altLang="zh-CN" b="1" dirty="0">
              <a:solidFill>
                <a:srgbClr val="44546A"/>
              </a:solidFill>
              <a:latin typeface="+mn-ea"/>
            </a:endParaRPr>
          </a:p>
          <a:p>
            <a:pPr>
              <a:lnSpc>
                <a:spcPct val="150000"/>
              </a:lnSpc>
            </a:pPr>
            <a:r>
              <a:rPr lang="en-US" altLang="zh-CN" dirty="0">
                <a:solidFill>
                  <a:srgbClr val="44546A"/>
                </a:solidFill>
                <a:latin typeface="微软雅黑" panose="020B0503020204020204" pitchFamily="34" charset="-122"/>
              </a:rPr>
              <a:t>5</a:t>
            </a:r>
            <a:r>
              <a:rPr lang="zh-CN" altLang="en-US" dirty="0">
                <a:solidFill>
                  <a:srgbClr val="44546A"/>
                </a:solidFill>
                <a:latin typeface="微软雅黑" panose="020B0503020204020204" pitchFamily="34" charset="-122"/>
              </a:rPr>
              <a:t>、查询表中，“最近一次模拟考成绩”在</a:t>
            </a:r>
            <a:r>
              <a:rPr lang="en-US" altLang="zh-CN" dirty="0">
                <a:solidFill>
                  <a:srgbClr val="44546A"/>
                </a:solidFill>
                <a:latin typeface="微软雅黑" panose="020B0503020204020204" pitchFamily="34" charset="-122"/>
              </a:rPr>
              <a:t>60~100</a:t>
            </a:r>
            <a:r>
              <a:rPr lang="zh-CN" altLang="en-US" dirty="0">
                <a:solidFill>
                  <a:srgbClr val="44546A"/>
                </a:solidFill>
                <a:latin typeface="微软雅黑" panose="020B0503020204020204" pitchFamily="34" charset="-122"/>
              </a:rPr>
              <a:t>分之间的学生记录；</a:t>
            </a: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r>
              <a:rPr lang="en-US" altLang="zh-CN" dirty="0">
                <a:solidFill>
                  <a:srgbClr val="44546A"/>
                </a:solidFill>
                <a:latin typeface="微软雅黑" panose="020B0503020204020204" pitchFamily="34" charset="-122"/>
              </a:rPr>
              <a:t>6</a:t>
            </a:r>
            <a:r>
              <a:rPr lang="zh-CN" altLang="en-US" dirty="0">
                <a:solidFill>
                  <a:srgbClr val="44546A"/>
                </a:solidFill>
                <a:latin typeface="微软雅黑" panose="020B0503020204020204" pitchFamily="34" charset="-122"/>
              </a:rPr>
              <a:t>、查询表中，“播放次数”大于</a:t>
            </a:r>
            <a:r>
              <a:rPr lang="en-US" altLang="zh-CN" dirty="0">
                <a:solidFill>
                  <a:srgbClr val="44546A"/>
                </a:solidFill>
                <a:latin typeface="微软雅黑" panose="020B0503020204020204" pitchFamily="34" charset="-122"/>
              </a:rPr>
              <a:t>3</a:t>
            </a:r>
            <a:r>
              <a:rPr lang="zh-CN" altLang="en-US" dirty="0">
                <a:solidFill>
                  <a:srgbClr val="44546A"/>
                </a:solidFill>
                <a:latin typeface="微软雅黑" panose="020B0503020204020204" pitchFamily="34" charset="-122"/>
              </a:rPr>
              <a:t>次的记录；</a:t>
            </a: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p:txBody>
      </p:sp>
      <p:pic>
        <p:nvPicPr>
          <p:cNvPr id="5" name="图片 4">
            <a:extLst>
              <a:ext uri="{FF2B5EF4-FFF2-40B4-BE49-F238E27FC236}">
                <a16:creationId xmlns:a16="http://schemas.microsoft.com/office/drawing/2014/main" id="{9BD291B3-4DFE-E099-09D7-BABF1685BD35}"/>
              </a:ext>
            </a:extLst>
          </p:cNvPr>
          <p:cNvPicPr>
            <a:picLocks noChangeAspect="1"/>
          </p:cNvPicPr>
          <p:nvPr/>
        </p:nvPicPr>
        <p:blipFill>
          <a:blip r:embed="rId3"/>
          <a:stretch>
            <a:fillRect/>
          </a:stretch>
        </p:blipFill>
        <p:spPr>
          <a:xfrm>
            <a:off x="1751596" y="1992303"/>
            <a:ext cx="4573717" cy="1532949"/>
          </a:xfrm>
          <a:prstGeom prst="rect">
            <a:avLst/>
          </a:prstGeom>
        </p:spPr>
      </p:pic>
      <p:pic>
        <p:nvPicPr>
          <p:cNvPr id="7" name="图片 6">
            <a:extLst>
              <a:ext uri="{FF2B5EF4-FFF2-40B4-BE49-F238E27FC236}">
                <a16:creationId xmlns:a16="http://schemas.microsoft.com/office/drawing/2014/main" id="{AA8219E1-C325-D53F-8579-0C0EFDEBD7EA}"/>
              </a:ext>
            </a:extLst>
          </p:cNvPr>
          <p:cNvPicPr>
            <a:picLocks noChangeAspect="1"/>
          </p:cNvPicPr>
          <p:nvPr/>
        </p:nvPicPr>
        <p:blipFill>
          <a:blip r:embed="rId4"/>
          <a:stretch>
            <a:fillRect/>
          </a:stretch>
        </p:blipFill>
        <p:spPr>
          <a:xfrm>
            <a:off x="1751596" y="4504395"/>
            <a:ext cx="4573717" cy="1690889"/>
          </a:xfrm>
          <a:prstGeom prst="rect">
            <a:avLst/>
          </a:prstGeom>
        </p:spPr>
      </p:pic>
    </p:spTree>
    <p:extLst>
      <p:ext uri="{BB962C8B-B14F-4D97-AF65-F5344CB8AC3E}">
        <p14:creationId xmlns:p14="http://schemas.microsoft.com/office/powerpoint/2010/main" val="2657730229"/>
      </p:ext>
    </p:extLst>
  </p:cSld>
  <p:clrMapOvr>
    <a:masterClrMapping/>
  </p:clrMapOvr>
  <p:transition spd="slow">
    <p:push dir="u"/>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p:nvPr/>
        </p:nvSpPr>
        <p:spPr>
          <a:xfrm>
            <a:off x="1410940" y="297785"/>
            <a:ext cx="8383148" cy="480131"/>
          </a:xfrm>
          <a:prstGeom prst="rect">
            <a:avLst/>
          </a:prstGeom>
          <a:noFill/>
        </p:spPr>
        <p:txBody>
          <a:bodyPr wrap="square" rtlCol="0" anchor="ctr" anchorCtr="0">
            <a:spAutoFit/>
          </a:bodyPr>
          <a:lstStyle>
            <a:lvl1pPr marL="0" indent="0" algn="l" defTabSz="914400" rtl="0" eaLnBrk="1" latinLnBrk="0" hangingPunct="1">
              <a:lnSpc>
                <a:spcPct val="90000"/>
              </a:lnSpc>
              <a:spcBef>
                <a:spcPts val="1000"/>
              </a:spcBef>
              <a:buFontTx/>
              <a:buNone/>
              <a:defRPr lang="zh-CN" altLang="en-US" sz="2800" kern="1200" dirty="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b="1" noProof="1">
                <a:solidFill>
                  <a:srgbClr val="44546A"/>
                </a:solidFill>
                <a:latin typeface="微软雅黑" panose="020B0503020204020204" pitchFamily="34" charset="-122"/>
                <a:ea typeface="微软雅黑" panose="020B0503020204020204" pitchFamily="34" charset="-122"/>
              </a:rPr>
              <a:t>实战二</a:t>
            </a:r>
          </a:p>
        </p:txBody>
      </p:sp>
      <p:sp>
        <p:nvSpPr>
          <p:cNvPr id="4" name="文本框 3">
            <a:extLst>
              <a:ext uri="{FF2B5EF4-FFF2-40B4-BE49-F238E27FC236}">
                <a16:creationId xmlns:a16="http://schemas.microsoft.com/office/drawing/2014/main" id="{13968534-A6C8-3EAF-CE04-57CDDB203CFD}"/>
              </a:ext>
            </a:extLst>
          </p:cNvPr>
          <p:cNvSpPr txBox="1"/>
          <p:nvPr/>
        </p:nvSpPr>
        <p:spPr>
          <a:xfrm>
            <a:off x="1410940" y="1001127"/>
            <a:ext cx="9284486" cy="5029390"/>
          </a:xfrm>
          <a:prstGeom prst="rect">
            <a:avLst/>
          </a:prstGeom>
          <a:noFill/>
        </p:spPr>
        <p:txBody>
          <a:bodyPr wrap="square" rtlCol="0">
            <a:spAutoFit/>
          </a:bodyPr>
          <a:lstStyle/>
          <a:p>
            <a:pPr>
              <a:lnSpc>
                <a:spcPct val="150000"/>
              </a:lnSpc>
            </a:pPr>
            <a:r>
              <a:rPr lang="zh-CN" altLang="en-US" b="1" dirty="0">
                <a:solidFill>
                  <a:srgbClr val="44546A"/>
                </a:solidFill>
                <a:latin typeface="+mn-ea"/>
              </a:rPr>
              <a:t>使用</a:t>
            </a:r>
            <a:r>
              <a:rPr lang="en-US" altLang="zh-CN" b="1" dirty="0">
                <a:solidFill>
                  <a:srgbClr val="44546A"/>
                </a:solidFill>
                <a:latin typeface="+mn-ea"/>
              </a:rPr>
              <a:t>SQL</a:t>
            </a:r>
            <a:r>
              <a:rPr lang="zh-CN" altLang="en-US" b="1" dirty="0">
                <a:solidFill>
                  <a:srgbClr val="44546A"/>
                </a:solidFill>
                <a:latin typeface="+mn-ea"/>
              </a:rPr>
              <a:t>语句，完成以下数据范围（过滤条件的）练习：</a:t>
            </a:r>
            <a:endParaRPr lang="en-US" altLang="zh-CN" b="1" dirty="0">
              <a:solidFill>
                <a:srgbClr val="44546A"/>
              </a:solidFill>
              <a:latin typeface="+mn-ea"/>
            </a:endParaRPr>
          </a:p>
          <a:p>
            <a:pPr>
              <a:lnSpc>
                <a:spcPct val="150000"/>
              </a:lnSpc>
            </a:pPr>
            <a:r>
              <a:rPr lang="en-US" altLang="zh-CN" dirty="0">
                <a:solidFill>
                  <a:srgbClr val="44546A"/>
                </a:solidFill>
                <a:latin typeface="微软雅黑" panose="020B0503020204020204" pitchFamily="34" charset="-122"/>
              </a:rPr>
              <a:t>7</a:t>
            </a:r>
            <a:r>
              <a:rPr lang="zh-CN" altLang="en-US" dirty="0">
                <a:solidFill>
                  <a:srgbClr val="44546A"/>
                </a:solidFill>
                <a:latin typeface="微软雅黑" panose="020B0503020204020204" pitchFamily="34" charset="-122"/>
              </a:rPr>
              <a:t>、查询表中，“购买课程时间”为</a:t>
            </a:r>
            <a:r>
              <a:rPr lang="en-US" altLang="zh-CN" dirty="0">
                <a:solidFill>
                  <a:srgbClr val="44546A"/>
                </a:solidFill>
                <a:latin typeface="微软雅黑" panose="020B0503020204020204" pitchFamily="34" charset="-122"/>
              </a:rPr>
              <a:t>2023</a:t>
            </a:r>
            <a:r>
              <a:rPr lang="zh-CN" altLang="en-US" dirty="0">
                <a:solidFill>
                  <a:srgbClr val="44546A"/>
                </a:solidFill>
                <a:latin typeface="微软雅黑" panose="020B0503020204020204" pitchFamily="34" charset="-122"/>
              </a:rPr>
              <a:t>年</a:t>
            </a:r>
            <a:r>
              <a:rPr lang="en-US" altLang="zh-CN" dirty="0">
                <a:solidFill>
                  <a:srgbClr val="44546A"/>
                </a:solidFill>
                <a:latin typeface="微软雅黑" panose="020B0503020204020204" pitchFamily="34" charset="-122"/>
              </a:rPr>
              <a:t>11</a:t>
            </a:r>
            <a:r>
              <a:rPr lang="zh-CN" altLang="en-US" dirty="0">
                <a:solidFill>
                  <a:srgbClr val="44546A"/>
                </a:solidFill>
                <a:latin typeface="微软雅黑" panose="020B0503020204020204" pitchFamily="34" charset="-122"/>
              </a:rPr>
              <a:t>月，“课程名称” 为</a:t>
            </a:r>
            <a:r>
              <a:rPr lang="en-US" altLang="zh-CN" dirty="0">
                <a:solidFill>
                  <a:srgbClr val="44546A"/>
                </a:solidFill>
                <a:latin typeface="微软雅黑" panose="020B0503020204020204" pitchFamily="34" charset="-122"/>
              </a:rPr>
              <a:t>《</a:t>
            </a:r>
            <a:r>
              <a:rPr lang="zh-CN" altLang="en-US" dirty="0">
                <a:solidFill>
                  <a:srgbClr val="44546A"/>
                </a:solidFill>
                <a:latin typeface="微软雅黑" panose="020B0503020204020204" pitchFamily="34" charset="-122"/>
              </a:rPr>
              <a:t>机器学习</a:t>
            </a:r>
            <a:r>
              <a:rPr lang="en-US" altLang="zh-CN" dirty="0">
                <a:solidFill>
                  <a:srgbClr val="44546A"/>
                </a:solidFill>
                <a:latin typeface="微软雅黑" panose="020B0503020204020204" pitchFamily="34" charset="-122"/>
              </a:rPr>
              <a:t>》</a:t>
            </a:r>
            <a:r>
              <a:rPr lang="zh-CN" altLang="en-US" dirty="0">
                <a:solidFill>
                  <a:srgbClr val="44546A"/>
                </a:solidFill>
                <a:latin typeface="微软雅黑" panose="020B0503020204020204" pitchFamily="34" charset="-122"/>
              </a:rPr>
              <a:t>的记录；</a:t>
            </a: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r>
              <a:rPr lang="en-US" altLang="zh-CN" dirty="0">
                <a:solidFill>
                  <a:srgbClr val="44546A"/>
                </a:solidFill>
                <a:latin typeface="微软雅黑" panose="020B0503020204020204" pitchFamily="34" charset="-122"/>
              </a:rPr>
              <a:t>8</a:t>
            </a:r>
            <a:r>
              <a:rPr lang="zh-CN" altLang="en-US" dirty="0">
                <a:solidFill>
                  <a:srgbClr val="44546A"/>
                </a:solidFill>
                <a:latin typeface="微软雅黑" panose="020B0503020204020204" pitchFamily="34" charset="-122"/>
              </a:rPr>
              <a:t>、查询表中，“课程名称”为</a:t>
            </a:r>
            <a:r>
              <a:rPr lang="en-US" altLang="zh-CN" dirty="0">
                <a:solidFill>
                  <a:srgbClr val="44546A"/>
                </a:solidFill>
                <a:latin typeface="微软雅黑" panose="020B0503020204020204" pitchFamily="34" charset="-122"/>
              </a:rPr>
              <a:t>《</a:t>
            </a:r>
            <a:r>
              <a:rPr lang="zh-CN" altLang="en-US" dirty="0">
                <a:solidFill>
                  <a:srgbClr val="44546A"/>
                </a:solidFill>
                <a:latin typeface="微软雅黑" panose="020B0503020204020204" pitchFamily="34" charset="-122"/>
              </a:rPr>
              <a:t>数据采集（一）</a:t>
            </a:r>
            <a:r>
              <a:rPr lang="en-US" altLang="zh-CN" dirty="0">
                <a:solidFill>
                  <a:srgbClr val="44546A"/>
                </a:solidFill>
                <a:latin typeface="微软雅黑" panose="020B0503020204020204" pitchFamily="34" charset="-122"/>
              </a:rPr>
              <a:t>》</a:t>
            </a:r>
            <a:r>
              <a:rPr lang="zh-CN" altLang="en-US" dirty="0">
                <a:solidFill>
                  <a:srgbClr val="44546A"/>
                </a:solidFill>
                <a:latin typeface="微软雅黑" panose="020B0503020204020204" pitchFamily="34" charset="-122"/>
              </a:rPr>
              <a:t>，“是否有效”为“是”的记录。</a:t>
            </a: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a:p>
            <a:pPr>
              <a:lnSpc>
                <a:spcPct val="150000"/>
              </a:lnSpc>
            </a:pPr>
            <a:endParaRPr lang="en-US" altLang="zh-CN" dirty="0">
              <a:solidFill>
                <a:srgbClr val="44546A"/>
              </a:solidFill>
              <a:latin typeface="微软雅黑" panose="020B0503020204020204" pitchFamily="34" charset="-122"/>
            </a:endParaRPr>
          </a:p>
        </p:txBody>
      </p:sp>
      <p:pic>
        <p:nvPicPr>
          <p:cNvPr id="5" name="图片 4">
            <a:extLst>
              <a:ext uri="{FF2B5EF4-FFF2-40B4-BE49-F238E27FC236}">
                <a16:creationId xmlns:a16="http://schemas.microsoft.com/office/drawing/2014/main" id="{414FABC7-2919-61AC-666C-1667144AA22F}"/>
              </a:ext>
            </a:extLst>
          </p:cNvPr>
          <p:cNvPicPr>
            <a:picLocks noChangeAspect="1"/>
          </p:cNvPicPr>
          <p:nvPr/>
        </p:nvPicPr>
        <p:blipFill>
          <a:blip r:embed="rId3"/>
          <a:stretch>
            <a:fillRect/>
          </a:stretch>
        </p:blipFill>
        <p:spPr>
          <a:xfrm>
            <a:off x="1716756" y="2063306"/>
            <a:ext cx="3998228" cy="1606326"/>
          </a:xfrm>
          <a:prstGeom prst="rect">
            <a:avLst/>
          </a:prstGeom>
        </p:spPr>
      </p:pic>
      <p:pic>
        <p:nvPicPr>
          <p:cNvPr id="7" name="图片 6">
            <a:extLst>
              <a:ext uri="{FF2B5EF4-FFF2-40B4-BE49-F238E27FC236}">
                <a16:creationId xmlns:a16="http://schemas.microsoft.com/office/drawing/2014/main" id="{95AD939F-B693-63B2-69FE-F49201518509}"/>
              </a:ext>
            </a:extLst>
          </p:cNvPr>
          <p:cNvPicPr>
            <a:picLocks noChangeAspect="1"/>
          </p:cNvPicPr>
          <p:nvPr/>
        </p:nvPicPr>
        <p:blipFill>
          <a:blip r:embed="rId4"/>
          <a:stretch>
            <a:fillRect/>
          </a:stretch>
        </p:blipFill>
        <p:spPr>
          <a:xfrm>
            <a:off x="1716756" y="4523373"/>
            <a:ext cx="4958444" cy="1841332"/>
          </a:xfrm>
          <a:prstGeom prst="rect">
            <a:avLst/>
          </a:prstGeom>
        </p:spPr>
      </p:pic>
    </p:spTree>
    <p:extLst>
      <p:ext uri="{BB962C8B-B14F-4D97-AF65-F5344CB8AC3E}">
        <p14:creationId xmlns:p14="http://schemas.microsoft.com/office/powerpoint/2010/main" val="4102976435"/>
      </p:ext>
    </p:extLst>
  </p:cSld>
  <p:clrMapOvr>
    <a:masterClrMapping/>
  </p:clrMapOvr>
  <p:transition spd="slow">
    <p:push dir="u"/>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4519386" y="2462304"/>
            <a:ext cx="3416320" cy="646331"/>
          </a:xfrm>
          <a:prstGeom prst="rect">
            <a:avLst/>
          </a:prstGeom>
          <a:noFill/>
          <a:effectLst>
            <a:outerShdw dist="25400" dir="5400000" algn="t" rotWithShape="0">
              <a:sysClr val="window" lastClr="FFFFFF">
                <a:alpha val="40000"/>
              </a:sys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lang="zh-CN" altLang="en-US" kern="0" dirty="0">
                <a:solidFill>
                  <a:schemeClr val="tx1"/>
                </a:solidFill>
                <a:effectLst/>
              </a:rPr>
              <a:t>感谢您的观看。</a:t>
            </a:r>
            <a:endParaRPr kumimoji="0" lang="zh-CN" altLang="zh-CN" sz="3600" i="0" u="none" strike="noStrike" kern="0" cap="none" spc="0" normalizeH="0" baseline="0" noProof="0" dirty="0">
              <a:ln>
                <a:noFill/>
              </a:ln>
              <a:solidFill>
                <a:schemeClr val="tx1"/>
              </a:solidFill>
              <a:effectLst/>
              <a:uLnTx/>
              <a:uFillTx/>
            </a:endParaRPr>
          </a:p>
        </p:txBody>
      </p:sp>
      <p:sp>
        <p:nvSpPr>
          <p:cNvPr id="14" name="文本框 13"/>
          <p:cNvSpPr txBox="1"/>
          <p:nvPr/>
        </p:nvSpPr>
        <p:spPr>
          <a:xfrm>
            <a:off x="4519386" y="3099271"/>
            <a:ext cx="3727680" cy="400110"/>
          </a:xfrm>
          <a:prstGeom prst="rect">
            <a:avLst/>
          </a:prstGeom>
          <a:noFill/>
        </p:spPr>
        <p:txBody>
          <a:bodyPr wrap="square" rtlCol="0">
            <a:spAutoFit/>
          </a:bodyPr>
          <a:lstStyle/>
          <a:p>
            <a:r>
              <a:rPr lang="en-US" altLang="zh-CN" sz="2000" dirty="0">
                <a:solidFill>
                  <a:srgbClr val="44546A"/>
                </a:solidFill>
                <a:latin typeface="微软雅黑" panose="020B0503020204020204" pitchFamily="34" charset="-122"/>
                <a:ea typeface="微软雅黑 Light" panose="020B0502040204020203" pitchFamily="34" charset="-122"/>
              </a:rPr>
              <a:t>Thank you.</a:t>
            </a:r>
          </a:p>
        </p:txBody>
      </p:sp>
      <p:sp>
        <p:nvSpPr>
          <p:cNvPr id="15" name="圆角矩形 14"/>
          <p:cNvSpPr/>
          <p:nvPr/>
        </p:nvSpPr>
        <p:spPr>
          <a:xfrm>
            <a:off x="4624161" y="3503703"/>
            <a:ext cx="5277922" cy="45719"/>
          </a:xfrm>
          <a:prstGeom prst="roundRect">
            <a:avLst>
              <a:gd name="adj" fmla="val 50000"/>
            </a:avLst>
          </a:prstGeom>
          <a:gradFill>
            <a:gsLst>
              <a:gs pos="52000">
                <a:srgbClr val="03E790"/>
              </a:gs>
              <a:gs pos="0">
                <a:srgbClr val="0070C0"/>
              </a:gs>
              <a:gs pos="100000">
                <a:srgbClr val="272D3D">
                  <a:alpha val="0"/>
                </a:srgbClr>
              </a:gs>
            </a:gsLst>
            <a:lin ang="3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4161" y="3754699"/>
            <a:ext cx="2099878" cy="2099878"/>
          </a:xfrm>
          <a:prstGeom prst="rect">
            <a:avLst/>
          </a:prstGeom>
        </p:spPr>
      </p:pic>
      <p:sp>
        <p:nvSpPr>
          <p:cNvPr id="17" name="矩形 16"/>
          <p:cNvSpPr/>
          <p:nvPr/>
        </p:nvSpPr>
        <p:spPr>
          <a:xfrm>
            <a:off x="4709580" y="5767104"/>
            <a:ext cx="1929039" cy="307777"/>
          </a:xfrm>
          <a:prstGeom prst="rect">
            <a:avLst/>
          </a:prstGeom>
        </p:spPr>
        <p:txBody>
          <a:bodyPr wrap="square">
            <a:spAutoFit/>
          </a:bodyPr>
          <a:lstStyle/>
          <a:p>
            <a:pPr algn="ctr"/>
            <a:r>
              <a:rPr lang="zh-CN" altLang="en-US" sz="1400" dirty="0"/>
              <a:t>广州盈培教育公众号</a:t>
            </a:r>
          </a:p>
        </p:txBody>
      </p:sp>
      <p:sp>
        <p:nvSpPr>
          <p:cNvPr id="22" name="PA_椭圆 15"/>
          <p:cNvSpPr>
            <a:spLocks noChangeAspect="1"/>
          </p:cNvSpPr>
          <p:nvPr>
            <p:custDataLst>
              <p:tags r:id="rId1"/>
            </p:custDataLst>
          </p:nvPr>
        </p:nvSpPr>
        <p:spPr>
          <a:xfrm>
            <a:off x="871787" y="2002752"/>
            <a:ext cx="2444568" cy="2444568"/>
          </a:xfrm>
          <a:prstGeom prst="ellipse">
            <a:avLst/>
          </a:prstGeom>
          <a:gradFill flip="none" rotWithShape="1">
            <a:gsLst>
              <a:gs pos="0">
                <a:srgbClr val="03E790"/>
              </a:gs>
              <a:gs pos="100000">
                <a:srgbClr val="0070C0"/>
              </a:gs>
            </a:gsLst>
            <a:lin ang="2700000" scaled="1"/>
            <a:tileRect/>
          </a:gradFill>
          <a:ln>
            <a:noFill/>
          </a:ln>
          <a:effectLst>
            <a:innerShdw blurRad="1905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a:spLocks noChangeAspect="1"/>
          </p:cNvSpPr>
          <p:nvPr/>
        </p:nvSpPr>
        <p:spPr>
          <a:xfrm flipH="1">
            <a:off x="1127819" y="2080239"/>
            <a:ext cx="1666745" cy="1666751"/>
          </a:xfrm>
          <a:prstGeom prst="ellipse">
            <a:avLst/>
          </a:prstGeom>
          <a:solidFill>
            <a:srgbClr val="EFF1F5"/>
          </a:solidFill>
          <a:ln w="25400" cap="flat" cmpd="sng" algn="ctr">
            <a:noFill/>
            <a:prstDash val="solid"/>
            <a:miter lim="800000"/>
          </a:ln>
          <a:effectLst>
            <a:outerShdw blurRad="254000" dist="63500" dir="5400000" algn="t" rotWithShape="0">
              <a:prstClr val="black">
                <a:alpha val="30000"/>
              </a:prstClr>
            </a:outerShdw>
          </a:effectLst>
        </p:spPr>
        <p:txBody>
          <a:bodyPr rtlCol="0" anchor="ctr"/>
          <a:lstStyle/>
          <a:p>
            <a:pPr marL="0" marR="0" lvl="0" indent="0" algn="ctr" defTabSz="914400" eaLnBrk="1" fontAlgn="auto" latinLnBrk="0" hangingPunct="1">
              <a:lnSpc>
                <a:spcPct val="130000"/>
              </a:lnSpc>
              <a:spcBef>
                <a:spcPts val="0"/>
              </a:spcBef>
              <a:spcAft>
                <a:spcPts val="0"/>
              </a:spcAft>
              <a:buClrTx/>
              <a:buSzTx/>
              <a:buFontTx/>
              <a:buNone/>
              <a:defRPr/>
            </a:pPr>
            <a:endParaRPr kumimoji="0" lang="zh-CN" altLang="en-US" sz="4000" b="0" i="0" u="none" strike="noStrike" kern="0" cap="none" spc="0" normalizeH="0" baseline="0" noProof="0" dirty="0">
              <a:ln>
                <a:noFill/>
              </a:ln>
              <a:solidFill>
                <a:srgbClr val="000000">
                  <a:lumMod val="65000"/>
                  <a:lumOff val="35000"/>
                </a:srgbClr>
              </a:solidFill>
              <a:effectLst/>
              <a:uLnTx/>
              <a:uFillTx/>
              <a:latin typeface="Century Gothic" panose="020B0502020202020204" pitchFamily="34" charset="0"/>
              <a:ea typeface="方正正纤黑简体"/>
            </a:endParaRPr>
          </a:p>
        </p:txBody>
      </p:sp>
      <p:sp>
        <p:nvSpPr>
          <p:cNvPr id="24" name="文本框 23"/>
          <p:cNvSpPr txBox="1"/>
          <p:nvPr/>
        </p:nvSpPr>
        <p:spPr>
          <a:xfrm>
            <a:off x="712356" y="2423919"/>
            <a:ext cx="2603999" cy="830997"/>
          </a:xfrm>
          <a:prstGeom prst="rect">
            <a:avLst/>
          </a:prstGeom>
          <a:noFill/>
        </p:spPr>
        <p:txBody>
          <a:bodyPr wrap="square" rtlCol="0">
            <a:spAutoFit/>
          </a:bodyPr>
          <a:lstStyle>
            <a:defPPr>
              <a:defRPr lang="zh-CN"/>
            </a:defPPr>
            <a:lvl1pPr algn="ctr">
              <a:defRPr sz="12500" b="1" spc="600">
                <a:solidFill>
                  <a:srgbClr val="D9DFE7"/>
                </a:solidFill>
                <a:effectLst>
                  <a:innerShdw blurRad="76200" dist="63500" dir="18900000">
                    <a:prstClr val="black">
                      <a:alpha val="30000"/>
                    </a:prstClr>
                  </a:innerShdw>
                </a:effectLst>
                <a:latin typeface="Century Gothic" panose="020B0502020202020204" pitchFamily="34" charset="0"/>
                <a:cs typeface="+mn-ea"/>
              </a:defRPr>
            </a:lvl1pPr>
          </a:lstStyle>
          <a:p>
            <a:r>
              <a:rPr lang="zh-CN" altLang="en-US" sz="4800" dirty="0">
                <a:solidFill>
                  <a:srgbClr val="44546A"/>
                </a:solidFill>
              </a:rPr>
              <a:t>结束</a:t>
            </a:r>
          </a:p>
        </p:txBody>
      </p:sp>
      <p:pic>
        <p:nvPicPr>
          <p:cNvPr id="26" name="图片 25"/>
          <p:cNvPicPr>
            <a:picLocks noChangeAspect="1"/>
          </p:cNvPicPr>
          <p:nvPr/>
        </p:nvPicPr>
        <p:blipFill>
          <a:blip r:embed="rId5"/>
          <a:stretch>
            <a:fillRect/>
          </a:stretch>
        </p:blipFill>
        <p:spPr>
          <a:xfrm>
            <a:off x="0" y="4787029"/>
            <a:ext cx="2794564" cy="207097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childTnLst>
                                </p:cTn>
                              </p:par>
                              <p:par>
                                <p:cTn id="8" presetID="2" presetClass="entr" presetSubtype="2" decel="100000" fill="hold" grpId="1" nodeType="withEffect">
                                  <p:stCondLst>
                                    <p:cond delay="0"/>
                                  </p:stCondLst>
                                  <p:childTnLst>
                                    <p:set>
                                      <p:cBhvr>
                                        <p:cTn id="9" dur="1" fill="hold">
                                          <p:stCondLst>
                                            <p:cond delay="0"/>
                                          </p:stCondLst>
                                        </p:cTn>
                                        <p:tgtEl>
                                          <p:spTgt spid="13"/>
                                        </p:tgtEl>
                                        <p:attrNameLst>
                                          <p:attrName>style.visibility</p:attrName>
                                        </p:attrNameLst>
                                      </p:cBhvr>
                                      <p:to>
                                        <p:strVal val="visible"/>
                                      </p:to>
                                    </p:set>
                                    <p:anim calcmode="lin" valueType="num">
                                      <p:cBhvr additive="base">
                                        <p:cTn id="10" dur="2000" fill="hold"/>
                                        <p:tgtEl>
                                          <p:spTgt spid="13"/>
                                        </p:tgtEl>
                                        <p:attrNameLst>
                                          <p:attrName>ppt_x</p:attrName>
                                        </p:attrNameLst>
                                      </p:cBhvr>
                                      <p:tavLst>
                                        <p:tav tm="0">
                                          <p:val>
                                            <p:strVal val="1+#ppt_w/2"/>
                                          </p:val>
                                        </p:tav>
                                        <p:tav tm="100000">
                                          <p:val>
                                            <p:strVal val="#ppt_x"/>
                                          </p:val>
                                        </p:tav>
                                      </p:tavLst>
                                    </p:anim>
                                    <p:anim calcmode="lin" valueType="num">
                                      <p:cBhvr additive="base">
                                        <p:cTn id="11" dur="2000" fill="hold"/>
                                        <p:tgtEl>
                                          <p:spTgt spid="13"/>
                                        </p:tgtEl>
                                        <p:attrNameLst>
                                          <p:attrName>ppt_y</p:attrName>
                                        </p:attrNameLst>
                                      </p:cBhvr>
                                      <p:tavLst>
                                        <p:tav tm="0">
                                          <p:val>
                                            <p:strVal val="#ppt_y"/>
                                          </p:val>
                                        </p:tav>
                                        <p:tav tm="100000">
                                          <p:val>
                                            <p:strVal val="#ppt_y"/>
                                          </p:val>
                                        </p:tav>
                                      </p:tavLst>
                                    </p:anim>
                                  </p:childTnLst>
                                </p:cTn>
                              </p:par>
                              <p:par>
                                <p:cTn id="12" presetID="22" presetClass="entr" presetSubtype="2"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right)">
                                      <p:cBhvr>
                                        <p:cTn id="14" dur="20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2000"/>
                                        <p:tgtEl>
                                          <p:spTgt spid="14"/>
                                        </p:tgtEl>
                                      </p:cBhvr>
                                    </p:animEffect>
                                  </p:childTnLst>
                                </p:cTn>
                              </p:par>
                              <p:par>
                                <p:cTn id="18" presetID="2" presetClass="entr" presetSubtype="2" decel="100000" fill="hold" grpId="1" nodeType="with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additive="base">
                                        <p:cTn id="20" dur="2000" fill="hold"/>
                                        <p:tgtEl>
                                          <p:spTgt spid="14"/>
                                        </p:tgtEl>
                                        <p:attrNameLst>
                                          <p:attrName>ppt_x</p:attrName>
                                        </p:attrNameLst>
                                      </p:cBhvr>
                                      <p:tavLst>
                                        <p:tav tm="0">
                                          <p:val>
                                            <p:strVal val="1+#ppt_w/2"/>
                                          </p:val>
                                        </p:tav>
                                        <p:tav tm="100000">
                                          <p:val>
                                            <p:strVal val="#ppt_x"/>
                                          </p:val>
                                        </p:tav>
                                      </p:tavLst>
                                    </p:anim>
                                    <p:anim calcmode="lin" valueType="num">
                                      <p:cBhvr additive="base">
                                        <p:cTn id="21" dur="2000" fill="hold"/>
                                        <p:tgtEl>
                                          <p:spTgt spid="14"/>
                                        </p:tgtEl>
                                        <p:attrNameLst>
                                          <p:attrName>ppt_y</p:attrName>
                                        </p:attrNameLst>
                                      </p:cBhvr>
                                      <p:tavLst>
                                        <p:tav tm="0">
                                          <p:val>
                                            <p:strVal val="#ppt_y"/>
                                          </p:val>
                                        </p:tav>
                                        <p:tav tm="100000">
                                          <p:val>
                                            <p:strVal val="#ppt_y"/>
                                          </p:val>
                                        </p:tav>
                                      </p:tavLst>
                                    </p:anim>
                                  </p:childTnLst>
                                </p:cTn>
                              </p:par>
                              <p:par>
                                <p:cTn id="22" presetID="64" presetClass="path" presetSubtype="0" accel="50000" decel="50000" fill="hold" grpId="0" nodeType="withEffect">
                                  <p:stCondLst>
                                    <p:cond delay="0"/>
                                  </p:stCondLst>
                                  <p:childTnLst>
                                    <p:animMotion origin="layout" path="M -3.75E-6 7.40741E-7 L -3.75E-6 -0.06551 " pathEditMode="relative" rAng="0" ptsTypes="AA">
                                      <p:cBhvr>
                                        <p:cTn id="23" dur="2000" fill="hold"/>
                                        <p:tgtEl>
                                          <p:spTgt spid="22"/>
                                        </p:tgtEl>
                                        <p:attrNameLst>
                                          <p:attrName>ppt_x</p:attrName>
                                          <p:attrName>ppt_y</p:attrName>
                                        </p:attrNameLst>
                                      </p:cBhvr>
                                      <p:rCtr x="0" y="-3287"/>
                                    </p:animMotion>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2000"/>
                                        <p:tgtEl>
                                          <p:spTgt spid="2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3" grpId="1" bldLvl="0" animBg="1"/>
      <p:bldP spid="14" grpId="0"/>
      <p:bldP spid="14" grpId="1"/>
      <p:bldP spid="15" grpId="0" bldLvl="0" animBg="1"/>
      <p:bldP spid="22" grpId="0" bldLvl="0" animBg="1"/>
      <p:bldP spid="23" grpId="0" bldLvl="0" animBg="1"/>
      <p:bldP spid="24"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TA5MDJkNDM2NmIwYmQ1NjNiYjI2N2JjMGNjNGE2NDgifQ=="/>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193"/>
  <p:tag name="KSO_WM_UNIT_TYPE" val="m_h_i"/>
  <p:tag name="KSO_WM_UNIT_INDEX" val="1_1_1"/>
  <p:tag name="KSO_WM_UNIT_ID" val="diagram160193_2*m_h_i*1_1_1"/>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 val="7"/>
  <p:tag name="KSO_WM_UNIT_FILL_TYPE" val="1"/>
  <p:tag name="KSO_WM_UNIT_LINE_FORE_SCHEMECOLOR_INDEX" val="7"/>
  <p:tag name="KSO_WM_UNIT_LINE_FILL_TYPE" val="2"/>
  <p:tag name="KSO_WM_UNIT_TEXT_FILL_FORE_SCHEMECOLOR_INDEX" val="14"/>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193"/>
  <p:tag name="KSO_WM_UNIT_TYPE" val="m_h_a"/>
  <p:tag name="KSO_WM_UNIT_INDEX" val="1_1_1"/>
  <p:tag name="KSO_WM_UNIT_ID" val="diagram160193_2*m_h_a*1_1_1"/>
  <p:tag name="KSO_WM_UNIT_LAYERLEVEL" val="1_1_1"/>
  <p:tag name="KSO_WM_UNIT_VALUE" val="10"/>
  <p:tag name="KSO_WM_UNIT_HIGHLIGHT" val="0"/>
  <p:tag name="KSO_WM_UNIT_COMPATIBLE" val="0"/>
  <p:tag name="KSO_WM_DIAGRAM_GROUP_CODE" val="m1-1"/>
  <p:tag name="KSO_WM_UNIT_ISCONTENTSTITLE" val="0"/>
  <p:tag name="KSO_WM_UNIT_NOCLEAR" val="0"/>
  <p:tag name="KSO_WM_UNIT_DIAGRAM_ISNUMVISUAL" val="0"/>
  <p:tag name="KSO_WM_UNIT_DIAGRAM_ISREFERUNIT" val="0"/>
  <p:tag name="KSO_WM_UNIT_PRESET_TEXT" val="单击此处添加标题"/>
  <p:tag name="KSO_WM_UNIT_TEXT_FILL_FORE_SCHEMECOLOR_INDEX" val="7"/>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193"/>
  <p:tag name="KSO_WM_UNIT_TYPE" val="m_h_i"/>
  <p:tag name="KSO_WM_UNIT_INDEX" val="1_2_1"/>
  <p:tag name="KSO_WM_UNIT_ID" val="diagram160193_2*m_h_i*1_2_1"/>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 val="6"/>
  <p:tag name="KSO_WM_UNIT_FILL_TYPE" val="1"/>
  <p:tag name="KSO_WM_UNIT_LINE_FORE_SCHEMECOLOR_INDEX" val="6"/>
  <p:tag name="KSO_WM_UNIT_LINE_FILL_TYPE" val="2"/>
  <p:tag name="KSO_WM_UNIT_TEXT_FILL_FORE_SCHEMECOLOR_INDEX" val="14"/>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193"/>
  <p:tag name="KSO_WM_UNIT_TYPE" val="m_h_a"/>
  <p:tag name="KSO_WM_UNIT_INDEX" val="1_2_1"/>
  <p:tag name="KSO_WM_UNIT_ID" val="diagram160193_2*m_h_a*1_2_1"/>
  <p:tag name="KSO_WM_UNIT_LAYERLEVEL" val="1_1_1"/>
  <p:tag name="KSO_WM_UNIT_VALUE" val="10"/>
  <p:tag name="KSO_WM_UNIT_HIGHLIGHT" val="0"/>
  <p:tag name="KSO_WM_UNIT_COMPATIBLE" val="0"/>
  <p:tag name="KSO_WM_DIAGRAM_GROUP_CODE" val="m1-1"/>
  <p:tag name="KSO_WM_UNIT_ISCONTENTSTITLE" val="0"/>
  <p:tag name="KSO_WM_UNIT_NOCLEAR" val="0"/>
  <p:tag name="KSO_WM_UNIT_DIAGRAM_ISNUMVISUAL" val="0"/>
  <p:tag name="KSO_WM_UNIT_DIAGRAM_ISREFERUNIT" val="0"/>
  <p:tag name="KSO_WM_UNIT_PRESET_TEXT" val="单击此处添加标题"/>
  <p:tag name="KSO_WM_UNIT_TEXT_FILL_FORE_SCHEMECOLOR_INDEX" val="6"/>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193"/>
  <p:tag name="KSO_WM_UNIT_TYPE" val="m_h_i"/>
  <p:tag name="KSO_WM_UNIT_INDEX" val="1_3_1"/>
  <p:tag name="KSO_WM_UNIT_ID" val="diagram160193_2*m_h_i*1_3_1"/>
  <p:tag name="KSO_WM_UNIT_LAYERLEVEL" val="1_1_1"/>
  <p:tag name="KSO_WM_DIAGRAM_GROUP_CODE" val="m1-1"/>
  <p:tag name="KSO_WM_UNIT_HIGHLIGHT" val="0"/>
  <p:tag name="KSO_WM_UNIT_COMPATIBLE" val="0"/>
  <p:tag name="KSO_WM_UNIT_DIAGRAM_ISNUMVISUAL" val="0"/>
  <p:tag name="KSO_WM_UNIT_DIAGRAM_ISREFERUNIT" val="0"/>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193"/>
  <p:tag name="KSO_WM_UNIT_TYPE" val="m_h_a"/>
  <p:tag name="KSO_WM_UNIT_INDEX" val="1_3_1"/>
  <p:tag name="KSO_WM_UNIT_ID" val="diagram160193_2*m_h_a*1_3_1"/>
  <p:tag name="KSO_WM_UNIT_LAYERLEVEL" val="1_1_1"/>
  <p:tag name="KSO_WM_UNIT_VALUE" val="10"/>
  <p:tag name="KSO_WM_UNIT_HIGHLIGHT" val="0"/>
  <p:tag name="KSO_WM_UNIT_COMPATIBLE" val="0"/>
  <p:tag name="KSO_WM_DIAGRAM_GROUP_CODE" val="m1-1"/>
  <p:tag name="KSO_WM_UNIT_ISCONTENTSTITLE" val="0"/>
  <p:tag name="KSO_WM_UNIT_NOCLEAR" val="0"/>
  <p:tag name="KSO_WM_UNIT_DIAGRAM_ISNUMVISUAL" val="0"/>
  <p:tag name="KSO_WM_UNIT_DIAGRAM_ISREFERUNIT" val="0"/>
  <p:tag name="KSO_WM_UNIT_PRESET_TEXT" val="单击此处添加标题"/>
  <p:tag name="KSO_WM_UNIT_TEXT_FILL_FORE_SCHEMECOLOR_INDEX" val="5"/>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PA" val="v4.0.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0069B5"/>
      </a:accent1>
      <a:accent2>
        <a:srgbClr val="22E6B2"/>
      </a:accent2>
      <a:accent3>
        <a:srgbClr val="098FC1"/>
      </a:accent3>
      <a:accent4>
        <a:srgbClr val="4AC1D6"/>
      </a:accent4>
      <a:accent5>
        <a:srgbClr val="797979"/>
      </a:accent5>
      <a:accent6>
        <a:srgbClr val="9F9F9F"/>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11276</TotalTime>
  <Words>8115</Words>
  <Application>Microsoft Office PowerPoint</Application>
  <PresentationFormat>宽屏</PresentationFormat>
  <Paragraphs>1313</Paragraphs>
  <Slides>88</Slides>
  <Notes>87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88</vt:i4>
      </vt:variant>
    </vt:vector>
  </HeadingPairs>
  <TitlesOfParts>
    <vt:vector size="100" baseType="lpstr">
      <vt:lpstr>微软雅黑</vt:lpstr>
      <vt:lpstr>Arial</vt:lpstr>
      <vt:lpstr>Calibri</vt:lpstr>
      <vt:lpstr>Century Gothic</vt:lpstr>
      <vt:lpstr>Consolas</vt:lpstr>
      <vt:lpstr>Impact</vt:lpstr>
      <vt:lpstr>Montserrat ExtraBold</vt:lpstr>
      <vt:lpstr>Segoe UI Light</vt:lpstr>
      <vt:lpstr>Source Sans Pro</vt:lpstr>
      <vt:lpstr>Times New Roman</vt:lpstr>
      <vt:lpstr>Wingdings</vt:lpstr>
      <vt:lpstr>主题5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家涌 黄</cp:lastModifiedBy>
  <cp:revision>3934</cp:revision>
  <cp:lastPrinted>2019-02-21T16:00:00Z</cp:lastPrinted>
  <dcterms:created xsi:type="dcterms:W3CDTF">2019-02-21T16:00:00Z</dcterms:created>
  <dcterms:modified xsi:type="dcterms:W3CDTF">2025-04-10T06:02:11Z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KSOProductBuildVer">
    <vt:lpwstr>2052-11.1.0.11411</vt:lpwstr>
  </property>
  <property fmtid="{D5CDD505-2E9C-101B-9397-08002B2CF9AE}" pid="4" name="ICV">
    <vt:lpwstr>F1187959AD6745DBBA89A04EA347ECD7</vt:lpwstr>
  </property>
</Properties>
</file>